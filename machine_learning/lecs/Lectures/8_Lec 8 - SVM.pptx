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4"/>
  </p:sld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  <p:sldId id="263" r:id="rId12"/>
    <p:sldId id="264" r:id="rId13"/>
    <p:sldId id="265" r:id="rId14"/>
    <p:sldId id="279" r:id="rId15"/>
    <p:sldId id="281" r:id="rId16"/>
    <p:sldId id="280" r:id="rId17"/>
    <p:sldId id="266" r:id="rId18"/>
    <p:sldId id="267" r:id="rId19"/>
    <p:sldId id="268" r:id="rId20"/>
    <p:sldId id="269" r:id="rId21"/>
    <p:sldId id="270" r:id="rId22"/>
    <p:sldId id="271" r:id="rId23"/>
    <p:sldId id="272" r:id="rId24"/>
    <p:sldId id="273" r:id="rId25"/>
    <p:sldId id="274" r:id="rId26"/>
    <p:sldId id="275" r:id="rId27"/>
    <p:sldId id="276" r:id="rId28"/>
    <p:sldId id="277" r:id="rId29"/>
    <p:sldId id="278" r:id="rId30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D8E628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BEBD45F7-64EE-40E7-A813-08E5BA843D88}" v="2" dt="2021-01-05T14:03:32.864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64" d="100"/>
          <a:sy n="64" d="100"/>
        </p:scale>
        <p:origin x="-924" y="-10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slide" Target="slides/slide22.xml"/><Relationship Id="rId3" Type="http://schemas.openxmlformats.org/officeDocument/2006/relationships/customXml" Target="../customXml/item3.xml"/><Relationship Id="rId21" Type="http://schemas.openxmlformats.org/officeDocument/2006/relationships/slide" Target="slides/slide17.xml"/><Relationship Id="rId34" Type="http://schemas.openxmlformats.org/officeDocument/2006/relationships/tableStyles" Target="tableStyles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slide" Target="slides/slide21.xml"/><Relationship Id="rId33" Type="http://schemas.openxmlformats.org/officeDocument/2006/relationships/theme" Target="theme/theme1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slide" Target="slides/slide16.xml"/><Relationship Id="rId29" Type="http://schemas.openxmlformats.org/officeDocument/2006/relationships/slide" Target="slides/slide25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slide" Target="slides/slide20.xml"/><Relationship Id="rId32" Type="http://schemas.openxmlformats.org/officeDocument/2006/relationships/viewProps" Target="viewProps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slide" Target="slides/slide19.xml"/><Relationship Id="rId28" Type="http://schemas.openxmlformats.org/officeDocument/2006/relationships/slide" Target="slides/slide24.xml"/><Relationship Id="rId36" Type="http://schemas.microsoft.com/office/2015/10/relationships/revisionInfo" Target="revisionInfo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31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slide" Target="slides/slide23.xml"/><Relationship Id="rId30" Type="http://schemas.openxmlformats.org/officeDocument/2006/relationships/slide" Target="slides/slide26.xml"/><Relationship Id="rId35" Type="http://schemas.microsoft.com/office/2016/11/relationships/changesInfo" Target="changesInfos/changesInfo1.xml"/><Relationship Id="rId8" Type="http://schemas.openxmlformats.org/officeDocument/2006/relationships/slide" Target="slides/slide4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JUWAIRIYAH NAEEM" userId="S::jnaeem.phd20smme@student.nust.edu.pk::3498db27-3bae-4fff-ab7b-5ec81af8be25" providerId="AD" clId="Web-{BEBD45F7-64EE-40E7-A813-08E5BA843D88}"/>
    <pc:docChg chg="modSld">
      <pc:chgData name="JUWAIRIYAH NAEEM" userId="S::jnaeem.phd20smme@student.nust.edu.pk::3498db27-3bae-4fff-ab7b-5ec81af8be25" providerId="AD" clId="Web-{BEBD45F7-64EE-40E7-A813-08E5BA843D88}" dt="2021-01-05T14:03:32.864" v="1" actId="1076"/>
      <pc:docMkLst>
        <pc:docMk/>
      </pc:docMkLst>
      <pc:sldChg chg="modSp">
        <pc:chgData name="JUWAIRIYAH NAEEM" userId="S::jnaeem.phd20smme@student.nust.edu.pk::3498db27-3bae-4fff-ab7b-5ec81af8be25" providerId="AD" clId="Web-{BEBD45F7-64EE-40E7-A813-08E5BA843D88}" dt="2021-01-05T14:03:32.864" v="1" actId="1076"/>
        <pc:sldMkLst>
          <pc:docMk/>
          <pc:sldMk cId="0" sldId="258"/>
        </pc:sldMkLst>
        <pc:spChg chg="mod">
          <ac:chgData name="JUWAIRIYAH NAEEM" userId="S::jnaeem.phd20smme@student.nust.edu.pk::3498db27-3bae-4fff-ab7b-5ec81af8be25" providerId="AD" clId="Web-{BEBD45F7-64EE-40E7-A813-08E5BA843D88}" dt="2021-01-05T14:03:32.864" v="1" actId="1076"/>
          <ac:spMkLst>
            <pc:docMk/>
            <pc:sldMk cId="0" sldId="258"/>
            <ac:spMk id="8" creationId="{00000000-0000-0000-0000-000000000000}"/>
          </ac:spMkLst>
        </pc:sp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1/5/2021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1/5/2021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1/5/2021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1/5/2021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1/5/2021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1/5/2021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1/5/2021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1/5/2021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1/5/2021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1/5/2021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1/5/2021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1/5/2021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2.png"/><Relationship Id="rId4" Type="http://schemas.openxmlformats.org/officeDocument/2006/relationships/image" Target="../media/image11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5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0.png"/><Relationship Id="rId5" Type="http://schemas.openxmlformats.org/officeDocument/2006/relationships/image" Target="../media/image19.png"/><Relationship Id="rId4" Type="http://schemas.openxmlformats.org/officeDocument/2006/relationships/image" Target="../media/image18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7" Type="http://schemas.openxmlformats.org/officeDocument/2006/relationships/image" Target="../media/image26.png"/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5.png"/><Relationship Id="rId5" Type="http://schemas.openxmlformats.org/officeDocument/2006/relationships/image" Target="../media/image24.png"/><Relationship Id="rId4" Type="http://schemas.openxmlformats.org/officeDocument/2006/relationships/image" Target="../media/image23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1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png"/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6.png"/><Relationship Id="rId5" Type="http://schemas.openxmlformats.org/officeDocument/2006/relationships/image" Target="../media/image35.png"/><Relationship Id="rId4" Type="http://schemas.openxmlformats.org/officeDocument/2006/relationships/image" Target="../media/image34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8.png"/><Relationship Id="rId2" Type="http://schemas.openxmlformats.org/officeDocument/2006/relationships/image" Target="../media/image37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0.png"/><Relationship Id="rId5" Type="http://schemas.openxmlformats.org/officeDocument/2006/relationships/image" Target="../media/image34.png"/><Relationship Id="rId4" Type="http://schemas.openxmlformats.org/officeDocument/2006/relationships/image" Target="../media/image39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2.png"/><Relationship Id="rId2" Type="http://schemas.openxmlformats.org/officeDocument/2006/relationships/image" Target="../media/image41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39.png"/><Relationship Id="rId4" Type="http://schemas.openxmlformats.org/officeDocument/2006/relationships/image" Target="../media/image43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5.png"/><Relationship Id="rId2" Type="http://schemas.openxmlformats.org/officeDocument/2006/relationships/image" Target="../media/image44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7.png"/><Relationship Id="rId2" Type="http://schemas.openxmlformats.org/officeDocument/2006/relationships/image" Target="../media/image46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8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0.png"/><Relationship Id="rId2" Type="http://schemas.openxmlformats.org/officeDocument/2006/relationships/image" Target="../media/image49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52.png"/><Relationship Id="rId4" Type="http://schemas.openxmlformats.org/officeDocument/2006/relationships/image" Target="../media/image51.png"/></Relationships>
</file>

<file path=ppt/slides/_rels/slide17.xml.rels><?xml version="1.0" encoding="UTF-8" standalone="yes"?>
<Relationships xmlns="http://schemas.openxmlformats.org/package/2006/relationships"><Relationship Id="rId8" Type="http://schemas.openxmlformats.org/officeDocument/2006/relationships/image" Target="../media/image59.png"/><Relationship Id="rId3" Type="http://schemas.openxmlformats.org/officeDocument/2006/relationships/image" Target="../media/image54.png"/><Relationship Id="rId7" Type="http://schemas.openxmlformats.org/officeDocument/2006/relationships/image" Target="../media/image58.png"/><Relationship Id="rId2" Type="http://schemas.openxmlformats.org/officeDocument/2006/relationships/image" Target="../media/image53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7.png"/><Relationship Id="rId5" Type="http://schemas.openxmlformats.org/officeDocument/2006/relationships/image" Target="../media/image56.png"/><Relationship Id="rId10" Type="http://schemas.openxmlformats.org/officeDocument/2006/relationships/image" Target="../media/image61.png"/><Relationship Id="rId4" Type="http://schemas.openxmlformats.org/officeDocument/2006/relationships/image" Target="../media/image55.png"/><Relationship Id="rId9" Type="http://schemas.openxmlformats.org/officeDocument/2006/relationships/image" Target="../media/image60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7.png"/><Relationship Id="rId2" Type="http://schemas.openxmlformats.org/officeDocument/2006/relationships/image" Target="../media/image62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8" Type="http://schemas.openxmlformats.org/officeDocument/2006/relationships/image" Target="../media/image69.png"/><Relationship Id="rId3" Type="http://schemas.openxmlformats.org/officeDocument/2006/relationships/image" Target="../media/image64.png"/><Relationship Id="rId7" Type="http://schemas.openxmlformats.org/officeDocument/2006/relationships/image" Target="../media/image68.png"/><Relationship Id="rId2" Type="http://schemas.openxmlformats.org/officeDocument/2006/relationships/image" Target="../media/image63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67.png"/><Relationship Id="rId5" Type="http://schemas.openxmlformats.org/officeDocument/2006/relationships/image" Target="../media/image66.png"/><Relationship Id="rId4" Type="http://schemas.openxmlformats.org/officeDocument/2006/relationships/image" Target="../media/image65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71.png"/><Relationship Id="rId2" Type="http://schemas.openxmlformats.org/officeDocument/2006/relationships/image" Target="../media/image70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73.png"/><Relationship Id="rId4" Type="http://schemas.openxmlformats.org/officeDocument/2006/relationships/image" Target="../media/image72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75.png"/><Relationship Id="rId2" Type="http://schemas.openxmlformats.org/officeDocument/2006/relationships/image" Target="../media/image74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78.png"/><Relationship Id="rId5" Type="http://schemas.openxmlformats.org/officeDocument/2006/relationships/image" Target="../media/image77.png"/><Relationship Id="rId4" Type="http://schemas.openxmlformats.org/officeDocument/2006/relationships/image" Target="../media/image76.pn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80.png"/><Relationship Id="rId2" Type="http://schemas.openxmlformats.org/officeDocument/2006/relationships/image" Target="../media/image79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82.png"/><Relationship Id="rId4" Type="http://schemas.openxmlformats.org/officeDocument/2006/relationships/image" Target="../media/image81.png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84.png"/><Relationship Id="rId2" Type="http://schemas.openxmlformats.org/officeDocument/2006/relationships/image" Target="../media/image83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86.png"/><Relationship Id="rId4" Type="http://schemas.openxmlformats.org/officeDocument/2006/relationships/image" Target="../media/image85.png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87.pn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88.pn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90.png"/><Relationship Id="rId2" Type="http://schemas.openxmlformats.org/officeDocument/2006/relationships/image" Target="../media/image89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92.png"/><Relationship Id="rId4" Type="http://schemas.openxmlformats.org/officeDocument/2006/relationships/image" Target="../media/image9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Support Vector Machines (SVM)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SVM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Another supervised algorithm</a:t>
            </a:r>
          </a:p>
          <a:p>
            <a:r>
              <a:rPr lang="en-US" dirty="0"/>
              <a:t>Widely used in industry and academia</a:t>
            </a:r>
          </a:p>
          <a:p>
            <a:r>
              <a:rPr lang="en-US" dirty="0"/>
              <a:t>Sometimes more powerful than regression and neural networks with few parameters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7" name="Picture 3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4857750" y="1076325"/>
            <a:ext cx="3524250" cy="27336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0"/>
            <a:ext cx="8229600" cy="1143000"/>
          </a:xfrm>
        </p:spPr>
        <p:txBody>
          <a:bodyPr/>
          <a:lstStyle/>
          <a:p>
            <a:r>
              <a:rPr lang="en-US" dirty="0"/>
              <a:t>Optimization Objective</a:t>
            </a:r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838200" y="2143125"/>
            <a:ext cx="2990850" cy="10572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6" name="TextBox 5"/>
          <p:cNvSpPr txBox="1"/>
          <p:nvPr/>
        </p:nvSpPr>
        <p:spPr>
          <a:xfrm>
            <a:off x="381000" y="1143000"/>
            <a:ext cx="236220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/>
              <a:t>Logistic Regression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4019490"/>
            <a:ext cx="365760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/>
              <a:t>Logistic Regression Hypothesis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257800" y="4038600"/>
            <a:ext cx="350520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/>
              <a:t>Sigmoid Activation Function</a:t>
            </a:r>
          </a:p>
        </p:txBody>
      </p:sp>
      <p:pic>
        <p:nvPicPr>
          <p:cNvPr id="1028" name="Picture 4"/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762000" y="5029200"/>
            <a:ext cx="531495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1029" name="Picture 5"/>
          <p:cNvPicPr>
            <a:picLocks noChangeAspect="1" noChangeArrowheads="1"/>
          </p:cNvPicPr>
          <p:nvPr/>
        </p:nvPicPr>
        <p:blipFill>
          <a:blip r:embed="rId5" cstate="print"/>
          <a:srcRect/>
          <a:stretch>
            <a:fillRect/>
          </a:stretch>
        </p:blipFill>
        <p:spPr bwMode="auto">
          <a:xfrm>
            <a:off x="762000" y="5638800"/>
            <a:ext cx="5286375" cy="3714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0"/>
            <a:ext cx="8229600" cy="1143000"/>
          </a:xfrm>
        </p:spPr>
        <p:txBody>
          <a:bodyPr/>
          <a:lstStyle/>
          <a:p>
            <a:r>
              <a:rPr lang="en-US" dirty="0"/>
              <a:t>Optimization Objective</a:t>
            </a:r>
          </a:p>
        </p:txBody>
      </p:sp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228600" y="1295399"/>
            <a:ext cx="7924800" cy="46556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2051" name="Picture 3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609599" y="2057400"/>
            <a:ext cx="7765393" cy="9906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2052" name="Picture 4"/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76200" y="3265730"/>
            <a:ext cx="3902146" cy="359227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cxnSp>
        <p:nvCxnSpPr>
          <p:cNvPr id="9" name="Straight Connector 8"/>
          <p:cNvCxnSpPr/>
          <p:nvPr/>
        </p:nvCxnSpPr>
        <p:spPr>
          <a:xfrm flipH="1">
            <a:off x="2743200" y="6477000"/>
            <a:ext cx="1143000" cy="0"/>
          </a:xfrm>
          <a:prstGeom prst="line">
            <a:avLst/>
          </a:prstGeom>
          <a:ln w="25400">
            <a:solidFill>
              <a:srgbClr val="00206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Straight Connector 10"/>
          <p:cNvCxnSpPr/>
          <p:nvPr/>
        </p:nvCxnSpPr>
        <p:spPr>
          <a:xfrm>
            <a:off x="609600" y="4495800"/>
            <a:ext cx="2133600" cy="1981200"/>
          </a:xfrm>
          <a:prstGeom prst="line">
            <a:avLst/>
          </a:prstGeom>
          <a:ln w="25400">
            <a:solidFill>
              <a:srgbClr val="00206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TextBox 13"/>
          <p:cNvSpPr txBox="1"/>
          <p:nvPr/>
        </p:nvSpPr>
        <p:spPr>
          <a:xfrm>
            <a:off x="4114800" y="4876800"/>
            <a:ext cx="266700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/>
              <a:t>For SVM</a:t>
            </a:r>
          </a:p>
        </p:txBody>
      </p:sp>
      <p:pic>
        <p:nvPicPr>
          <p:cNvPr id="2054" name="Picture 6"/>
          <p:cNvPicPr>
            <a:picLocks noChangeAspect="1" noChangeArrowheads="1"/>
          </p:cNvPicPr>
          <p:nvPr/>
        </p:nvPicPr>
        <p:blipFill>
          <a:blip r:embed="rId5" cstate="print"/>
          <a:srcRect/>
          <a:stretch>
            <a:fillRect/>
          </a:stretch>
        </p:blipFill>
        <p:spPr bwMode="auto">
          <a:xfrm>
            <a:off x="5334000" y="3810000"/>
            <a:ext cx="3548244" cy="3048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cxnSp>
        <p:nvCxnSpPr>
          <p:cNvPr id="17" name="Straight Connector 16"/>
          <p:cNvCxnSpPr/>
          <p:nvPr/>
        </p:nvCxnSpPr>
        <p:spPr>
          <a:xfrm flipH="1">
            <a:off x="5562600" y="6477000"/>
            <a:ext cx="1143000" cy="0"/>
          </a:xfrm>
          <a:prstGeom prst="line">
            <a:avLst/>
          </a:prstGeom>
          <a:ln w="25400">
            <a:solidFill>
              <a:srgbClr val="00206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/>
          <p:cNvCxnSpPr/>
          <p:nvPr/>
        </p:nvCxnSpPr>
        <p:spPr>
          <a:xfrm flipH="1">
            <a:off x="6629400" y="4572000"/>
            <a:ext cx="2133600" cy="1905000"/>
          </a:xfrm>
          <a:prstGeom prst="line">
            <a:avLst/>
          </a:prstGeom>
          <a:ln w="25400">
            <a:solidFill>
              <a:srgbClr val="00206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TextBox 20"/>
          <p:cNvSpPr txBox="1"/>
          <p:nvPr/>
        </p:nvSpPr>
        <p:spPr>
          <a:xfrm>
            <a:off x="685800" y="5715000"/>
            <a:ext cx="11430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Cost</a:t>
            </a:r>
            <a:r>
              <a:rPr lang="en-US" baseline="-25000" dirty="0"/>
              <a:t>1</a:t>
            </a:r>
            <a:r>
              <a:rPr lang="en-US" dirty="0"/>
              <a:t>(z)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543800" y="5715000"/>
            <a:ext cx="11430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Cost</a:t>
            </a:r>
            <a:r>
              <a:rPr lang="en-US" baseline="-25000" dirty="0"/>
              <a:t>0</a:t>
            </a:r>
            <a:r>
              <a:rPr lang="en-US" dirty="0"/>
              <a:t>(z)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0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3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6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9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6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9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/>
      <p:bldP spid="21" grpId="0"/>
      <p:bldP spid="22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228600" y="152400"/>
            <a:ext cx="2876550" cy="4191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1027" name="Picture 3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152400" y="609599"/>
            <a:ext cx="8839200" cy="125421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1028" name="Picture 4"/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0" y="2057400"/>
            <a:ext cx="2657475" cy="2952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7" name="TextBox 6"/>
          <p:cNvSpPr txBox="1"/>
          <p:nvPr/>
        </p:nvSpPr>
        <p:spPr>
          <a:xfrm>
            <a:off x="1981200" y="2514600"/>
            <a:ext cx="25908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Replace by Cost</a:t>
            </a:r>
            <a:r>
              <a:rPr lang="en-US" b="1" baseline="-25000" dirty="0"/>
              <a:t>1</a:t>
            </a:r>
            <a:r>
              <a:rPr lang="en-US" b="1" dirty="0"/>
              <a:t>(</a:t>
            </a:r>
            <a:r>
              <a:rPr lang="el-GR" b="1" dirty="0"/>
              <a:t>ϴ</a:t>
            </a:r>
            <a:r>
              <a:rPr lang="en-US" b="1" baseline="30000" dirty="0" err="1"/>
              <a:t>T</a:t>
            </a:r>
            <a:r>
              <a:rPr lang="en-US" b="1" dirty="0" err="1"/>
              <a:t>x</a:t>
            </a:r>
            <a:r>
              <a:rPr lang="en-US" b="1" dirty="0"/>
              <a:t>) 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257800" y="2438400"/>
            <a:ext cx="27432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Replace by Cost</a:t>
            </a:r>
            <a:r>
              <a:rPr lang="en-US" b="1" baseline="-25000" dirty="0"/>
              <a:t>0</a:t>
            </a:r>
            <a:r>
              <a:rPr lang="en-US" b="1" dirty="0"/>
              <a:t>(</a:t>
            </a:r>
            <a:r>
              <a:rPr lang="el-GR" b="1" dirty="0"/>
              <a:t>ϴ</a:t>
            </a:r>
            <a:r>
              <a:rPr lang="en-US" b="1" baseline="30000" dirty="0" err="1"/>
              <a:t>T</a:t>
            </a:r>
            <a:r>
              <a:rPr lang="en-US" b="1" dirty="0" err="1"/>
              <a:t>x</a:t>
            </a:r>
            <a:r>
              <a:rPr lang="en-US" b="1" dirty="0"/>
              <a:t>) </a:t>
            </a:r>
          </a:p>
        </p:txBody>
      </p:sp>
      <p:cxnSp>
        <p:nvCxnSpPr>
          <p:cNvPr id="10" name="Straight Arrow Connector 9"/>
          <p:cNvCxnSpPr/>
          <p:nvPr/>
        </p:nvCxnSpPr>
        <p:spPr>
          <a:xfrm>
            <a:off x="2971800" y="1828800"/>
            <a:ext cx="76200" cy="685800"/>
          </a:xfrm>
          <a:prstGeom prst="straightConnector1">
            <a:avLst/>
          </a:prstGeom>
          <a:ln w="25400"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Straight Arrow Connector 10"/>
          <p:cNvCxnSpPr/>
          <p:nvPr/>
        </p:nvCxnSpPr>
        <p:spPr>
          <a:xfrm flipH="1">
            <a:off x="6477000" y="1905000"/>
            <a:ext cx="152400" cy="609600"/>
          </a:xfrm>
          <a:prstGeom prst="straightConnector1">
            <a:avLst/>
          </a:prstGeom>
          <a:ln w="25400"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Oval 13"/>
          <p:cNvSpPr/>
          <p:nvPr/>
        </p:nvSpPr>
        <p:spPr>
          <a:xfrm>
            <a:off x="2133600" y="990600"/>
            <a:ext cx="1905000" cy="838200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Oval 14"/>
          <p:cNvSpPr/>
          <p:nvPr/>
        </p:nvSpPr>
        <p:spPr>
          <a:xfrm>
            <a:off x="5181600" y="914400"/>
            <a:ext cx="2438400" cy="990600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TextBox 16"/>
          <p:cNvSpPr txBox="1"/>
          <p:nvPr/>
        </p:nvSpPr>
        <p:spPr>
          <a:xfrm>
            <a:off x="457200" y="3429000"/>
            <a:ext cx="8077200" cy="19389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/>
              <a:t>Other changes</a:t>
            </a:r>
          </a:p>
          <a:p>
            <a:pPr>
              <a:buFont typeface="Arial" pitchFamily="34" charset="0"/>
              <a:buChar char="•"/>
            </a:pPr>
            <a:r>
              <a:rPr lang="en-US" sz="2400" b="1" dirty="0"/>
              <a:t>Get rid of m, it does not affect minimization</a:t>
            </a:r>
          </a:p>
          <a:p>
            <a:pPr>
              <a:buFont typeface="Arial" charset="0"/>
              <a:buChar char="•"/>
            </a:pPr>
            <a:r>
              <a:rPr lang="en-US" sz="2400" b="1" dirty="0"/>
              <a:t>Let A be first term and B to denote regularization term then instead of </a:t>
            </a:r>
            <a:r>
              <a:rPr lang="en-US" sz="2400" b="1" dirty="0" err="1"/>
              <a:t>A+lambda</a:t>
            </a:r>
            <a:r>
              <a:rPr lang="en-US" sz="2400" b="1" dirty="0"/>
              <a:t>*B, we use CA+B. where C plays same role as lambda.</a:t>
            </a:r>
          </a:p>
        </p:txBody>
      </p:sp>
      <p:pic>
        <p:nvPicPr>
          <p:cNvPr id="1029" name="Picture 5"/>
          <p:cNvPicPr>
            <a:picLocks noChangeAspect="1" noChangeArrowheads="1"/>
          </p:cNvPicPr>
          <p:nvPr/>
        </p:nvPicPr>
        <p:blipFill>
          <a:blip r:embed="rId5" cstate="print"/>
          <a:srcRect/>
          <a:stretch>
            <a:fillRect/>
          </a:stretch>
        </p:blipFill>
        <p:spPr bwMode="auto">
          <a:xfrm>
            <a:off x="457200" y="5562600"/>
            <a:ext cx="8327571" cy="9906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381000" y="533400"/>
            <a:ext cx="2000250" cy="3619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2051" name="Picture 3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533400" y="1219200"/>
            <a:ext cx="7967406" cy="9906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2052" name="Picture 4"/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533400" y="2667000"/>
            <a:ext cx="1390650" cy="4095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7" name="TextBox 6"/>
          <p:cNvSpPr txBox="1"/>
          <p:nvPr/>
        </p:nvSpPr>
        <p:spPr>
          <a:xfrm>
            <a:off x="1371600" y="3810000"/>
            <a:ext cx="5638800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/>
              <a:t>h</a:t>
            </a:r>
            <a:r>
              <a:rPr lang="el-GR" sz="2400" b="1" baseline="-25000" dirty="0"/>
              <a:t>ϴ</a:t>
            </a:r>
            <a:r>
              <a:rPr lang="en-US" sz="2400" b="1" dirty="0"/>
              <a:t>(x) =       1		if	</a:t>
            </a:r>
            <a:r>
              <a:rPr lang="el-GR" sz="2400" b="1" dirty="0"/>
              <a:t>ϴ</a:t>
            </a:r>
            <a:r>
              <a:rPr lang="en-US" sz="2400" b="1" baseline="30000" dirty="0" err="1"/>
              <a:t>T</a:t>
            </a:r>
            <a:r>
              <a:rPr lang="en-US" sz="2400" b="1" dirty="0" err="1"/>
              <a:t>x</a:t>
            </a:r>
            <a:r>
              <a:rPr lang="en-US" sz="2400" b="1" dirty="0"/>
              <a:t>&gt;0</a:t>
            </a:r>
          </a:p>
          <a:p>
            <a:r>
              <a:rPr lang="en-US" sz="2400" b="1" dirty="0"/>
              <a:t>                    0		otherwise</a:t>
            </a:r>
          </a:p>
          <a:p>
            <a:r>
              <a:rPr lang="en-US" dirty="0"/>
              <a:t>	</a:t>
            </a:r>
          </a:p>
        </p:txBody>
      </p:sp>
      <p:sp>
        <p:nvSpPr>
          <p:cNvPr id="8" name="Left Brace 7"/>
          <p:cNvSpPr/>
          <p:nvPr/>
        </p:nvSpPr>
        <p:spPr>
          <a:xfrm>
            <a:off x="2362200" y="3581400"/>
            <a:ext cx="609600" cy="1295400"/>
          </a:xfrm>
          <a:prstGeom prst="leftBrac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0"/>
            <a:ext cx="8229600" cy="1143000"/>
          </a:xfrm>
        </p:spPr>
        <p:txBody>
          <a:bodyPr/>
          <a:lstStyle/>
          <a:p>
            <a:r>
              <a:rPr lang="en-US" dirty="0"/>
              <a:t>Large Margin Classifier</a:t>
            </a:r>
          </a:p>
        </p:txBody>
      </p:sp>
      <p:pic>
        <p:nvPicPr>
          <p:cNvPr id="3074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52400" y="1066800"/>
            <a:ext cx="3181350" cy="2952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3075" name="Picture 3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457200" y="1447800"/>
            <a:ext cx="8000172" cy="9906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3076" name="Picture 4"/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533400" y="2590800"/>
            <a:ext cx="3333750" cy="19907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3077" name="Picture 5"/>
          <p:cNvPicPr>
            <a:picLocks noChangeAspect="1" noChangeArrowheads="1"/>
          </p:cNvPicPr>
          <p:nvPr/>
        </p:nvPicPr>
        <p:blipFill>
          <a:blip r:embed="rId5" cstate="print"/>
          <a:srcRect/>
          <a:stretch>
            <a:fillRect/>
          </a:stretch>
        </p:blipFill>
        <p:spPr bwMode="auto">
          <a:xfrm>
            <a:off x="4800600" y="2590800"/>
            <a:ext cx="3438525" cy="19240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3078" name="Picture 6"/>
          <p:cNvPicPr>
            <a:picLocks noChangeAspect="1" noChangeArrowheads="1"/>
          </p:cNvPicPr>
          <p:nvPr/>
        </p:nvPicPr>
        <p:blipFill>
          <a:blip r:embed="rId6" cstate="print"/>
          <a:srcRect/>
          <a:stretch>
            <a:fillRect/>
          </a:stretch>
        </p:blipFill>
        <p:spPr bwMode="auto">
          <a:xfrm>
            <a:off x="1066800" y="4953000"/>
            <a:ext cx="6951406" cy="1066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9" name="Oval 8"/>
          <p:cNvSpPr/>
          <p:nvPr/>
        </p:nvSpPr>
        <p:spPr>
          <a:xfrm>
            <a:off x="5257800" y="4953000"/>
            <a:ext cx="533400" cy="1143000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098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228600" y="304800"/>
            <a:ext cx="3114675" cy="4191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4099" name="Picture 3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533399" y="838200"/>
            <a:ext cx="8075543" cy="9906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6" name="TextBox 5"/>
          <p:cNvSpPr txBox="1"/>
          <p:nvPr/>
        </p:nvSpPr>
        <p:spPr>
          <a:xfrm>
            <a:off x="0" y="2133600"/>
            <a:ext cx="914400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/>
              <a:t>If C is very large, the first term would be chosen to be very low. So how can we make it zero</a:t>
            </a:r>
          </a:p>
        </p:txBody>
      </p:sp>
      <p:pic>
        <p:nvPicPr>
          <p:cNvPr id="4100" name="Picture 4"/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381000" y="3200400"/>
            <a:ext cx="2533650" cy="4286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4101" name="Picture 5"/>
          <p:cNvPicPr>
            <a:picLocks noChangeAspect="1" noChangeArrowheads="1"/>
          </p:cNvPicPr>
          <p:nvPr/>
        </p:nvPicPr>
        <p:blipFill>
          <a:blip r:embed="rId5" cstate="print"/>
          <a:srcRect/>
          <a:stretch>
            <a:fillRect/>
          </a:stretch>
        </p:blipFill>
        <p:spPr bwMode="auto">
          <a:xfrm>
            <a:off x="381000" y="4724400"/>
            <a:ext cx="2552700" cy="4667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4102" name="Picture 6"/>
          <p:cNvPicPr>
            <a:picLocks noChangeAspect="1" noChangeArrowheads="1"/>
          </p:cNvPicPr>
          <p:nvPr/>
        </p:nvPicPr>
        <p:blipFill>
          <a:blip r:embed="rId6" cstate="print"/>
          <a:srcRect/>
          <a:stretch>
            <a:fillRect/>
          </a:stretch>
        </p:blipFill>
        <p:spPr bwMode="auto">
          <a:xfrm>
            <a:off x="6324600" y="2895600"/>
            <a:ext cx="2466975" cy="14859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4103" name="Picture 7"/>
          <p:cNvPicPr>
            <a:picLocks noChangeAspect="1" noChangeArrowheads="1"/>
          </p:cNvPicPr>
          <p:nvPr/>
        </p:nvPicPr>
        <p:blipFill>
          <a:blip r:embed="rId7" cstate="print"/>
          <a:srcRect/>
          <a:stretch>
            <a:fillRect/>
          </a:stretch>
        </p:blipFill>
        <p:spPr bwMode="auto">
          <a:xfrm>
            <a:off x="6553200" y="4953000"/>
            <a:ext cx="2381250" cy="14192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11" name="TextBox 10"/>
          <p:cNvSpPr txBox="1"/>
          <p:nvPr/>
        </p:nvSpPr>
        <p:spPr>
          <a:xfrm>
            <a:off x="838200" y="3886200"/>
            <a:ext cx="22098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l-GR" sz="2400" b="1" dirty="0"/>
              <a:t>ϴ</a:t>
            </a:r>
            <a:r>
              <a:rPr lang="en-US" sz="2400" b="1" baseline="30000" dirty="0" err="1"/>
              <a:t>T</a:t>
            </a:r>
            <a:r>
              <a:rPr lang="en-US" sz="2400" b="1" dirty="0" err="1"/>
              <a:t>x</a:t>
            </a:r>
            <a:r>
              <a:rPr lang="en-US" sz="2400" b="1" baseline="30000" dirty="0"/>
              <a:t>(</a:t>
            </a:r>
            <a:r>
              <a:rPr lang="en-US" sz="2400" b="1" baseline="30000" dirty="0" err="1"/>
              <a:t>i</a:t>
            </a:r>
            <a:r>
              <a:rPr lang="en-US" sz="2400" b="1" baseline="30000" dirty="0"/>
              <a:t>)</a:t>
            </a:r>
            <a:r>
              <a:rPr lang="en-US" sz="2400" b="1" dirty="0"/>
              <a:t>&gt;1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38200" y="5329535"/>
            <a:ext cx="22098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l-GR" sz="2400" b="1" dirty="0"/>
              <a:t>ϴ</a:t>
            </a:r>
            <a:r>
              <a:rPr lang="en-US" sz="2400" b="1" baseline="30000" dirty="0" err="1"/>
              <a:t>T</a:t>
            </a:r>
            <a:r>
              <a:rPr lang="en-US" sz="2400" b="1" dirty="0" err="1"/>
              <a:t>x</a:t>
            </a:r>
            <a:r>
              <a:rPr lang="en-US" sz="2400" b="1" baseline="30000" dirty="0"/>
              <a:t>(</a:t>
            </a:r>
            <a:r>
              <a:rPr lang="en-US" sz="2400" b="1" baseline="30000" dirty="0" err="1"/>
              <a:t>i</a:t>
            </a:r>
            <a:r>
              <a:rPr lang="en-US" sz="2400" b="1" baseline="30000" dirty="0"/>
              <a:t>)</a:t>
            </a:r>
            <a:r>
              <a:rPr lang="en-US" sz="2400" b="1" dirty="0"/>
              <a:t>&lt;-1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0" y="6172200"/>
            <a:ext cx="65532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*</a:t>
            </a:r>
            <a:r>
              <a:rPr lang="en-US" b="1" dirty="0"/>
              <a:t>We minimize the first term with the aforementioned constraints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122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228600" y="381000"/>
            <a:ext cx="6276975" cy="4857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5123" name="Picture 3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1447800" y="1295400"/>
            <a:ext cx="6019800" cy="519891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cxnSp>
        <p:nvCxnSpPr>
          <p:cNvPr id="7" name="Straight Connector 6"/>
          <p:cNvCxnSpPr/>
          <p:nvPr/>
        </p:nvCxnSpPr>
        <p:spPr>
          <a:xfrm>
            <a:off x="3657600" y="1828800"/>
            <a:ext cx="609600" cy="4419600"/>
          </a:xfrm>
          <a:prstGeom prst="line">
            <a:avLst/>
          </a:prstGeom>
          <a:ln w="25400">
            <a:solidFill>
              <a:srgbClr val="D8E628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Straight Connector 7"/>
          <p:cNvCxnSpPr/>
          <p:nvPr/>
        </p:nvCxnSpPr>
        <p:spPr>
          <a:xfrm>
            <a:off x="3124200" y="2057400"/>
            <a:ext cx="1981200" cy="4267200"/>
          </a:xfrm>
          <a:prstGeom prst="line">
            <a:avLst/>
          </a:prstGeom>
          <a:ln w="25400">
            <a:solidFill>
              <a:srgbClr val="00B05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Straight Connector 10"/>
          <p:cNvCxnSpPr/>
          <p:nvPr/>
        </p:nvCxnSpPr>
        <p:spPr>
          <a:xfrm>
            <a:off x="3048000" y="1752600"/>
            <a:ext cx="2667000" cy="4724400"/>
          </a:xfrm>
          <a:prstGeom prst="line">
            <a:avLst/>
          </a:prstGeom>
          <a:ln w="254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Straight Connector 13"/>
          <p:cNvCxnSpPr/>
          <p:nvPr/>
        </p:nvCxnSpPr>
        <p:spPr>
          <a:xfrm>
            <a:off x="3276600" y="1676400"/>
            <a:ext cx="2667000" cy="4724400"/>
          </a:xfrm>
          <a:prstGeom prst="line">
            <a:avLst/>
          </a:prstGeom>
          <a:ln w="254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Straight Connector 14"/>
          <p:cNvCxnSpPr/>
          <p:nvPr/>
        </p:nvCxnSpPr>
        <p:spPr>
          <a:xfrm>
            <a:off x="2819400" y="1905000"/>
            <a:ext cx="2667000" cy="4724400"/>
          </a:xfrm>
          <a:prstGeom prst="line">
            <a:avLst/>
          </a:prstGeom>
          <a:ln w="254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8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24" dur="20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8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27" dur="20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146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304800" y="228600"/>
            <a:ext cx="5762625" cy="3714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6147" name="Picture 3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1981200" y="1447800"/>
            <a:ext cx="5455783" cy="42433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6148" name="Picture 4"/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2895600" y="4648200"/>
            <a:ext cx="457200" cy="508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cxnSp>
        <p:nvCxnSpPr>
          <p:cNvPr id="8" name="Straight Connector 7"/>
          <p:cNvCxnSpPr>
            <a:stCxn id="6147" idx="0"/>
          </p:cNvCxnSpPr>
          <p:nvPr/>
        </p:nvCxnSpPr>
        <p:spPr>
          <a:xfrm>
            <a:off x="4709092" y="1447800"/>
            <a:ext cx="15308" cy="3733800"/>
          </a:xfrm>
          <a:prstGeom prst="line">
            <a:avLst/>
          </a:prstGeom>
          <a:ln w="254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Straight Connector 10"/>
          <p:cNvCxnSpPr/>
          <p:nvPr/>
        </p:nvCxnSpPr>
        <p:spPr>
          <a:xfrm flipH="1">
            <a:off x="2667000" y="1752600"/>
            <a:ext cx="3810000" cy="3200400"/>
          </a:xfrm>
          <a:prstGeom prst="line">
            <a:avLst/>
          </a:prstGeom>
          <a:ln w="25400">
            <a:solidFill>
              <a:srgbClr val="00B05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TextBox 13"/>
          <p:cNvSpPr txBox="1"/>
          <p:nvPr/>
        </p:nvSpPr>
        <p:spPr>
          <a:xfrm>
            <a:off x="4800600" y="4648200"/>
            <a:ext cx="259080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/>
              <a:t>C not too large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614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614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8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23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0"/>
            <a:ext cx="8229600" cy="1143000"/>
          </a:xfrm>
        </p:spPr>
        <p:txBody>
          <a:bodyPr/>
          <a:lstStyle/>
          <a:p>
            <a:r>
              <a:rPr lang="en-US" dirty="0"/>
              <a:t>Large Margin Classification </a:t>
            </a:r>
            <a:r>
              <a:rPr lang="en-US" dirty="0" err="1"/>
              <a:t>Maths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066800"/>
            <a:ext cx="8229600" cy="4525963"/>
          </a:xfrm>
        </p:spPr>
        <p:txBody>
          <a:bodyPr/>
          <a:lstStyle/>
          <a:p>
            <a:r>
              <a:rPr lang="en-US" dirty="0"/>
              <a:t>Vector Inner Products</a:t>
            </a:r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5257800" y="1143000"/>
            <a:ext cx="1219200" cy="9048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1027" name="Picture 3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7315200" y="1066800"/>
            <a:ext cx="1200150" cy="8763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6" name="TextBox 5"/>
          <p:cNvSpPr txBox="1"/>
          <p:nvPr/>
        </p:nvSpPr>
        <p:spPr>
          <a:xfrm>
            <a:off x="4953000" y="2133600"/>
            <a:ext cx="4191000" cy="526297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 err="1"/>
              <a:t>u</a:t>
            </a:r>
            <a:r>
              <a:rPr lang="en-US" sz="2800" b="1" baseline="30000" dirty="0" err="1"/>
              <a:t>T</a:t>
            </a:r>
            <a:r>
              <a:rPr lang="en-US" sz="2800" b="1" dirty="0" err="1"/>
              <a:t>v</a:t>
            </a:r>
            <a:r>
              <a:rPr lang="en-US" sz="2800" b="1" dirty="0"/>
              <a:t>=?</a:t>
            </a:r>
          </a:p>
          <a:p>
            <a:endParaRPr lang="en-US" sz="2800" b="1" dirty="0"/>
          </a:p>
          <a:p>
            <a:r>
              <a:rPr lang="en-US" sz="2800" b="1" dirty="0"/>
              <a:t>||u|| = Length of vector u</a:t>
            </a:r>
          </a:p>
          <a:p>
            <a:endParaRPr lang="en-US" sz="2800" b="1" dirty="0"/>
          </a:p>
          <a:p>
            <a:endParaRPr lang="en-US" sz="2800" b="1" dirty="0">
              <a:solidFill>
                <a:srgbClr val="00B0F0"/>
              </a:solidFill>
            </a:endParaRPr>
          </a:p>
          <a:p>
            <a:r>
              <a:rPr lang="en-US" sz="2800" b="1" dirty="0">
                <a:solidFill>
                  <a:srgbClr val="00B0F0"/>
                </a:solidFill>
              </a:rPr>
              <a:t>P = projection of vector v on u. It can be +</a:t>
            </a:r>
            <a:r>
              <a:rPr lang="en-US" sz="2800" b="1" dirty="0" err="1">
                <a:solidFill>
                  <a:srgbClr val="00B0F0"/>
                </a:solidFill>
              </a:rPr>
              <a:t>ve</a:t>
            </a:r>
            <a:r>
              <a:rPr lang="en-US" sz="2800" b="1" dirty="0">
                <a:solidFill>
                  <a:srgbClr val="00B0F0"/>
                </a:solidFill>
              </a:rPr>
              <a:t> or -</a:t>
            </a:r>
            <a:r>
              <a:rPr lang="en-US" sz="2800" b="1" dirty="0" err="1">
                <a:solidFill>
                  <a:srgbClr val="00B0F0"/>
                </a:solidFill>
              </a:rPr>
              <a:t>ve</a:t>
            </a:r>
            <a:endParaRPr lang="en-US" sz="2800" b="1" dirty="0">
              <a:solidFill>
                <a:srgbClr val="00B0F0"/>
              </a:solidFill>
            </a:endParaRPr>
          </a:p>
          <a:p>
            <a:endParaRPr lang="en-US" sz="2800" b="1" dirty="0">
              <a:solidFill>
                <a:srgbClr val="00B0F0"/>
              </a:solidFill>
            </a:endParaRPr>
          </a:p>
          <a:p>
            <a:r>
              <a:rPr lang="en-US" sz="2800" b="1" dirty="0" err="1"/>
              <a:t>u</a:t>
            </a:r>
            <a:r>
              <a:rPr lang="en-US" sz="2800" b="1" baseline="30000" dirty="0" err="1"/>
              <a:t>T</a:t>
            </a:r>
            <a:r>
              <a:rPr lang="en-US" sz="2800" b="1" dirty="0" err="1"/>
              <a:t>v</a:t>
            </a:r>
            <a:r>
              <a:rPr lang="en-US" sz="2800" b="1" dirty="0"/>
              <a:t> = u</a:t>
            </a:r>
            <a:r>
              <a:rPr lang="en-US" sz="2800" b="1" baseline="-25000" dirty="0"/>
              <a:t>1</a:t>
            </a:r>
            <a:r>
              <a:rPr lang="en-US" sz="2800" b="1" dirty="0"/>
              <a:t>v</a:t>
            </a:r>
            <a:r>
              <a:rPr lang="en-US" sz="2800" b="1" baseline="-25000" dirty="0"/>
              <a:t>1</a:t>
            </a:r>
            <a:r>
              <a:rPr lang="en-US" sz="2800" b="1" dirty="0"/>
              <a:t> + u</a:t>
            </a:r>
            <a:r>
              <a:rPr lang="en-US" sz="2800" b="1" baseline="-25000" dirty="0"/>
              <a:t>2</a:t>
            </a:r>
            <a:r>
              <a:rPr lang="en-US" sz="2800" b="1" dirty="0"/>
              <a:t>v</a:t>
            </a:r>
            <a:r>
              <a:rPr lang="en-US" sz="2800" b="1" baseline="-25000" dirty="0"/>
              <a:t>2</a:t>
            </a:r>
            <a:r>
              <a:rPr lang="en-US" sz="2800" b="1" dirty="0"/>
              <a:t> = p.||u|| </a:t>
            </a:r>
            <a:endParaRPr lang="en-US" sz="2800" b="1" dirty="0">
              <a:solidFill>
                <a:srgbClr val="00B0F0"/>
              </a:solidFill>
            </a:endParaRPr>
          </a:p>
          <a:p>
            <a:endParaRPr lang="en-US" sz="2800" b="1" dirty="0">
              <a:solidFill>
                <a:srgbClr val="00B0F0"/>
              </a:solidFill>
            </a:endParaRPr>
          </a:p>
          <a:p>
            <a:endParaRPr lang="en-US" sz="2800" b="1" dirty="0"/>
          </a:p>
          <a:p>
            <a:r>
              <a:rPr lang="en-US" sz="2800" b="1" dirty="0"/>
              <a:t>     </a:t>
            </a:r>
          </a:p>
        </p:txBody>
      </p:sp>
      <p:pic>
        <p:nvPicPr>
          <p:cNvPr id="1028" name="Picture 4"/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914400" y="1981200"/>
            <a:ext cx="2990850" cy="19335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1029" name="Picture 5"/>
          <p:cNvPicPr>
            <a:picLocks noChangeAspect="1" noChangeArrowheads="1"/>
          </p:cNvPicPr>
          <p:nvPr/>
        </p:nvPicPr>
        <p:blipFill>
          <a:blip r:embed="rId5" cstate="print"/>
          <a:srcRect/>
          <a:stretch>
            <a:fillRect/>
          </a:stretch>
        </p:blipFill>
        <p:spPr bwMode="auto">
          <a:xfrm>
            <a:off x="838200" y="4419600"/>
            <a:ext cx="3105150" cy="21336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cxnSp>
        <p:nvCxnSpPr>
          <p:cNvPr id="10" name="Straight Arrow Connector 9"/>
          <p:cNvCxnSpPr/>
          <p:nvPr/>
        </p:nvCxnSpPr>
        <p:spPr>
          <a:xfrm flipV="1">
            <a:off x="1143000" y="2286000"/>
            <a:ext cx="1524000" cy="1371600"/>
          </a:xfrm>
          <a:prstGeom prst="straightConnector1">
            <a:avLst/>
          </a:prstGeom>
          <a:ln w="38100">
            <a:solidFill>
              <a:srgbClr val="00B05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Straight Arrow Connector 10"/>
          <p:cNvCxnSpPr/>
          <p:nvPr/>
        </p:nvCxnSpPr>
        <p:spPr>
          <a:xfrm flipV="1">
            <a:off x="1143000" y="2971800"/>
            <a:ext cx="2438400" cy="685800"/>
          </a:xfrm>
          <a:prstGeom prst="straightConnector1">
            <a:avLst/>
          </a:prstGeom>
          <a:ln w="381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Straight Connector 15"/>
          <p:cNvCxnSpPr/>
          <p:nvPr/>
        </p:nvCxnSpPr>
        <p:spPr>
          <a:xfrm>
            <a:off x="2667000" y="2362200"/>
            <a:ext cx="304800" cy="762000"/>
          </a:xfrm>
          <a:prstGeom prst="line">
            <a:avLst/>
          </a:prstGeom>
          <a:ln w="38100">
            <a:solidFill>
              <a:schemeClr val="tx1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/>
          <p:cNvCxnSpPr/>
          <p:nvPr/>
        </p:nvCxnSpPr>
        <p:spPr>
          <a:xfrm flipV="1">
            <a:off x="1143000" y="3124200"/>
            <a:ext cx="1828800" cy="533400"/>
          </a:xfrm>
          <a:prstGeom prst="line">
            <a:avLst/>
          </a:prstGeom>
          <a:ln w="38100">
            <a:solidFill>
              <a:srgbClr val="0070C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TextBox 18"/>
          <p:cNvSpPr txBox="1"/>
          <p:nvPr/>
        </p:nvSpPr>
        <p:spPr>
          <a:xfrm>
            <a:off x="2362200" y="3200400"/>
            <a:ext cx="20574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>
                <a:solidFill>
                  <a:srgbClr val="00B0F0"/>
                </a:solidFill>
              </a:rPr>
              <a:t>P</a:t>
            </a:r>
            <a:endParaRPr lang="en-US" b="1" dirty="0">
              <a:solidFill>
                <a:srgbClr val="00B0F0"/>
              </a:solidFill>
            </a:endParaRPr>
          </a:p>
        </p:txBody>
      </p:sp>
      <p:sp>
        <p:nvSpPr>
          <p:cNvPr id="20" name="TextBox 19"/>
          <p:cNvSpPr txBox="1"/>
          <p:nvPr/>
        </p:nvSpPr>
        <p:spPr>
          <a:xfrm>
            <a:off x="3200400" y="2524780"/>
            <a:ext cx="3810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>
                <a:solidFill>
                  <a:srgbClr val="FF0000"/>
                </a:solidFill>
              </a:rPr>
              <a:t>u</a:t>
            </a:r>
            <a:r>
              <a:rPr lang="en-US" sz="2800" b="1" dirty="0">
                <a:solidFill>
                  <a:srgbClr val="00B0F0"/>
                </a:solidFill>
              </a:rPr>
              <a:t> </a:t>
            </a:r>
            <a:endParaRPr lang="en-US" b="1" dirty="0">
              <a:solidFill>
                <a:srgbClr val="00B0F0"/>
              </a:solidFill>
            </a:endParaRPr>
          </a:p>
        </p:txBody>
      </p:sp>
      <p:sp>
        <p:nvSpPr>
          <p:cNvPr id="21" name="TextBox 20"/>
          <p:cNvSpPr txBox="1"/>
          <p:nvPr/>
        </p:nvSpPr>
        <p:spPr>
          <a:xfrm>
            <a:off x="1828800" y="2286000"/>
            <a:ext cx="3810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>
                <a:solidFill>
                  <a:srgbClr val="00B050"/>
                </a:solidFill>
              </a:rPr>
              <a:t>v</a:t>
            </a:r>
            <a:r>
              <a:rPr lang="en-US" sz="2800" b="1" dirty="0">
                <a:solidFill>
                  <a:srgbClr val="00B0F0"/>
                </a:solidFill>
              </a:rPr>
              <a:t> </a:t>
            </a:r>
            <a:endParaRPr lang="en-US" b="1" dirty="0">
              <a:solidFill>
                <a:srgbClr val="00B0F0"/>
              </a:solidFill>
            </a:endParaRPr>
          </a:p>
        </p:txBody>
      </p:sp>
      <p:sp>
        <p:nvSpPr>
          <p:cNvPr id="1031" name="Rectangle 7"/>
          <p:cNvSpPr>
            <a:spLocks noChangeArrowheads="1"/>
          </p:cNvSpPr>
          <p:nvPr/>
        </p:nvSpPr>
        <p:spPr bwMode="auto">
          <a:xfrm>
            <a:off x="0" y="0"/>
            <a:ext cx="9144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p:pic>
        <p:nvPicPr>
          <p:cNvPr id="1030" name="Picture 6"/>
          <p:cNvPicPr>
            <a:picLocks noChangeAspect="1" noChangeArrowheads="1"/>
          </p:cNvPicPr>
          <p:nvPr/>
        </p:nvPicPr>
        <p:blipFill>
          <a:blip r:embed="rId6" cstate="print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rcRect/>
          <a:stretch>
            <a:fillRect/>
          </a:stretch>
        </p:blipFill>
        <p:spPr bwMode="auto">
          <a:xfrm>
            <a:off x="6248400" y="3429000"/>
            <a:ext cx="1666875" cy="533400"/>
          </a:xfrm>
          <a:prstGeom prst="rect">
            <a:avLst/>
          </a:prstGeom>
          <a:noFill/>
        </p:spPr>
      </p:pic>
      <p:cxnSp>
        <p:nvCxnSpPr>
          <p:cNvPr id="24" name="Straight Arrow Connector 23"/>
          <p:cNvCxnSpPr/>
          <p:nvPr/>
        </p:nvCxnSpPr>
        <p:spPr>
          <a:xfrm flipH="1" flipV="1">
            <a:off x="1066800" y="5410200"/>
            <a:ext cx="914400" cy="533400"/>
          </a:xfrm>
          <a:prstGeom prst="straightConnector1">
            <a:avLst/>
          </a:prstGeom>
          <a:ln w="38100">
            <a:solidFill>
              <a:srgbClr val="00B05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Straight Arrow Connector 24"/>
          <p:cNvCxnSpPr/>
          <p:nvPr/>
        </p:nvCxnSpPr>
        <p:spPr>
          <a:xfrm flipV="1">
            <a:off x="1981200" y="5257800"/>
            <a:ext cx="2438400" cy="685800"/>
          </a:xfrm>
          <a:prstGeom prst="straightConnector1">
            <a:avLst/>
          </a:prstGeom>
          <a:ln w="381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Straight Connector 25"/>
          <p:cNvCxnSpPr/>
          <p:nvPr/>
        </p:nvCxnSpPr>
        <p:spPr>
          <a:xfrm>
            <a:off x="1066800" y="5410200"/>
            <a:ext cx="228600" cy="762000"/>
          </a:xfrm>
          <a:prstGeom prst="line">
            <a:avLst/>
          </a:prstGeom>
          <a:ln w="38100">
            <a:solidFill>
              <a:schemeClr val="tx1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Straight Connector 26"/>
          <p:cNvCxnSpPr/>
          <p:nvPr/>
        </p:nvCxnSpPr>
        <p:spPr>
          <a:xfrm flipH="1">
            <a:off x="1219200" y="5943600"/>
            <a:ext cx="762000" cy="228600"/>
          </a:xfrm>
          <a:prstGeom prst="line">
            <a:avLst/>
          </a:prstGeom>
          <a:ln w="38100">
            <a:solidFill>
              <a:srgbClr val="0070C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8" name="TextBox 27"/>
          <p:cNvSpPr txBox="1"/>
          <p:nvPr/>
        </p:nvSpPr>
        <p:spPr>
          <a:xfrm>
            <a:off x="4038600" y="4810780"/>
            <a:ext cx="3810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>
                <a:solidFill>
                  <a:srgbClr val="FF0000"/>
                </a:solidFill>
              </a:rPr>
              <a:t>u</a:t>
            </a:r>
            <a:r>
              <a:rPr lang="en-US" sz="2800" b="1" dirty="0">
                <a:solidFill>
                  <a:srgbClr val="00B0F0"/>
                </a:solidFill>
              </a:rPr>
              <a:t> </a:t>
            </a:r>
            <a:endParaRPr lang="en-US" b="1" dirty="0">
              <a:solidFill>
                <a:srgbClr val="00B0F0"/>
              </a:solidFill>
            </a:endParaRPr>
          </a:p>
        </p:txBody>
      </p:sp>
      <p:sp>
        <p:nvSpPr>
          <p:cNvPr id="29" name="TextBox 28"/>
          <p:cNvSpPr txBox="1"/>
          <p:nvPr/>
        </p:nvSpPr>
        <p:spPr>
          <a:xfrm flipH="1">
            <a:off x="1371600" y="5257800"/>
            <a:ext cx="3810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>
                <a:solidFill>
                  <a:srgbClr val="00B050"/>
                </a:solidFill>
              </a:rPr>
              <a:t>v</a:t>
            </a:r>
            <a:r>
              <a:rPr lang="en-US" sz="2800" b="1" dirty="0">
                <a:solidFill>
                  <a:srgbClr val="00B0F0"/>
                </a:solidFill>
              </a:rPr>
              <a:t> </a:t>
            </a:r>
            <a:endParaRPr lang="en-US" b="1" dirty="0">
              <a:solidFill>
                <a:srgbClr val="00B0F0"/>
              </a:solidFill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-152400"/>
            <a:ext cx="8229600" cy="1143000"/>
          </a:xfrm>
        </p:spPr>
        <p:txBody>
          <a:bodyPr>
            <a:normAutofit/>
          </a:bodyPr>
          <a:lstStyle/>
          <a:p>
            <a:r>
              <a:rPr lang="en-US" dirty="0"/>
              <a:t>SVM Decision Boundary</a:t>
            </a:r>
          </a:p>
        </p:txBody>
      </p:sp>
      <p:pic>
        <p:nvPicPr>
          <p:cNvPr id="2049" name="Picture 1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381000" y="838200"/>
            <a:ext cx="4829175" cy="22574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6" name="TextBox 5"/>
          <p:cNvSpPr txBox="1"/>
          <p:nvPr/>
        </p:nvSpPr>
        <p:spPr>
          <a:xfrm>
            <a:off x="457200" y="3200400"/>
            <a:ext cx="3962400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/>
              <a:t>Simplification</a:t>
            </a:r>
            <a:r>
              <a:rPr lang="en-US" sz="2400" dirty="0"/>
              <a:t>: θ</a:t>
            </a:r>
            <a:r>
              <a:rPr lang="en-US" sz="2400" baseline="-25000" dirty="0"/>
              <a:t>0</a:t>
            </a:r>
            <a:r>
              <a:rPr lang="en-US" sz="2400" dirty="0"/>
              <a:t>=0 and n =2</a:t>
            </a:r>
            <a:r>
              <a:rPr lang="en-US" baseline="-25000" dirty="0"/>
              <a:t> </a:t>
            </a:r>
            <a:endParaRPr lang="en-US" dirty="0"/>
          </a:p>
          <a:p>
            <a:endParaRPr lang="en-US" dirty="0"/>
          </a:p>
        </p:txBody>
      </p:sp>
      <p:sp>
        <p:nvSpPr>
          <p:cNvPr id="2052" name="Rectangle 4"/>
          <p:cNvSpPr>
            <a:spLocks noChangeArrowheads="1"/>
          </p:cNvSpPr>
          <p:nvPr/>
        </p:nvSpPr>
        <p:spPr bwMode="auto">
          <a:xfrm>
            <a:off x="0" y="0"/>
            <a:ext cx="9144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p:pic>
        <p:nvPicPr>
          <p:cNvPr id="2051" name="Picture 3"/>
          <p:cNvPicPr>
            <a:picLocks noChangeAspect="1" noChangeArrowheads="1"/>
          </p:cNvPicPr>
          <p:nvPr/>
        </p:nvPicPr>
        <p:blipFill>
          <a:blip r:embed="rId3" cstate="print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rcRect/>
          <a:stretch>
            <a:fillRect/>
          </a:stretch>
        </p:blipFill>
        <p:spPr bwMode="auto">
          <a:xfrm>
            <a:off x="2438399" y="914400"/>
            <a:ext cx="3896139" cy="914400"/>
          </a:xfrm>
          <a:prstGeom prst="rect">
            <a:avLst/>
          </a:prstGeom>
          <a:noFill/>
        </p:spPr>
      </p:pic>
      <p:sp>
        <p:nvSpPr>
          <p:cNvPr id="2053" name="Rectangle 5"/>
          <p:cNvSpPr>
            <a:spLocks noChangeArrowheads="1"/>
          </p:cNvSpPr>
          <p:nvPr/>
        </p:nvSpPr>
        <p:spPr bwMode="auto">
          <a:xfrm>
            <a:off x="0" y="89535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  <a:cs typeface="Arial" pitchFamily="34" charset="0"/>
            </a:endParaRPr>
          </a:p>
        </p:txBody>
      </p:sp>
      <p:sp>
        <p:nvSpPr>
          <p:cNvPr id="2055" name="Rectangle 7"/>
          <p:cNvSpPr>
            <a:spLocks noChangeArrowheads="1"/>
          </p:cNvSpPr>
          <p:nvPr/>
        </p:nvSpPr>
        <p:spPr bwMode="auto">
          <a:xfrm>
            <a:off x="0" y="-130805"/>
            <a:ext cx="216726" cy="26161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sz="11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itchFamily="34" charset="0"/>
                <a:ea typeface="Times New Roman" pitchFamily="18" charset="0"/>
                <a:cs typeface="Times New Roman" pitchFamily="18" charset="0"/>
              </a:rPr>
              <a:t> </a:t>
            </a:r>
            <a:endParaRPr kumimoji="0" 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  <a:cs typeface="Arial" pitchFamily="34" charset="0"/>
            </a:endParaRPr>
          </a:p>
        </p:txBody>
      </p:sp>
      <p:pic>
        <p:nvPicPr>
          <p:cNvPr id="2054" name="Picture 6"/>
          <p:cNvPicPr>
            <a:picLocks noChangeAspect="1" noChangeArrowheads="1"/>
          </p:cNvPicPr>
          <p:nvPr/>
        </p:nvPicPr>
        <p:blipFill>
          <a:blip r:embed="rId4" cstate="print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rcRect/>
          <a:stretch>
            <a:fillRect/>
          </a:stretch>
        </p:blipFill>
        <p:spPr bwMode="auto">
          <a:xfrm>
            <a:off x="7315199" y="990600"/>
            <a:ext cx="1100667" cy="762000"/>
          </a:xfrm>
          <a:prstGeom prst="rect">
            <a:avLst/>
          </a:prstGeom>
          <a:noFill/>
        </p:spPr>
      </p:pic>
      <p:sp>
        <p:nvSpPr>
          <p:cNvPr id="12" name="Rectangle 11"/>
          <p:cNvSpPr/>
          <p:nvPr/>
        </p:nvSpPr>
        <p:spPr>
          <a:xfrm>
            <a:off x="6553200" y="1066800"/>
            <a:ext cx="533400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b="1" dirty="0">
                <a:latin typeface="Calibri" pitchFamily="34" charset="0"/>
                <a:ea typeface="Times New Roman" pitchFamily="18" charset="0"/>
                <a:cs typeface="Times New Roman" pitchFamily="18" charset="0"/>
              </a:rPr>
              <a:t>=</a:t>
            </a:r>
            <a:endParaRPr lang="en-US" sz="2400" b="1" dirty="0"/>
          </a:p>
        </p:txBody>
      </p:sp>
      <p:sp>
        <p:nvSpPr>
          <p:cNvPr id="2056" name="Rectangle 8"/>
          <p:cNvSpPr>
            <a:spLocks noChangeArrowheads="1"/>
          </p:cNvSpPr>
          <p:nvPr/>
        </p:nvSpPr>
        <p:spPr bwMode="auto">
          <a:xfrm>
            <a:off x="5257800" y="3352800"/>
            <a:ext cx="2667000" cy="52322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sz="28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Calibri" pitchFamily="34" charset="0"/>
                <a:ea typeface="Times New Roman" pitchFamily="18" charset="0"/>
                <a:cs typeface="Times New Roman" pitchFamily="18" charset="0"/>
              </a:rPr>
              <a:t>θ</a:t>
            </a:r>
            <a:r>
              <a:rPr kumimoji="0" lang="en-US" sz="2800" b="1" i="0" u="none" strike="noStrike" cap="none" normalizeH="0" baseline="30000" dirty="0" err="1">
                <a:ln>
                  <a:noFill/>
                </a:ln>
                <a:solidFill>
                  <a:schemeClr val="tx1"/>
                </a:solidFill>
                <a:effectLst/>
                <a:latin typeface="Calibri" pitchFamily="34" charset="0"/>
                <a:ea typeface="Times New Roman" pitchFamily="18" charset="0"/>
                <a:cs typeface="Times New Roman" pitchFamily="18" charset="0"/>
              </a:rPr>
              <a:t>T</a:t>
            </a:r>
            <a:r>
              <a:rPr kumimoji="0" lang="en-US" sz="28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Calibri" pitchFamily="34" charset="0"/>
                <a:ea typeface="Times New Roman" pitchFamily="18" charset="0"/>
                <a:cs typeface="Times New Roman" pitchFamily="18" charset="0"/>
              </a:rPr>
              <a:t>X</a:t>
            </a:r>
            <a:r>
              <a:rPr kumimoji="0" lang="en-US" sz="2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itchFamily="34" charset="0"/>
                <a:ea typeface="Times New Roman" pitchFamily="18" charset="0"/>
                <a:cs typeface="Times New Roman" pitchFamily="18" charset="0"/>
              </a:rPr>
              <a:t> </a:t>
            </a:r>
            <a:r>
              <a:rPr kumimoji="0" lang="en-US" sz="2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ea typeface="Times New Roman" pitchFamily="18" charset="0"/>
                <a:cs typeface="Times New Roman" pitchFamily="18" charset="0"/>
                <a:sym typeface="Wingdings" pitchFamily="2" charset="2"/>
              </a:rPr>
              <a:t></a:t>
            </a:r>
            <a:r>
              <a:rPr kumimoji="0" lang="en-US" sz="2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itchFamily="34" charset="0"/>
                <a:ea typeface="Times New Roman" pitchFamily="18" charset="0"/>
                <a:cs typeface="Times New Roman" pitchFamily="18" charset="0"/>
              </a:rPr>
              <a:t> </a:t>
            </a:r>
            <a:r>
              <a:rPr kumimoji="0" lang="en-US" sz="28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Calibri" pitchFamily="34" charset="0"/>
                <a:ea typeface="Times New Roman" pitchFamily="18" charset="0"/>
                <a:cs typeface="Times New Roman" pitchFamily="18" charset="0"/>
              </a:rPr>
              <a:t>u</a:t>
            </a:r>
            <a:r>
              <a:rPr kumimoji="0" lang="en-US" sz="2800" b="1" i="0" u="none" strike="noStrike" cap="none" normalizeH="0" baseline="30000" dirty="0" err="1">
                <a:ln>
                  <a:noFill/>
                </a:ln>
                <a:solidFill>
                  <a:schemeClr val="tx1"/>
                </a:solidFill>
                <a:effectLst/>
                <a:latin typeface="Calibri" pitchFamily="34" charset="0"/>
                <a:ea typeface="Times New Roman" pitchFamily="18" charset="0"/>
                <a:cs typeface="Times New Roman" pitchFamily="18" charset="0"/>
                <a:sym typeface="Wingdings" pitchFamily="2" charset="2"/>
              </a:rPr>
              <a:t>T</a:t>
            </a:r>
            <a:r>
              <a:rPr kumimoji="0" lang="en-US" sz="28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Calibri" pitchFamily="34" charset="0"/>
                <a:ea typeface="Times New Roman" pitchFamily="18" charset="0"/>
                <a:cs typeface="Times New Roman" pitchFamily="18" charset="0"/>
                <a:sym typeface="Wingdings" pitchFamily="2" charset="2"/>
              </a:rPr>
              <a:t>v</a:t>
            </a:r>
            <a:endParaRPr kumimoji="0" lang="en-US" sz="28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  <a:ea typeface="Times New Roman" pitchFamily="18" charset="0"/>
              <a:cs typeface="Times New Roman" pitchFamily="18" charset="0"/>
              <a:sym typeface="Wingdings" pitchFamily="2" charset="2"/>
            </a:endParaRPr>
          </a:p>
        </p:txBody>
      </p:sp>
      <p:pic>
        <p:nvPicPr>
          <p:cNvPr id="14" name="Picture 4"/>
          <p:cNvPicPr>
            <a:picLocks noChangeAspect="1" noChangeArrowheads="1"/>
          </p:cNvPicPr>
          <p:nvPr/>
        </p:nvPicPr>
        <p:blipFill>
          <a:blip r:embed="rId5" cstate="print"/>
          <a:srcRect/>
          <a:stretch>
            <a:fillRect/>
          </a:stretch>
        </p:blipFill>
        <p:spPr bwMode="auto">
          <a:xfrm>
            <a:off x="1219200" y="4267200"/>
            <a:ext cx="2990850" cy="19335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cxnSp>
        <p:nvCxnSpPr>
          <p:cNvPr id="15" name="Straight Arrow Connector 14"/>
          <p:cNvCxnSpPr/>
          <p:nvPr/>
        </p:nvCxnSpPr>
        <p:spPr>
          <a:xfrm flipV="1">
            <a:off x="1447800" y="4572000"/>
            <a:ext cx="1524000" cy="1371600"/>
          </a:xfrm>
          <a:prstGeom prst="straightConnector1">
            <a:avLst/>
          </a:prstGeom>
          <a:ln w="38100">
            <a:solidFill>
              <a:srgbClr val="00B05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Straight Arrow Connector 15"/>
          <p:cNvCxnSpPr/>
          <p:nvPr/>
        </p:nvCxnSpPr>
        <p:spPr>
          <a:xfrm flipV="1">
            <a:off x="1447800" y="5257800"/>
            <a:ext cx="2438400" cy="685800"/>
          </a:xfrm>
          <a:prstGeom prst="straightConnector1">
            <a:avLst/>
          </a:prstGeom>
          <a:ln w="381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Straight Connector 16"/>
          <p:cNvCxnSpPr/>
          <p:nvPr/>
        </p:nvCxnSpPr>
        <p:spPr>
          <a:xfrm>
            <a:off x="2971800" y="4648200"/>
            <a:ext cx="304800" cy="762000"/>
          </a:xfrm>
          <a:prstGeom prst="line">
            <a:avLst/>
          </a:prstGeom>
          <a:ln w="38100">
            <a:solidFill>
              <a:schemeClr val="tx1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/>
          <p:cNvCxnSpPr/>
          <p:nvPr/>
        </p:nvCxnSpPr>
        <p:spPr>
          <a:xfrm flipV="1">
            <a:off x="1447800" y="5410200"/>
            <a:ext cx="1828800" cy="533400"/>
          </a:xfrm>
          <a:prstGeom prst="line">
            <a:avLst/>
          </a:prstGeom>
          <a:ln w="38100">
            <a:solidFill>
              <a:srgbClr val="0070C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TextBox 18"/>
          <p:cNvSpPr txBox="1"/>
          <p:nvPr/>
        </p:nvSpPr>
        <p:spPr>
          <a:xfrm>
            <a:off x="3505200" y="4810780"/>
            <a:ext cx="8382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/>
              <a:t> </a:t>
            </a:r>
            <a:r>
              <a:rPr lang="en-US" sz="2800" dirty="0">
                <a:solidFill>
                  <a:srgbClr val="FF0000"/>
                </a:solidFill>
              </a:rPr>
              <a:t>θ</a:t>
            </a:r>
            <a:r>
              <a:rPr lang="en-US" sz="2800" b="1" baseline="30000" dirty="0">
                <a:solidFill>
                  <a:srgbClr val="FF0000"/>
                </a:solidFill>
              </a:rPr>
              <a:t>(</a:t>
            </a:r>
            <a:r>
              <a:rPr lang="en-US" sz="2800" b="1" baseline="30000" dirty="0" err="1">
                <a:solidFill>
                  <a:srgbClr val="FF0000"/>
                </a:solidFill>
              </a:rPr>
              <a:t>i</a:t>
            </a:r>
            <a:r>
              <a:rPr lang="en-US" sz="2800" b="1" baseline="30000" dirty="0">
                <a:solidFill>
                  <a:srgbClr val="FF0000"/>
                </a:solidFill>
              </a:rPr>
              <a:t>)</a:t>
            </a:r>
            <a:r>
              <a:rPr lang="en-US" sz="2800" b="1" dirty="0">
                <a:solidFill>
                  <a:srgbClr val="00B0F0"/>
                </a:solidFill>
              </a:rPr>
              <a:t> </a:t>
            </a:r>
            <a:endParaRPr lang="en-US" b="1" dirty="0">
              <a:solidFill>
                <a:srgbClr val="00B0F0"/>
              </a:solidFill>
            </a:endParaRPr>
          </a:p>
        </p:txBody>
      </p:sp>
      <p:sp>
        <p:nvSpPr>
          <p:cNvPr id="20" name="TextBox 19"/>
          <p:cNvSpPr txBox="1"/>
          <p:nvPr/>
        </p:nvSpPr>
        <p:spPr>
          <a:xfrm>
            <a:off x="2133600" y="4572000"/>
            <a:ext cx="9906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>
                <a:solidFill>
                  <a:srgbClr val="00B050"/>
                </a:solidFill>
              </a:rPr>
              <a:t>X</a:t>
            </a:r>
            <a:r>
              <a:rPr lang="en-US" sz="2800" b="1" baseline="30000" dirty="0">
                <a:solidFill>
                  <a:srgbClr val="00B050"/>
                </a:solidFill>
              </a:rPr>
              <a:t>(</a:t>
            </a:r>
            <a:r>
              <a:rPr lang="en-US" sz="2800" b="1" baseline="30000" dirty="0" err="1">
                <a:solidFill>
                  <a:srgbClr val="00B050"/>
                </a:solidFill>
              </a:rPr>
              <a:t>i</a:t>
            </a:r>
            <a:r>
              <a:rPr lang="en-US" sz="2800" b="1" baseline="30000" dirty="0">
                <a:solidFill>
                  <a:srgbClr val="00B050"/>
                </a:solidFill>
              </a:rPr>
              <a:t>)</a:t>
            </a:r>
            <a:r>
              <a:rPr lang="en-US" sz="2800" b="1" dirty="0">
                <a:solidFill>
                  <a:srgbClr val="00B0F0"/>
                </a:solidFill>
              </a:rPr>
              <a:t> </a:t>
            </a:r>
            <a:endParaRPr lang="en-US" b="1" dirty="0">
              <a:solidFill>
                <a:srgbClr val="00B0F0"/>
              </a:solidFill>
            </a:endParaRPr>
          </a:p>
        </p:txBody>
      </p:sp>
      <p:sp>
        <p:nvSpPr>
          <p:cNvPr id="21" name="TextBox 20"/>
          <p:cNvSpPr txBox="1"/>
          <p:nvPr/>
        </p:nvSpPr>
        <p:spPr>
          <a:xfrm>
            <a:off x="2438400" y="5562600"/>
            <a:ext cx="20574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>
                <a:solidFill>
                  <a:srgbClr val="00B0F0"/>
                </a:solidFill>
              </a:rPr>
              <a:t>P</a:t>
            </a:r>
            <a:r>
              <a:rPr lang="en-US" sz="2800" b="1" baseline="30000" dirty="0">
                <a:solidFill>
                  <a:srgbClr val="00B0F0"/>
                </a:solidFill>
              </a:rPr>
              <a:t>(</a:t>
            </a:r>
            <a:r>
              <a:rPr lang="en-US" sz="2800" b="1" baseline="30000" dirty="0" err="1">
                <a:solidFill>
                  <a:srgbClr val="00B0F0"/>
                </a:solidFill>
              </a:rPr>
              <a:t>i</a:t>
            </a:r>
            <a:r>
              <a:rPr lang="en-US" sz="2800" b="1" baseline="30000" dirty="0">
                <a:solidFill>
                  <a:srgbClr val="00B0F0"/>
                </a:solidFill>
              </a:rPr>
              <a:t>)</a:t>
            </a:r>
            <a:endParaRPr lang="en-US" b="1" baseline="30000" dirty="0">
              <a:solidFill>
                <a:srgbClr val="00B0F0"/>
              </a:solidFill>
            </a:endParaRPr>
          </a:p>
        </p:txBody>
      </p:sp>
      <p:sp>
        <p:nvSpPr>
          <p:cNvPr id="2058" name="Rectangle 10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p:sp>
        <p:nvSpPr>
          <p:cNvPr id="2060" name="Rectangle 12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p:pic>
        <p:nvPicPr>
          <p:cNvPr id="2059" name="Picture 11"/>
          <p:cNvPicPr>
            <a:picLocks noChangeAspect="1" noChangeArrowheads="1"/>
          </p:cNvPicPr>
          <p:nvPr/>
        </p:nvPicPr>
        <p:blipFill>
          <a:blip r:embed="rId6" cstate="print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rcRect/>
          <a:stretch>
            <a:fillRect/>
          </a:stretch>
        </p:blipFill>
        <p:spPr bwMode="auto">
          <a:xfrm>
            <a:off x="4495800" y="4953000"/>
            <a:ext cx="4416552" cy="533400"/>
          </a:xfrm>
          <a:prstGeom prst="rect">
            <a:avLst/>
          </a:prstGeom>
          <a:noFill/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2" dur="500"/>
                                        <p:tgtEl>
                                          <p:spTgt spid="20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7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4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20" dur="500"/>
                                        <p:tgtEl>
                                          <p:spTgt spid="20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25" dur="500"/>
                                        <p:tgtEl>
                                          <p:spTgt spid="20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  <p:bldP spid="12" grpId="0"/>
      <p:bldP spid="2056" grpId="0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-152400"/>
            <a:ext cx="8229600" cy="1143000"/>
          </a:xfrm>
        </p:spPr>
        <p:txBody>
          <a:bodyPr/>
          <a:lstStyle/>
          <a:p>
            <a:r>
              <a:rPr lang="en-US" dirty="0"/>
              <a:t>SVM Decision Boundary</a:t>
            </a:r>
          </a:p>
        </p:txBody>
      </p:sp>
      <p:pic>
        <p:nvPicPr>
          <p:cNvPr id="3073" name="Picture 1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381000" y="990600"/>
            <a:ext cx="8296275" cy="29813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3074" name="Picture 2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3733800" y="1905000"/>
            <a:ext cx="1819275" cy="11334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3076" name="Picture 4"/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-76200" y="3908250"/>
            <a:ext cx="9296400" cy="29497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8" name="Picture 6"/>
          <p:cNvPicPr>
            <a:picLocks noChangeAspect="1" noChangeArrowheads="1"/>
          </p:cNvPicPr>
          <p:nvPr/>
        </p:nvPicPr>
        <p:blipFill>
          <a:blip r:embed="rId5" cstate="print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rcRect/>
          <a:stretch>
            <a:fillRect/>
          </a:stretch>
        </p:blipFill>
        <p:spPr bwMode="auto">
          <a:xfrm>
            <a:off x="3047999" y="1066800"/>
            <a:ext cx="1100667" cy="762000"/>
          </a:xfrm>
          <a:prstGeom prst="rect">
            <a:avLst/>
          </a:prstGeom>
          <a:noFill/>
        </p:spPr>
      </p:pic>
      <p:sp>
        <p:nvSpPr>
          <p:cNvPr id="9" name="Rectangle 8"/>
          <p:cNvSpPr/>
          <p:nvPr/>
        </p:nvSpPr>
        <p:spPr>
          <a:xfrm>
            <a:off x="2286000" y="1143000"/>
            <a:ext cx="533400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b="1" dirty="0">
                <a:latin typeface="Calibri" pitchFamily="34" charset="0"/>
                <a:ea typeface="Times New Roman" pitchFamily="18" charset="0"/>
                <a:cs typeface="Times New Roman" pitchFamily="18" charset="0"/>
              </a:rPr>
              <a:t>=</a:t>
            </a:r>
            <a:endParaRPr lang="en-US" sz="2400" b="1" dirty="0"/>
          </a:p>
        </p:txBody>
      </p:sp>
      <p:cxnSp>
        <p:nvCxnSpPr>
          <p:cNvPr id="11" name="Straight Connector 10"/>
          <p:cNvCxnSpPr/>
          <p:nvPr/>
        </p:nvCxnSpPr>
        <p:spPr>
          <a:xfrm>
            <a:off x="6019800" y="4267200"/>
            <a:ext cx="0" cy="2362200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Straight Connector 11"/>
          <p:cNvCxnSpPr/>
          <p:nvPr/>
        </p:nvCxnSpPr>
        <p:spPr>
          <a:xfrm>
            <a:off x="6934200" y="4267200"/>
            <a:ext cx="0" cy="2362200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0"/>
            <a:ext cx="8229600" cy="1143000"/>
          </a:xfrm>
        </p:spPr>
        <p:txBody>
          <a:bodyPr/>
          <a:lstStyle/>
          <a:p>
            <a:r>
              <a:rPr lang="en-US" dirty="0"/>
              <a:t>SVM: Kernels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066800"/>
            <a:ext cx="8229600" cy="685800"/>
          </a:xfrm>
        </p:spPr>
        <p:txBody>
          <a:bodyPr/>
          <a:lstStyle/>
          <a:p>
            <a:r>
              <a:rPr lang="en-US" dirty="0"/>
              <a:t>To adapt SVM to non-linear boundaries</a:t>
            </a:r>
          </a:p>
        </p:txBody>
      </p:sp>
      <p:pic>
        <p:nvPicPr>
          <p:cNvPr id="7170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457200" y="2133600"/>
            <a:ext cx="4953000" cy="324584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7171" name="Picture 3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5514975" y="1905000"/>
            <a:ext cx="3629025" cy="14287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6" name="Freeform 5"/>
          <p:cNvSpPr/>
          <p:nvPr/>
        </p:nvSpPr>
        <p:spPr>
          <a:xfrm>
            <a:off x="1805354" y="2900289"/>
            <a:ext cx="2691618" cy="1554480"/>
          </a:xfrm>
          <a:custGeom>
            <a:avLst/>
            <a:gdLst>
              <a:gd name="connsiteX0" fmla="*/ 670560 w 2691618"/>
              <a:gd name="connsiteY0" fmla="*/ 25791 h 1554480"/>
              <a:gd name="connsiteX1" fmla="*/ 769034 w 2691618"/>
              <a:gd name="connsiteY1" fmla="*/ 67994 h 1554480"/>
              <a:gd name="connsiteX2" fmla="*/ 994117 w 2691618"/>
              <a:gd name="connsiteY2" fmla="*/ 264942 h 1554480"/>
              <a:gd name="connsiteX3" fmla="*/ 1219200 w 2691618"/>
              <a:gd name="connsiteY3" fmla="*/ 405619 h 1554480"/>
              <a:gd name="connsiteX4" fmla="*/ 1556824 w 2691618"/>
              <a:gd name="connsiteY4" fmla="*/ 391551 h 1554480"/>
              <a:gd name="connsiteX5" fmla="*/ 1739704 w 2691618"/>
              <a:gd name="connsiteY5" fmla="*/ 293077 h 1554480"/>
              <a:gd name="connsiteX6" fmla="*/ 1950720 w 2691618"/>
              <a:gd name="connsiteY6" fmla="*/ 110197 h 1554480"/>
              <a:gd name="connsiteX7" fmla="*/ 2358683 w 2691618"/>
              <a:gd name="connsiteY7" fmla="*/ 208671 h 1554480"/>
              <a:gd name="connsiteX8" fmla="*/ 2597834 w 2691618"/>
              <a:gd name="connsiteY8" fmla="*/ 701040 h 1554480"/>
              <a:gd name="connsiteX9" fmla="*/ 2654104 w 2691618"/>
              <a:gd name="connsiteY9" fmla="*/ 996462 h 1554480"/>
              <a:gd name="connsiteX10" fmla="*/ 2372751 w 2691618"/>
              <a:gd name="connsiteY10" fmla="*/ 1094936 h 1554480"/>
              <a:gd name="connsiteX11" fmla="*/ 2203938 w 2691618"/>
              <a:gd name="connsiteY11" fmla="*/ 1235613 h 1554480"/>
              <a:gd name="connsiteX12" fmla="*/ 2035126 w 2691618"/>
              <a:gd name="connsiteY12" fmla="*/ 1376289 h 1554480"/>
              <a:gd name="connsiteX13" fmla="*/ 1781908 w 2691618"/>
              <a:gd name="connsiteY13" fmla="*/ 1249680 h 1554480"/>
              <a:gd name="connsiteX14" fmla="*/ 1303606 w 2691618"/>
              <a:gd name="connsiteY14" fmla="*/ 1291883 h 1554480"/>
              <a:gd name="connsiteX15" fmla="*/ 951914 w 2691618"/>
              <a:gd name="connsiteY15" fmla="*/ 1474763 h 1554480"/>
              <a:gd name="connsiteX16" fmla="*/ 389206 w 2691618"/>
              <a:gd name="connsiteY16" fmla="*/ 1516966 h 1554480"/>
              <a:gd name="connsiteX17" fmla="*/ 206326 w 2691618"/>
              <a:gd name="connsiteY17" fmla="*/ 1249680 h 1554480"/>
              <a:gd name="connsiteX18" fmla="*/ 23446 w 2691618"/>
              <a:gd name="connsiteY18" fmla="*/ 785446 h 1554480"/>
              <a:gd name="connsiteX19" fmla="*/ 65649 w 2691618"/>
              <a:gd name="connsiteY19" fmla="*/ 447822 h 1554480"/>
              <a:gd name="connsiteX20" fmla="*/ 403274 w 2691618"/>
              <a:gd name="connsiteY20" fmla="*/ 222739 h 1554480"/>
              <a:gd name="connsiteX21" fmla="*/ 670560 w 2691618"/>
              <a:gd name="connsiteY21" fmla="*/ 25791 h 155448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</a:cxnLst>
            <a:rect l="l" t="t" r="r" b="b"/>
            <a:pathLst>
              <a:path w="2691618" h="1554480">
                <a:moveTo>
                  <a:pt x="670560" y="25791"/>
                </a:moveTo>
                <a:cubicBezTo>
                  <a:pt x="731520" y="0"/>
                  <a:pt x="715108" y="28136"/>
                  <a:pt x="769034" y="67994"/>
                </a:cubicBezTo>
                <a:cubicBezTo>
                  <a:pt x="822960" y="107852"/>
                  <a:pt x="919089" y="208671"/>
                  <a:pt x="994117" y="264942"/>
                </a:cubicBezTo>
                <a:cubicBezTo>
                  <a:pt x="1069145" y="321213"/>
                  <a:pt x="1125416" y="384518"/>
                  <a:pt x="1219200" y="405619"/>
                </a:cubicBezTo>
                <a:cubicBezTo>
                  <a:pt x="1312985" y="426721"/>
                  <a:pt x="1470073" y="410308"/>
                  <a:pt x="1556824" y="391551"/>
                </a:cubicBezTo>
                <a:cubicBezTo>
                  <a:pt x="1643575" y="372794"/>
                  <a:pt x="1674055" y="339969"/>
                  <a:pt x="1739704" y="293077"/>
                </a:cubicBezTo>
                <a:cubicBezTo>
                  <a:pt x="1805353" y="246185"/>
                  <a:pt x="1847557" y="124265"/>
                  <a:pt x="1950720" y="110197"/>
                </a:cubicBezTo>
                <a:cubicBezTo>
                  <a:pt x="2053883" y="96129"/>
                  <a:pt x="2250831" y="110197"/>
                  <a:pt x="2358683" y="208671"/>
                </a:cubicBezTo>
                <a:cubicBezTo>
                  <a:pt x="2466535" y="307145"/>
                  <a:pt x="2548597" y="569742"/>
                  <a:pt x="2597834" y="701040"/>
                </a:cubicBezTo>
                <a:cubicBezTo>
                  <a:pt x="2647071" y="832338"/>
                  <a:pt x="2691618" y="930813"/>
                  <a:pt x="2654104" y="996462"/>
                </a:cubicBezTo>
                <a:cubicBezTo>
                  <a:pt x="2616590" y="1062111"/>
                  <a:pt x="2447779" y="1055077"/>
                  <a:pt x="2372751" y="1094936"/>
                </a:cubicBezTo>
                <a:cubicBezTo>
                  <a:pt x="2297723" y="1134795"/>
                  <a:pt x="2203938" y="1235613"/>
                  <a:pt x="2203938" y="1235613"/>
                </a:cubicBezTo>
                <a:cubicBezTo>
                  <a:pt x="2147667" y="1282505"/>
                  <a:pt x="2105464" y="1373944"/>
                  <a:pt x="2035126" y="1376289"/>
                </a:cubicBezTo>
                <a:cubicBezTo>
                  <a:pt x="1964788" y="1378634"/>
                  <a:pt x="1903828" y="1263748"/>
                  <a:pt x="1781908" y="1249680"/>
                </a:cubicBezTo>
                <a:cubicBezTo>
                  <a:pt x="1659988" y="1235612"/>
                  <a:pt x="1441938" y="1254369"/>
                  <a:pt x="1303606" y="1291883"/>
                </a:cubicBezTo>
                <a:cubicBezTo>
                  <a:pt x="1165274" y="1329397"/>
                  <a:pt x="1104314" y="1437249"/>
                  <a:pt x="951914" y="1474763"/>
                </a:cubicBezTo>
                <a:cubicBezTo>
                  <a:pt x="799514" y="1512277"/>
                  <a:pt x="513471" y="1554480"/>
                  <a:pt x="389206" y="1516966"/>
                </a:cubicBezTo>
                <a:cubicBezTo>
                  <a:pt x="264941" y="1479452"/>
                  <a:pt x="267286" y="1371600"/>
                  <a:pt x="206326" y="1249680"/>
                </a:cubicBezTo>
                <a:cubicBezTo>
                  <a:pt x="145366" y="1127760"/>
                  <a:pt x="46892" y="919089"/>
                  <a:pt x="23446" y="785446"/>
                </a:cubicBezTo>
                <a:cubicBezTo>
                  <a:pt x="0" y="651803"/>
                  <a:pt x="2344" y="541606"/>
                  <a:pt x="65649" y="447822"/>
                </a:cubicBezTo>
                <a:cubicBezTo>
                  <a:pt x="128954" y="354038"/>
                  <a:pt x="307145" y="290733"/>
                  <a:pt x="403274" y="222739"/>
                </a:cubicBezTo>
                <a:cubicBezTo>
                  <a:pt x="499403" y="154745"/>
                  <a:pt x="609600" y="51582"/>
                  <a:pt x="670560" y="25791"/>
                </a:cubicBezTo>
                <a:close/>
              </a:path>
            </a:pathLst>
          </a:custGeom>
          <a:noFill/>
          <a:ln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TextBox 6"/>
          <p:cNvSpPr txBox="1"/>
          <p:nvPr/>
        </p:nvSpPr>
        <p:spPr>
          <a:xfrm>
            <a:off x="5638800" y="3657600"/>
            <a:ext cx="28194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Maybe polynomial features like above…..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295400" y="5943600"/>
            <a:ext cx="541020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/>
              <a:t>Is there a different/better set of features?</a:t>
            </a:r>
            <a:endParaRPr lang="en-US" b="1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194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457200" y="304800"/>
            <a:ext cx="942975" cy="4286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8195" name="Picture 3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304799" y="1066800"/>
            <a:ext cx="5942907" cy="3505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8196" name="Picture 4"/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4191000" y="457200"/>
            <a:ext cx="4505325" cy="6953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7" name="TextBox 6"/>
          <p:cNvSpPr txBox="1"/>
          <p:nvPr/>
        </p:nvSpPr>
        <p:spPr>
          <a:xfrm>
            <a:off x="1676400" y="1447800"/>
            <a:ext cx="68580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000" b="1" dirty="0"/>
              <a:t>.</a:t>
            </a:r>
            <a:r>
              <a:rPr lang="en-US" dirty="0"/>
              <a:t>L</a:t>
            </a:r>
            <a:r>
              <a:rPr lang="en-US" baseline="30000" dirty="0"/>
              <a:t>(1)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733800" y="1524000"/>
            <a:ext cx="68580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000" b="1" dirty="0"/>
              <a:t>.</a:t>
            </a:r>
            <a:r>
              <a:rPr lang="en-US" dirty="0"/>
              <a:t>L</a:t>
            </a:r>
            <a:r>
              <a:rPr lang="en-US" baseline="30000" dirty="0"/>
              <a:t>(2)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743200" y="2667000"/>
            <a:ext cx="68580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000" b="1" dirty="0"/>
              <a:t>.</a:t>
            </a:r>
            <a:r>
              <a:rPr lang="en-US" dirty="0"/>
              <a:t>L</a:t>
            </a:r>
            <a:r>
              <a:rPr lang="en-US" baseline="30000" dirty="0"/>
              <a:t>(3)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4953000"/>
            <a:ext cx="7772400" cy="144655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/>
              <a:t>Given X: f1 =similarity(</a:t>
            </a:r>
            <a:r>
              <a:rPr lang="en-US" sz="2400" b="1" dirty="0" err="1"/>
              <a:t>x,L</a:t>
            </a:r>
            <a:r>
              <a:rPr lang="en-US" sz="2400" b="1" baseline="30000" dirty="0"/>
              <a:t>(1)</a:t>
            </a:r>
            <a:r>
              <a:rPr lang="en-US" sz="2400" b="1" dirty="0"/>
              <a:t>) = exp(-(||x-L</a:t>
            </a:r>
            <a:r>
              <a:rPr lang="en-US" sz="2400" b="1" baseline="30000" dirty="0"/>
              <a:t>(1)</a:t>
            </a:r>
            <a:r>
              <a:rPr lang="en-US" sz="2400" b="1" dirty="0"/>
              <a:t> ||</a:t>
            </a:r>
            <a:r>
              <a:rPr lang="en-US" sz="2400" b="1" baseline="30000" dirty="0"/>
              <a:t>2</a:t>
            </a:r>
            <a:r>
              <a:rPr lang="en-US" sz="2400" b="1" dirty="0"/>
              <a:t>)/2</a:t>
            </a:r>
            <a:r>
              <a:rPr lang="el-GR" sz="2400" b="1" dirty="0"/>
              <a:t>σ</a:t>
            </a:r>
            <a:r>
              <a:rPr lang="en-US" sz="2400" b="1" baseline="30000" dirty="0"/>
              <a:t>2</a:t>
            </a:r>
          </a:p>
          <a:p>
            <a:r>
              <a:rPr lang="en-US" sz="2400" b="1" dirty="0"/>
              <a:t>	   f2 =similarity(</a:t>
            </a:r>
            <a:r>
              <a:rPr lang="en-US" sz="2400" b="1" dirty="0" err="1"/>
              <a:t>x,L</a:t>
            </a:r>
            <a:r>
              <a:rPr lang="en-US" sz="2400" b="1" baseline="30000" dirty="0"/>
              <a:t>(2)</a:t>
            </a:r>
            <a:r>
              <a:rPr lang="en-US" sz="2400" b="1" dirty="0"/>
              <a:t>) = exp(-(||x-L</a:t>
            </a:r>
            <a:r>
              <a:rPr lang="en-US" sz="2400" b="1" baseline="30000" dirty="0"/>
              <a:t>(2)</a:t>
            </a:r>
            <a:r>
              <a:rPr lang="en-US" sz="2400" b="1" dirty="0"/>
              <a:t> ||</a:t>
            </a:r>
            <a:r>
              <a:rPr lang="en-US" sz="2400" b="1" baseline="30000" dirty="0"/>
              <a:t>2</a:t>
            </a:r>
            <a:r>
              <a:rPr lang="en-US" sz="2400" b="1" dirty="0"/>
              <a:t>)/2</a:t>
            </a:r>
            <a:r>
              <a:rPr lang="el-GR" sz="2400" b="1" dirty="0"/>
              <a:t>σ</a:t>
            </a:r>
            <a:r>
              <a:rPr lang="en-US" sz="2400" b="1" baseline="30000" dirty="0"/>
              <a:t>2</a:t>
            </a:r>
          </a:p>
          <a:p>
            <a:r>
              <a:rPr lang="en-US" sz="2400" b="1" dirty="0"/>
              <a:t>	   f3 =similarity(</a:t>
            </a:r>
            <a:r>
              <a:rPr lang="en-US" sz="2400" b="1" dirty="0" err="1"/>
              <a:t>x,L</a:t>
            </a:r>
            <a:r>
              <a:rPr lang="en-US" sz="2400" b="1" baseline="30000" dirty="0"/>
              <a:t>(3)</a:t>
            </a:r>
            <a:r>
              <a:rPr lang="en-US" sz="2400" b="1" dirty="0"/>
              <a:t>) = exp(-(||x-L</a:t>
            </a:r>
            <a:r>
              <a:rPr lang="en-US" sz="2400" b="1" baseline="30000" dirty="0"/>
              <a:t>(3)</a:t>
            </a:r>
            <a:r>
              <a:rPr lang="en-US" sz="2400" b="1" dirty="0"/>
              <a:t> ||</a:t>
            </a:r>
            <a:r>
              <a:rPr lang="en-US" sz="2400" b="1" baseline="30000" dirty="0"/>
              <a:t>2</a:t>
            </a:r>
            <a:r>
              <a:rPr lang="en-US" sz="2400" b="1" dirty="0"/>
              <a:t>)/2</a:t>
            </a:r>
            <a:r>
              <a:rPr lang="el-GR" sz="2400" b="1" dirty="0"/>
              <a:t>σ</a:t>
            </a:r>
            <a:r>
              <a:rPr lang="en-US" sz="2400" b="1" baseline="30000" dirty="0"/>
              <a:t>2</a:t>
            </a:r>
          </a:p>
          <a:p>
            <a:endParaRPr lang="en-US" sz="2400" b="1" baseline="30000" dirty="0"/>
          </a:p>
        </p:txBody>
      </p:sp>
      <p:sp>
        <p:nvSpPr>
          <p:cNvPr id="11" name="TextBox 10"/>
          <p:cNvSpPr txBox="1"/>
          <p:nvPr/>
        </p:nvSpPr>
        <p:spPr>
          <a:xfrm>
            <a:off x="2667000" y="6400800"/>
            <a:ext cx="25908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Kernel (here </a:t>
            </a:r>
            <a:r>
              <a:rPr lang="en-US" b="1" dirty="0" err="1"/>
              <a:t>gaussian</a:t>
            </a:r>
            <a:r>
              <a:rPr lang="en-US" b="1" dirty="0"/>
              <a:t>)</a:t>
            </a:r>
          </a:p>
        </p:txBody>
      </p:sp>
      <p:cxnSp>
        <p:nvCxnSpPr>
          <p:cNvPr id="13" name="Straight Arrow Connector 12"/>
          <p:cNvCxnSpPr/>
          <p:nvPr/>
        </p:nvCxnSpPr>
        <p:spPr>
          <a:xfrm flipV="1">
            <a:off x="3124200" y="6096000"/>
            <a:ext cx="76200" cy="304800"/>
          </a:xfrm>
          <a:prstGeom prst="straightConnector1">
            <a:avLst/>
          </a:prstGeom>
          <a:ln w="25400"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4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0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4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3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  <p:bldP spid="8" grpId="0"/>
      <p:bldP spid="9" grpId="0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218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304800" y="304800"/>
            <a:ext cx="2619375" cy="3524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9220" name="Picture 4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228600" y="1981200"/>
            <a:ext cx="2032000" cy="6096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9221" name="Picture 5"/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228600" y="3505200"/>
            <a:ext cx="3619500" cy="685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9222" name="Picture 6"/>
          <p:cNvPicPr>
            <a:picLocks noChangeAspect="1" noChangeArrowheads="1"/>
          </p:cNvPicPr>
          <p:nvPr/>
        </p:nvPicPr>
        <p:blipFill>
          <a:blip r:embed="rId5" cstate="print"/>
          <a:srcRect/>
          <a:stretch>
            <a:fillRect/>
          </a:stretch>
        </p:blipFill>
        <p:spPr bwMode="auto">
          <a:xfrm>
            <a:off x="304800" y="838200"/>
            <a:ext cx="7870556" cy="838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9" name="TextBox 8"/>
          <p:cNvSpPr txBox="1"/>
          <p:nvPr/>
        </p:nvSpPr>
        <p:spPr>
          <a:xfrm>
            <a:off x="762000" y="2819400"/>
            <a:ext cx="76962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Numerator will be almost zero, and exponential will be equal to ONE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62000" y="4583668"/>
            <a:ext cx="76962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Numerator will be large, and exponential will be almost ZERO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62000" y="5650468"/>
            <a:ext cx="769620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/>
              <a:t>Each of the landmarks define new features.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42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381000" y="152400"/>
            <a:ext cx="1209675" cy="4476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10243" name="Picture 3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457200" y="990600"/>
            <a:ext cx="4686300" cy="8286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10244" name="Picture 4"/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5486400" y="1143000"/>
            <a:ext cx="1019175" cy="3905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10245" name="Picture 5"/>
          <p:cNvPicPr>
            <a:picLocks noChangeAspect="1" noChangeArrowheads="1"/>
          </p:cNvPicPr>
          <p:nvPr/>
        </p:nvPicPr>
        <p:blipFill>
          <a:blip r:embed="rId5" cstate="print"/>
          <a:srcRect/>
          <a:stretch>
            <a:fillRect/>
          </a:stretch>
        </p:blipFill>
        <p:spPr bwMode="auto">
          <a:xfrm>
            <a:off x="5181600" y="1371600"/>
            <a:ext cx="219075" cy="2095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10246" name="Picture 6"/>
          <p:cNvPicPr>
            <a:picLocks noChangeAspect="1" noChangeArrowheads="1"/>
          </p:cNvPicPr>
          <p:nvPr/>
        </p:nvPicPr>
        <p:blipFill>
          <a:blip r:embed="rId6" cstate="print"/>
          <a:srcRect/>
          <a:stretch>
            <a:fillRect/>
          </a:stretch>
        </p:blipFill>
        <p:spPr bwMode="auto">
          <a:xfrm>
            <a:off x="2895600" y="2286000"/>
            <a:ext cx="3200400" cy="229944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10" name="TextBox 9"/>
          <p:cNvSpPr txBox="1"/>
          <p:nvPr/>
        </p:nvSpPr>
        <p:spPr>
          <a:xfrm>
            <a:off x="2667000" y="2971800"/>
            <a:ext cx="4572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f1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971800" y="3974068"/>
            <a:ext cx="4572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x1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105400" y="4191000"/>
            <a:ext cx="4572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x2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096000" y="2514600"/>
            <a:ext cx="25908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Where is x maximum and minimum?</a:t>
            </a:r>
          </a:p>
        </p:txBody>
      </p:sp>
      <p:pic>
        <p:nvPicPr>
          <p:cNvPr id="10248" name="Picture 8"/>
          <p:cNvPicPr>
            <a:picLocks noChangeAspect="1" noChangeArrowheads="1"/>
          </p:cNvPicPr>
          <p:nvPr/>
        </p:nvPicPr>
        <p:blipFill>
          <a:blip r:embed="rId7" cstate="print"/>
          <a:srcRect/>
          <a:stretch>
            <a:fillRect/>
          </a:stretch>
        </p:blipFill>
        <p:spPr bwMode="auto">
          <a:xfrm>
            <a:off x="381000" y="5638800"/>
            <a:ext cx="1190625" cy="4000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10249" name="Picture 9"/>
          <p:cNvPicPr>
            <a:picLocks noChangeAspect="1" noChangeArrowheads="1"/>
          </p:cNvPicPr>
          <p:nvPr/>
        </p:nvPicPr>
        <p:blipFill>
          <a:blip r:embed="rId8" cstate="print"/>
          <a:srcRect/>
          <a:stretch>
            <a:fillRect/>
          </a:stretch>
        </p:blipFill>
        <p:spPr bwMode="auto">
          <a:xfrm>
            <a:off x="1828800" y="4695621"/>
            <a:ext cx="2895600" cy="216237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10251" name="Picture 11"/>
          <p:cNvPicPr>
            <a:picLocks noChangeAspect="1" noChangeArrowheads="1"/>
          </p:cNvPicPr>
          <p:nvPr/>
        </p:nvPicPr>
        <p:blipFill>
          <a:blip r:embed="rId9" cstate="print"/>
          <a:srcRect/>
          <a:stretch>
            <a:fillRect/>
          </a:stretch>
        </p:blipFill>
        <p:spPr bwMode="auto">
          <a:xfrm>
            <a:off x="7848600" y="5638800"/>
            <a:ext cx="1009650" cy="4191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10252" name="Picture 12"/>
          <p:cNvPicPr>
            <a:picLocks noChangeAspect="1" noChangeArrowheads="1"/>
          </p:cNvPicPr>
          <p:nvPr/>
        </p:nvPicPr>
        <p:blipFill>
          <a:blip r:embed="rId10" cstate="print"/>
          <a:srcRect/>
          <a:stretch>
            <a:fillRect/>
          </a:stretch>
        </p:blipFill>
        <p:spPr bwMode="auto">
          <a:xfrm>
            <a:off x="5081337" y="4724400"/>
            <a:ext cx="2767263" cy="2057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266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5429250" y="1066800"/>
            <a:ext cx="3714750" cy="9334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5" name="Picture 3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-76199" y="304800"/>
            <a:ext cx="5257800" cy="310111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6" name="TextBox 5"/>
          <p:cNvSpPr txBox="1"/>
          <p:nvPr/>
        </p:nvSpPr>
        <p:spPr>
          <a:xfrm>
            <a:off x="1295401" y="685800"/>
            <a:ext cx="68580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000" b="1" dirty="0"/>
              <a:t>.</a:t>
            </a:r>
            <a:r>
              <a:rPr lang="en-US" dirty="0"/>
              <a:t>L</a:t>
            </a:r>
            <a:r>
              <a:rPr lang="en-US" baseline="30000" dirty="0"/>
              <a:t>(1)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352801" y="762000"/>
            <a:ext cx="68580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000" b="1" dirty="0"/>
              <a:t>.</a:t>
            </a:r>
            <a:r>
              <a:rPr lang="en-US" dirty="0"/>
              <a:t>L</a:t>
            </a:r>
            <a:r>
              <a:rPr lang="en-US" baseline="30000" dirty="0"/>
              <a:t>(2)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362201" y="1905000"/>
            <a:ext cx="68580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000" b="1" dirty="0"/>
              <a:t>.</a:t>
            </a:r>
            <a:r>
              <a:rPr lang="en-US" dirty="0"/>
              <a:t>L</a:t>
            </a:r>
            <a:r>
              <a:rPr lang="en-US" baseline="30000" dirty="0"/>
              <a:t>(3)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04800" y="3733800"/>
            <a:ext cx="495300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/>
              <a:t>Suppose optimal </a:t>
            </a:r>
            <a:r>
              <a:rPr lang="el-GR" sz="2000" b="1" dirty="0"/>
              <a:t>ϴ</a:t>
            </a:r>
            <a:r>
              <a:rPr lang="en-US" sz="2000" b="1" baseline="-25000" dirty="0"/>
              <a:t>0</a:t>
            </a:r>
            <a:r>
              <a:rPr lang="en-US" sz="2000" b="1" dirty="0"/>
              <a:t>=-0.5, </a:t>
            </a:r>
            <a:r>
              <a:rPr lang="el-GR" sz="2000" b="1" dirty="0"/>
              <a:t>ϴ</a:t>
            </a:r>
            <a:r>
              <a:rPr lang="en-US" sz="2000" b="1" baseline="-25000" dirty="0"/>
              <a:t>1</a:t>
            </a:r>
            <a:r>
              <a:rPr lang="en-US" sz="2000" b="1" dirty="0"/>
              <a:t>=1, </a:t>
            </a:r>
            <a:r>
              <a:rPr lang="el-GR" sz="2000" b="1" dirty="0"/>
              <a:t>ϴ</a:t>
            </a:r>
            <a:r>
              <a:rPr lang="en-US" sz="2000" b="1" baseline="-25000" dirty="0"/>
              <a:t>2</a:t>
            </a:r>
            <a:r>
              <a:rPr lang="en-US" sz="2000" b="1" dirty="0"/>
              <a:t>=1, </a:t>
            </a:r>
            <a:r>
              <a:rPr lang="el-GR" sz="2000" b="1" dirty="0"/>
              <a:t>ϴ</a:t>
            </a:r>
            <a:r>
              <a:rPr lang="en-US" sz="2000" b="1" baseline="-25000" dirty="0"/>
              <a:t>3</a:t>
            </a:r>
            <a:r>
              <a:rPr lang="en-US" sz="2000" b="1" dirty="0"/>
              <a:t>=0 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81000" y="4419600"/>
            <a:ext cx="7620000" cy="14260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/>
              <a:t>If x is close to L</a:t>
            </a:r>
            <a:r>
              <a:rPr lang="en-US" sz="2000" b="1" baseline="30000" dirty="0"/>
              <a:t>(1) </a:t>
            </a:r>
            <a:r>
              <a:rPr lang="en-US" sz="2000" b="1" dirty="0"/>
              <a:t>what is output/prediction?</a:t>
            </a:r>
          </a:p>
          <a:p>
            <a:r>
              <a:rPr lang="en-US" sz="2000" b="1" dirty="0"/>
              <a:t>If x is far from all landmarks</a:t>
            </a:r>
            <a:r>
              <a:rPr lang="en-US" sz="2000" b="1" baseline="30000" dirty="0"/>
              <a:t> </a:t>
            </a:r>
            <a:r>
              <a:rPr lang="en-US" sz="2000" b="1" dirty="0"/>
              <a:t>what is output/prediction? </a:t>
            </a:r>
          </a:p>
          <a:p>
            <a:r>
              <a:rPr lang="en-US" sz="2000" b="1" dirty="0"/>
              <a:t> </a:t>
            </a:r>
          </a:p>
          <a:p>
            <a:endParaRPr lang="en-US" sz="2000" b="1" baseline="30000" dirty="0"/>
          </a:p>
          <a:p>
            <a:endParaRPr lang="en-US" sz="2000" b="1" baseline="30000" dirty="0"/>
          </a:p>
        </p:txBody>
      </p:sp>
      <p:sp>
        <p:nvSpPr>
          <p:cNvPr id="11" name="Freeform 10"/>
          <p:cNvSpPr/>
          <p:nvPr/>
        </p:nvSpPr>
        <p:spPr>
          <a:xfrm>
            <a:off x="905022" y="497059"/>
            <a:ext cx="3786553" cy="1385667"/>
          </a:xfrm>
          <a:custGeom>
            <a:avLst/>
            <a:gdLst>
              <a:gd name="connsiteX0" fmla="*/ 515815 w 3786553"/>
              <a:gd name="connsiteY0" fmla="*/ 51581 h 1385667"/>
              <a:gd name="connsiteX1" fmla="*/ 923778 w 3786553"/>
              <a:gd name="connsiteY1" fmla="*/ 23446 h 1385667"/>
              <a:gd name="connsiteX2" fmla="*/ 1345809 w 3786553"/>
              <a:gd name="connsiteY2" fmla="*/ 192258 h 1385667"/>
              <a:gd name="connsiteX3" fmla="*/ 2105464 w 3786553"/>
              <a:gd name="connsiteY3" fmla="*/ 403273 h 1385667"/>
              <a:gd name="connsiteX4" fmla="*/ 2893255 w 3786553"/>
              <a:gd name="connsiteY4" fmla="*/ 121919 h 1385667"/>
              <a:gd name="connsiteX5" fmla="*/ 3666978 w 3786553"/>
              <a:gd name="connsiteY5" fmla="*/ 347003 h 1385667"/>
              <a:gd name="connsiteX6" fmla="*/ 3610707 w 3786553"/>
              <a:gd name="connsiteY6" fmla="*/ 1134793 h 1385667"/>
              <a:gd name="connsiteX7" fmla="*/ 2879187 w 3786553"/>
              <a:gd name="connsiteY7" fmla="*/ 1373944 h 1385667"/>
              <a:gd name="connsiteX8" fmla="*/ 2133600 w 3786553"/>
              <a:gd name="connsiteY8" fmla="*/ 1205132 h 1385667"/>
              <a:gd name="connsiteX9" fmla="*/ 1767840 w 3786553"/>
              <a:gd name="connsiteY9" fmla="*/ 1064455 h 1385667"/>
              <a:gd name="connsiteX10" fmla="*/ 1430215 w 3786553"/>
              <a:gd name="connsiteY10" fmla="*/ 1092590 h 1385667"/>
              <a:gd name="connsiteX11" fmla="*/ 1092590 w 3786553"/>
              <a:gd name="connsiteY11" fmla="*/ 1205132 h 1385667"/>
              <a:gd name="connsiteX12" fmla="*/ 670560 w 3786553"/>
              <a:gd name="connsiteY12" fmla="*/ 1261403 h 1385667"/>
              <a:gd name="connsiteX13" fmla="*/ 107852 w 3786553"/>
              <a:gd name="connsiteY13" fmla="*/ 994116 h 1385667"/>
              <a:gd name="connsiteX14" fmla="*/ 23446 w 3786553"/>
              <a:gd name="connsiteY14" fmla="*/ 614289 h 1385667"/>
              <a:gd name="connsiteX15" fmla="*/ 150055 w 3786553"/>
              <a:gd name="connsiteY15" fmla="*/ 290732 h 1385667"/>
              <a:gd name="connsiteX16" fmla="*/ 431409 w 3786553"/>
              <a:gd name="connsiteY16" fmla="*/ 51581 h 1385667"/>
              <a:gd name="connsiteX17" fmla="*/ 754966 w 3786553"/>
              <a:gd name="connsiteY17" fmla="*/ 51581 h 1385667"/>
              <a:gd name="connsiteX18" fmla="*/ 642424 w 3786553"/>
              <a:gd name="connsiteY18" fmla="*/ 9378 h 1385667"/>
              <a:gd name="connsiteX19" fmla="*/ 769033 w 3786553"/>
              <a:gd name="connsiteY19" fmla="*/ 23446 h 138566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</a:cxnLst>
            <a:rect l="l" t="t" r="r" b="b"/>
            <a:pathLst>
              <a:path w="3786553" h="1385667">
                <a:moveTo>
                  <a:pt x="515815" y="51581"/>
                </a:moveTo>
                <a:cubicBezTo>
                  <a:pt x="650630" y="25790"/>
                  <a:pt x="785446" y="0"/>
                  <a:pt x="923778" y="23446"/>
                </a:cubicBezTo>
                <a:cubicBezTo>
                  <a:pt x="1062110" y="46892"/>
                  <a:pt x="1148861" y="128954"/>
                  <a:pt x="1345809" y="192258"/>
                </a:cubicBezTo>
                <a:cubicBezTo>
                  <a:pt x="1542757" y="255562"/>
                  <a:pt x="1847556" y="414996"/>
                  <a:pt x="2105464" y="403273"/>
                </a:cubicBezTo>
                <a:cubicBezTo>
                  <a:pt x="2363372" y="391550"/>
                  <a:pt x="2633003" y="131297"/>
                  <a:pt x="2893255" y="121919"/>
                </a:cubicBezTo>
                <a:cubicBezTo>
                  <a:pt x="3153507" y="112541"/>
                  <a:pt x="3547403" y="178191"/>
                  <a:pt x="3666978" y="347003"/>
                </a:cubicBezTo>
                <a:cubicBezTo>
                  <a:pt x="3786553" y="515815"/>
                  <a:pt x="3742006" y="963636"/>
                  <a:pt x="3610707" y="1134793"/>
                </a:cubicBezTo>
                <a:cubicBezTo>
                  <a:pt x="3479409" y="1305950"/>
                  <a:pt x="3125372" y="1362221"/>
                  <a:pt x="2879187" y="1373944"/>
                </a:cubicBezTo>
                <a:cubicBezTo>
                  <a:pt x="2633003" y="1385667"/>
                  <a:pt x="2318825" y="1256714"/>
                  <a:pt x="2133600" y="1205132"/>
                </a:cubicBezTo>
                <a:cubicBezTo>
                  <a:pt x="1948375" y="1153550"/>
                  <a:pt x="1885071" y="1083212"/>
                  <a:pt x="1767840" y="1064455"/>
                </a:cubicBezTo>
                <a:cubicBezTo>
                  <a:pt x="1650609" y="1045698"/>
                  <a:pt x="1542757" y="1069144"/>
                  <a:pt x="1430215" y="1092590"/>
                </a:cubicBezTo>
                <a:cubicBezTo>
                  <a:pt x="1317673" y="1116036"/>
                  <a:pt x="1219199" y="1176997"/>
                  <a:pt x="1092590" y="1205132"/>
                </a:cubicBezTo>
                <a:cubicBezTo>
                  <a:pt x="965981" y="1233267"/>
                  <a:pt x="834683" y="1296572"/>
                  <a:pt x="670560" y="1261403"/>
                </a:cubicBezTo>
                <a:cubicBezTo>
                  <a:pt x="506437" y="1226234"/>
                  <a:pt x="215704" y="1101968"/>
                  <a:pt x="107852" y="994116"/>
                </a:cubicBezTo>
                <a:cubicBezTo>
                  <a:pt x="0" y="886264"/>
                  <a:pt x="16412" y="731520"/>
                  <a:pt x="23446" y="614289"/>
                </a:cubicBezTo>
                <a:cubicBezTo>
                  <a:pt x="30480" y="497058"/>
                  <a:pt x="82061" y="384517"/>
                  <a:pt x="150055" y="290732"/>
                </a:cubicBezTo>
                <a:cubicBezTo>
                  <a:pt x="218049" y="196947"/>
                  <a:pt x="330591" y="91439"/>
                  <a:pt x="431409" y="51581"/>
                </a:cubicBezTo>
                <a:cubicBezTo>
                  <a:pt x="532227" y="11723"/>
                  <a:pt x="719797" y="58615"/>
                  <a:pt x="754966" y="51581"/>
                </a:cubicBezTo>
                <a:cubicBezTo>
                  <a:pt x="790135" y="44547"/>
                  <a:pt x="640080" y="14067"/>
                  <a:pt x="642424" y="9378"/>
                </a:cubicBezTo>
                <a:cubicBezTo>
                  <a:pt x="644769" y="4689"/>
                  <a:pt x="706901" y="14067"/>
                  <a:pt x="769033" y="23446"/>
                </a:cubicBezTo>
              </a:path>
            </a:pathLst>
          </a:cu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TextBox 11"/>
          <p:cNvSpPr txBox="1"/>
          <p:nvPr/>
        </p:nvSpPr>
        <p:spPr>
          <a:xfrm>
            <a:off x="1981200" y="990600"/>
            <a:ext cx="1524000" cy="3810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Predict=1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38200" y="2133600"/>
            <a:ext cx="1524000" cy="3810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Predict=0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905000" y="5791200"/>
            <a:ext cx="60198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/>
              <a:t>How do we get these landmarks?</a:t>
            </a:r>
            <a:endParaRPr lang="en-US" b="1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0" y="0"/>
            <a:ext cx="2990850" cy="3619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1027" name="Picture 3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228600" y="533400"/>
            <a:ext cx="4423745" cy="2819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1028" name="Picture 4"/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4876799" y="990600"/>
            <a:ext cx="4237249" cy="1981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1029" name="Picture 5"/>
          <p:cNvPicPr>
            <a:picLocks noChangeAspect="1" noChangeArrowheads="1"/>
          </p:cNvPicPr>
          <p:nvPr/>
        </p:nvPicPr>
        <p:blipFill>
          <a:blip r:embed="rId5" cstate="print"/>
          <a:srcRect/>
          <a:stretch>
            <a:fillRect/>
          </a:stretch>
        </p:blipFill>
        <p:spPr bwMode="auto">
          <a:xfrm>
            <a:off x="381000" y="3429000"/>
            <a:ext cx="7147775" cy="914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1030" name="Picture 6"/>
          <p:cNvPicPr>
            <a:picLocks noChangeAspect="1" noChangeArrowheads="1"/>
          </p:cNvPicPr>
          <p:nvPr/>
        </p:nvPicPr>
        <p:blipFill>
          <a:blip r:embed="rId6" cstate="print"/>
          <a:srcRect/>
          <a:stretch>
            <a:fillRect/>
          </a:stretch>
        </p:blipFill>
        <p:spPr bwMode="auto">
          <a:xfrm>
            <a:off x="457200" y="4648200"/>
            <a:ext cx="2971800" cy="210200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1031" name="Picture 7"/>
          <p:cNvPicPr>
            <a:picLocks noChangeAspect="1" noChangeArrowheads="1"/>
          </p:cNvPicPr>
          <p:nvPr/>
        </p:nvPicPr>
        <p:blipFill>
          <a:blip r:embed="rId7" cstate="print"/>
          <a:srcRect/>
          <a:stretch>
            <a:fillRect/>
          </a:stretch>
        </p:blipFill>
        <p:spPr bwMode="auto">
          <a:xfrm>
            <a:off x="3733800" y="5486400"/>
            <a:ext cx="1156138" cy="381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1032" name="Picture 8"/>
          <p:cNvPicPr>
            <a:picLocks noChangeAspect="1" noChangeArrowheads="1"/>
          </p:cNvPicPr>
          <p:nvPr/>
        </p:nvPicPr>
        <p:blipFill>
          <a:blip r:embed="rId8" cstate="print"/>
          <a:srcRect/>
          <a:stretch>
            <a:fillRect/>
          </a:stretch>
        </p:blipFill>
        <p:spPr bwMode="auto">
          <a:xfrm>
            <a:off x="5257800" y="4572000"/>
            <a:ext cx="3281330" cy="21336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10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103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103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8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18" dur="2000"/>
                                        <p:tgtEl>
                                          <p:spTgt spid="10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52400" y="152400"/>
            <a:ext cx="8149046" cy="1447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2051" name="Picture 3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228600" y="1905000"/>
            <a:ext cx="2956034" cy="381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2052" name="Picture 4"/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762000" y="2590800"/>
            <a:ext cx="3596024" cy="1219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7" name="TextBox 6"/>
          <p:cNvSpPr txBox="1"/>
          <p:nvPr/>
        </p:nvSpPr>
        <p:spPr>
          <a:xfrm>
            <a:off x="5562600" y="2590800"/>
            <a:ext cx="32766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/>
              <a:t>m-features f1 to fm</a:t>
            </a:r>
          </a:p>
        </p:txBody>
      </p:sp>
      <p:pic>
        <p:nvPicPr>
          <p:cNvPr id="2053" name="Picture 5"/>
          <p:cNvPicPr>
            <a:picLocks noChangeAspect="1" noChangeArrowheads="1"/>
          </p:cNvPicPr>
          <p:nvPr/>
        </p:nvPicPr>
        <p:blipFill>
          <a:blip r:embed="rId5" cstate="print"/>
          <a:srcRect/>
          <a:stretch>
            <a:fillRect/>
          </a:stretch>
        </p:blipFill>
        <p:spPr bwMode="auto">
          <a:xfrm>
            <a:off x="304800" y="4038600"/>
            <a:ext cx="4481689" cy="6096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9" name="TextBox 8"/>
          <p:cNvSpPr txBox="1"/>
          <p:nvPr/>
        </p:nvSpPr>
        <p:spPr>
          <a:xfrm>
            <a:off x="533400" y="5029200"/>
            <a:ext cx="3352800" cy="19389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/>
              <a:t>f</a:t>
            </a:r>
            <a:r>
              <a:rPr lang="en-US" sz="2400" b="1" baseline="-25000" dirty="0"/>
              <a:t>1</a:t>
            </a:r>
            <a:r>
              <a:rPr lang="en-US" sz="2400" b="1" baseline="30000" dirty="0"/>
              <a:t>(</a:t>
            </a:r>
            <a:r>
              <a:rPr lang="en-US" sz="2400" b="1" baseline="30000" dirty="0" err="1"/>
              <a:t>i</a:t>
            </a:r>
            <a:r>
              <a:rPr lang="en-US" sz="2400" b="1" baseline="30000" dirty="0"/>
              <a:t>)</a:t>
            </a:r>
            <a:r>
              <a:rPr lang="en-US" sz="2400" b="1" dirty="0"/>
              <a:t> = similarity (x</a:t>
            </a:r>
            <a:r>
              <a:rPr lang="en-US" sz="2400" b="1" baseline="30000" dirty="0"/>
              <a:t>(</a:t>
            </a:r>
            <a:r>
              <a:rPr lang="en-US" sz="2400" b="1" baseline="30000" dirty="0" err="1"/>
              <a:t>i</a:t>
            </a:r>
            <a:r>
              <a:rPr lang="en-US" sz="2400" b="1" baseline="30000" dirty="0"/>
              <a:t>)</a:t>
            </a:r>
            <a:r>
              <a:rPr lang="en-US" sz="2400" b="1" dirty="0"/>
              <a:t>,L</a:t>
            </a:r>
            <a:r>
              <a:rPr lang="en-US" sz="2400" b="1" baseline="30000" dirty="0"/>
              <a:t>(1)</a:t>
            </a:r>
            <a:r>
              <a:rPr lang="en-US" sz="2400" b="1" dirty="0"/>
              <a:t>)</a:t>
            </a:r>
          </a:p>
          <a:p>
            <a:r>
              <a:rPr lang="en-US" sz="2400" b="1" dirty="0"/>
              <a:t>f</a:t>
            </a:r>
            <a:r>
              <a:rPr lang="en-US" sz="2400" b="1" baseline="-25000" dirty="0"/>
              <a:t>2</a:t>
            </a:r>
            <a:r>
              <a:rPr lang="en-US" sz="2400" b="1" baseline="30000" dirty="0"/>
              <a:t>(</a:t>
            </a:r>
            <a:r>
              <a:rPr lang="en-US" sz="2400" b="1" baseline="30000" dirty="0" err="1"/>
              <a:t>i</a:t>
            </a:r>
            <a:r>
              <a:rPr lang="en-US" sz="2400" b="1" baseline="30000" dirty="0"/>
              <a:t>)</a:t>
            </a:r>
            <a:r>
              <a:rPr lang="en-US" sz="2400" b="1" dirty="0"/>
              <a:t> = similarity (x</a:t>
            </a:r>
            <a:r>
              <a:rPr lang="en-US" sz="2400" b="1" baseline="30000" dirty="0"/>
              <a:t>(</a:t>
            </a:r>
            <a:r>
              <a:rPr lang="en-US" sz="2400" b="1" baseline="30000" dirty="0" err="1"/>
              <a:t>i</a:t>
            </a:r>
            <a:r>
              <a:rPr lang="en-US" sz="2400" b="1" baseline="30000" dirty="0"/>
              <a:t>)</a:t>
            </a:r>
            <a:r>
              <a:rPr lang="en-US" sz="2400" b="1" dirty="0"/>
              <a:t>,L</a:t>
            </a:r>
            <a:r>
              <a:rPr lang="en-US" sz="2400" b="1" baseline="30000" dirty="0"/>
              <a:t>(2)</a:t>
            </a:r>
            <a:r>
              <a:rPr lang="en-US" sz="2400" b="1" dirty="0"/>
              <a:t>)</a:t>
            </a:r>
          </a:p>
          <a:p>
            <a:endParaRPr lang="en-US" sz="2400" b="1" dirty="0"/>
          </a:p>
          <a:p>
            <a:r>
              <a:rPr lang="en-US" sz="2400" b="1" dirty="0"/>
              <a:t>f</a:t>
            </a:r>
            <a:r>
              <a:rPr lang="en-US" sz="2400" b="1" baseline="-25000" dirty="0"/>
              <a:t>m</a:t>
            </a:r>
            <a:r>
              <a:rPr lang="en-US" sz="2400" b="1" baseline="30000" dirty="0"/>
              <a:t>(</a:t>
            </a:r>
            <a:r>
              <a:rPr lang="en-US" sz="2400" b="1" baseline="30000" dirty="0" err="1"/>
              <a:t>i</a:t>
            </a:r>
            <a:r>
              <a:rPr lang="en-US" sz="2400" b="1" baseline="30000" dirty="0"/>
              <a:t>)</a:t>
            </a:r>
            <a:r>
              <a:rPr lang="en-US" sz="2400" b="1" dirty="0"/>
              <a:t> = similarity (x</a:t>
            </a:r>
            <a:r>
              <a:rPr lang="en-US" sz="2400" b="1" baseline="30000" dirty="0"/>
              <a:t>(</a:t>
            </a:r>
            <a:r>
              <a:rPr lang="en-US" sz="2400" b="1" baseline="30000" dirty="0" err="1"/>
              <a:t>i</a:t>
            </a:r>
            <a:r>
              <a:rPr lang="en-US" sz="2400" b="1" baseline="30000" dirty="0"/>
              <a:t>)</a:t>
            </a:r>
            <a:r>
              <a:rPr lang="en-US" sz="2400" b="1" dirty="0"/>
              <a:t>,L</a:t>
            </a:r>
            <a:r>
              <a:rPr lang="en-US" sz="2400" b="1" baseline="30000" dirty="0"/>
              <a:t>(m)</a:t>
            </a:r>
            <a:r>
              <a:rPr lang="en-US" sz="2400" b="1" dirty="0"/>
              <a:t>)</a:t>
            </a:r>
          </a:p>
          <a:p>
            <a:endParaRPr lang="en-US" sz="2400" b="1" dirty="0"/>
          </a:p>
        </p:txBody>
      </p:sp>
      <p:cxnSp>
        <p:nvCxnSpPr>
          <p:cNvPr id="11" name="Straight Arrow Connector 10"/>
          <p:cNvCxnSpPr/>
          <p:nvPr/>
        </p:nvCxnSpPr>
        <p:spPr>
          <a:xfrm>
            <a:off x="3962400" y="5715000"/>
            <a:ext cx="1828800" cy="0"/>
          </a:xfrm>
          <a:prstGeom prst="straightConnector1">
            <a:avLst/>
          </a:prstGeom>
          <a:ln w="38100"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Double Bracket 12"/>
          <p:cNvSpPr/>
          <p:nvPr/>
        </p:nvSpPr>
        <p:spPr>
          <a:xfrm>
            <a:off x="6934200" y="4724400"/>
            <a:ext cx="1295400" cy="1905000"/>
          </a:xfrm>
          <a:prstGeom prst="bracketPair">
            <a:avLst/>
          </a:prstGeom>
          <a:ln w="254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TextBox 13"/>
          <p:cNvSpPr txBox="1"/>
          <p:nvPr/>
        </p:nvSpPr>
        <p:spPr>
          <a:xfrm>
            <a:off x="7239000" y="4724400"/>
            <a:ext cx="685800" cy="212365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/>
              <a:t>f</a:t>
            </a:r>
            <a:r>
              <a:rPr lang="en-US" sz="2400" b="1" baseline="-25000" dirty="0"/>
              <a:t>1</a:t>
            </a:r>
            <a:r>
              <a:rPr lang="en-US" sz="2400" b="1" baseline="30000" dirty="0"/>
              <a:t>(</a:t>
            </a:r>
            <a:r>
              <a:rPr lang="en-US" sz="2400" b="1" baseline="30000" dirty="0" err="1"/>
              <a:t>i</a:t>
            </a:r>
            <a:r>
              <a:rPr lang="en-US" sz="2400" b="1" baseline="30000" dirty="0"/>
              <a:t>)</a:t>
            </a:r>
            <a:endParaRPr lang="en-US" sz="2400" b="1" dirty="0"/>
          </a:p>
          <a:p>
            <a:r>
              <a:rPr lang="en-US" sz="2400" b="1" dirty="0"/>
              <a:t>f</a:t>
            </a:r>
            <a:r>
              <a:rPr lang="en-US" sz="2400" b="1" baseline="-25000" dirty="0"/>
              <a:t>2</a:t>
            </a:r>
            <a:r>
              <a:rPr lang="en-US" sz="2400" b="1" baseline="30000" dirty="0"/>
              <a:t>(</a:t>
            </a:r>
            <a:r>
              <a:rPr lang="en-US" sz="2400" b="1" baseline="30000" dirty="0" err="1"/>
              <a:t>i</a:t>
            </a:r>
            <a:r>
              <a:rPr lang="en-US" sz="2400" b="1" baseline="30000" dirty="0"/>
              <a:t>)</a:t>
            </a:r>
            <a:endParaRPr lang="en-US" sz="2400" b="1" dirty="0"/>
          </a:p>
          <a:p>
            <a:endParaRPr lang="en-US" sz="2400" b="1" dirty="0"/>
          </a:p>
          <a:p>
            <a:endParaRPr lang="en-US" sz="2400" b="1" dirty="0"/>
          </a:p>
          <a:p>
            <a:r>
              <a:rPr lang="en-US" sz="2400" b="1" dirty="0"/>
              <a:t>f</a:t>
            </a:r>
            <a:r>
              <a:rPr lang="en-US" sz="2400" b="1" baseline="-25000" dirty="0"/>
              <a:t>m</a:t>
            </a:r>
            <a:r>
              <a:rPr lang="en-US" sz="2400" b="1" baseline="30000" dirty="0"/>
              <a:t>(</a:t>
            </a:r>
            <a:r>
              <a:rPr lang="en-US" sz="2400" b="1" baseline="30000" dirty="0" err="1"/>
              <a:t>i</a:t>
            </a:r>
            <a:r>
              <a:rPr lang="en-US" sz="2400" b="1" baseline="30000" dirty="0"/>
              <a:t>)</a:t>
            </a:r>
          </a:p>
          <a:p>
            <a:endParaRPr lang="en-US" b="1" baseline="30000" dirty="0"/>
          </a:p>
        </p:txBody>
      </p:sp>
      <p:sp>
        <p:nvSpPr>
          <p:cNvPr id="15" name="TextBox 14"/>
          <p:cNvSpPr txBox="1"/>
          <p:nvPr/>
        </p:nvSpPr>
        <p:spPr>
          <a:xfrm>
            <a:off x="6096000" y="5449669"/>
            <a:ext cx="6858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/>
              <a:t>f</a:t>
            </a:r>
            <a:r>
              <a:rPr lang="en-US" sz="2400" b="1" baseline="30000" dirty="0"/>
              <a:t>(</a:t>
            </a:r>
            <a:r>
              <a:rPr lang="en-US" sz="2400" b="1" baseline="30000" dirty="0" err="1"/>
              <a:t>i</a:t>
            </a:r>
            <a:r>
              <a:rPr lang="en-US" sz="2400" b="1" baseline="30000" dirty="0"/>
              <a:t>)</a:t>
            </a:r>
            <a:r>
              <a:rPr lang="en-US" sz="2400" b="1" dirty="0"/>
              <a:t> =</a:t>
            </a:r>
          </a:p>
          <a:p>
            <a:endParaRPr lang="en-US" b="1" baseline="30000" dirty="0"/>
          </a:p>
        </p:txBody>
      </p:sp>
      <p:sp>
        <p:nvSpPr>
          <p:cNvPr id="16" name="TextBox 15"/>
          <p:cNvSpPr txBox="1"/>
          <p:nvPr/>
        </p:nvSpPr>
        <p:spPr>
          <a:xfrm>
            <a:off x="3886200" y="6320135"/>
            <a:ext cx="24384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/>
              <a:t>What is </a:t>
            </a:r>
            <a:r>
              <a:rPr lang="en-US" sz="2400" b="1" dirty="0" err="1"/>
              <a:t>f</a:t>
            </a:r>
            <a:r>
              <a:rPr lang="en-US" sz="2400" b="1" baseline="-25000" dirty="0" err="1"/>
              <a:t>i</a:t>
            </a:r>
            <a:r>
              <a:rPr lang="en-US" sz="2400" b="1" baseline="30000" dirty="0"/>
              <a:t>(</a:t>
            </a:r>
            <a:r>
              <a:rPr lang="en-US" sz="2400" b="1" baseline="30000" dirty="0" err="1"/>
              <a:t>i</a:t>
            </a:r>
            <a:r>
              <a:rPr lang="en-US" sz="2400" b="1" baseline="30000" dirty="0"/>
              <a:t>)</a:t>
            </a:r>
            <a:r>
              <a:rPr lang="en-US" sz="2400" b="1" dirty="0"/>
              <a:t> ?</a:t>
            </a:r>
            <a:endParaRPr lang="en-US" sz="2400" b="1" baseline="300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74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228600" y="152400"/>
            <a:ext cx="28575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3075" name="Picture 3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457200" y="762000"/>
            <a:ext cx="698373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3076" name="Picture 4"/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457200" y="1219200"/>
            <a:ext cx="3393332" cy="533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7" name="TextBox 6"/>
          <p:cNvSpPr txBox="1"/>
          <p:nvPr/>
        </p:nvSpPr>
        <p:spPr>
          <a:xfrm>
            <a:off x="2362200" y="2057400"/>
            <a:ext cx="53340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l-GR" sz="2400" b="1" dirty="0"/>
              <a:t>ϴ</a:t>
            </a:r>
            <a:r>
              <a:rPr lang="en-US" sz="2400" b="1" baseline="-25000" dirty="0"/>
              <a:t>0</a:t>
            </a:r>
            <a:r>
              <a:rPr lang="en-US" sz="2400" b="1" dirty="0"/>
              <a:t>f</a:t>
            </a:r>
            <a:r>
              <a:rPr lang="en-US" sz="2400" b="1" baseline="-25000" dirty="0"/>
              <a:t>0</a:t>
            </a:r>
            <a:r>
              <a:rPr lang="el-GR" sz="2400" b="1" dirty="0"/>
              <a:t> </a:t>
            </a:r>
            <a:r>
              <a:rPr lang="en-US" sz="2400" b="1" dirty="0"/>
              <a:t>+ </a:t>
            </a:r>
            <a:r>
              <a:rPr lang="el-GR" sz="2400" b="1" dirty="0"/>
              <a:t>ϴ</a:t>
            </a:r>
            <a:r>
              <a:rPr lang="en-US" sz="2400" b="1" baseline="-25000" dirty="0"/>
              <a:t>1</a:t>
            </a:r>
            <a:r>
              <a:rPr lang="en-US" sz="2400" b="1" dirty="0"/>
              <a:t>f</a:t>
            </a:r>
            <a:r>
              <a:rPr lang="en-US" sz="2400" b="1" baseline="-25000" dirty="0"/>
              <a:t>1</a:t>
            </a:r>
            <a:r>
              <a:rPr lang="en-US" sz="2400" b="1" dirty="0"/>
              <a:t> +</a:t>
            </a:r>
            <a:r>
              <a:rPr lang="el-GR" sz="2400" b="1" dirty="0"/>
              <a:t> ϴ</a:t>
            </a:r>
            <a:r>
              <a:rPr lang="en-US" sz="2400" b="1" baseline="-25000" dirty="0"/>
              <a:t>2</a:t>
            </a:r>
            <a:r>
              <a:rPr lang="en-US" sz="2400" b="1" dirty="0"/>
              <a:t>f</a:t>
            </a:r>
            <a:r>
              <a:rPr lang="en-US" sz="2400" b="1" baseline="-25000" dirty="0"/>
              <a:t>2</a:t>
            </a:r>
            <a:r>
              <a:rPr lang="en-US" sz="2400" b="1" dirty="0"/>
              <a:t> +…………+ </a:t>
            </a:r>
            <a:r>
              <a:rPr lang="el-GR" sz="2400" b="1" dirty="0"/>
              <a:t>ϴ</a:t>
            </a:r>
            <a:r>
              <a:rPr lang="en-US" sz="2400" b="1" baseline="-25000" dirty="0" err="1"/>
              <a:t>m</a:t>
            </a:r>
            <a:r>
              <a:rPr lang="en-US" sz="2400" b="1" dirty="0" err="1"/>
              <a:t>f</a:t>
            </a:r>
            <a:r>
              <a:rPr lang="en-US" sz="2400" b="1" baseline="-25000" dirty="0" err="1"/>
              <a:t>m</a:t>
            </a:r>
            <a:endParaRPr lang="en-US" sz="2400" b="1" baseline="-25000" dirty="0"/>
          </a:p>
        </p:txBody>
      </p:sp>
      <p:cxnSp>
        <p:nvCxnSpPr>
          <p:cNvPr id="9" name="Straight Arrow Connector 8"/>
          <p:cNvCxnSpPr/>
          <p:nvPr/>
        </p:nvCxnSpPr>
        <p:spPr>
          <a:xfrm>
            <a:off x="2895600" y="1676400"/>
            <a:ext cx="228600" cy="457200"/>
          </a:xfrm>
          <a:prstGeom prst="straightConnector1">
            <a:avLst/>
          </a:prstGeom>
          <a:ln w="25400"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078" name="Picture 6"/>
          <p:cNvPicPr>
            <a:picLocks noChangeAspect="1" noChangeArrowheads="1"/>
          </p:cNvPicPr>
          <p:nvPr/>
        </p:nvPicPr>
        <p:blipFill>
          <a:blip r:embed="rId5" cstate="print"/>
          <a:srcRect/>
          <a:stretch>
            <a:fillRect/>
          </a:stretch>
        </p:blipFill>
        <p:spPr bwMode="auto">
          <a:xfrm>
            <a:off x="457200" y="3048000"/>
            <a:ext cx="14351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3079" name="Picture 7"/>
          <p:cNvPicPr>
            <a:picLocks noChangeAspect="1" noChangeArrowheads="1"/>
          </p:cNvPicPr>
          <p:nvPr/>
        </p:nvPicPr>
        <p:blipFill>
          <a:blip r:embed="rId6" cstate="print"/>
          <a:srcRect/>
          <a:stretch>
            <a:fillRect/>
          </a:stretch>
        </p:blipFill>
        <p:spPr bwMode="auto">
          <a:xfrm>
            <a:off x="76200" y="3581400"/>
            <a:ext cx="9031941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13" name="TextBox 12"/>
          <p:cNvSpPr txBox="1"/>
          <p:nvPr/>
        </p:nvSpPr>
        <p:spPr>
          <a:xfrm>
            <a:off x="3124200" y="4724400"/>
            <a:ext cx="32004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/>
              <a:t>Note here n=m</a:t>
            </a:r>
            <a:endParaRPr lang="en-US" b="1" dirty="0"/>
          </a:p>
        </p:txBody>
      </p:sp>
      <p:sp>
        <p:nvSpPr>
          <p:cNvPr id="14" name="TextBox 13"/>
          <p:cNvSpPr txBox="1"/>
          <p:nvPr/>
        </p:nvSpPr>
        <p:spPr>
          <a:xfrm>
            <a:off x="533400" y="6091535"/>
            <a:ext cx="86868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/>
              <a:t>*Linear and nonlinear kernels directly affect the training time</a:t>
            </a:r>
            <a:endParaRPr lang="en-US" b="1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098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228600" y="304800"/>
            <a:ext cx="2524125" cy="4191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4099" name="Picture 3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381000" y="1066800"/>
            <a:ext cx="7976419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4100" name="Picture 4"/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457200" y="2819400"/>
            <a:ext cx="7907694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4101" name="Picture 5"/>
          <p:cNvPicPr>
            <a:picLocks noChangeAspect="1" noChangeArrowheads="1"/>
          </p:cNvPicPr>
          <p:nvPr/>
        </p:nvPicPr>
        <p:blipFill>
          <a:blip r:embed="rId5" cstate="print"/>
          <a:srcRect/>
          <a:stretch>
            <a:fillRect/>
          </a:stretch>
        </p:blipFill>
        <p:spPr bwMode="auto">
          <a:xfrm>
            <a:off x="1524000" y="4343400"/>
            <a:ext cx="6858000" cy="103290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0"/>
            <a:ext cx="8229600" cy="1143000"/>
          </a:xfrm>
        </p:spPr>
        <p:txBody>
          <a:bodyPr/>
          <a:lstStyle/>
          <a:p>
            <a:r>
              <a:rPr lang="en-US" dirty="0"/>
              <a:t>In-Practice</a:t>
            </a:r>
          </a:p>
        </p:txBody>
      </p:sp>
      <p:pic>
        <p:nvPicPr>
          <p:cNvPr id="5122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52400" y="1600200"/>
            <a:ext cx="8859308" cy="838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5" name="TextBox 4"/>
          <p:cNvSpPr txBox="1"/>
          <p:nvPr/>
        </p:nvSpPr>
        <p:spPr>
          <a:xfrm>
            <a:off x="2133600" y="1066800"/>
            <a:ext cx="46482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>
                <a:solidFill>
                  <a:srgbClr val="FF0000"/>
                </a:solidFill>
              </a:rPr>
              <a:t>Implementation is not trivial</a:t>
            </a:r>
            <a:endParaRPr lang="en-US" b="1" dirty="0">
              <a:solidFill>
                <a:srgbClr val="FF0000"/>
              </a:solidFill>
            </a:endParaRPr>
          </a:p>
        </p:txBody>
      </p:sp>
      <p:pic>
        <p:nvPicPr>
          <p:cNvPr id="5123" name="Picture 3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228599" y="2590800"/>
            <a:ext cx="5436973" cy="1219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5124" name="Picture 4"/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304800" y="4038600"/>
            <a:ext cx="4317304" cy="838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5125" name="Picture 5"/>
          <p:cNvPicPr>
            <a:picLocks noChangeAspect="1" noChangeArrowheads="1"/>
          </p:cNvPicPr>
          <p:nvPr/>
        </p:nvPicPr>
        <p:blipFill>
          <a:blip r:embed="rId5" cstate="print"/>
          <a:srcRect/>
          <a:stretch>
            <a:fillRect/>
          </a:stretch>
        </p:blipFill>
        <p:spPr bwMode="auto">
          <a:xfrm>
            <a:off x="304800" y="5105400"/>
            <a:ext cx="6405063" cy="1524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457200" y="609600"/>
            <a:ext cx="8229600" cy="30469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/>
              <a:t>Additional Notes:</a:t>
            </a:r>
          </a:p>
          <a:p>
            <a:endParaRPr lang="en-US" sz="2400" b="1" dirty="0"/>
          </a:p>
          <a:p>
            <a:pPr>
              <a:buFont typeface="Arial" pitchFamily="34" charset="0"/>
              <a:buChar char="•"/>
            </a:pPr>
            <a:r>
              <a:rPr lang="en-US" sz="2400" b="1" dirty="0"/>
              <a:t>Do not forget to perform feature scaling before training a SVM</a:t>
            </a:r>
          </a:p>
          <a:p>
            <a:pPr>
              <a:buFont typeface="Arial" pitchFamily="34" charset="0"/>
              <a:buChar char="•"/>
            </a:pPr>
            <a:r>
              <a:rPr lang="en-US" sz="2400" b="1" dirty="0"/>
              <a:t>Linear and Gaussian kernels are most popular</a:t>
            </a:r>
          </a:p>
          <a:p>
            <a:pPr>
              <a:buFont typeface="Arial" pitchFamily="34" charset="0"/>
              <a:buChar char="•"/>
            </a:pPr>
            <a:r>
              <a:rPr lang="en-US" sz="2400" b="1" dirty="0"/>
              <a:t>Other choice of kernels</a:t>
            </a:r>
          </a:p>
          <a:p>
            <a:pPr lvl="1">
              <a:buFont typeface="Arial" pitchFamily="34" charset="0"/>
              <a:buChar char="•"/>
            </a:pPr>
            <a:r>
              <a:rPr lang="en-US" sz="2400" b="1" dirty="0"/>
              <a:t> polynomial kernel</a:t>
            </a:r>
          </a:p>
          <a:p>
            <a:pPr lvl="1">
              <a:buFont typeface="Arial" pitchFamily="34" charset="0"/>
              <a:buChar char="•"/>
            </a:pPr>
            <a:r>
              <a:rPr lang="en-US" sz="2400" b="1" dirty="0"/>
              <a:t>Many others….string kernel, chi-square kernel, histogram kernel etc</a:t>
            </a:r>
          </a:p>
        </p:txBody>
      </p:sp>
      <p:pic>
        <p:nvPicPr>
          <p:cNvPr id="6146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457200" y="4191000"/>
            <a:ext cx="8220075" cy="10191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170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76200" y="762000"/>
            <a:ext cx="8986777" cy="5029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194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457200" y="685800"/>
            <a:ext cx="4667250" cy="533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8195" name="Picture 3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152400" y="1524000"/>
            <a:ext cx="8843211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8196" name="Picture 4"/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228601" y="2895600"/>
            <a:ext cx="4724400" cy="86820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8197" name="Picture 5"/>
          <p:cNvPicPr>
            <a:picLocks noChangeAspect="1" noChangeArrowheads="1"/>
          </p:cNvPicPr>
          <p:nvPr/>
        </p:nvPicPr>
        <p:blipFill>
          <a:blip r:embed="rId5" cstate="print"/>
          <a:srcRect/>
          <a:stretch>
            <a:fillRect/>
          </a:stretch>
        </p:blipFill>
        <p:spPr bwMode="auto">
          <a:xfrm>
            <a:off x="228600" y="3810000"/>
            <a:ext cx="8697686" cy="1219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2419A45FDF435D4CA9F3A585DD4ABEB3" ma:contentTypeVersion="3" ma:contentTypeDescription="Create a new document." ma:contentTypeScope="" ma:versionID="f15c6cd630bf8942c37780dd86cd0f40">
  <xsd:schema xmlns:xsd="http://www.w3.org/2001/XMLSchema" xmlns:xs="http://www.w3.org/2001/XMLSchema" xmlns:p="http://schemas.microsoft.com/office/2006/metadata/properties" xmlns:ns2="82062c1e-dd8f-4268-9e54-b0572c0891a6" targetNamespace="http://schemas.microsoft.com/office/2006/metadata/properties" ma:root="true" ma:fieldsID="2e3acf5cd54823db6264b3c66621dce5" ns2:_="">
    <xsd:import namespace="82062c1e-dd8f-4268-9e54-b0572c0891a6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82062c1e-dd8f-4268-9e54-b0572c0891a6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47ADA59A-B388-464E-8A41-DF87F65281C7}">
  <ds:schemaRefs>
    <ds:schemaRef ds:uri="http://schemas.microsoft.com/office/2006/metadata/properties"/>
    <ds:schemaRef ds:uri="http://schemas.microsoft.com/office/infopath/2007/PartnerControls"/>
  </ds:schemaRefs>
</ds:datastoreItem>
</file>

<file path=customXml/itemProps2.xml><?xml version="1.0" encoding="utf-8"?>
<ds:datastoreItem xmlns:ds="http://schemas.openxmlformats.org/officeDocument/2006/customXml" ds:itemID="{D265F906-E79B-4C03-B281-031CE41A6F2B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546F4F44-4530-4F28-BC47-F093DC6C06A0}"/>
</file>

<file path=docProps/app.xml><?xml version="1.0" encoding="utf-8"?>
<Properties xmlns="http://schemas.openxmlformats.org/officeDocument/2006/extended-properties" xmlns:vt="http://schemas.openxmlformats.org/officeDocument/2006/docPropsVTypes">
  <TotalTime>2724</TotalTime>
  <Words>495</Words>
  <Application>Microsoft Office PowerPoint</Application>
  <PresentationFormat>On-screen Show (4:3)</PresentationFormat>
  <Paragraphs>107</Paragraphs>
  <Slides>26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26</vt:i4>
      </vt:variant>
    </vt:vector>
  </HeadingPairs>
  <TitlesOfParts>
    <vt:vector size="27" baseType="lpstr">
      <vt:lpstr>Office Theme</vt:lpstr>
      <vt:lpstr>Support Vector Machines (SVM)</vt:lpstr>
      <vt:lpstr>SVM</vt:lpstr>
      <vt:lpstr>Optimization Objective</vt:lpstr>
      <vt:lpstr>Optimization Objective</vt:lpstr>
      <vt:lpstr>PowerPoint Presentation</vt:lpstr>
      <vt:lpstr>PowerPoint Presentation</vt:lpstr>
      <vt:lpstr>Large Margin Classifier</vt:lpstr>
      <vt:lpstr>PowerPoint Presentation</vt:lpstr>
      <vt:lpstr>PowerPoint Presentation</vt:lpstr>
      <vt:lpstr>PowerPoint Presentation</vt:lpstr>
      <vt:lpstr>Large Margin Classification Maths</vt:lpstr>
      <vt:lpstr>SVM Decision Boundary</vt:lpstr>
      <vt:lpstr>SVM Decision Boundary</vt:lpstr>
      <vt:lpstr>SVM: Kernels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In-Practice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Support Vector Machines (SVM)</dc:title>
  <dc:creator>Hasan</dc:creator>
  <cp:lastModifiedBy>Hasan</cp:lastModifiedBy>
  <cp:revision>66</cp:revision>
  <dcterms:created xsi:type="dcterms:W3CDTF">2006-08-16T00:00:00Z</dcterms:created>
  <dcterms:modified xsi:type="dcterms:W3CDTF">2021-01-05T14:03:38Z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0x0101002419A45FDF435D4CA9F3A585DD4ABEB3</vt:lpwstr>
  </property>
</Properties>
</file>