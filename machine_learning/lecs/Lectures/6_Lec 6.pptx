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2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9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docProps/core.xml" ContentType="application/vnd.openxmlformats-package.core-propertie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app.xml" ContentType="application/vnd.openxmlformats-officedocument.extended-propertie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3.xml" ContentType="application/vnd.openxmlformats-officedocument.presentationml.tags+xml"/>
  <Override PartName="/ppt/tags/tag1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73" r:id="rId3"/>
    <p:sldId id="274" r:id="rId4"/>
    <p:sldId id="275" r:id="rId5"/>
    <p:sldId id="276" r:id="rId6"/>
    <p:sldId id="464" r:id="rId7"/>
    <p:sldId id="465" r:id="rId8"/>
    <p:sldId id="46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89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0:22:39.776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6550 5941 7847,'0'0'-128,"0"0"32,0 0 352,0 0 449,19 0 640,-19 0-128,20 0-512,-20 0-33,20 0 97,-20 0-160,0 0-193,20 20-192,-20-20 0,20 20-63,-20-20-33,0 20-32,19 0 0,-19 19 128,0-19-64,0 20 0,0 0-63,0 0-33,0-1-32,0 1-32,0 0 64,0-21-64,0 22 32,-19-2 0,19 1-32,0 0 32,-20-1 32,20 1-64,-20 1 32,0-3 0,0 2 0,1 0-32,-1 0 32,0 0 32,0-20 32,0 19 0,1 1-32,-1 0-32,0-1-32,0 1 64,-1 0-64,3 0 32,-2 0-32,-1-1 0,1 1 129,0-1-1,2 1-64,-3 20-64,1-21 32,0 1-32,0 0 32,0-1-32,20 1 0,-19 0 32,19-21 0,0 22 0,-20-21-32,0 20 0,20-1 32,-20-19-64,20 20 64,-20-1-32,1-19 0,19 20 32,-20 0-32,0 0 32,20-20-32,-21 19 32,1-19-64,20 20 32,-18 0 0,18-21 32,-20 21-32,20 0 0,-21 0 64,1-20-96,20 19 0,-20 1 32,1 0 32,19 0-32,-20-20-32,20 19-32,-20-19 160,20 20-96,-20-21-32,20 21 96,0-19-128,0-2 64,-20 1 0,20 20 32,0-20-32,0 19 0,0-19 0,0 0 32,-19 20-32,19-20 0,0-1 0,0 21 0,0-20-32,0 0 32,0 20 0,0-20 32,0-1-96,0 2 96,0 18-64,0-19 32,0 0 32,19 20 0,-19-20 0,0-1 0,0 21 0,20-20-32,-20 20 0,20-21 0,0 1 64,-20 1-128,20-2 64,-1 21 96,-19-21-64,20 2 32,0-1-64,1 0 64,-1 0 64,-2-1-224,23 2 96,-21-2 64,0 1-64,-1 0 0,1-20 65,0 20-162,0 0 161,0 0-96,-1-1 64,21 1-32,-20-20 97,0 20-97,1 0-97,17-20 162,-18 20-97,21-20-1,-23 20 130,23-20-129,-21 19 0,19-19 128,1 0-128,-20 0 32,19 21 32,-19-21-64,20 0 64,-1 0-32,1 0 0,-20 0 0,19 0 0,2 19 64,-1-19-160,-1 0 32,1 0 128,-1 20-64,1-20 0,-20 0 0,20 20-32,-1-20 96,2 0-128,-3 20 128,3-20-32,-1 0-64,-1 0 0,1 20 32,19-20 64,-19 20-96,-1-20 64,1 0-64,1 20 128,-3-20-224,3 19-97,18-19 450,-19 20-161,-1-20-64,21 0 32,-20 21 0,19-21-32,-18 19 0,-3-19 32,23 0-32,-22 20-32,1 0 96,19-20-64,-19 0 32,19 19 32,-19-19-96,19 21 256,-18-21-64,-3 0-160,3 20 0,-1-20 64,19 0-64,-19 0-32,-1 19 64,1-19 0,1 0 0,-23 0 32,22 20-64,1-20 32,-2 0-64,1 20 128,-20-20-160,19 0 128,1 0-64,-1 20 65,-19-20-162,20 0 129,-1 20-32,1-20 65,1 0-65,18 0-65,-19 0 130,-1 20-33,1-20 0,0 0-64,-1 0 64,1 0-64,19 0 160,-18 0-160,17-20 32,3 20-64,-22 0 128,21 0-64,-1 0 0,0-20 96,1 20-192,-1 0 96,2 0 0,-2 0-32,0 0 64,1-20-32,-1 20 0,1 0 64,-1 0 0,2 0 128,-22 0-160,1 0-96,-1 0 0,1 0-449,0 0-255,-21-20 31,1 20-192,-20 0-1377,0 0-8873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33979-EA76-441C-B57B-0156F45BC18F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E97D3-3F74-4EB0-8882-205D32D141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45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3.xml"/><Relationship Id="rId7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64.png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image" Target="../media/image83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tags" Target="../tags/tag5.xml"/><Relationship Id="rId16" Type="http://schemas.openxmlformats.org/officeDocument/2006/relationships/image" Target="../media/image86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81.png"/><Relationship Id="rId5" Type="http://schemas.openxmlformats.org/officeDocument/2006/relationships/tags" Target="../tags/tag8.xml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tags" Target="../tags/tag14.xml"/><Relationship Id="rId7" Type="http://schemas.openxmlformats.org/officeDocument/2006/relationships/image" Target="../media/image93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5" Type="http://schemas.openxmlformats.org/officeDocument/2006/relationships/tags" Target="../tags/tag16.xml"/><Relationship Id="rId10" Type="http://schemas.openxmlformats.org/officeDocument/2006/relationships/image" Target="../media/image96.png"/><Relationship Id="rId4" Type="http://schemas.openxmlformats.org/officeDocument/2006/relationships/tags" Target="../tags/tag15.xml"/><Relationship Id="rId9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tags" Target="../tags/tag19.xml"/><Relationship Id="rId7" Type="http://schemas.openxmlformats.org/officeDocument/2006/relationships/image" Target="../media/image9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9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dirty="0"/>
              <a:t>Machine Learning – RIME 832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Yet another non-linear classifier</a:t>
            </a:r>
          </a:p>
          <a:p>
            <a:r>
              <a:rPr lang="en-US" dirty="0"/>
              <a:t>To learn more complex non-linear hypothesis</a:t>
            </a:r>
          </a:p>
          <a:p>
            <a:r>
              <a:rPr lang="en-US" dirty="0"/>
              <a:t>State of the art technique for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373439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43475" y="1447800"/>
            <a:ext cx="35909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562600" y="2743200"/>
            <a:ext cx="220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Logistic Regression</a:t>
            </a:r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419600"/>
            <a:ext cx="2590800" cy="22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reeform 7"/>
          <p:cNvSpPr/>
          <p:nvPr/>
        </p:nvSpPr>
        <p:spPr>
          <a:xfrm>
            <a:off x="900332" y="1524000"/>
            <a:ext cx="2452468" cy="2133599"/>
          </a:xfrm>
          <a:custGeom>
            <a:avLst/>
            <a:gdLst>
              <a:gd name="connsiteX0" fmla="*/ 0 w 2452468"/>
              <a:gd name="connsiteY0" fmla="*/ 839372 h 2133599"/>
              <a:gd name="connsiteX1" fmla="*/ 323557 w 2452468"/>
              <a:gd name="connsiteY1" fmla="*/ 769034 h 2133599"/>
              <a:gd name="connsiteX2" fmla="*/ 478302 w 2452468"/>
              <a:gd name="connsiteY2" fmla="*/ 614289 h 2133599"/>
              <a:gd name="connsiteX3" fmla="*/ 647114 w 2452468"/>
              <a:gd name="connsiteY3" fmla="*/ 529883 h 2133599"/>
              <a:gd name="connsiteX4" fmla="*/ 773723 w 2452468"/>
              <a:gd name="connsiteY4" fmla="*/ 431409 h 2133599"/>
              <a:gd name="connsiteX5" fmla="*/ 886265 w 2452468"/>
              <a:gd name="connsiteY5" fmla="*/ 431409 h 2133599"/>
              <a:gd name="connsiteX6" fmla="*/ 998806 w 2452468"/>
              <a:gd name="connsiteY6" fmla="*/ 459545 h 2133599"/>
              <a:gd name="connsiteX7" fmla="*/ 1167619 w 2452468"/>
              <a:gd name="connsiteY7" fmla="*/ 459545 h 2133599"/>
              <a:gd name="connsiteX8" fmla="*/ 1350499 w 2452468"/>
              <a:gd name="connsiteY8" fmla="*/ 543951 h 2133599"/>
              <a:gd name="connsiteX9" fmla="*/ 1519311 w 2452468"/>
              <a:gd name="connsiteY9" fmla="*/ 543951 h 2133599"/>
              <a:gd name="connsiteX10" fmla="*/ 1941342 w 2452468"/>
              <a:gd name="connsiteY10" fmla="*/ 135988 h 2133599"/>
              <a:gd name="connsiteX11" fmla="*/ 2124222 w 2452468"/>
              <a:gd name="connsiteY11" fmla="*/ 9378 h 2133599"/>
              <a:gd name="connsiteX12" fmla="*/ 2264899 w 2452468"/>
              <a:gd name="connsiteY12" fmla="*/ 79717 h 2133599"/>
              <a:gd name="connsiteX13" fmla="*/ 2264899 w 2452468"/>
              <a:gd name="connsiteY13" fmla="*/ 220394 h 2133599"/>
              <a:gd name="connsiteX14" fmla="*/ 2152357 w 2452468"/>
              <a:gd name="connsiteY14" fmla="*/ 361071 h 2133599"/>
              <a:gd name="connsiteX15" fmla="*/ 1463040 w 2452468"/>
              <a:gd name="connsiteY15" fmla="*/ 1022252 h 2133599"/>
              <a:gd name="connsiteX16" fmla="*/ 1448973 w 2452468"/>
              <a:gd name="connsiteY16" fmla="*/ 1092591 h 2133599"/>
              <a:gd name="connsiteX17" fmla="*/ 1463040 w 2452468"/>
              <a:gd name="connsiteY17" fmla="*/ 1303606 h 2133599"/>
              <a:gd name="connsiteX18" fmla="*/ 1688123 w 2452468"/>
              <a:gd name="connsiteY18" fmla="*/ 1402080 h 2133599"/>
              <a:gd name="connsiteX19" fmla="*/ 2335237 w 2452468"/>
              <a:gd name="connsiteY19" fmla="*/ 2021058 h 2133599"/>
              <a:gd name="connsiteX20" fmla="*/ 2391508 w 2452468"/>
              <a:gd name="connsiteY20" fmla="*/ 2077329 h 213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52468" h="2133599">
                <a:moveTo>
                  <a:pt x="0" y="839372"/>
                </a:moveTo>
                <a:cubicBezTo>
                  <a:pt x="121920" y="822960"/>
                  <a:pt x="243840" y="806548"/>
                  <a:pt x="323557" y="769034"/>
                </a:cubicBezTo>
                <a:cubicBezTo>
                  <a:pt x="403274" y="731520"/>
                  <a:pt x="424376" y="654147"/>
                  <a:pt x="478302" y="614289"/>
                </a:cubicBezTo>
                <a:cubicBezTo>
                  <a:pt x="532228" y="574431"/>
                  <a:pt x="597877" y="560363"/>
                  <a:pt x="647114" y="529883"/>
                </a:cubicBezTo>
                <a:cubicBezTo>
                  <a:pt x="696351" y="499403"/>
                  <a:pt x="733865" y="447821"/>
                  <a:pt x="773723" y="431409"/>
                </a:cubicBezTo>
                <a:cubicBezTo>
                  <a:pt x="813581" y="414997"/>
                  <a:pt x="848751" y="426720"/>
                  <a:pt x="886265" y="431409"/>
                </a:cubicBezTo>
                <a:cubicBezTo>
                  <a:pt x="923779" y="436098"/>
                  <a:pt x="951914" y="454856"/>
                  <a:pt x="998806" y="459545"/>
                </a:cubicBezTo>
                <a:cubicBezTo>
                  <a:pt x="1045698" y="464234"/>
                  <a:pt x="1109004" y="445477"/>
                  <a:pt x="1167619" y="459545"/>
                </a:cubicBezTo>
                <a:cubicBezTo>
                  <a:pt x="1226234" y="473613"/>
                  <a:pt x="1291884" y="529883"/>
                  <a:pt x="1350499" y="543951"/>
                </a:cubicBezTo>
                <a:cubicBezTo>
                  <a:pt x="1409114" y="558019"/>
                  <a:pt x="1420837" y="611945"/>
                  <a:pt x="1519311" y="543951"/>
                </a:cubicBezTo>
                <a:cubicBezTo>
                  <a:pt x="1617785" y="475957"/>
                  <a:pt x="1840524" y="225083"/>
                  <a:pt x="1941342" y="135988"/>
                </a:cubicBezTo>
                <a:cubicBezTo>
                  <a:pt x="2042160" y="46893"/>
                  <a:pt x="2070296" y="18756"/>
                  <a:pt x="2124222" y="9378"/>
                </a:cubicBezTo>
                <a:cubicBezTo>
                  <a:pt x="2178148" y="0"/>
                  <a:pt x="2241453" y="44548"/>
                  <a:pt x="2264899" y="79717"/>
                </a:cubicBezTo>
                <a:cubicBezTo>
                  <a:pt x="2288345" y="114886"/>
                  <a:pt x="2283656" y="173502"/>
                  <a:pt x="2264899" y="220394"/>
                </a:cubicBezTo>
                <a:cubicBezTo>
                  <a:pt x="2246142" y="267286"/>
                  <a:pt x="2286000" y="227428"/>
                  <a:pt x="2152357" y="361071"/>
                </a:cubicBezTo>
                <a:cubicBezTo>
                  <a:pt x="2018714" y="494714"/>
                  <a:pt x="1580271" y="900332"/>
                  <a:pt x="1463040" y="1022252"/>
                </a:cubicBezTo>
                <a:cubicBezTo>
                  <a:pt x="1345809" y="1144172"/>
                  <a:pt x="1448973" y="1045699"/>
                  <a:pt x="1448973" y="1092591"/>
                </a:cubicBezTo>
                <a:cubicBezTo>
                  <a:pt x="1448973" y="1139483"/>
                  <a:pt x="1423182" y="1252025"/>
                  <a:pt x="1463040" y="1303606"/>
                </a:cubicBezTo>
                <a:cubicBezTo>
                  <a:pt x="1502898" y="1355187"/>
                  <a:pt x="1542757" y="1282505"/>
                  <a:pt x="1688123" y="1402080"/>
                </a:cubicBezTo>
                <a:cubicBezTo>
                  <a:pt x="1833489" y="1521655"/>
                  <a:pt x="2218006" y="1908517"/>
                  <a:pt x="2335237" y="2021058"/>
                </a:cubicBezTo>
                <a:cubicBezTo>
                  <a:pt x="2452468" y="2133599"/>
                  <a:pt x="2421988" y="2105464"/>
                  <a:pt x="2391508" y="2077329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67200" y="34290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Works well for small number of features only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4114800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change our regression problem to classification problem.</a:t>
            </a:r>
          </a:p>
          <a:p>
            <a:endParaRPr lang="en-US" dirty="0"/>
          </a:p>
          <a:p>
            <a:r>
              <a:rPr lang="en-US" dirty="0"/>
              <a:t>Can we predict is a house will be sold in next maybe 6 months?</a:t>
            </a:r>
          </a:p>
          <a:p>
            <a:endParaRPr lang="en-US" dirty="0"/>
          </a:p>
          <a:p>
            <a:r>
              <a:rPr lang="en-US" dirty="0"/>
              <a:t>Imagine the number of terms with n = 100</a:t>
            </a:r>
          </a:p>
          <a:p>
            <a:r>
              <a:rPr lang="en-US" dirty="0"/>
              <a:t>Complexity of features: O(n</a:t>
            </a:r>
            <a:r>
              <a:rPr lang="en-US" baseline="30000" dirty="0"/>
              <a:t>3</a:t>
            </a:r>
            <a:r>
              <a:rPr lang="en-US" dirty="0"/>
              <a:t>) if we only consider cubic terms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r>
              <a:rPr lang="en-US" dirty="0"/>
              <a:t>What is this?</a:t>
            </a:r>
          </a:p>
        </p:txBody>
      </p:sp>
      <p:pic>
        <p:nvPicPr>
          <p:cNvPr id="35842" name="Picture 2" descr="C:\Users\Hasan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76400"/>
            <a:ext cx="2619375" cy="1743075"/>
          </a:xfrm>
          <a:prstGeom prst="rect">
            <a:avLst/>
          </a:prstGeom>
          <a:noFill/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4495800"/>
            <a:ext cx="477774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905000" y="2438400"/>
            <a:ext cx="304800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905000" y="2438400"/>
            <a:ext cx="1752600" cy="2057400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09800" y="2438400"/>
            <a:ext cx="6172200" cy="2133600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905000" y="2743200"/>
            <a:ext cx="1752600" cy="3886200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04975"/>
            <a:ext cx="41624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676400"/>
            <a:ext cx="41719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4572000"/>
            <a:ext cx="3062654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687116" y="4022106"/>
            <a:ext cx="986186" cy="448056"/>
            <a:chOff x="2661966" y="3157974"/>
            <a:chExt cx="986186" cy="448056"/>
          </a:xfrm>
        </p:grpSpPr>
        <p:sp>
          <p:nvSpPr>
            <p:cNvPr id="113" name="Plus 112"/>
            <p:cNvSpPr>
              <a:spLocks/>
            </p:cNvSpPr>
            <p:nvPr/>
          </p:nvSpPr>
          <p:spPr>
            <a:xfrm>
              <a:off x="2661966" y="3256002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solidFill>
                  <a:sysClr val="window" lastClr="FFFFFF"/>
                </a:solidFill>
                <a:latin typeface="Calibri"/>
                <a:ea typeface="맑은 고딕"/>
              </a:endParaRPr>
            </a:p>
          </p:txBody>
        </p:sp>
        <p:pic>
          <p:nvPicPr>
            <p:cNvPr id="125" name="Picture 6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52" r="352"/>
            <a:stretch/>
          </p:blipFill>
          <p:spPr bwMode="auto">
            <a:xfrm>
              <a:off x="2976068" y="3157974"/>
              <a:ext cx="672084" cy="4480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</p:grpSp>
      <p:sp>
        <p:nvSpPr>
          <p:cNvPr id="134" name="TextBox 133"/>
          <p:cNvSpPr txBox="1"/>
          <p:nvPr/>
        </p:nvSpPr>
        <p:spPr>
          <a:xfrm>
            <a:off x="5606353" y="150161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kern="0" dirty="0">
                <a:solidFill>
                  <a:srgbClr val="000000"/>
                </a:solidFill>
                <a:latin typeface="+mj-lt"/>
                <a:cs typeface="Arial"/>
              </a:rPr>
              <a:t>Learning Algorithm</a:t>
            </a:r>
          </a:p>
        </p:txBody>
      </p:sp>
      <p:pic>
        <p:nvPicPr>
          <p:cNvPr id="2050" name="Picture 2" descr="http://www.cheapcar.org/wp-content/uploads/2010/04/car_loan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897168" y="1674210"/>
            <a:ext cx="2422076" cy="75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4347879" y="195997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Line Callout 1 (No Border) 18"/>
          <p:cNvSpPr/>
          <p:nvPr/>
        </p:nvSpPr>
        <p:spPr>
          <a:xfrm>
            <a:off x="2088245" y="1023487"/>
            <a:ext cx="794825" cy="549252"/>
          </a:xfrm>
          <a:prstGeom prst="callout1">
            <a:avLst>
              <a:gd name="adj1" fmla="val 79493"/>
              <a:gd name="adj2" fmla="val 44341"/>
              <a:gd name="adj3" fmla="val 136797"/>
              <a:gd name="adj4" fmla="val 68644"/>
            </a:avLst>
          </a:prstGeom>
          <a:noFill/>
          <a:ln w="38100" cap="flat" cmpd="sng" algn="ctr">
            <a:solidFill>
              <a:schemeClr val="tx1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kern="0" dirty="0">
                <a:latin typeface="Calibri"/>
                <a:ea typeface="맑은 고딕"/>
              </a:rPr>
              <a:t>pixel 1</a:t>
            </a:r>
            <a:endParaRPr lang="ko-KR" altLang="en-US" kern="0" dirty="0">
              <a:latin typeface="Calibri"/>
              <a:ea typeface="맑은 고딕"/>
            </a:endParaRPr>
          </a:p>
        </p:txBody>
      </p:sp>
      <p:sp>
        <p:nvSpPr>
          <p:cNvPr id="20" name="Multiply 19"/>
          <p:cNvSpPr>
            <a:spLocks noChangeAspect="1"/>
          </p:cNvSpPr>
          <p:nvPr/>
        </p:nvSpPr>
        <p:spPr>
          <a:xfrm>
            <a:off x="2608885" y="176247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latin typeface="Calibri"/>
              <a:ea typeface="맑은 고딕"/>
            </a:endParaRPr>
          </a:p>
        </p:txBody>
      </p:sp>
      <p:sp>
        <p:nvSpPr>
          <p:cNvPr id="21" name="Multiply 20"/>
          <p:cNvSpPr>
            <a:spLocks noChangeAspect="1"/>
          </p:cNvSpPr>
          <p:nvPr/>
        </p:nvSpPr>
        <p:spPr>
          <a:xfrm>
            <a:off x="3760438" y="222382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latin typeface="Calibri"/>
              <a:ea typeface="맑은 고딕"/>
            </a:endParaRPr>
          </a:p>
        </p:txBody>
      </p:sp>
      <p:sp>
        <p:nvSpPr>
          <p:cNvPr id="22" name="Line Callout 1 (No Border) 21"/>
          <p:cNvSpPr/>
          <p:nvPr/>
        </p:nvSpPr>
        <p:spPr>
          <a:xfrm>
            <a:off x="4137503" y="2318660"/>
            <a:ext cx="794825" cy="549252"/>
          </a:xfrm>
          <a:prstGeom prst="callout1">
            <a:avLst>
              <a:gd name="adj1" fmla="val 32634"/>
              <a:gd name="adj2" fmla="val 23062"/>
              <a:gd name="adj3" fmla="val 3162"/>
              <a:gd name="adj4" fmla="val -26705"/>
            </a:avLst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kern="0" dirty="0">
                <a:latin typeface="Calibri"/>
                <a:ea typeface="맑은 고딕"/>
              </a:rPr>
              <a:t>pixel 2</a:t>
            </a:r>
            <a:endParaRPr lang="ko-KR" altLang="en-US" kern="0" dirty="0">
              <a:latin typeface="Calibri"/>
              <a:ea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04878" y="527713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315246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2" y="512398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328169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2" y="2895600"/>
            <a:ext cx="1210545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sysClr val="window" lastClr="FFFFFF"/>
                </a:solidFill>
              </a:rPr>
              <a:t>Raw image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01329" y="3135059"/>
            <a:ext cx="832624" cy="557549"/>
            <a:chOff x="2301329" y="2277808"/>
            <a:chExt cx="832624" cy="557549"/>
          </a:xfrm>
        </p:grpSpPr>
        <p:sp>
          <p:nvSpPr>
            <p:cNvPr id="117" name="Plus 116"/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solidFill>
                  <a:sysClr val="window" lastClr="FFFFFF"/>
                </a:solidFill>
                <a:latin typeface="Calibri"/>
                <a:ea typeface="맑은 고딕"/>
              </a:endParaRPr>
            </a:p>
          </p:txBody>
        </p:sp>
        <p:pic>
          <p:nvPicPr>
            <p:cNvPr id="124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2301329" y="2277808"/>
              <a:ext cx="832624" cy="25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905727" y="4567659"/>
            <a:ext cx="950896" cy="446105"/>
            <a:chOff x="1905727" y="3710408"/>
            <a:chExt cx="950896" cy="446105"/>
          </a:xfrm>
        </p:grpSpPr>
        <p:sp>
          <p:nvSpPr>
            <p:cNvPr id="123" name="Minus 122"/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sysClr val="window" lastClr="FFFFFF"/>
                </a:solidFill>
                <a:latin typeface="Calibri"/>
              </a:endParaRPr>
            </a:p>
          </p:txBody>
        </p:sp>
        <p:pic>
          <p:nvPicPr>
            <p:cNvPr id="126" name="Picture 10" descr="http://t3.gstatic.com/images?q=tbn:ANd9GcQX25hoEV1zFAkP4DNG6aoXHPHlQO8BI9liNNdsDSdRxtAhByLIcA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2187466" y="3710408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313510" y="3946082"/>
            <a:ext cx="919718" cy="446105"/>
            <a:chOff x="1313510" y="3088831"/>
            <a:chExt cx="919718" cy="446105"/>
          </a:xfrm>
        </p:grpSpPr>
        <p:sp>
          <p:nvSpPr>
            <p:cNvPr id="120" name="Minus 119"/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sysClr val="window" lastClr="FFFFFF"/>
                </a:solidFill>
                <a:latin typeface="Calibri"/>
              </a:endParaRPr>
            </a:p>
          </p:txBody>
        </p:sp>
        <p:pic>
          <p:nvPicPr>
            <p:cNvPr id="127" name="Picture 23" descr="C:\Users\ang\Desktop\treesAndGrerb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45" b="7445"/>
            <a:stretch/>
          </p:blipFill>
          <p:spPr bwMode="auto">
            <a:xfrm>
              <a:off x="1564071" y="3088831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8" name="Group 50"/>
          <p:cNvGrpSpPr/>
          <p:nvPr/>
        </p:nvGrpSpPr>
        <p:grpSpPr>
          <a:xfrm>
            <a:off x="149396" y="532105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sz="1600" kern="0">
                <a:solidFill>
                  <a:sysClr val="window" lastClr="FFFFFF"/>
                </a:solidFill>
                <a:latin typeface="Calibri"/>
                <a:ea typeface="맑은 고딕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600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“Non”-Cars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0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527713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315246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2" y="512398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328169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2" y="2895600"/>
            <a:ext cx="1210545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sysClr val="window" lastClr="FFFFFF"/>
                </a:solidFill>
              </a:rPr>
              <a:t>Raw image</a:t>
            </a: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344060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413183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467641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532105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sz="1600" kern="0">
                <a:solidFill>
                  <a:sysClr val="window" lastClr="FFFFFF"/>
                </a:solidFill>
                <a:latin typeface="Calibri"/>
                <a:ea typeface="맑은 고딕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600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“Non”-Cars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06353" y="150161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kern="0" dirty="0">
                <a:solidFill>
                  <a:srgbClr val="000000"/>
                </a:solidFill>
                <a:latin typeface="+mj-lt"/>
                <a:cs typeface="Arial"/>
              </a:rPr>
              <a:t>Learning Algorithm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97169" y="1023488"/>
            <a:ext cx="3403301" cy="1844425"/>
            <a:chOff x="1371600" y="590638"/>
            <a:chExt cx="3915300" cy="2057312"/>
          </a:xfrm>
        </p:grpSpPr>
        <p:pic>
          <p:nvPicPr>
            <p:cNvPr id="32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3" name="Straight Arrow Connector 32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Line Callout 1 (No Border) 33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kern="0" dirty="0">
                  <a:latin typeface="Calibri"/>
                  <a:ea typeface="맑은 고딕"/>
                </a:rPr>
                <a:t>pixel 1</a:t>
              </a:r>
              <a:endParaRPr lang="ko-KR" altLang="en-US" kern="0" dirty="0">
                <a:latin typeface="Calibri"/>
                <a:ea typeface="맑은 고딕"/>
              </a:endParaRPr>
            </a:p>
          </p:txBody>
        </p:sp>
        <p:sp>
          <p:nvSpPr>
            <p:cNvPr id="35" name="Multiply 34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latin typeface="Calibri"/>
                <a:ea typeface="맑은 고딕"/>
              </a:endParaRPr>
            </a:p>
          </p:txBody>
        </p:sp>
        <p:sp>
          <p:nvSpPr>
            <p:cNvPr id="36" name="Multiply 35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latin typeface="Calibri"/>
                <a:ea typeface="맑은 고딕"/>
              </a:endParaRPr>
            </a:p>
          </p:txBody>
        </p:sp>
        <p:sp>
          <p:nvSpPr>
            <p:cNvPr id="41" name="Line Callout 1 (No Border) 40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kern="0" dirty="0">
                  <a:latin typeface="Calibri"/>
                  <a:ea typeface="맑은 고딕"/>
                </a:rPr>
                <a:t>pixel 2</a:t>
              </a:r>
              <a:endParaRPr lang="ko-KR" altLang="en-US" kern="0" dirty="0">
                <a:latin typeface="Calibri"/>
                <a:ea typeface="맑은 고딕"/>
              </a:endParaRPr>
            </a:p>
          </p:txBody>
        </p:sp>
      </p:grpSp>
      <p:sp>
        <p:nvSpPr>
          <p:cNvPr id="24" name="Plus 23"/>
          <p:cNvSpPr>
            <a:spLocks/>
          </p:cNvSpPr>
          <p:nvPr/>
        </p:nvSpPr>
        <p:spPr>
          <a:xfrm>
            <a:off x="2687116" y="412013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594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527713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315246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2" y="512398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328169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2" y="2895600"/>
            <a:ext cx="1210545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sysClr val="window" lastClr="FFFFFF"/>
                </a:solidFill>
              </a:rPr>
              <a:t>Raw image</a:t>
            </a: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344060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413183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467641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532105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sz="1600" kern="0">
                <a:solidFill>
                  <a:sysClr val="window" lastClr="FFFFFF"/>
                </a:solidFill>
                <a:latin typeface="Calibri"/>
                <a:ea typeface="맑은 고딕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600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kern="0" dirty="0"/>
                <a:t>“Non”-Cars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648200" y="284423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3263443"/>
            <a:ext cx="979170" cy="17716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756354" y="3806792"/>
            <a:ext cx="2505075" cy="1399639"/>
            <a:chOff x="4932327" y="3000911"/>
            <a:chExt cx="2505075" cy="1399639"/>
          </a:xfrm>
        </p:grpSpPr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670390" y="5247355"/>
            <a:ext cx="42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Quadratic features (               ): ≈3 million		                  features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16" y="5387405"/>
            <a:ext cx="756285" cy="198120"/>
          </a:xfrm>
          <a:prstGeom prst="rect">
            <a:avLst/>
          </a:prstGeom>
        </p:spPr>
      </p:pic>
      <p:sp>
        <p:nvSpPr>
          <p:cNvPr id="34" name="Plus 33"/>
          <p:cNvSpPr>
            <a:spLocks/>
          </p:cNvSpPr>
          <p:nvPr/>
        </p:nvSpPr>
        <p:spPr>
          <a:xfrm>
            <a:off x="3326878" y="426368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35" name="Plus 34"/>
          <p:cNvSpPr>
            <a:spLocks/>
          </p:cNvSpPr>
          <p:nvPr/>
        </p:nvSpPr>
        <p:spPr>
          <a:xfrm>
            <a:off x="2180713" y="397606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36" name="Plus 35"/>
          <p:cNvSpPr>
            <a:spLocks/>
          </p:cNvSpPr>
          <p:nvPr/>
        </p:nvSpPr>
        <p:spPr>
          <a:xfrm>
            <a:off x="3035293" y="365103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40" name="Plus 39"/>
          <p:cNvSpPr>
            <a:spLocks/>
          </p:cNvSpPr>
          <p:nvPr/>
        </p:nvSpPr>
        <p:spPr>
          <a:xfrm>
            <a:off x="2783293" y="317939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41" name="Plus 40"/>
          <p:cNvSpPr>
            <a:spLocks/>
          </p:cNvSpPr>
          <p:nvPr/>
        </p:nvSpPr>
        <p:spPr>
          <a:xfrm>
            <a:off x="3451965" y="330539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42" name="Plus 41"/>
          <p:cNvSpPr>
            <a:spLocks/>
          </p:cNvSpPr>
          <p:nvPr/>
        </p:nvSpPr>
        <p:spPr>
          <a:xfrm>
            <a:off x="3574137" y="387327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p:sp>
        <p:nvSpPr>
          <p:cNvPr id="43" name="Minus 42"/>
          <p:cNvSpPr/>
          <p:nvPr/>
        </p:nvSpPr>
        <p:spPr>
          <a:xfrm>
            <a:off x="1400694" y="462264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4" name="Minus 43"/>
          <p:cNvSpPr/>
          <p:nvPr/>
        </p:nvSpPr>
        <p:spPr>
          <a:xfrm>
            <a:off x="1489292" y="362361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5" name="Minus 44"/>
          <p:cNvSpPr/>
          <p:nvPr/>
        </p:nvSpPr>
        <p:spPr>
          <a:xfrm>
            <a:off x="1790250" y="388465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6" name="Minus 45"/>
          <p:cNvSpPr/>
          <p:nvPr/>
        </p:nvSpPr>
        <p:spPr>
          <a:xfrm>
            <a:off x="1599010" y="321200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7" name="Minus 46"/>
          <p:cNvSpPr/>
          <p:nvPr/>
        </p:nvSpPr>
        <p:spPr>
          <a:xfrm>
            <a:off x="1899968" y="347304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8" name="Minus 47"/>
          <p:cNvSpPr/>
          <p:nvPr/>
        </p:nvSpPr>
        <p:spPr>
          <a:xfrm>
            <a:off x="1727182" y="436525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0" name="Minus 49"/>
          <p:cNvSpPr/>
          <p:nvPr/>
        </p:nvSpPr>
        <p:spPr>
          <a:xfrm>
            <a:off x="2741704" y="473370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3" name="Minus 52"/>
          <p:cNvSpPr/>
          <p:nvPr/>
        </p:nvSpPr>
        <p:spPr>
          <a:xfrm>
            <a:off x="2309010" y="452253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4" name="Minus 53"/>
          <p:cNvSpPr/>
          <p:nvPr/>
        </p:nvSpPr>
        <p:spPr>
          <a:xfrm>
            <a:off x="2337463" y="481917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5" name="Minus 54"/>
          <p:cNvSpPr/>
          <p:nvPr/>
        </p:nvSpPr>
        <p:spPr>
          <a:xfrm>
            <a:off x="3231628" y="485124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6" name="Minus 55"/>
          <p:cNvSpPr/>
          <p:nvPr/>
        </p:nvSpPr>
        <p:spPr>
          <a:xfrm>
            <a:off x="3608715" y="469268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7" name="Minus 56"/>
          <p:cNvSpPr/>
          <p:nvPr/>
        </p:nvSpPr>
        <p:spPr>
          <a:xfrm>
            <a:off x="3041128" y="456036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06353" y="150161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kern="0" dirty="0">
                <a:solidFill>
                  <a:srgbClr val="000000"/>
                </a:solidFill>
                <a:latin typeface="+mj-lt"/>
                <a:cs typeface="Arial"/>
              </a:rPr>
              <a:t>Learning Algorithm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897169" y="1023488"/>
            <a:ext cx="3403301" cy="1844425"/>
            <a:chOff x="1371600" y="590638"/>
            <a:chExt cx="3915300" cy="2057312"/>
          </a:xfrm>
        </p:grpSpPr>
        <p:pic>
          <p:nvPicPr>
            <p:cNvPr id="60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1" name="Straight Arrow Connector 60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62" name="Line Callout 1 (No Border) 61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kern="0" dirty="0">
                  <a:latin typeface="Calibri"/>
                  <a:ea typeface="맑은 고딕"/>
                </a:rPr>
                <a:t>pixel 1</a:t>
              </a:r>
              <a:endParaRPr lang="ko-KR" altLang="en-US" kern="0" dirty="0">
                <a:latin typeface="Calibri"/>
                <a:ea typeface="맑은 고딕"/>
              </a:endParaRPr>
            </a:p>
          </p:txBody>
        </p:sp>
        <p:sp>
          <p:nvSpPr>
            <p:cNvPr id="63" name="Multiply 62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latin typeface="Calibri"/>
                <a:ea typeface="맑은 고딕"/>
              </a:endParaRPr>
            </a:p>
          </p:txBody>
        </p:sp>
        <p:sp>
          <p:nvSpPr>
            <p:cNvPr id="64" name="Multiply 63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ko-KR" altLang="en-US" kern="0">
                <a:latin typeface="Calibri"/>
                <a:ea typeface="맑은 고딕"/>
              </a:endParaRPr>
            </a:p>
          </p:txBody>
        </p:sp>
        <p:sp>
          <p:nvSpPr>
            <p:cNvPr id="65" name="Line Callout 1 (No Border) 64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kern="0" dirty="0">
                  <a:latin typeface="Calibri"/>
                  <a:ea typeface="맑은 고딕"/>
                </a:rPr>
                <a:t>pixel 2</a:t>
              </a:r>
              <a:endParaRPr lang="ko-KR" altLang="en-US" kern="0" dirty="0">
                <a:latin typeface="Calibri"/>
                <a:ea typeface="맑은 고딕"/>
              </a:endParaRPr>
            </a:p>
          </p:txBody>
        </p:sp>
      </p:grpSp>
      <p:sp>
        <p:nvSpPr>
          <p:cNvPr id="66" name="Plus 65"/>
          <p:cNvSpPr>
            <a:spLocks/>
          </p:cNvSpPr>
          <p:nvPr/>
        </p:nvSpPr>
        <p:spPr>
          <a:xfrm>
            <a:off x="2687116" y="412013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kern="0">
              <a:solidFill>
                <a:sysClr val="window" lastClr="FFFFFF"/>
              </a:solidFill>
              <a:latin typeface="Calibri"/>
              <a:ea typeface="맑은 고딕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2064960" y="2996010"/>
              <a:ext cx="1843920" cy="15886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55600" y="2986650"/>
                <a:ext cx="1862640" cy="160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4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non-linear hypothesis?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on Google images……</a:t>
            </a:r>
          </a:p>
          <a:p>
            <a:r>
              <a:rPr lang="en-US" dirty="0"/>
              <a:t>Dimension complexity …….</a:t>
            </a:r>
          </a:p>
          <a:p>
            <a:r>
              <a:rPr lang="en-US" dirty="0"/>
              <a:t>When n is large, logistic regression is …..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Inspired by human brains</a:t>
            </a:r>
          </a:p>
          <a:p>
            <a:r>
              <a:rPr lang="en-US" dirty="0"/>
              <a:t>Widely used in 80, use diminished in 90s, now most widely used ….</a:t>
            </a:r>
          </a:p>
          <a:p>
            <a:r>
              <a:rPr lang="en-US" dirty="0"/>
              <a:t>Resurgence due to state of the art results on different problems.</a:t>
            </a:r>
          </a:p>
          <a:p>
            <a:r>
              <a:rPr lang="en-US" dirty="0"/>
              <a:t>Different parts of brain learns to perform different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Neural Networks: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837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Our brains are jam packed with neurons</a:t>
            </a:r>
          </a:p>
          <a:p>
            <a:r>
              <a:rPr lang="en-US" sz="2400" dirty="0"/>
              <a:t>Dendrite -&gt; input wires</a:t>
            </a:r>
          </a:p>
          <a:p>
            <a:r>
              <a:rPr lang="en-US" sz="2400" dirty="0"/>
              <a:t>Axon-&gt; output wires</a:t>
            </a:r>
          </a:p>
          <a:p>
            <a:r>
              <a:rPr lang="en-US" sz="2400" dirty="0"/>
              <a:t>Neuron-&gt; computational unit that gets some input, performs computation and sends out the signal through output wires</a:t>
            </a:r>
          </a:p>
          <a:p>
            <a:r>
              <a:rPr lang="en-US" sz="2400" dirty="0"/>
              <a:t>Communicates with other neurons through pulses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8" y="3771900"/>
            <a:ext cx="610552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Networks: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Neuron model: Logistic unit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4724400"/>
            <a:ext cx="29241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5334000"/>
            <a:ext cx="246264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1" y="5181600"/>
            <a:ext cx="21613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2619375" y="2362200"/>
            <a:ext cx="3905250" cy="2590800"/>
            <a:chOff x="2619375" y="2133600"/>
            <a:chExt cx="3905250" cy="2590800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619375" y="2686050"/>
              <a:ext cx="3905250" cy="2038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3276600" y="2133600"/>
              <a:ext cx="533400" cy="533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5"/>
            </p:cNvCxnSpPr>
            <p:nvPr/>
          </p:nvCxnSpPr>
          <p:spPr>
            <a:xfrm>
              <a:off x="3731885" y="2588885"/>
              <a:ext cx="763915" cy="8401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352800" y="24500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0" y="2286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Bias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381690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NOTE: It is a Neuron with Sigmoid(logistic) activation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41148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Also known as “weights”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Networks: Representation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9428" y="2133600"/>
            <a:ext cx="7372572" cy="404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1371600" y="15240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r>
              <a:rPr lang="en-US" b="1" baseline="-250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7" name="Straight Arrow Connector 6"/>
          <p:cNvCxnSpPr>
            <a:stCxn id="5" idx="6"/>
          </p:cNvCxnSpPr>
          <p:nvPr/>
        </p:nvCxnSpPr>
        <p:spPr>
          <a:xfrm>
            <a:off x="2133600" y="1905000"/>
            <a:ext cx="1524000" cy="685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5"/>
          </p:cNvCxnSpPr>
          <p:nvPr/>
        </p:nvCxnSpPr>
        <p:spPr>
          <a:xfrm>
            <a:off x="2022008" y="2174408"/>
            <a:ext cx="1635592" cy="148319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4"/>
          </p:cNvCxnSpPr>
          <p:nvPr/>
        </p:nvCxnSpPr>
        <p:spPr>
          <a:xfrm>
            <a:off x="1752600" y="2286000"/>
            <a:ext cx="1828800" cy="2514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05200" y="14478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-250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5" name="Straight Arrow Connector 14"/>
          <p:cNvCxnSpPr>
            <a:stCxn id="14" idx="6"/>
          </p:cNvCxnSpPr>
          <p:nvPr/>
        </p:nvCxnSpPr>
        <p:spPr>
          <a:xfrm>
            <a:off x="4267200" y="1828800"/>
            <a:ext cx="1600200" cy="1447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617220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4200" y="622929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0" y="617220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135249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Bias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Neural Networks: Representation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5019675" cy="275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057400"/>
            <a:ext cx="43053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3886200"/>
            <a:ext cx="677227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010400" y="4114800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</a:t>
            </a:r>
            <a:r>
              <a:rPr lang="el-GR" sz="2000" b="1" dirty="0"/>
              <a:t>θ</a:t>
            </a:r>
            <a:r>
              <a:rPr lang="en-US" sz="2000" b="1" baseline="30000" dirty="0"/>
              <a:t>(1) </a:t>
            </a:r>
            <a:r>
              <a:rPr lang="en-US" sz="2000" b="1" dirty="0"/>
              <a:t>?</a:t>
            </a:r>
            <a:endParaRPr lang="en-US" sz="2000" b="1" baseline="30000" dirty="0"/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5943600"/>
            <a:ext cx="71723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Neural Networks: Forward Propagation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29" y="1752600"/>
            <a:ext cx="416017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86200"/>
            <a:ext cx="563198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066800" y="3962400"/>
            <a:ext cx="3962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66800" y="4419600"/>
            <a:ext cx="3962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66800" y="4876800"/>
            <a:ext cx="3962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352800" y="3429000"/>
            <a:ext cx="4572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1400" y="3124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1</a:t>
            </a:r>
            <a:r>
              <a:rPr lang="en-US" baseline="30000" dirty="0"/>
              <a:t>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44196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2</a:t>
            </a:r>
            <a:r>
              <a:rPr lang="en-US" baseline="30000" dirty="0"/>
              <a:t>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51816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3</a:t>
            </a:r>
            <a:r>
              <a:rPr lang="en-US" baseline="30000" dirty="0"/>
              <a:t>(2)</a:t>
            </a:r>
          </a:p>
        </p:txBody>
      </p:sp>
      <p:cxnSp>
        <p:nvCxnSpPr>
          <p:cNvPr id="15" name="Straight Arrow Connector 14"/>
          <p:cNvCxnSpPr>
            <a:endCxn id="13" idx="1"/>
          </p:cNvCxnSpPr>
          <p:nvPr/>
        </p:nvCxnSpPr>
        <p:spPr>
          <a:xfrm flipV="1">
            <a:off x="5029200" y="4604266"/>
            <a:ext cx="685800" cy="19633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4" idx="1"/>
          </p:cNvCxnSpPr>
          <p:nvPr/>
        </p:nvCxnSpPr>
        <p:spPr>
          <a:xfrm>
            <a:off x="5029200" y="5181600"/>
            <a:ext cx="762000" cy="18466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24400" y="1371600"/>
            <a:ext cx="1828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r>
              <a:rPr lang="en-US" sz="2000" b="1" baseline="-25000" dirty="0"/>
              <a:t>1</a:t>
            </a:r>
            <a:r>
              <a:rPr lang="en-US" sz="2000" b="1" baseline="30000" dirty="0"/>
              <a:t>(2)</a:t>
            </a:r>
            <a:r>
              <a:rPr lang="en-US" sz="2000" b="1" dirty="0"/>
              <a:t> = g(Z</a:t>
            </a:r>
            <a:r>
              <a:rPr lang="en-US" sz="2000" b="1" baseline="-25000" dirty="0"/>
              <a:t>1</a:t>
            </a:r>
            <a:r>
              <a:rPr lang="en-US" sz="2000" b="1" baseline="30000" dirty="0"/>
              <a:t>(2)</a:t>
            </a:r>
            <a:r>
              <a:rPr lang="en-US" sz="2000" b="1" dirty="0"/>
              <a:t> )</a:t>
            </a:r>
          </a:p>
          <a:p>
            <a:endParaRPr lang="en-US" sz="2000" b="1" baseline="30000" dirty="0"/>
          </a:p>
          <a:p>
            <a:r>
              <a:rPr lang="en-US" sz="2000" b="1" dirty="0"/>
              <a:t>a</a:t>
            </a:r>
            <a:r>
              <a:rPr lang="en-US" sz="2000" b="1" baseline="-25000" dirty="0"/>
              <a:t>2</a:t>
            </a:r>
            <a:r>
              <a:rPr lang="en-US" sz="2000" b="1" baseline="30000" dirty="0"/>
              <a:t>(2)</a:t>
            </a:r>
            <a:r>
              <a:rPr lang="en-US" sz="2000" b="1" dirty="0"/>
              <a:t> = g(Z</a:t>
            </a:r>
            <a:r>
              <a:rPr lang="en-US" sz="2000" b="1" baseline="-25000" dirty="0"/>
              <a:t>2</a:t>
            </a:r>
            <a:r>
              <a:rPr lang="en-US" sz="2000" b="1" baseline="30000" dirty="0"/>
              <a:t>(2)</a:t>
            </a:r>
            <a:r>
              <a:rPr lang="en-US" sz="2000" b="1" dirty="0"/>
              <a:t> )</a:t>
            </a:r>
            <a:endParaRPr lang="en-US" sz="2000" b="1" baseline="30000" dirty="0"/>
          </a:p>
          <a:p>
            <a:endParaRPr lang="en-US" sz="2000" b="1" baseline="30000" dirty="0"/>
          </a:p>
          <a:p>
            <a:r>
              <a:rPr lang="en-US" sz="2000" b="1" dirty="0"/>
              <a:t>a</a:t>
            </a:r>
            <a:r>
              <a:rPr lang="en-US" sz="2000" b="1" baseline="-25000" dirty="0"/>
              <a:t>3</a:t>
            </a:r>
            <a:r>
              <a:rPr lang="en-US" sz="2000" b="1" baseline="30000" dirty="0"/>
              <a:t>(2)</a:t>
            </a:r>
            <a:r>
              <a:rPr lang="en-US" sz="2000" b="1" dirty="0"/>
              <a:t> = g(Z</a:t>
            </a:r>
            <a:r>
              <a:rPr lang="en-US" sz="2000" b="1" baseline="-25000" dirty="0"/>
              <a:t>3</a:t>
            </a:r>
            <a:r>
              <a:rPr lang="en-US" sz="2000" b="1" baseline="30000" dirty="0"/>
              <a:t>(2)</a:t>
            </a:r>
            <a:r>
              <a:rPr lang="en-US" sz="2000" b="1" dirty="0"/>
              <a:t> )</a:t>
            </a:r>
            <a:endParaRPr lang="en-US" sz="2000" b="1" baseline="30000" dirty="0"/>
          </a:p>
          <a:p>
            <a:endParaRPr lang="en-US" sz="2000" b="1" baseline="30000" dirty="0"/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1447800"/>
            <a:ext cx="113347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3325" y="1447800"/>
            <a:ext cx="15906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3276600"/>
            <a:ext cx="15335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96050" y="3962400"/>
            <a:ext cx="27241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25"/>
          <p:cNvSpPr txBox="1"/>
          <p:nvPr/>
        </p:nvSpPr>
        <p:spPr>
          <a:xfrm>
            <a:off x="762000" y="6260068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This process of computing hypothesis is called as forward propagation.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3" grpId="0"/>
      <p:bldP spid="14" grpId="0"/>
      <p:bldP spid="19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Neural Network: Learning features by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899" y="2286000"/>
            <a:ext cx="7024701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86000" y="6248400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constrained to particular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Neural Network: Other Architectures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5" y="1933575"/>
            <a:ext cx="812482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Examples and Intuitions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r>
              <a:rPr lang="en-US" dirty="0"/>
              <a:t>Non-linear classification example: XNOR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3810000"/>
            <a:ext cx="328612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752600"/>
            <a:ext cx="34956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943600" y="6287869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Simplified version, X1 and X2 are binary</a:t>
            </a:r>
          </a:p>
        </p:txBody>
      </p:sp>
      <p:sp>
        <p:nvSpPr>
          <p:cNvPr id="7" name="Freeform 6"/>
          <p:cNvSpPr/>
          <p:nvPr/>
        </p:nvSpPr>
        <p:spPr>
          <a:xfrm>
            <a:off x="909711" y="1828800"/>
            <a:ext cx="2574387" cy="2384473"/>
          </a:xfrm>
          <a:custGeom>
            <a:avLst/>
            <a:gdLst>
              <a:gd name="connsiteX0" fmla="*/ 1369255 w 2574387"/>
              <a:gd name="connsiteY0" fmla="*/ 86751 h 2384473"/>
              <a:gd name="connsiteX1" fmla="*/ 1270781 w 2574387"/>
              <a:gd name="connsiteY1" fmla="*/ 635391 h 2384473"/>
              <a:gd name="connsiteX2" fmla="*/ 1242646 w 2574387"/>
              <a:gd name="connsiteY2" fmla="*/ 973015 h 2384473"/>
              <a:gd name="connsiteX3" fmla="*/ 1158240 w 2574387"/>
              <a:gd name="connsiteY3" fmla="*/ 1282504 h 2384473"/>
              <a:gd name="connsiteX4" fmla="*/ 975360 w 2574387"/>
              <a:gd name="connsiteY4" fmla="*/ 1324707 h 2384473"/>
              <a:gd name="connsiteX5" fmla="*/ 694006 w 2574387"/>
              <a:gd name="connsiteY5" fmla="*/ 1296572 h 2384473"/>
              <a:gd name="connsiteX6" fmla="*/ 440787 w 2574387"/>
              <a:gd name="connsiteY6" fmla="*/ 1226234 h 2384473"/>
              <a:gd name="connsiteX7" fmla="*/ 103163 w 2574387"/>
              <a:gd name="connsiteY7" fmla="*/ 1282504 h 2384473"/>
              <a:gd name="connsiteX8" fmla="*/ 4689 w 2574387"/>
              <a:gd name="connsiteY8" fmla="*/ 1887415 h 2384473"/>
              <a:gd name="connsiteX9" fmla="*/ 75027 w 2574387"/>
              <a:gd name="connsiteY9" fmla="*/ 2154701 h 2384473"/>
              <a:gd name="connsiteX10" fmla="*/ 356381 w 2574387"/>
              <a:gd name="connsiteY10" fmla="*/ 2337581 h 2384473"/>
              <a:gd name="connsiteX11" fmla="*/ 792480 w 2574387"/>
              <a:gd name="connsiteY11" fmla="*/ 2337581 h 2384473"/>
              <a:gd name="connsiteX12" fmla="*/ 1116037 w 2574387"/>
              <a:gd name="connsiteY12" fmla="*/ 2337581 h 2384473"/>
              <a:gd name="connsiteX13" fmla="*/ 1172307 w 2574387"/>
              <a:gd name="connsiteY13" fmla="*/ 2056227 h 2384473"/>
              <a:gd name="connsiteX14" fmla="*/ 1172307 w 2574387"/>
              <a:gd name="connsiteY14" fmla="*/ 1760806 h 2384473"/>
              <a:gd name="connsiteX15" fmla="*/ 1228578 w 2574387"/>
              <a:gd name="connsiteY15" fmla="*/ 1493520 h 2384473"/>
              <a:gd name="connsiteX16" fmla="*/ 1411458 w 2574387"/>
              <a:gd name="connsiteY16" fmla="*/ 1296572 h 2384473"/>
              <a:gd name="connsiteX17" fmla="*/ 1777218 w 2574387"/>
              <a:gd name="connsiteY17" fmla="*/ 1268437 h 2384473"/>
              <a:gd name="connsiteX18" fmla="*/ 2086707 w 2574387"/>
              <a:gd name="connsiteY18" fmla="*/ 1296572 h 2384473"/>
              <a:gd name="connsiteX19" fmla="*/ 2438400 w 2574387"/>
              <a:gd name="connsiteY19" fmla="*/ 1352843 h 2384473"/>
              <a:gd name="connsiteX20" fmla="*/ 2550941 w 2574387"/>
              <a:gd name="connsiteY20" fmla="*/ 973015 h 2384473"/>
              <a:gd name="connsiteX21" fmla="*/ 2466535 w 2574387"/>
              <a:gd name="connsiteY21" fmla="*/ 382172 h 2384473"/>
              <a:gd name="connsiteX22" fmla="*/ 1903827 w 2574387"/>
              <a:gd name="connsiteY22" fmla="*/ 114886 h 2384473"/>
              <a:gd name="connsiteX23" fmla="*/ 1369255 w 2574387"/>
              <a:gd name="connsiteY23" fmla="*/ 86751 h 238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74387" h="2384473">
                <a:moveTo>
                  <a:pt x="1369255" y="86751"/>
                </a:moveTo>
                <a:cubicBezTo>
                  <a:pt x="1263747" y="173502"/>
                  <a:pt x="1291882" y="487680"/>
                  <a:pt x="1270781" y="635391"/>
                </a:cubicBezTo>
                <a:cubicBezTo>
                  <a:pt x="1249680" y="783102"/>
                  <a:pt x="1261403" y="865163"/>
                  <a:pt x="1242646" y="973015"/>
                </a:cubicBezTo>
                <a:cubicBezTo>
                  <a:pt x="1223889" y="1080867"/>
                  <a:pt x="1202788" y="1223889"/>
                  <a:pt x="1158240" y="1282504"/>
                </a:cubicBezTo>
                <a:cubicBezTo>
                  <a:pt x="1113692" y="1341119"/>
                  <a:pt x="1052732" y="1322362"/>
                  <a:pt x="975360" y="1324707"/>
                </a:cubicBezTo>
                <a:cubicBezTo>
                  <a:pt x="897988" y="1327052"/>
                  <a:pt x="783101" y="1312984"/>
                  <a:pt x="694006" y="1296572"/>
                </a:cubicBezTo>
                <a:cubicBezTo>
                  <a:pt x="604911" y="1280160"/>
                  <a:pt x="539261" y="1228579"/>
                  <a:pt x="440787" y="1226234"/>
                </a:cubicBezTo>
                <a:cubicBezTo>
                  <a:pt x="342313" y="1223889"/>
                  <a:pt x="175846" y="1172307"/>
                  <a:pt x="103163" y="1282504"/>
                </a:cubicBezTo>
                <a:cubicBezTo>
                  <a:pt x="30480" y="1392701"/>
                  <a:pt x="9378" y="1742049"/>
                  <a:pt x="4689" y="1887415"/>
                </a:cubicBezTo>
                <a:cubicBezTo>
                  <a:pt x="0" y="2032781"/>
                  <a:pt x="16412" y="2079673"/>
                  <a:pt x="75027" y="2154701"/>
                </a:cubicBezTo>
                <a:cubicBezTo>
                  <a:pt x="133642" y="2229729"/>
                  <a:pt x="236806" y="2307101"/>
                  <a:pt x="356381" y="2337581"/>
                </a:cubicBezTo>
                <a:cubicBezTo>
                  <a:pt x="475957" y="2368061"/>
                  <a:pt x="792480" y="2337581"/>
                  <a:pt x="792480" y="2337581"/>
                </a:cubicBezTo>
                <a:cubicBezTo>
                  <a:pt x="919089" y="2337581"/>
                  <a:pt x="1052733" y="2384473"/>
                  <a:pt x="1116037" y="2337581"/>
                </a:cubicBezTo>
                <a:cubicBezTo>
                  <a:pt x="1179341" y="2290689"/>
                  <a:pt x="1162929" y="2152356"/>
                  <a:pt x="1172307" y="2056227"/>
                </a:cubicBezTo>
                <a:cubicBezTo>
                  <a:pt x="1181685" y="1960098"/>
                  <a:pt x="1162929" y="1854590"/>
                  <a:pt x="1172307" y="1760806"/>
                </a:cubicBezTo>
                <a:cubicBezTo>
                  <a:pt x="1181685" y="1667022"/>
                  <a:pt x="1188720" y="1570892"/>
                  <a:pt x="1228578" y="1493520"/>
                </a:cubicBezTo>
                <a:cubicBezTo>
                  <a:pt x="1268436" y="1416148"/>
                  <a:pt x="1320018" y="1334086"/>
                  <a:pt x="1411458" y="1296572"/>
                </a:cubicBezTo>
                <a:cubicBezTo>
                  <a:pt x="1502898" y="1259058"/>
                  <a:pt x="1664677" y="1268437"/>
                  <a:pt x="1777218" y="1268437"/>
                </a:cubicBezTo>
                <a:cubicBezTo>
                  <a:pt x="1889759" y="1268437"/>
                  <a:pt x="1976510" y="1282504"/>
                  <a:pt x="2086707" y="1296572"/>
                </a:cubicBezTo>
                <a:cubicBezTo>
                  <a:pt x="2196904" y="1310640"/>
                  <a:pt x="2361028" y="1406769"/>
                  <a:pt x="2438400" y="1352843"/>
                </a:cubicBezTo>
                <a:cubicBezTo>
                  <a:pt x="2515772" y="1298917"/>
                  <a:pt x="2546252" y="1134793"/>
                  <a:pt x="2550941" y="973015"/>
                </a:cubicBezTo>
                <a:cubicBezTo>
                  <a:pt x="2555630" y="811237"/>
                  <a:pt x="2574387" y="525194"/>
                  <a:pt x="2466535" y="382172"/>
                </a:cubicBezTo>
                <a:cubicBezTo>
                  <a:pt x="2358683" y="239151"/>
                  <a:pt x="2089052" y="164123"/>
                  <a:pt x="1903827" y="114886"/>
                </a:cubicBezTo>
                <a:cubicBezTo>
                  <a:pt x="1718602" y="65649"/>
                  <a:pt x="1474763" y="0"/>
                  <a:pt x="1369255" y="86751"/>
                </a:cubicBezTo>
                <a:close/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810000" y="3581400"/>
            <a:ext cx="1752600" cy="15240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Image result for xor tabl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1676400"/>
            <a:ext cx="1933575" cy="1733551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1828800" y="53340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Y= X1 XNOR 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6248400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Can a neural network learn such functions?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Examples and Intuitions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715000"/>
          </a:xfrm>
        </p:spPr>
        <p:txBody>
          <a:bodyPr/>
          <a:lstStyle/>
          <a:p>
            <a:r>
              <a:rPr lang="en-US" dirty="0"/>
              <a:t>Example: Logical AND 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2209800" cy="846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048000"/>
            <a:ext cx="3962400" cy="222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219200" y="34406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886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63880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  <a:r>
              <a:rPr lang="el-GR" sz="2400" b="1" baseline="-25000" dirty="0"/>
              <a:t>θ</a:t>
            </a:r>
            <a:r>
              <a:rPr lang="en-US" sz="2400" b="1" dirty="0"/>
              <a:t>(x)=g(-30 + 20X</a:t>
            </a:r>
            <a:r>
              <a:rPr lang="en-US" sz="2400" b="1" baseline="-25000" dirty="0"/>
              <a:t>1</a:t>
            </a:r>
            <a:r>
              <a:rPr lang="en-US" sz="2400" b="1" dirty="0"/>
              <a:t> + 20X</a:t>
            </a:r>
            <a:r>
              <a:rPr lang="en-US" sz="2400" b="1" baseline="-25000" dirty="0"/>
              <a:t>2</a:t>
            </a:r>
            <a:r>
              <a:rPr lang="en-US" sz="2400" b="1" dirty="0"/>
              <a:t> )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1524000"/>
            <a:ext cx="41624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4724400"/>
            <a:ext cx="42862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Freeform 12"/>
          <p:cNvSpPr/>
          <p:nvPr/>
        </p:nvSpPr>
        <p:spPr>
          <a:xfrm>
            <a:off x="4628271" y="1800665"/>
            <a:ext cx="3685735" cy="1723292"/>
          </a:xfrm>
          <a:custGeom>
            <a:avLst/>
            <a:gdLst>
              <a:gd name="connsiteX0" fmla="*/ 0 w 3685735"/>
              <a:gd name="connsiteY0" fmla="*/ 1674055 h 1723292"/>
              <a:gd name="connsiteX1" fmla="*/ 745587 w 3685735"/>
              <a:gd name="connsiteY1" fmla="*/ 1674055 h 1723292"/>
              <a:gd name="connsiteX2" fmla="*/ 1308295 w 3685735"/>
              <a:gd name="connsiteY2" fmla="*/ 1378633 h 1723292"/>
              <a:gd name="connsiteX3" fmla="*/ 2025747 w 3685735"/>
              <a:gd name="connsiteY3" fmla="*/ 717452 h 1723292"/>
              <a:gd name="connsiteX4" fmla="*/ 2461846 w 3685735"/>
              <a:gd name="connsiteY4" fmla="*/ 281353 h 1723292"/>
              <a:gd name="connsiteX5" fmla="*/ 2897944 w 3685735"/>
              <a:gd name="connsiteY5" fmla="*/ 42203 h 1723292"/>
              <a:gd name="connsiteX6" fmla="*/ 3685735 w 3685735"/>
              <a:gd name="connsiteY6" fmla="*/ 28135 h 1723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5735" h="1723292">
                <a:moveTo>
                  <a:pt x="0" y="1674055"/>
                </a:moveTo>
                <a:cubicBezTo>
                  <a:pt x="263769" y="1698673"/>
                  <a:pt x="527538" y="1723292"/>
                  <a:pt x="745587" y="1674055"/>
                </a:cubicBezTo>
                <a:cubicBezTo>
                  <a:pt x="963636" y="1624818"/>
                  <a:pt x="1094935" y="1538067"/>
                  <a:pt x="1308295" y="1378633"/>
                </a:cubicBezTo>
                <a:cubicBezTo>
                  <a:pt x="1521655" y="1219199"/>
                  <a:pt x="1833489" y="900332"/>
                  <a:pt x="2025747" y="717452"/>
                </a:cubicBezTo>
                <a:cubicBezTo>
                  <a:pt x="2218005" y="534572"/>
                  <a:pt x="2316480" y="393894"/>
                  <a:pt x="2461846" y="281353"/>
                </a:cubicBezTo>
                <a:cubicBezTo>
                  <a:pt x="2607212" y="168812"/>
                  <a:pt x="2693963" y="84406"/>
                  <a:pt x="2897944" y="42203"/>
                </a:cubicBezTo>
                <a:cubicBezTo>
                  <a:pt x="3101925" y="0"/>
                  <a:pt x="3685735" y="28135"/>
                  <a:pt x="3685735" y="28135"/>
                </a:cubicBez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315200" y="5105400"/>
            <a:ext cx="38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0</a:t>
            </a:r>
          </a:p>
          <a:p>
            <a:r>
              <a:rPr lang="en-US" sz="2000" b="1" dirty="0"/>
              <a:t>0</a:t>
            </a:r>
          </a:p>
          <a:p>
            <a:r>
              <a:rPr lang="en-US" sz="2000" b="1" dirty="0"/>
              <a:t>0</a:t>
            </a:r>
          </a:p>
          <a:p>
            <a:r>
              <a:rPr lang="en-US" sz="2000" b="1" dirty="0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function it is?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590800"/>
            <a:ext cx="4418102" cy="269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function it is?</a:t>
            </a:r>
          </a:p>
          <a:p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8133" y="2571750"/>
            <a:ext cx="4383617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124200" y="3048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600" y="3962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function is this?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819400"/>
            <a:ext cx="46482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Back to XNOR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26670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838200"/>
            <a:ext cx="26193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75" y="838200"/>
            <a:ext cx="263842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7425" y="5000625"/>
            <a:ext cx="30003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72200" y="2819400"/>
            <a:ext cx="27146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val 10"/>
          <p:cNvSpPr/>
          <p:nvPr/>
        </p:nvSpPr>
        <p:spPr>
          <a:xfrm>
            <a:off x="381000" y="3810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+1</a:t>
            </a:r>
          </a:p>
        </p:txBody>
      </p:sp>
      <p:sp>
        <p:nvSpPr>
          <p:cNvPr id="12" name="Oval 11"/>
          <p:cNvSpPr/>
          <p:nvPr/>
        </p:nvSpPr>
        <p:spPr>
          <a:xfrm>
            <a:off x="381000" y="4572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r>
              <a:rPr lang="en-US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381000" y="5334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86200"/>
            <a:ext cx="838200" cy="838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-25000" dirty="0">
                <a:solidFill>
                  <a:schemeClr val="tx1"/>
                </a:solidFill>
              </a:rPr>
              <a:t>1</a:t>
            </a:r>
            <a:r>
              <a:rPr lang="en-US" b="1" baseline="30000" dirty="0">
                <a:solidFill>
                  <a:schemeClr val="tx1"/>
                </a:solidFill>
              </a:rPr>
              <a:t>(2)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286000" y="5181600"/>
            <a:ext cx="838200" cy="8382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baseline="30000" dirty="0">
                <a:solidFill>
                  <a:schemeClr val="tx1"/>
                </a:solidFill>
              </a:rPr>
              <a:t>(2)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3657600" y="4495800"/>
            <a:ext cx="838200" cy="8382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baseline="-25000" dirty="0">
                <a:solidFill>
                  <a:schemeClr val="tx1"/>
                </a:solidFill>
              </a:rPr>
              <a:t>1</a:t>
            </a:r>
            <a:r>
              <a:rPr lang="en-US" b="1" baseline="30000" dirty="0">
                <a:solidFill>
                  <a:schemeClr val="tx1"/>
                </a:solidFill>
              </a:rPr>
              <a:t>(3)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1" idx="7"/>
          </p:cNvCxnSpPr>
          <p:nvPr/>
        </p:nvCxnSpPr>
        <p:spPr>
          <a:xfrm>
            <a:off x="901326" y="3899274"/>
            <a:ext cx="1384674" cy="2917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7"/>
            <a:endCxn id="14" idx="2"/>
          </p:cNvCxnSpPr>
          <p:nvPr/>
        </p:nvCxnSpPr>
        <p:spPr>
          <a:xfrm flipV="1">
            <a:off x="901326" y="4305300"/>
            <a:ext cx="1384674" cy="3559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3" idx="7"/>
            <a:endCxn id="14" idx="3"/>
          </p:cNvCxnSpPr>
          <p:nvPr/>
        </p:nvCxnSpPr>
        <p:spPr>
          <a:xfrm flipV="1">
            <a:off x="901326" y="4601649"/>
            <a:ext cx="1507426" cy="8216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6"/>
            <a:endCxn id="16" idx="1"/>
          </p:cNvCxnSpPr>
          <p:nvPr/>
        </p:nvCxnSpPr>
        <p:spPr>
          <a:xfrm>
            <a:off x="990600" y="4114800"/>
            <a:ext cx="1418152" cy="1189551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2" idx="6"/>
          </p:cNvCxnSpPr>
          <p:nvPr/>
        </p:nvCxnSpPr>
        <p:spPr>
          <a:xfrm>
            <a:off x="990600" y="4876800"/>
            <a:ext cx="1295400" cy="60960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3" idx="6"/>
            <a:endCxn id="16" idx="2"/>
          </p:cNvCxnSpPr>
          <p:nvPr/>
        </p:nvCxnSpPr>
        <p:spPr>
          <a:xfrm flipV="1">
            <a:off x="990600" y="5600700"/>
            <a:ext cx="1295400" cy="3810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447800" y="37454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4126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5000" y="441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5400" y="5574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4724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429071"/>
            <a:ext cx="45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6200" y="5410200"/>
            <a:ext cx="45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  <a:p>
            <a:r>
              <a:rPr lang="en-US" dirty="0">
                <a:solidFill>
                  <a:srgbClr val="00B050"/>
                </a:solidFill>
              </a:rPr>
              <a:t>0</a:t>
            </a:r>
          </a:p>
          <a:p>
            <a:r>
              <a:rPr lang="en-US" dirty="0">
                <a:solidFill>
                  <a:srgbClr val="00B050"/>
                </a:solidFill>
              </a:rPr>
              <a:t>0</a:t>
            </a:r>
          </a:p>
          <a:p>
            <a:r>
              <a:rPr lang="en-US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0" name="Oval 39"/>
          <p:cNvSpPr/>
          <p:nvPr/>
        </p:nvSpPr>
        <p:spPr>
          <a:xfrm>
            <a:off x="3505200" y="3048000"/>
            <a:ext cx="838200" cy="838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+1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stCxn id="14" idx="6"/>
            <a:endCxn id="17" idx="1"/>
          </p:cNvCxnSpPr>
          <p:nvPr/>
        </p:nvCxnSpPr>
        <p:spPr>
          <a:xfrm>
            <a:off x="3124200" y="4305300"/>
            <a:ext cx="656152" cy="313251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6" idx="6"/>
            <a:endCxn id="17" idx="3"/>
          </p:cNvCxnSpPr>
          <p:nvPr/>
        </p:nvCxnSpPr>
        <p:spPr>
          <a:xfrm flipV="1">
            <a:off x="3124200" y="5211249"/>
            <a:ext cx="656152" cy="389451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0" idx="4"/>
            <a:endCxn id="17" idx="0"/>
          </p:cNvCxnSpPr>
          <p:nvPr/>
        </p:nvCxnSpPr>
        <p:spPr>
          <a:xfrm>
            <a:off x="3924300" y="3886200"/>
            <a:ext cx="152400" cy="609600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7" idx="6"/>
            <a:endCxn id="56" idx="1"/>
          </p:cNvCxnSpPr>
          <p:nvPr/>
        </p:nvCxnSpPr>
        <p:spPr>
          <a:xfrm flipV="1">
            <a:off x="4495800" y="4879033"/>
            <a:ext cx="533400" cy="35867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0" y="46482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  <a:r>
              <a:rPr lang="el-GR" sz="2400" b="1" baseline="-25000" dirty="0"/>
              <a:t>θ</a:t>
            </a:r>
            <a:r>
              <a:rPr lang="en-US" sz="2400" b="1" dirty="0"/>
              <a:t>(x)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62400" y="39740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600" y="41148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6600" y="5421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5410200"/>
            <a:ext cx="45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 animBg="1"/>
      <p:bldP spid="56" grpId="0"/>
      <p:bldP spid="59" grpId="0"/>
      <p:bldP spid="60" grpId="0"/>
      <p:bldP spid="61" grpId="0"/>
      <p:bldP spid="62" grpId="0"/>
      <p:bldP spid="6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23" y="1447800"/>
            <a:ext cx="900847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95400"/>
            <a:ext cx="8382000" cy="535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learn the parameters of Neural Networks automatically?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Cost Function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21314"/>
            <a:ext cx="4092442" cy="2102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219200"/>
            <a:ext cx="45053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0550" y="1828800"/>
            <a:ext cx="33718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2362200"/>
            <a:ext cx="42957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4133850"/>
            <a:ext cx="25812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95800" y="4181475"/>
            <a:ext cx="44291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" y="4943475"/>
            <a:ext cx="16668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648200" y="5476875"/>
            <a:ext cx="18288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/>
        </p:nvCxnSpPr>
        <p:spPr>
          <a:xfrm>
            <a:off x="4114800" y="3657600"/>
            <a:ext cx="0" cy="3200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Cost Function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19200"/>
            <a:ext cx="841035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971800"/>
            <a:ext cx="839212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r>
              <a:rPr lang="en-US" dirty="0"/>
              <a:t>To optimize the previously defined cost function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" y="1676400"/>
            <a:ext cx="803610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114800"/>
            <a:ext cx="1524000" cy="750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Need to compute:</a:t>
            </a:r>
            <a:endParaRPr lang="en-US" b="1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5715000"/>
            <a:ext cx="7239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5657850"/>
            <a:ext cx="13525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600200" y="56388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and</a:t>
            </a:r>
            <a:endParaRPr lang="en-US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638800"/>
          </a:xfrm>
        </p:spPr>
        <p:txBody>
          <a:bodyPr/>
          <a:lstStyle/>
          <a:p>
            <a:r>
              <a:rPr lang="en-US" dirty="0"/>
              <a:t>Given only one training example 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r>
              <a:rPr lang="en-US" dirty="0"/>
              <a:t>Forward Propagation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819400"/>
            <a:ext cx="4284921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514599"/>
            <a:ext cx="3810000" cy="3247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6019800" y="2286000"/>
            <a:ext cx="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0" y="1905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(2)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953000" y="2667000"/>
            <a:ext cx="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24400" y="2286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(1)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239000" y="2286000"/>
            <a:ext cx="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10400" y="1905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(3)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382000" y="2514600"/>
            <a:ext cx="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53400" y="21336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(4)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447800"/>
            <a:ext cx="4284921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990600"/>
            <a:ext cx="63910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1752600"/>
            <a:ext cx="463731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1219200" y="2819400"/>
            <a:ext cx="0" cy="609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3528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(h</a:t>
            </a:r>
            <a:r>
              <a:rPr lang="el-GR" sz="2400" b="1" baseline="-25000" dirty="0"/>
              <a:t>θ</a:t>
            </a:r>
            <a:r>
              <a:rPr lang="en-US" sz="2400" b="1" dirty="0"/>
              <a:t>(x))</a:t>
            </a:r>
            <a:r>
              <a:rPr lang="en-US" sz="2400" b="1" baseline="-25000" dirty="0"/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31783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Actual label/output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86000" y="2819400"/>
            <a:ext cx="304800" cy="457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4343400"/>
            <a:ext cx="453683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5105400"/>
            <a:ext cx="4265083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15"/>
          <p:cNvSpPr/>
          <p:nvPr/>
        </p:nvSpPr>
        <p:spPr>
          <a:xfrm>
            <a:off x="3657600" y="4343400"/>
            <a:ext cx="12954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867400" y="42672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Derivative of activations of 3</a:t>
            </a:r>
            <a:r>
              <a:rPr lang="en-US" b="1" baseline="30000" dirty="0"/>
              <a:t>rd</a:t>
            </a:r>
            <a:r>
              <a:rPr lang="en-US" b="1" dirty="0"/>
              <a:t> layer. It is equal to 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029200" y="4648200"/>
            <a:ext cx="7620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2"/>
          </p:cNvCxnSpPr>
          <p:nvPr/>
        </p:nvCxnSpPr>
        <p:spPr>
          <a:xfrm>
            <a:off x="7239000" y="4913531"/>
            <a:ext cx="0" cy="95386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48400" y="57912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(3)</a:t>
            </a:r>
            <a:r>
              <a:rPr lang="en-US" sz="2400" b="1" dirty="0"/>
              <a:t> .* (1-a</a:t>
            </a:r>
            <a:r>
              <a:rPr lang="en-US" sz="2400" b="1" baseline="30000" dirty="0"/>
              <a:t>(3)</a:t>
            </a:r>
            <a:r>
              <a:rPr lang="en-US" sz="2400" b="1" dirty="0"/>
              <a:t>)</a:t>
            </a:r>
            <a:endParaRPr lang="en-US" b="1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191000" y="5715000"/>
            <a:ext cx="838200" cy="5289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43400" y="616773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baseline="30000" dirty="0"/>
              <a:t>(2)</a:t>
            </a:r>
            <a:r>
              <a:rPr lang="en-US" sz="2400" b="1" dirty="0"/>
              <a:t> .* (1-a</a:t>
            </a:r>
            <a:r>
              <a:rPr lang="en-US" sz="2400" b="1" baseline="30000" dirty="0"/>
              <a:t>(2)</a:t>
            </a:r>
            <a:r>
              <a:rPr lang="en-US" sz="2400" b="1" dirty="0"/>
              <a:t>)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0" y="6172200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are essentially </a:t>
            </a:r>
            <a:r>
              <a:rPr lang="en-US" b="1" dirty="0" err="1"/>
              <a:t>backpropagating</a:t>
            </a:r>
            <a:r>
              <a:rPr lang="en-US" b="1" dirty="0"/>
              <a:t> the errors from output to the input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prove (out of scope) that</a:t>
            </a:r>
          </a:p>
          <a:p>
            <a:endParaRPr lang="en-US" dirty="0"/>
          </a:p>
          <a:p>
            <a:r>
              <a:rPr lang="en-US" dirty="0"/>
              <a:t>Hence we can use delta’s to get the partial derivatives of the cost function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286000"/>
            <a:ext cx="13525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76600" y="22098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= </a:t>
            </a:r>
            <a:r>
              <a:rPr lang="en-US" sz="2800" dirty="0" err="1"/>
              <a:t>a</a:t>
            </a:r>
            <a:r>
              <a:rPr lang="en-US" sz="2800" baseline="-25000" dirty="0" err="1"/>
              <a:t>j</a:t>
            </a:r>
            <a:r>
              <a:rPr lang="en-US" sz="2800" baseline="30000" dirty="0"/>
              <a:t>(L)</a:t>
            </a:r>
            <a:r>
              <a:rPr lang="en-US" sz="2800" dirty="0"/>
              <a:t> </a:t>
            </a:r>
            <a:r>
              <a:rPr lang="el-GR" sz="2800" dirty="0"/>
              <a:t>δ</a:t>
            </a:r>
            <a:r>
              <a:rPr lang="en-US" sz="2800" baseline="-25000" dirty="0" err="1"/>
              <a:t>i</a:t>
            </a:r>
            <a:r>
              <a:rPr lang="en-US" sz="2800" baseline="30000" dirty="0"/>
              <a:t>(L+1)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990600"/>
            <a:ext cx="572703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00200"/>
            <a:ext cx="360883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199" y="2286000"/>
            <a:ext cx="843564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1752600"/>
            <a:ext cx="13525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4419600" y="1905000"/>
            <a:ext cx="2438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16002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 compute</a:t>
            </a:r>
          </a:p>
          <a:p>
            <a:r>
              <a:rPr lang="en-US" b="1" dirty="0"/>
              <a:t>Also act as accumulators</a:t>
            </a: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5105400"/>
            <a:ext cx="410592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62599" y="5257800"/>
            <a:ext cx="280974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Straight Connector 13"/>
          <p:cNvCxnSpPr/>
          <p:nvPr/>
        </p:nvCxnSpPr>
        <p:spPr>
          <a:xfrm>
            <a:off x="4953000" y="5029200"/>
            <a:ext cx="0" cy="160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5400" y="64008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bias, no regularization</a:t>
            </a:r>
          </a:p>
        </p:txBody>
      </p:sp>
      <p:cxnSp>
        <p:nvCxnSpPr>
          <p:cNvPr id="17" name="Straight Arrow Connector 16"/>
          <p:cNvCxnSpPr>
            <a:endCxn id="15" idx="0"/>
          </p:cNvCxnSpPr>
          <p:nvPr/>
        </p:nvCxnSpPr>
        <p:spPr>
          <a:xfrm flipH="1">
            <a:off x="2819400" y="6172200"/>
            <a:ext cx="685800" cy="2286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37" y="1600200"/>
            <a:ext cx="8889563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721" y="1295400"/>
            <a:ext cx="8150879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600200" y="4648200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(3)</a:t>
            </a:r>
            <a:r>
              <a:rPr lang="en-US" sz="2400" b="1" dirty="0"/>
              <a:t> = </a:t>
            </a:r>
            <a:r>
              <a:rPr lang="el-GR" sz="2400" b="1" dirty="0"/>
              <a:t>θ</a:t>
            </a:r>
            <a:r>
              <a:rPr lang="en-US" sz="2400" b="1" baseline="-25000" dirty="0"/>
              <a:t>10</a:t>
            </a:r>
            <a:r>
              <a:rPr lang="en-US" sz="2400" b="1" baseline="30000" dirty="0"/>
              <a:t>(2)</a:t>
            </a:r>
            <a:r>
              <a:rPr lang="en-US" sz="2400" b="1" dirty="0"/>
              <a:t> x 1 + </a:t>
            </a:r>
            <a:r>
              <a:rPr lang="el-GR" sz="2400" b="1" dirty="0"/>
              <a:t>θ</a:t>
            </a:r>
            <a:r>
              <a:rPr lang="en-US" sz="2400" b="1" baseline="-25000" dirty="0"/>
              <a:t>11</a:t>
            </a:r>
            <a:r>
              <a:rPr lang="en-US" sz="2400" b="1" baseline="30000" dirty="0"/>
              <a:t>(2)</a:t>
            </a:r>
            <a:r>
              <a:rPr lang="en-US" sz="2400" b="1" dirty="0"/>
              <a:t> x a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(2)</a:t>
            </a:r>
            <a:r>
              <a:rPr lang="en-US" sz="2400" b="1" dirty="0"/>
              <a:t> + </a:t>
            </a:r>
            <a:r>
              <a:rPr lang="el-GR" sz="2400" b="1" dirty="0"/>
              <a:t>θ</a:t>
            </a:r>
            <a:r>
              <a:rPr lang="en-US" sz="2400" b="1" baseline="-25000" dirty="0"/>
              <a:t>12</a:t>
            </a:r>
            <a:r>
              <a:rPr lang="en-US" sz="2400" b="1" baseline="30000" dirty="0"/>
              <a:t>(2)</a:t>
            </a:r>
            <a:r>
              <a:rPr lang="en-US" sz="2400" b="1" dirty="0"/>
              <a:t> x a</a:t>
            </a:r>
            <a:r>
              <a:rPr lang="en-US" sz="2400" b="1" baseline="-25000" dirty="0"/>
              <a:t>2</a:t>
            </a:r>
            <a:r>
              <a:rPr lang="en-US" sz="2400" b="1" baseline="30000" dirty="0"/>
              <a:t>(2)</a:t>
            </a:r>
            <a:r>
              <a:rPr lang="en-US" sz="2400" b="1" dirty="0"/>
              <a:t> 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5257800"/>
            <a:ext cx="6402519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to check our forward and backward propagation implementations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Gradient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562600"/>
          </a:xfrm>
        </p:spPr>
        <p:txBody>
          <a:bodyPr/>
          <a:lstStyle/>
          <a:p>
            <a:r>
              <a:rPr lang="en-US" dirty="0"/>
              <a:t>We numerically estimate the gradients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3769" y="2309812"/>
            <a:ext cx="6048631" cy="226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 flipV="1">
            <a:off x="5562600" y="2362200"/>
            <a:ext cx="1295400" cy="1219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0" y="4343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θ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77000" y="4343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B050"/>
                </a:solidFill>
              </a:rPr>
              <a:t>θ</a:t>
            </a:r>
            <a:r>
              <a:rPr lang="en-US" dirty="0">
                <a:solidFill>
                  <a:srgbClr val="00B050"/>
                </a:solidFill>
              </a:rPr>
              <a:t>+</a:t>
            </a:r>
            <a:r>
              <a:rPr lang="el-GR" dirty="0">
                <a:solidFill>
                  <a:srgbClr val="00B050"/>
                </a:solidFill>
              </a:rPr>
              <a:t>ε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4343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B050"/>
                </a:solidFill>
              </a:rPr>
              <a:t>Θ</a:t>
            </a:r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l-GR" dirty="0">
                <a:solidFill>
                  <a:srgbClr val="00B050"/>
                </a:solidFill>
              </a:rPr>
              <a:t>ε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5" name="Straight Connector 14"/>
          <p:cNvCxnSpPr>
            <a:stCxn id="11" idx="0"/>
          </p:cNvCxnSpPr>
          <p:nvPr/>
        </p:nvCxnSpPr>
        <p:spPr>
          <a:xfrm flipV="1">
            <a:off x="5791200" y="3505200"/>
            <a:ext cx="0" cy="838200"/>
          </a:xfrm>
          <a:prstGeom prst="line">
            <a:avLst/>
          </a:prstGeom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0"/>
          </p:cNvCxnSpPr>
          <p:nvPr/>
        </p:nvCxnSpPr>
        <p:spPr>
          <a:xfrm flipV="1">
            <a:off x="6781800" y="2590800"/>
            <a:ext cx="0" cy="1752600"/>
          </a:xfrm>
          <a:prstGeom prst="line">
            <a:avLst/>
          </a:prstGeom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638800" y="2438400"/>
            <a:ext cx="1295400" cy="12192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791200" y="3505200"/>
            <a:ext cx="990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81800" y="2590800"/>
            <a:ext cx="0" cy="914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81800" y="28194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J(</a:t>
            </a:r>
            <a:r>
              <a:rPr lang="el-GR" dirty="0"/>
              <a:t>θ</a:t>
            </a:r>
            <a:r>
              <a:rPr lang="en-US" dirty="0"/>
              <a:t>+</a:t>
            </a:r>
            <a:r>
              <a:rPr lang="el-GR" dirty="0"/>
              <a:t>ε</a:t>
            </a:r>
            <a:r>
              <a:rPr lang="en-US" dirty="0"/>
              <a:t>)-J(</a:t>
            </a:r>
            <a:r>
              <a:rPr lang="el-GR" dirty="0"/>
              <a:t>θ</a:t>
            </a:r>
            <a:r>
              <a:rPr lang="en-US" dirty="0"/>
              <a:t>-</a:t>
            </a:r>
            <a:r>
              <a:rPr lang="el-GR" dirty="0"/>
              <a:t>ε</a:t>
            </a:r>
            <a:r>
              <a:rPr lang="en-US" dirty="0"/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l-GR" dirty="0"/>
              <a:t>ε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19400" y="541020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d/d</a:t>
            </a:r>
            <a:r>
              <a:rPr lang="el-GR" sz="2400" b="1" dirty="0"/>
              <a:t>θ</a:t>
            </a:r>
            <a:r>
              <a:rPr lang="en-US" sz="2400" b="1" dirty="0"/>
              <a:t> (J(</a:t>
            </a:r>
            <a:r>
              <a:rPr lang="el-GR" sz="2400" b="1" dirty="0"/>
              <a:t>θ</a:t>
            </a:r>
            <a:r>
              <a:rPr lang="en-US" sz="2400" b="1" dirty="0"/>
              <a:t>)) = [J(</a:t>
            </a:r>
            <a:r>
              <a:rPr lang="el-GR" sz="2400" b="1" dirty="0"/>
              <a:t>θ</a:t>
            </a:r>
            <a:r>
              <a:rPr lang="en-US" sz="2400" b="1" dirty="0"/>
              <a:t>+</a:t>
            </a:r>
            <a:r>
              <a:rPr lang="el-GR" sz="2400" b="1" dirty="0"/>
              <a:t>ε</a:t>
            </a:r>
            <a:r>
              <a:rPr lang="en-US" sz="2400" b="1" dirty="0"/>
              <a:t>)-J(</a:t>
            </a:r>
            <a:r>
              <a:rPr lang="el-GR" sz="2400" b="1" dirty="0"/>
              <a:t>θ</a:t>
            </a:r>
            <a:r>
              <a:rPr lang="en-US" sz="2400" b="1" dirty="0"/>
              <a:t>-</a:t>
            </a:r>
            <a:r>
              <a:rPr lang="el-GR" sz="2400" b="1" dirty="0"/>
              <a:t>ε</a:t>
            </a:r>
            <a:r>
              <a:rPr lang="en-US" sz="2400" b="1" dirty="0"/>
              <a:t>)]/2</a:t>
            </a:r>
            <a:r>
              <a:rPr lang="el-GR" sz="2400" b="1" dirty="0"/>
              <a:t>ε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Choose small </a:t>
            </a:r>
            <a:r>
              <a:rPr lang="el-GR" sz="2400" b="1" dirty="0"/>
              <a:t>ε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8" grpId="0"/>
      <p:bldP spid="2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Generalization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99" y="1315350"/>
            <a:ext cx="1018794" cy="2693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98" y="1848752"/>
            <a:ext cx="3045714" cy="3227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2667001"/>
            <a:ext cx="7573181" cy="5836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98" y="3471354"/>
            <a:ext cx="7511901" cy="5760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27" y="4884801"/>
            <a:ext cx="7513673" cy="576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99" y="4267199"/>
            <a:ext cx="40005" cy="3227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89299" y="1219200"/>
            <a:ext cx="627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(E.g.      is “unrolled” version of                              )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351" y="1342782"/>
            <a:ext cx="117348" cy="2011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95400"/>
            <a:ext cx="1743456" cy="305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Gradient Checking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76400"/>
            <a:ext cx="887383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Weight/Parameter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optimization algorithms such as gradient descent we need to choose initial values for parameters or weights.</a:t>
            </a:r>
          </a:p>
          <a:p>
            <a:r>
              <a:rPr lang="en-US" dirty="0"/>
              <a:t>Can we initialize all parameters to zero?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Initialization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76400"/>
            <a:ext cx="4884341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752600"/>
            <a:ext cx="2924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419600"/>
            <a:ext cx="850392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Initialization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529" y="1752600"/>
            <a:ext cx="8060671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Neural Network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791200"/>
          </a:xfrm>
        </p:spPr>
        <p:txBody>
          <a:bodyPr/>
          <a:lstStyle/>
          <a:p>
            <a:r>
              <a:rPr lang="en-US" dirty="0"/>
              <a:t>First p</a:t>
            </a:r>
            <a:r>
              <a:rPr lang="en-US" dirty="0">
                <a:solidFill>
                  <a:prstClr val="black"/>
                </a:solidFill>
              </a:rPr>
              <a:t>ick a network architecture (connectivity pattern between neurons)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53633" y="2372406"/>
            <a:ext cx="1477790" cy="1043313"/>
            <a:chOff x="530062" y="1212293"/>
            <a:chExt cx="1790346" cy="1263977"/>
          </a:xfrm>
        </p:grpSpPr>
        <p:sp>
          <p:nvSpPr>
            <p:cNvPr id="5" name="Oval 4"/>
            <p:cNvSpPr/>
            <p:nvPr/>
          </p:nvSpPr>
          <p:spPr>
            <a:xfrm>
              <a:off x="530062" y="1824830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530062" y="157614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530062" y="132746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268604" y="121229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 flipV="1">
              <a:off x="742737" y="1319054"/>
              <a:ext cx="525867" cy="1151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6"/>
              <a:endCxn id="8" idx="2"/>
            </p:cNvCxnSpPr>
            <p:nvPr/>
          </p:nvCxnSpPr>
          <p:spPr>
            <a:xfrm flipV="1">
              <a:off x="742737" y="1319054"/>
              <a:ext cx="525867" cy="3638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8" idx="2"/>
            </p:cNvCxnSpPr>
            <p:nvPr/>
          </p:nvCxnSpPr>
          <p:spPr>
            <a:xfrm flipV="1">
              <a:off x="742737" y="1319054"/>
              <a:ext cx="525867" cy="61253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268603" y="148944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" name="Straight Arrow Connector 12"/>
            <p:cNvCxnSpPr>
              <a:stCxn id="7" idx="6"/>
              <a:endCxn id="12" idx="2"/>
            </p:cNvCxnSpPr>
            <p:nvPr/>
          </p:nvCxnSpPr>
          <p:spPr>
            <a:xfrm>
              <a:off x="742737" y="1434223"/>
              <a:ext cx="525866" cy="1619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6"/>
              <a:endCxn id="12" idx="2"/>
            </p:cNvCxnSpPr>
            <p:nvPr/>
          </p:nvCxnSpPr>
          <p:spPr>
            <a:xfrm flipV="1">
              <a:off x="742737" y="1596201"/>
              <a:ext cx="525866" cy="8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5" idx="6"/>
              <a:endCxn id="12" idx="2"/>
            </p:cNvCxnSpPr>
            <p:nvPr/>
          </p:nvCxnSpPr>
          <p:spPr>
            <a:xfrm flipV="1">
              <a:off x="742737" y="1596201"/>
              <a:ext cx="525866" cy="33538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1268602" y="175576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" name="Straight Arrow Connector 16"/>
            <p:cNvCxnSpPr>
              <a:stCxn id="7" idx="6"/>
              <a:endCxn id="16" idx="2"/>
            </p:cNvCxnSpPr>
            <p:nvPr/>
          </p:nvCxnSpPr>
          <p:spPr>
            <a:xfrm>
              <a:off x="742737" y="1434223"/>
              <a:ext cx="525865" cy="428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6"/>
              <a:endCxn id="16" idx="2"/>
            </p:cNvCxnSpPr>
            <p:nvPr/>
          </p:nvCxnSpPr>
          <p:spPr>
            <a:xfrm>
              <a:off x="742737" y="1682906"/>
              <a:ext cx="525865" cy="1796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6"/>
              <a:endCxn id="16" idx="2"/>
            </p:cNvCxnSpPr>
            <p:nvPr/>
          </p:nvCxnSpPr>
          <p:spPr>
            <a:xfrm flipV="1">
              <a:off x="742737" y="1862523"/>
              <a:ext cx="525865" cy="690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1268602" y="201630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" name="Straight Arrow Connector 20"/>
            <p:cNvCxnSpPr>
              <a:stCxn id="7" idx="6"/>
              <a:endCxn id="20" idx="2"/>
            </p:cNvCxnSpPr>
            <p:nvPr/>
          </p:nvCxnSpPr>
          <p:spPr>
            <a:xfrm>
              <a:off x="742737" y="1434223"/>
              <a:ext cx="525865" cy="6888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6" idx="6"/>
              <a:endCxn id="20" idx="2"/>
            </p:cNvCxnSpPr>
            <p:nvPr/>
          </p:nvCxnSpPr>
          <p:spPr>
            <a:xfrm>
              <a:off x="742737" y="1682906"/>
              <a:ext cx="525865" cy="4401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5" idx="6"/>
              <a:endCxn id="20" idx="2"/>
            </p:cNvCxnSpPr>
            <p:nvPr/>
          </p:nvCxnSpPr>
          <p:spPr>
            <a:xfrm>
              <a:off x="742737" y="1931590"/>
              <a:ext cx="525865" cy="19147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2106362" y="121229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5" name="Straight Arrow Connector 24"/>
            <p:cNvCxnSpPr>
              <a:stCxn id="8" idx="6"/>
              <a:endCxn id="24" idx="2"/>
            </p:cNvCxnSpPr>
            <p:nvPr/>
          </p:nvCxnSpPr>
          <p:spPr>
            <a:xfrm flipV="1">
              <a:off x="1481279" y="131905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6"/>
              <a:endCxn id="24" idx="2"/>
            </p:cNvCxnSpPr>
            <p:nvPr/>
          </p:nvCxnSpPr>
          <p:spPr>
            <a:xfrm flipV="1">
              <a:off x="1481278" y="1319053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6" idx="6"/>
              <a:endCxn id="24" idx="2"/>
            </p:cNvCxnSpPr>
            <p:nvPr/>
          </p:nvCxnSpPr>
          <p:spPr>
            <a:xfrm flipV="1">
              <a:off x="1481278" y="131905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0" idx="6"/>
              <a:endCxn id="24" idx="2"/>
            </p:cNvCxnSpPr>
            <p:nvPr/>
          </p:nvCxnSpPr>
          <p:spPr>
            <a:xfrm flipV="1">
              <a:off x="1481277" y="1319053"/>
              <a:ext cx="625085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106361" y="1492762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0" name="Straight Arrow Connector 29"/>
            <p:cNvCxnSpPr>
              <a:endCxn id="29" idx="2"/>
            </p:cNvCxnSpPr>
            <p:nvPr/>
          </p:nvCxnSpPr>
          <p:spPr>
            <a:xfrm flipV="1">
              <a:off x="1481278" y="159952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6" idx="6"/>
              <a:endCxn id="29" idx="2"/>
            </p:cNvCxnSpPr>
            <p:nvPr/>
          </p:nvCxnSpPr>
          <p:spPr>
            <a:xfrm flipV="1">
              <a:off x="1481278" y="1599523"/>
              <a:ext cx="625083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endCxn id="29" idx="2"/>
            </p:cNvCxnSpPr>
            <p:nvPr/>
          </p:nvCxnSpPr>
          <p:spPr>
            <a:xfrm flipV="1">
              <a:off x="1481277" y="159952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8" idx="6"/>
              <a:endCxn id="29" idx="2"/>
            </p:cNvCxnSpPr>
            <p:nvPr/>
          </p:nvCxnSpPr>
          <p:spPr>
            <a:xfrm>
              <a:off x="1481279" y="1319054"/>
              <a:ext cx="625082" cy="2804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107733" y="175049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1482650" y="1857259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endCxn id="34" idx="2"/>
            </p:cNvCxnSpPr>
            <p:nvPr/>
          </p:nvCxnSpPr>
          <p:spPr>
            <a:xfrm flipV="1">
              <a:off x="1482650" y="1857259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2" idx="6"/>
              <a:endCxn id="34" idx="2"/>
            </p:cNvCxnSpPr>
            <p:nvPr/>
          </p:nvCxnSpPr>
          <p:spPr>
            <a:xfrm>
              <a:off x="1481278" y="1596202"/>
              <a:ext cx="626455" cy="2610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8" idx="6"/>
              <a:endCxn id="34" idx="2"/>
            </p:cNvCxnSpPr>
            <p:nvPr/>
          </p:nvCxnSpPr>
          <p:spPr>
            <a:xfrm>
              <a:off x="1481279" y="1319054"/>
              <a:ext cx="626454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2106360" y="20090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0" name="Straight Arrow Connector 39"/>
            <p:cNvCxnSpPr>
              <a:stCxn id="20" idx="6"/>
              <a:endCxn id="39" idx="2"/>
            </p:cNvCxnSpPr>
            <p:nvPr/>
          </p:nvCxnSpPr>
          <p:spPr>
            <a:xfrm flipV="1">
              <a:off x="1481277" y="2115780"/>
              <a:ext cx="625083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6" idx="6"/>
              <a:endCxn id="39" idx="2"/>
            </p:cNvCxnSpPr>
            <p:nvPr/>
          </p:nvCxnSpPr>
          <p:spPr>
            <a:xfrm>
              <a:off x="1481278" y="1862524"/>
              <a:ext cx="625083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6"/>
              <a:endCxn id="39" idx="2"/>
            </p:cNvCxnSpPr>
            <p:nvPr/>
          </p:nvCxnSpPr>
          <p:spPr>
            <a:xfrm>
              <a:off x="1481278" y="1596202"/>
              <a:ext cx="625082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8" idx="6"/>
              <a:endCxn id="39" idx="2"/>
            </p:cNvCxnSpPr>
            <p:nvPr/>
          </p:nvCxnSpPr>
          <p:spPr>
            <a:xfrm>
              <a:off x="1481279" y="1319054"/>
              <a:ext cx="625081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1269690" y="22627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" name="Straight Arrow Connector 44"/>
            <p:cNvCxnSpPr>
              <a:stCxn id="7" idx="6"/>
              <a:endCxn id="44" idx="2"/>
            </p:cNvCxnSpPr>
            <p:nvPr/>
          </p:nvCxnSpPr>
          <p:spPr>
            <a:xfrm>
              <a:off x="742737" y="1434223"/>
              <a:ext cx="526953" cy="935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6"/>
              <a:endCxn id="44" idx="2"/>
            </p:cNvCxnSpPr>
            <p:nvPr/>
          </p:nvCxnSpPr>
          <p:spPr>
            <a:xfrm>
              <a:off x="742737" y="1682906"/>
              <a:ext cx="526953" cy="6866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5" idx="6"/>
              <a:endCxn id="44" idx="2"/>
            </p:cNvCxnSpPr>
            <p:nvPr/>
          </p:nvCxnSpPr>
          <p:spPr>
            <a:xfrm>
              <a:off x="742737" y="1931590"/>
              <a:ext cx="526953" cy="43792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4" idx="6"/>
              <a:endCxn id="24" idx="2"/>
            </p:cNvCxnSpPr>
            <p:nvPr/>
          </p:nvCxnSpPr>
          <p:spPr>
            <a:xfrm flipV="1">
              <a:off x="1482365" y="1319053"/>
              <a:ext cx="623997" cy="10504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44" idx="6"/>
              <a:endCxn id="29" idx="2"/>
            </p:cNvCxnSpPr>
            <p:nvPr/>
          </p:nvCxnSpPr>
          <p:spPr>
            <a:xfrm flipV="1">
              <a:off x="1482365" y="1599522"/>
              <a:ext cx="623996" cy="7699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4" idx="6"/>
              <a:endCxn id="34" idx="2"/>
            </p:cNvCxnSpPr>
            <p:nvPr/>
          </p:nvCxnSpPr>
          <p:spPr>
            <a:xfrm flipV="1">
              <a:off x="1482365" y="1857259"/>
              <a:ext cx="625368" cy="51225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4" idx="6"/>
              <a:endCxn id="39" idx="2"/>
            </p:cNvCxnSpPr>
            <p:nvPr/>
          </p:nvCxnSpPr>
          <p:spPr>
            <a:xfrm flipV="1">
              <a:off x="1482365" y="2115779"/>
              <a:ext cx="623995" cy="2537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046947" y="2354834"/>
            <a:ext cx="2134972" cy="1068738"/>
            <a:chOff x="1905000" y="2190750"/>
            <a:chExt cx="3483917" cy="1744001"/>
          </a:xfrm>
        </p:grpSpPr>
        <p:sp>
          <p:nvSpPr>
            <p:cNvPr id="53" name="Oval 52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8" name="Straight Arrow Connector 57"/>
            <p:cNvCxnSpPr>
              <a:stCxn id="55" idx="6"/>
              <a:endCxn id="56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6"/>
              <a:endCxn id="56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3" idx="6"/>
              <a:endCxn id="56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2" name="Straight Arrow Connector 61"/>
            <p:cNvCxnSpPr>
              <a:stCxn id="55" idx="6"/>
              <a:endCxn id="61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54" idx="6"/>
              <a:endCxn id="61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3" idx="6"/>
              <a:endCxn id="61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6" name="Straight Arrow Connector 65"/>
            <p:cNvCxnSpPr>
              <a:stCxn id="55" idx="6"/>
              <a:endCxn id="65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54" idx="6"/>
              <a:endCxn id="65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53" idx="6"/>
              <a:endCxn id="65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0" name="Straight Arrow Connector 69"/>
            <p:cNvCxnSpPr>
              <a:stCxn id="55" idx="6"/>
              <a:endCxn id="69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54" idx="6"/>
              <a:endCxn id="69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53" idx="6"/>
              <a:endCxn id="69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4" name="Straight Arrow Connector 73"/>
            <p:cNvCxnSpPr>
              <a:stCxn id="55" idx="6"/>
              <a:endCxn id="73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54" idx="6"/>
              <a:endCxn id="73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53" idx="6"/>
              <a:endCxn id="73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8" name="Straight Arrow Connector 77"/>
            <p:cNvCxnSpPr>
              <a:stCxn id="56" idx="6"/>
              <a:endCxn id="7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61" idx="6"/>
              <a:endCxn id="7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65" idx="6"/>
              <a:endCxn id="7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69" idx="6"/>
              <a:endCxn id="7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3" idx="6"/>
              <a:endCxn id="7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4" name="Straight Arrow Connector 83"/>
            <p:cNvCxnSpPr>
              <a:endCxn id="83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65" idx="6"/>
              <a:endCxn id="83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endCxn id="83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endCxn id="83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56" idx="6"/>
              <a:endCxn id="83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Oval 88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0" name="Straight Arrow Connector 89"/>
            <p:cNvCxnSpPr>
              <a:endCxn id="89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endCxn id="89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endCxn id="89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61" idx="6"/>
              <a:endCxn id="89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56" idx="6"/>
              <a:endCxn id="89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6" name="Straight Arrow Connector 95"/>
            <p:cNvCxnSpPr>
              <a:stCxn id="69" idx="6"/>
              <a:endCxn id="95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endCxn id="95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65" idx="6"/>
              <a:endCxn id="95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61" idx="6"/>
              <a:endCxn id="95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56" idx="6"/>
              <a:endCxn id="95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02" name="Straight Arrow Connector 101"/>
            <p:cNvCxnSpPr>
              <a:endCxn id="101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69" idx="6"/>
              <a:endCxn id="101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65" idx="6"/>
              <a:endCxn id="101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61" idx="6"/>
              <a:endCxn id="101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56" idx="6"/>
              <a:endCxn id="101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77" idx="6"/>
              <a:endCxn id="57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83" idx="6"/>
              <a:endCxn id="57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89" idx="6"/>
              <a:endCxn id="57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stCxn id="95" idx="6"/>
              <a:endCxn id="57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101" idx="6"/>
              <a:endCxn id="57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3" name="Straight Arrow Connector 112"/>
            <p:cNvCxnSpPr>
              <a:endCxn id="112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endCxn id="112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endCxn id="112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endCxn id="112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77" idx="6"/>
              <a:endCxn id="112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9" name="Straight Arrow Connector 118"/>
            <p:cNvCxnSpPr>
              <a:endCxn id="118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endCxn id="118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endCxn id="118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83" idx="6"/>
              <a:endCxn id="118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stCxn id="77" idx="6"/>
              <a:endCxn id="118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25" name="Straight Arrow Connector 124"/>
            <p:cNvCxnSpPr>
              <a:endCxn id="124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>
              <a:endCxn id="124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>
              <a:stCxn id="89" idx="6"/>
              <a:endCxn id="124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83" idx="6"/>
              <a:endCxn id="124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stCxn id="77" idx="6"/>
              <a:endCxn id="124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5995285" y="2360262"/>
            <a:ext cx="2384321" cy="1068738"/>
            <a:chOff x="5779980" y="1200150"/>
            <a:chExt cx="2888610" cy="1294778"/>
          </a:xfrm>
        </p:grpSpPr>
        <p:sp>
          <p:nvSpPr>
            <p:cNvPr id="131" name="Oval 130"/>
            <p:cNvSpPr/>
            <p:nvPr/>
          </p:nvSpPr>
          <p:spPr>
            <a:xfrm>
              <a:off x="5779980" y="193718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2" name="Oval 131"/>
            <p:cNvSpPr/>
            <p:nvPr/>
          </p:nvSpPr>
          <p:spPr>
            <a:xfrm>
              <a:off x="5779980" y="1688499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5779980" y="143981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651852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5" name="Straight Arrow Connector 134"/>
            <p:cNvCxnSpPr>
              <a:stCxn id="133" idx="6"/>
              <a:endCxn id="134" idx="2"/>
            </p:cNvCxnSpPr>
            <p:nvPr/>
          </p:nvCxnSpPr>
          <p:spPr>
            <a:xfrm flipV="1">
              <a:off x="5992655" y="1306911"/>
              <a:ext cx="525867" cy="23966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32" idx="6"/>
              <a:endCxn id="134" idx="2"/>
            </p:cNvCxnSpPr>
            <p:nvPr/>
          </p:nvCxnSpPr>
          <p:spPr>
            <a:xfrm flipV="1">
              <a:off x="5992655" y="1306911"/>
              <a:ext cx="525867" cy="4883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31" idx="6"/>
              <a:endCxn id="134" idx="2"/>
            </p:cNvCxnSpPr>
            <p:nvPr/>
          </p:nvCxnSpPr>
          <p:spPr>
            <a:xfrm flipV="1">
              <a:off x="5992655" y="1306911"/>
              <a:ext cx="525867" cy="73703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Oval 137"/>
            <p:cNvSpPr/>
            <p:nvPr/>
          </p:nvSpPr>
          <p:spPr>
            <a:xfrm>
              <a:off x="651852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9" name="Straight Arrow Connector 138"/>
            <p:cNvCxnSpPr>
              <a:stCxn id="133" idx="6"/>
              <a:endCxn id="138" idx="2"/>
            </p:cNvCxnSpPr>
            <p:nvPr/>
          </p:nvCxnSpPr>
          <p:spPr>
            <a:xfrm>
              <a:off x="5992655" y="1546576"/>
              <a:ext cx="525866" cy="374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stCxn id="132" idx="6"/>
              <a:endCxn id="138" idx="2"/>
            </p:cNvCxnSpPr>
            <p:nvPr/>
          </p:nvCxnSpPr>
          <p:spPr>
            <a:xfrm flipV="1">
              <a:off x="5992655" y="1584059"/>
              <a:ext cx="525866" cy="2112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31" idx="6"/>
              <a:endCxn id="138" idx="2"/>
            </p:cNvCxnSpPr>
            <p:nvPr/>
          </p:nvCxnSpPr>
          <p:spPr>
            <a:xfrm flipV="1">
              <a:off x="5992655" y="1584059"/>
              <a:ext cx="525866" cy="45988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/>
            <p:cNvSpPr/>
            <p:nvPr/>
          </p:nvSpPr>
          <p:spPr>
            <a:xfrm>
              <a:off x="651852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/>
            <p:cNvCxnSpPr>
              <a:stCxn id="133" idx="6"/>
              <a:endCxn id="142" idx="2"/>
            </p:cNvCxnSpPr>
            <p:nvPr/>
          </p:nvCxnSpPr>
          <p:spPr>
            <a:xfrm>
              <a:off x="5992655" y="1546576"/>
              <a:ext cx="525865" cy="3038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32" idx="6"/>
              <a:endCxn id="142" idx="2"/>
            </p:cNvCxnSpPr>
            <p:nvPr/>
          </p:nvCxnSpPr>
          <p:spPr>
            <a:xfrm>
              <a:off x="5992655" y="1795260"/>
              <a:ext cx="525865" cy="551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>
              <a:stCxn id="131" idx="6"/>
              <a:endCxn id="142" idx="2"/>
            </p:cNvCxnSpPr>
            <p:nvPr/>
          </p:nvCxnSpPr>
          <p:spPr>
            <a:xfrm flipV="1">
              <a:off x="5992655" y="1850381"/>
              <a:ext cx="525865" cy="1935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Oval 145"/>
            <p:cNvSpPr/>
            <p:nvPr/>
          </p:nvSpPr>
          <p:spPr>
            <a:xfrm>
              <a:off x="651852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7" name="Straight Arrow Connector 146"/>
            <p:cNvCxnSpPr>
              <a:stCxn id="133" idx="6"/>
              <a:endCxn id="146" idx="2"/>
            </p:cNvCxnSpPr>
            <p:nvPr/>
          </p:nvCxnSpPr>
          <p:spPr>
            <a:xfrm>
              <a:off x="5992655" y="1546576"/>
              <a:ext cx="525864" cy="5643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>
              <a:stCxn id="132" idx="6"/>
              <a:endCxn id="146" idx="2"/>
            </p:cNvCxnSpPr>
            <p:nvPr/>
          </p:nvCxnSpPr>
          <p:spPr>
            <a:xfrm>
              <a:off x="5992655" y="1795260"/>
              <a:ext cx="525864" cy="31566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>
              <a:stCxn id="131" idx="6"/>
              <a:endCxn id="146" idx="2"/>
            </p:cNvCxnSpPr>
            <p:nvPr/>
          </p:nvCxnSpPr>
          <p:spPr>
            <a:xfrm>
              <a:off x="5992655" y="2043943"/>
              <a:ext cx="525864" cy="669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>
              <a:off x="651852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51" name="Straight Arrow Connector 150"/>
            <p:cNvCxnSpPr>
              <a:stCxn id="133" idx="6"/>
              <a:endCxn id="150" idx="2"/>
            </p:cNvCxnSpPr>
            <p:nvPr/>
          </p:nvCxnSpPr>
          <p:spPr>
            <a:xfrm>
              <a:off x="5992655" y="1546576"/>
              <a:ext cx="525867" cy="83520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/>
            <p:cNvCxnSpPr>
              <a:stCxn id="132" idx="6"/>
              <a:endCxn id="150" idx="2"/>
            </p:cNvCxnSpPr>
            <p:nvPr/>
          </p:nvCxnSpPr>
          <p:spPr>
            <a:xfrm>
              <a:off x="5992655" y="1795260"/>
              <a:ext cx="525867" cy="5865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/>
            <p:cNvCxnSpPr>
              <a:stCxn id="131" idx="6"/>
              <a:endCxn id="150" idx="2"/>
            </p:cNvCxnSpPr>
            <p:nvPr/>
          </p:nvCxnSpPr>
          <p:spPr>
            <a:xfrm>
              <a:off x="5992655" y="2043943"/>
              <a:ext cx="525867" cy="3378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Oval 153"/>
            <p:cNvSpPr/>
            <p:nvPr/>
          </p:nvSpPr>
          <p:spPr>
            <a:xfrm>
              <a:off x="708660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55" name="Straight Arrow Connector 154"/>
            <p:cNvCxnSpPr>
              <a:stCxn id="134" idx="6"/>
              <a:endCxn id="154" idx="2"/>
            </p:cNvCxnSpPr>
            <p:nvPr/>
          </p:nvCxnSpPr>
          <p:spPr>
            <a:xfrm flipV="1">
              <a:off x="673119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/>
            <p:cNvCxnSpPr>
              <a:stCxn id="138" idx="6"/>
              <a:endCxn id="154" idx="2"/>
            </p:cNvCxnSpPr>
            <p:nvPr/>
          </p:nvCxnSpPr>
          <p:spPr>
            <a:xfrm flipV="1">
              <a:off x="673119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142" idx="6"/>
              <a:endCxn id="154" idx="2"/>
            </p:cNvCxnSpPr>
            <p:nvPr/>
          </p:nvCxnSpPr>
          <p:spPr>
            <a:xfrm flipV="1">
              <a:off x="673119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stCxn id="146" idx="6"/>
              <a:endCxn id="154" idx="2"/>
            </p:cNvCxnSpPr>
            <p:nvPr/>
          </p:nvCxnSpPr>
          <p:spPr>
            <a:xfrm flipV="1">
              <a:off x="673119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stCxn id="150" idx="6"/>
              <a:endCxn id="154" idx="2"/>
            </p:cNvCxnSpPr>
            <p:nvPr/>
          </p:nvCxnSpPr>
          <p:spPr>
            <a:xfrm flipV="1">
              <a:off x="673119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/>
            <p:cNvSpPr/>
            <p:nvPr/>
          </p:nvSpPr>
          <p:spPr>
            <a:xfrm>
              <a:off x="708660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61" name="Straight Arrow Connector 160"/>
            <p:cNvCxnSpPr>
              <a:stCxn id="138" idx="6"/>
              <a:endCxn id="160" idx="2"/>
            </p:cNvCxnSpPr>
            <p:nvPr/>
          </p:nvCxnSpPr>
          <p:spPr>
            <a:xfrm>
              <a:off x="673119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/>
            <p:cNvCxnSpPr>
              <a:stCxn id="142" idx="6"/>
              <a:endCxn id="160" idx="2"/>
            </p:cNvCxnSpPr>
            <p:nvPr/>
          </p:nvCxnSpPr>
          <p:spPr>
            <a:xfrm flipV="1">
              <a:off x="673119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/>
            <p:cNvCxnSpPr>
              <a:stCxn id="146" idx="6"/>
              <a:endCxn id="160" idx="2"/>
            </p:cNvCxnSpPr>
            <p:nvPr/>
          </p:nvCxnSpPr>
          <p:spPr>
            <a:xfrm flipV="1">
              <a:off x="673119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stCxn id="150" idx="6"/>
              <a:endCxn id="166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stCxn id="134" idx="6"/>
              <a:endCxn id="160" idx="2"/>
            </p:cNvCxnSpPr>
            <p:nvPr/>
          </p:nvCxnSpPr>
          <p:spPr>
            <a:xfrm>
              <a:off x="673119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/>
            <p:cNvSpPr/>
            <p:nvPr/>
          </p:nvSpPr>
          <p:spPr>
            <a:xfrm>
              <a:off x="708797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67" name="Straight Arrow Connector 166"/>
            <p:cNvCxnSpPr>
              <a:stCxn id="142" idx="6"/>
              <a:endCxn id="166" idx="2"/>
            </p:cNvCxnSpPr>
            <p:nvPr/>
          </p:nvCxnSpPr>
          <p:spPr>
            <a:xfrm flipV="1">
              <a:off x="673119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/>
            <p:cNvCxnSpPr>
              <a:stCxn id="146" idx="6"/>
              <a:endCxn id="166" idx="2"/>
            </p:cNvCxnSpPr>
            <p:nvPr/>
          </p:nvCxnSpPr>
          <p:spPr>
            <a:xfrm flipV="1">
              <a:off x="673119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/>
            <p:cNvCxnSpPr>
              <a:stCxn id="150" idx="6"/>
              <a:endCxn id="166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/>
            <p:cNvCxnSpPr>
              <a:stCxn id="138" idx="6"/>
              <a:endCxn id="166" idx="2"/>
            </p:cNvCxnSpPr>
            <p:nvPr/>
          </p:nvCxnSpPr>
          <p:spPr>
            <a:xfrm>
              <a:off x="673119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/>
            <p:cNvCxnSpPr>
              <a:stCxn id="134" idx="6"/>
              <a:endCxn id="166" idx="2"/>
            </p:cNvCxnSpPr>
            <p:nvPr/>
          </p:nvCxnSpPr>
          <p:spPr>
            <a:xfrm>
              <a:off x="673119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Oval 171"/>
            <p:cNvSpPr/>
            <p:nvPr/>
          </p:nvSpPr>
          <p:spPr>
            <a:xfrm>
              <a:off x="708660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3" name="Straight Arrow Connector 172"/>
            <p:cNvCxnSpPr>
              <a:stCxn id="146" idx="6"/>
              <a:endCxn id="172" idx="2"/>
            </p:cNvCxnSpPr>
            <p:nvPr/>
          </p:nvCxnSpPr>
          <p:spPr>
            <a:xfrm flipV="1">
              <a:off x="673119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50" idx="6"/>
              <a:endCxn id="172" idx="2"/>
            </p:cNvCxnSpPr>
            <p:nvPr/>
          </p:nvCxnSpPr>
          <p:spPr>
            <a:xfrm flipV="1">
              <a:off x="673119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142" idx="6"/>
              <a:endCxn id="172" idx="2"/>
            </p:cNvCxnSpPr>
            <p:nvPr/>
          </p:nvCxnSpPr>
          <p:spPr>
            <a:xfrm>
              <a:off x="673119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>
              <a:stCxn id="138" idx="6"/>
              <a:endCxn id="172" idx="2"/>
            </p:cNvCxnSpPr>
            <p:nvPr/>
          </p:nvCxnSpPr>
          <p:spPr>
            <a:xfrm>
              <a:off x="673119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/>
            <p:cNvCxnSpPr>
              <a:stCxn id="134" idx="6"/>
              <a:endCxn id="172" idx="2"/>
            </p:cNvCxnSpPr>
            <p:nvPr/>
          </p:nvCxnSpPr>
          <p:spPr>
            <a:xfrm>
              <a:off x="673119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Oval 177"/>
            <p:cNvSpPr/>
            <p:nvPr/>
          </p:nvSpPr>
          <p:spPr>
            <a:xfrm>
              <a:off x="708660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9" name="Straight Arrow Connector 178"/>
            <p:cNvCxnSpPr>
              <a:stCxn id="150" idx="6"/>
              <a:endCxn id="178" idx="2"/>
            </p:cNvCxnSpPr>
            <p:nvPr/>
          </p:nvCxnSpPr>
          <p:spPr>
            <a:xfrm>
              <a:off x="673119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>
              <a:stCxn id="146" idx="6"/>
              <a:endCxn id="178" idx="2"/>
            </p:cNvCxnSpPr>
            <p:nvPr/>
          </p:nvCxnSpPr>
          <p:spPr>
            <a:xfrm>
              <a:off x="673119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/>
            <p:cNvCxnSpPr>
              <a:stCxn id="142" idx="6"/>
              <a:endCxn id="178" idx="2"/>
            </p:cNvCxnSpPr>
            <p:nvPr/>
          </p:nvCxnSpPr>
          <p:spPr>
            <a:xfrm>
              <a:off x="673119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/>
            <p:cNvCxnSpPr>
              <a:stCxn id="138" idx="6"/>
              <a:endCxn id="178" idx="2"/>
            </p:cNvCxnSpPr>
            <p:nvPr/>
          </p:nvCxnSpPr>
          <p:spPr>
            <a:xfrm>
              <a:off x="673119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/>
            <p:cNvCxnSpPr>
              <a:stCxn id="134" idx="6"/>
              <a:endCxn id="178" idx="2"/>
            </p:cNvCxnSpPr>
            <p:nvPr/>
          </p:nvCxnSpPr>
          <p:spPr>
            <a:xfrm>
              <a:off x="673119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Oval 183"/>
            <p:cNvSpPr/>
            <p:nvPr/>
          </p:nvSpPr>
          <p:spPr>
            <a:xfrm>
              <a:off x="8455915" y="1333055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5" name="Straight Arrow Connector 184"/>
            <p:cNvCxnSpPr>
              <a:endCxn id="184" idx="2"/>
            </p:cNvCxnSpPr>
            <p:nvPr/>
          </p:nvCxnSpPr>
          <p:spPr>
            <a:xfrm>
              <a:off x="7871042" y="1306910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84" idx="2"/>
            </p:cNvCxnSpPr>
            <p:nvPr/>
          </p:nvCxnSpPr>
          <p:spPr>
            <a:xfrm flipV="1">
              <a:off x="7871041" y="1439816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84" idx="2"/>
            </p:cNvCxnSpPr>
            <p:nvPr/>
          </p:nvCxnSpPr>
          <p:spPr>
            <a:xfrm flipV="1">
              <a:off x="7872413" y="1439816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endCxn id="184" idx="2"/>
            </p:cNvCxnSpPr>
            <p:nvPr/>
          </p:nvCxnSpPr>
          <p:spPr>
            <a:xfrm flipV="1">
              <a:off x="7871041" y="1439816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/>
            <p:cNvCxnSpPr>
              <a:endCxn id="184" idx="2"/>
            </p:cNvCxnSpPr>
            <p:nvPr/>
          </p:nvCxnSpPr>
          <p:spPr>
            <a:xfrm flipV="1">
              <a:off x="7871040" y="1439816"/>
              <a:ext cx="584875" cy="9483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Oval 189"/>
            <p:cNvSpPr/>
            <p:nvPr/>
          </p:nvSpPr>
          <p:spPr>
            <a:xfrm>
              <a:off x="8455914" y="16121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1" name="Straight Arrow Connector 190"/>
            <p:cNvCxnSpPr>
              <a:endCxn id="190" idx="2"/>
            </p:cNvCxnSpPr>
            <p:nvPr/>
          </p:nvCxnSpPr>
          <p:spPr>
            <a:xfrm>
              <a:off x="7871041" y="1585974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/>
            <p:cNvCxnSpPr>
              <a:endCxn id="190" idx="2"/>
            </p:cNvCxnSpPr>
            <p:nvPr/>
          </p:nvCxnSpPr>
          <p:spPr>
            <a:xfrm flipV="1">
              <a:off x="7871041" y="171888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>
              <a:endCxn id="190" idx="2"/>
            </p:cNvCxnSpPr>
            <p:nvPr/>
          </p:nvCxnSpPr>
          <p:spPr>
            <a:xfrm flipV="1">
              <a:off x="7872413" y="1718880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/>
            <p:cNvCxnSpPr>
              <a:endCxn id="190" idx="2"/>
            </p:cNvCxnSpPr>
            <p:nvPr/>
          </p:nvCxnSpPr>
          <p:spPr>
            <a:xfrm flipV="1">
              <a:off x="7871040" y="1718880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>
              <a:endCxn id="190" idx="2"/>
            </p:cNvCxnSpPr>
            <p:nvPr/>
          </p:nvCxnSpPr>
          <p:spPr>
            <a:xfrm>
              <a:off x="7871042" y="1306910"/>
              <a:ext cx="584872" cy="4119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Oval 195"/>
            <p:cNvSpPr/>
            <p:nvPr/>
          </p:nvSpPr>
          <p:spPr>
            <a:xfrm>
              <a:off x="8455913" y="186644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7" name="Straight Arrow Connector 196"/>
            <p:cNvCxnSpPr>
              <a:endCxn id="196" idx="2"/>
            </p:cNvCxnSpPr>
            <p:nvPr/>
          </p:nvCxnSpPr>
          <p:spPr>
            <a:xfrm>
              <a:off x="7871041" y="1840299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/>
            <p:cNvCxnSpPr>
              <a:endCxn id="196" idx="2"/>
            </p:cNvCxnSpPr>
            <p:nvPr/>
          </p:nvCxnSpPr>
          <p:spPr>
            <a:xfrm flipV="1">
              <a:off x="7871040" y="1973204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/>
            <p:cNvCxnSpPr>
              <a:endCxn id="196" idx="2"/>
            </p:cNvCxnSpPr>
            <p:nvPr/>
          </p:nvCxnSpPr>
          <p:spPr>
            <a:xfrm flipV="1">
              <a:off x="7872412" y="1973204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/>
            <p:cNvCxnSpPr>
              <a:endCxn id="196" idx="2"/>
            </p:cNvCxnSpPr>
            <p:nvPr/>
          </p:nvCxnSpPr>
          <p:spPr>
            <a:xfrm>
              <a:off x="7871041" y="1587380"/>
              <a:ext cx="584872" cy="3858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/>
            <p:cNvCxnSpPr>
              <a:endCxn id="196" idx="2"/>
            </p:cNvCxnSpPr>
            <p:nvPr/>
          </p:nvCxnSpPr>
          <p:spPr>
            <a:xfrm>
              <a:off x="7871042" y="1306910"/>
              <a:ext cx="584871" cy="6662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Oval 201"/>
            <p:cNvSpPr/>
            <p:nvPr/>
          </p:nvSpPr>
          <p:spPr>
            <a:xfrm>
              <a:off x="8455915" y="21354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3" name="Straight Arrow Connector 202"/>
            <p:cNvCxnSpPr>
              <a:endCxn id="202" idx="2"/>
            </p:cNvCxnSpPr>
            <p:nvPr/>
          </p:nvCxnSpPr>
          <p:spPr>
            <a:xfrm>
              <a:off x="7871042" y="2109305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/>
            <p:cNvCxnSpPr>
              <a:endCxn id="202" idx="2"/>
            </p:cNvCxnSpPr>
            <p:nvPr/>
          </p:nvCxnSpPr>
          <p:spPr>
            <a:xfrm flipV="1">
              <a:off x="7871041" y="224221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/>
            <p:cNvCxnSpPr>
              <a:endCxn id="202" idx="2"/>
            </p:cNvCxnSpPr>
            <p:nvPr/>
          </p:nvCxnSpPr>
          <p:spPr>
            <a:xfrm>
              <a:off x="7872413" y="1845116"/>
              <a:ext cx="583501" cy="3970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Arrow Connector 205"/>
            <p:cNvCxnSpPr>
              <a:endCxn id="202" idx="2"/>
            </p:cNvCxnSpPr>
            <p:nvPr/>
          </p:nvCxnSpPr>
          <p:spPr>
            <a:xfrm>
              <a:off x="7871041" y="1587380"/>
              <a:ext cx="584873" cy="6548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>
              <a:endCxn id="202" idx="2"/>
            </p:cNvCxnSpPr>
            <p:nvPr/>
          </p:nvCxnSpPr>
          <p:spPr>
            <a:xfrm>
              <a:off x="7871042" y="1306910"/>
              <a:ext cx="584873" cy="93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/>
            <p:cNvSpPr/>
            <p:nvPr/>
          </p:nvSpPr>
          <p:spPr>
            <a:xfrm>
              <a:off x="708660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9" name="Oval 208"/>
            <p:cNvSpPr/>
            <p:nvPr/>
          </p:nvSpPr>
          <p:spPr>
            <a:xfrm>
              <a:off x="708660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0" name="Oval 209"/>
            <p:cNvSpPr/>
            <p:nvPr/>
          </p:nvSpPr>
          <p:spPr>
            <a:xfrm>
              <a:off x="708660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1" name="Oval 210"/>
            <p:cNvSpPr/>
            <p:nvPr/>
          </p:nvSpPr>
          <p:spPr>
            <a:xfrm>
              <a:off x="708660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2" name="Oval 211"/>
            <p:cNvSpPr/>
            <p:nvPr/>
          </p:nvSpPr>
          <p:spPr>
            <a:xfrm>
              <a:off x="708660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3" name="Oval 212"/>
            <p:cNvSpPr/>
            <p:nvPr/>
          </p:nvSpPr>
          <p:spPr>
            <a:xfrm>
              <a:off x="765468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4" name="Straight Arrow Connector 213"/>
            <p:cNvCxnSpPr>
              <a:stCxn id="208" idx="6"/>
              <a:endCxn id="213" idx="2"/>
            </p:cNvCxnSpPr>
            <p:nvPr/>
          </p:nvCxnSpPr>
          <p:spPr>
            <a:xfrm flipV="1">
              <a:off x="729927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/>
            <p:cNvCxnSpPr>
              <a:stCxn id="209" idx="6"/>
              <a:endCxn id="213" idx="2"/>
            </p:cNvCxnSpPr>
            <p:nvPr/>
          </p:nvCxnSpPr>
          <p:spPr>
            <a:xfrm flipV="1">
              <a:off x="729927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/>
            <p:cNvCxnSpPr>
              <a:stCxn id="210" idx="6"/>
              <a:endCxn id="213" idx="2"/>
            </p:cNvCxnSpPr>
            <p:nvPr/>
          </p:nvCxnSpPr>
          <p:spPr>
            <a:xfrm flipV="1">
              <a:off x="729927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/>
            <p:cNvCxnSpPr>
              <a:stCxn id="211" idx="6"/>
              <a:endCxn id="213" idx="2"/>
            </p:cNvCxnSpPr>
            <p:nvPr/>
          </p:nvCxnSpPr>
          <p:spPr>
            <a:xfrm flipV="1">
              <a:off x="729927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/>
            <p:cNvCxnSpPr>
              <a:stCxn id="212" idx="6"/>
              <a:endCxn id="213" idx="2"/>
            </p:cNvCxnSpPr>
            <p:nvPr/>
          </p:nvCxnSpPr>
          <p:spPr>
            <a:xfrm flipV="1">
              <a:off x="729927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/>
            <p:cNvSpPr/>
            <p:nvPr/>
          </p:nvSpPr>
          <p:spPr>
            <a:xfrm>
              <a:off x="765468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0" name="Straight Arrow Connector 219"/>
            <p:cNvCxnSpPr>
              <a:stCxn id="209" idx="6"/>
              <a:endCxn id="219" idx="2"/>
            </p:cNvCxnSpPr>
            <p:nvPr/>
          </p:nvCxnSpPr>
          <p:spPr>
            <a:xfrm>
              <a:off x="729927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/>
            <p:cNvCxnSpPr>
              <a:stCxn id="210" idx="6"/>
              <a:endCxn id="219" idx="2"/>
            </p:cNvCxnSpPr>
            <p:nvPr/>
          </p:nvCxnSpPr>
          <p:spPr>
            <a:xfrm flipV="1">
              <a:off x="729927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/>
            <p:cNvCxnSpPr>
              <a:stCxn id="211" idx="6"/>
              <a:endCxn id="219" idx="2"/>
            </p:cNvCxnSpPr>
            <p:nvPr/>
          </p:nvCxnSpPr>
          <p:spPr>
            <a:xfrm flipV="1">
              <a:off x="729927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>
              <a:stCxn id="212" idx="6"/>
              <a:endCxn id="225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/>
            <p:cNvCxnSpPr>
              <a:stCxn id="208" idx="6"/>
              <a:endCxn id="219" idx="2"/>
            </p:cNvCxnSpPr>
            <p:nvPr/>
          </p:nvCxnSpPr>
          <p:spPr>
            <a:xfrm>
              <a:off x="729927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Oval 224"/>
            <p:cNvSpPr/>
            <p:nvPr/>
          </p:nvSpPr>
          <p:spPr>
            <a:xfrm>
              <a:off x="765605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6" name="Straight Arrow Connector 225"/>
            <p:cNvCxnSpPr>
              <a:stCxn id="210" idx="6"/>
              <a:endCxn id="225" idx="2"/>
            </p:cNvCxnSpPr>
            <p:nvPr/>
          </p:nvCxnSpPr>
          <p:spPr>
            <a:xfrm flipV="1">
              <a:off x="729927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/>
            <p:cNvCxnSpPr>
              <a:stCxn id="211" idx="6"/>
              <a:endCxn id="225" idx="2"/>
            </p:cNvCxnSpPr>
            <p:nvPr/>
          </p:nvCxnSpPr>
          <p:spPr>
            <a:xfrm flipV="1">
              <a:off x="729927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/>
            <p:cNvCxnSpPr>
              <a:stCxn id="212" idx="6"/>
              <a:endCxn id="225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/>
            <p:cNvCxnSpPr>
              <a:stCxn id="209" idx="6"/>
              <a:endCxn id="225" idx="2"/>
            </p:cNvCxnSpPr>
            <p:nvPr/>
          </p:nvCxnSpPr>
          <p:spPr>
            <a:xfrm>
              <a:off x="729927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/>
            <p:cNvCxnSpPr>
              <a:stCxn id="208" idx="6"/>
              <a:endCxn id="225" idx="2"/>
            </p:cNvCxnSpPr>
            <p:nvPr/>
          </p:nvCxnSpPr>
          <p:spPr>
            <a:xfrm>
              <a:off x="729927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Oval 230"/>
            <p:cNvSpPr/>
            <p:nvPr/>
          </p:nvSpPr>
          <p:spPr>
            <a:xfrm>
              <a:off x="765468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32" name="Straight Arrow Connector 231"/>
            <p:cNvCxnSpPr>
              <a:stCxn id="211" idx="6"/>
              <a:endCxn id="231" idx="2"/>
            </p:cNvCxnSpPr>
            <p:nvPr/>
          </p:nvCxnSpPr>
          <p:spPr>
            <a:xfrm flipV="1">
              <a:off x="729927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>
              <a:stCxn id="212" idx="6"/>
              <a:endCxn id="231" idx="2"/>
            </p:cNvCxnSpPr>
            <p:nvPr/>
          </p:nvCxnSpPr>
          <p:spPr>
            <a:xfrm flipV="1">
              <a:off x="729927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/>
            <p:cNvCxnSpPr>
              <a:stCxn id="210" idx="6"/>
              <a:endCxn id="231" idx="2"/>
            </p:cNvCxnSpPr>
            <p:nvPr/>
          </p:nvCxnSpPr>
          <p:spPr>
            <a:xfrm>
              <a:off x="729927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/>
            <p:cNvCxnSpPr>
              <a:stCxn id="209" idx="6"/>
              <a:endCxn id="231" idx="2"/>
            </p:cNvCxnSpPr>
            <p:nvPr/>
          </p:nvCxnSpPr>
          <p:spPr>
            <a:xfrm>
              <a:off x="729927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>
              <a:stCxn id="208" idx="6"/>
              <a:endCxn id="231" idx="2"/>
            </p:cNvCxnSpPr>
            <p:nvPr/>
          </p:nvCxnSpPr>
          <p:spPr>
            <a:xfrm>
              <a:off x="729927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Oval 236"/>
            <p:cNvSpPr/>
            <p:nvPr/>
          </p:nvSpPr>
          <p:spPr>
            <a:xfrm>
              <a:off x="765468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38" name="Straight Arrow Connector 237"/>
            <p:cNvCxnSpPr>
              <a:stCxn id="212" idx="6"/>
              <a:endCxn id="237" idx="2"/>
            </p:cNvCxnSpPr>
            <p:nvPr/>
          </p:nvCxnSpPr>
          <p:spPr>
            <a:xfrm>
              <a:off x="729927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/>
            <p:cNvCxnSpPr>
              <a:stCxn id="211" idx="6"/>
              <a:endCxn id="237" idx="2"/>
            </p:cNvCxnSpPr>
            <p:nvPr/>
          </p:nvCxnSpPr>
          <p:spPr>
            <a:xfrm>
              <a:off x="729927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/>
            <p:cNvCxnSpPr>
              <a:stCxn id="210" idx="6"/>
              <a:endCxn id="237" idx="2"/>
            </p:cNvCxnSpPr>
            <p:nvPr/>
          </p:nvCxnSpPr>
          <p:spPr>
            <a:xfrm>
              <a:off x="729927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209" idx="6"/>
              <a:endCxn id="237" idx="2"/>
            </p:cNvCxnSpPr>
            <p:nvPr/>
          </p:nvCxnSpPr>
          <p:spPr>
            <a:xfrm>
              <a:off x="729927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/>
            <p:cNvCxnSpPr>
              <a:stCxn id="208" idx="6"/>
              <a:endCxn id="237" idx="2"/>
            </p:cNvCxnSpPr>
            <p:nvPr/>
          </p:nvCxnSpPr>
          <p:spPr>
            <a:xfrm>
              <a:off x="729927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3" name="Rectangle 242"/>
          <p:cNvSpPr/>
          <p:nvPr/>
        </p:nvSpPr>
        <p:spPr>
          <a:xfrm>
            <a:off x="228600" y="4114800"/>
            <a:ext cx="8763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No. of input units: Dimension of features</a:t>
            </a:r>
          </a:p>
          <a:p>
            <a:r>
              <a:rPr lang="en-US" sz="2400" b="1" dirty="0">
                <a:solidFill>
                  <a:prstClr val="black"/>
                </a:solidFill>
              </a:rPr>
              <a:t>No. output units: Number of classes</a:t>
            </a:r>
          </a:p>
          <a:p>
            <a:r>
              <a:rPr lang="en-US" sz="2400" b="1" dirty="0">
                <a:solidFill>
                  <a:prstClr val="black"/>
                </a:solidFill>
              </a:rPr>
              <a:t>Reasonable default: 1 hidden layer, or if &gt;1 hidden layer, have same no. of hidden units in every layer (usually the more the better)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Neural Network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562600"/>
          </a:xfrm>
        </p:spPr>
        <p:txBody>
          <a:bodyPr/>
          <a:lstStyle/>
          <a:p>
            <a:r>
              <a:rPr lang="en-US" dirty="0"/>
              <a:t>Training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783140"/>
            <a:ext cx="8583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Randomly initialize weights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forward propagation to get               for any  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code to compute cost function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backprop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to compute partial derivatives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30" y="2247850"/>
            <a:ext cx="350520" cy="2305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258140"/>
            <a:ext cx="861060" cy="2914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60" y="2642630"/>
            <a:ext cx="518160" cy="2552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350" y="2897900"/>
            <a:ext cx="1049655" cy="453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6410" y="3590308"/>
            <a:ext cx="87475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1:m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Perform forward propagation and backpropagation using example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(Get activations        and delta terms       for	           ).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449297" y="5168072"/>
            <a:ext cx="1990676" cy="1004128"/>
            <a:chOff x="1905000" y="2190750"/>
            <a:chExt cx="3483917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6" name="Straight Arrow Connector 15"/>
            <p:cNvCxnSpPr>
              <a:stCxn id="13" idx="6"/>
              <a:endCxn id="14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6"/>
              <a:endCxn id="14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6"/>
              <a:endCxn id="14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" name="Straight Arrow Connector 19"/>
            <p:cNvCxnSpPr>
              <a:stCxn id="13" idx="6"/>
              <a:endCxn id="19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" idx="6"/>
              <a:endCxn id="19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6"/>
              <a:endCxn id="19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4" name="Straight Arrow Connector 23"/>
            <p:cNvCxnSpPr>
              <a:stCxn id="13" idx="6"/>
              <a:endCxn id="23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2" idx="6"/>
              <a:endCxn id="23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1" idx="6"/>
              <a:endCxn id="23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" name="Straight Arrow Connector 27"/>
            <p:cNvCxnSpPr>
              <a:stCxn id="13" idx="6"/>
              <a:endCxn id="27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6"/>
              <a:endCxn id="27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1" idx="6"/>
              <a:endCxn id="27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" name="Straight Arrow Connector 31"/>
            <p:cNvCxnSpPr>
              <a:stCxn id="13" idx="6"/>
              <a:endCxn id="31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2" idx="6"/>
              <a:endCxn id="31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6"/>
              <a:endCxn id="31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" name="Straight Arrow Connector 35"/>
            <p:cNvCxnSpPr>
              <a:stCxn id="14" idx="6"/>
              <a:endCxn id="35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9" idx="6"/>
              <a:endCxn id="35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23" idx="6"/>
              <a:endCxn id="35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7" idx="6"/>
              <a:endCxn id="35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1" idx="6"/>
              <a:endCxn id="35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2" name="Straight Arrow Connector 41"/>
            <p:cNvCxnSpPr>
              <a:endCxn id="41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3" idx="6"/>
              <a:endCxn id="41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endCxn id="41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endCxn id="41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4" idx="6"/>
              <a:endCxn id="41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8" name="Straight Arrow Connector 47"/>
            <p:cNvCxnSpPr>
              <a:endCxn id="4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endCxn id="4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endCxn id="4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19" idx="6"/>
              <a:endCxn id="4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14" idx="6"/>
              <a:endCxn id="4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4" name="Straight Arrow Connector 53"/>
            <p:cNvCxnSpPr>
              <a:stCxn id="27" idx="6"/>
              <a:endCxn id="53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53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23" idx="6"/>
              <a:endCxn id="53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9" idx="6"/>
              <a:endCxn id="53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14" idx="6"/>
              <a:endCxn id="53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0" name="Straight Arrow Connector 59"/>
            <p:cNvCxnSpPr>
              <a:endCxn id="59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27" idx="6"/>
              <a:endCxn id="59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23" idx="6"/>
              <a:endCxn id="59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19" idx="6"/>
              <a:endCxn id="59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4" idx="6"/>
              <a:endCxn id="59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35" idx="6"/>
              <a:endCxn id="15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1" idx="6"/>
              <a:endCxn id="15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7" idx="6"/>
              <a:endCxn id="15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53" idx="6"/>
              <a:endCxn id="15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59" idx="6"/>
              <a:endCxn id="15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1" name="Straight Arrow Connector 70"/>
            <p:cNvCxnSpPr>
              <a:endCxn id="70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endCxn id="70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endCxn id="70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endCxn id="70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35" idx="6"/>
              <a:endCxn id="70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7" name="Straight Arrow Connector 76"/>
            <p:cNvCxnSpPr>
              <a:endCxn id="76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endCxn id="76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endCxn id="76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41" idx="6"/>
              <a:endCxn id="76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35" idx="6"/>
              <a:endCxn id="76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3" name="Straight Arrow Connector 82"/>
            <p:cNvCxnSpPr>
              <a:endCxn id="82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82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47" idx="6"/>
              <a:endCxn id="82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41" idx="6"/>
              <a:endCxn id="82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35" idx="6"/>
              <a:endCxn id="82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8" name="Picture 8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353768"/>
            <a:ext cx="1022985" cy="2914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Neural Network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589544"/>
            <a:ext cx="85833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Use gradient checking to compare                   computed using backpropagation vs. using  numerical estimate of gradient          of          .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Then disable gradient checking code.</a:t>
            </a:r>
          </a:p>
          <a:p>
            <a:pPr marL="457200" indent="-457200">
              <a:buFontTx/>
              <a:buAutoNum type="arabicPeriod" startAt="5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Use gradient descent or advanced optimization method with backpropagation to try to  minimize          as a function of parameters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2449034"/>
            <a:ext cx="518160" cy="255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14037"/>
            <a:ext cx="1049655" cy="4533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75" y="3539584"/>
            <a:ext cx="518160" cy="2552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905" y="3932459"/>
            <a:ext cx="169545" cy="1847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decisions without the need to greatly expand the feature space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 \in \mathbb{R}^n&#10;$&#10;&#10;\end{document}"/>
  <p:tag name="IGUANATEXSIZE" val="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 = \theta_1, \theta_2, \theta_3, \dots, \theta_n&#10;$&#10;&#10;\end{document}"/>
  <p:tag name="IGUANATEXSIZE" val="2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1} J(\theta) \approx \frac{J(\theta_1 + \epsilon, \theta_2, \theta_3, \dots, \theta_n) - &#10;J(\theta_1 - \epsilon, \theta_2, \theta_3, \dots, \theta_n)}{2\epsilon}&#10;$&#10;&#10;\end{document}"/>
  <p:tag name="IGUANATEXSIZE" val="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2} J(\theta) \approx \frac{J(\theta_1 , \theta_2 + \epsilon, \theta_3, \dots, \theta_n) - &#10;J(\theta_1, \theta_2 - \epsilon, \theta_3, \dots, \theta_n)}{2\epsilon}&#10;$&#10;&#10;\end{document}"/>
  <p:tag name="IGUANATEXSIZE" val="2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n} J(\theta) \approx \frac{J(\theta_1 , \theta_2 , \theta_3, \dots, \theta_n + \epsilon) - &#10;J(\theta_1, \theta_2, \theta_3, \dots, \theta_n  - \epsilon)}{2\epsilon}&#10;$&#10;&#10;\end{document}"/>
  <p:tag name="IGUANATEXSIZE" val="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vdots&#10;$&#10;&#10;\end{document}"/>
  <p:tag name="IGUANATEXSIZE" val="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&#10;$&#10;&#10;\end{document}"/>
  <p:tag name="IGUANATEXSIZE" val="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^{(1)},\Theta^{(2)},\Theta^{(3)}&#10;$&#10;&#10;\end{document}"/>
  <p:tag name="IGUANATEXSIZE" val="2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i)}&#10;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^{(i)})&#10;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{jk}^{(l)}} J(\Theta)&#10;$&#10;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(x^{(i)}, y^{(i)})$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{jk}^{(l)}} J(\Theta)&#10;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&#10;$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c56093a13bcf6bf1569280f252a463a7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66ec99b637a5ba745fffa7bcfec8d45f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2F0ACC-943D-4472-9ADC-9D27E0EF91E3}"/>
</file>

<file path=customXml/itemProps2.xml><?xml version="1.0" encoding="utf-8"?>
<ds:datastoreItem xmlns:ds="http://schemas.openxmlformats.org/officeDocument/2006/customXml" ds:itemID="{18AE365E-6540-4D91-AA3A-F138E7D903E2}"/>
</file>

<file path=customXml/itemProps3.xml><?xml version="1.0" encoding="utf-8"?>
<ds:datastoreItem xmlns:ds="http://schemas.openxmlformats.org/officeDocument/2006/customXml" ds:itemID="{F49351FA-81D8-4EAB-BA14-5B96221E70AF}"/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1015</Words>
  <Application>Microsoft Office PowerPoint</Application>
  <PresentationFormat>On-screen Show (4:3)</PresentationFormat>
  <Paragraphs>219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Courier New</vt:lpstr>
      <vt:lpstr>Office Theme</vt:lpstr>
      <vt:lpstr>Machine Learning – RIME 832 Neural Networks</vt:lpstr>
      <vt:lpstr>Motivation</vt:lpstr>
      <vt:lpstr>Motivation</vt:lpstr>
      <vt:lpstr>Motivation</vt:lpstr>
      <vt:lpstr>Motivation</vt:lpstr>
      <vt:lpstr>PowerPoint Presentation</vt:lpstr>
      <vt:lpstr>PowerPoint Presentation</vt:lpstr>
      <vt:lpstr>PowerPoint Presentation</vt:lpstr>
      <vt:lpstr>Why we need non-linear hypothesis?</vt:lpstr>
      <vt:lpstr>Neural Networks</vt:lpstr>
      <vt:lpstr>Neural Networks: Representation</vt:lpstr>
      <vt:lpstr>Neural Networks: Representation</vt:lpstr>
      <vt:lpstr>Neural Networks: Representation</vt:lpstr>
      <vt:lpstr>Neural Networks: Representation</vt:lpstr>
      <vt:lpstr>Neural Networks: Forward Propagation</vt:lpstr>
      <vt:lpstr>Neural Network: Learning features by itself</vt:lpstr>
      <vt:lpstr>Neural Network: Other Architectures</vt:lpstr>
      <vt:lpstr>Examples and Intuitions</vt:lpstr>
      <vt:lpstr>Examples and Intuitions</vt:lpstr>
      <vt:lpstr>Example</vt:lpstr>
      <vt:lpstr>Example</vt:lpstr>
      <vt:lpstr>Example</vt:lpstr>
      <vt:lpstr>Back to XNOR</vt:lpstr>
      <vt:lpstr>Multiclass classification</vt:lpstr>
      <vt:lpstr>Multiclass classification</vt:lpstr>
      <vt:lpstr>Cost Function</vt:lpstr>
      <vt:lpstr>Cost Function</vt:lpstr>
      <vt:lpstr>Cost Function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Gradient Checking</vt:lpstr>
      <vt:lpstr>Gradient Checking</vt:lpstr>
      <vt:lpstr>Generalization</vt:lpstr>
      <vt:lpstr>Gradient Checking</vt:lpstr>
      <vt:lpstr>Weight/Parameter Initialization</vt:lpstr>
      <vt:lpstr>Zero Initialization</vt:lpstr>
      <vt:lpstr>Random Initialization</vt:lpstr>
      <vt:lpstr>Neural Network Summary</vt:lpstr>
      <vt:lpstr>Neural Network Summary</vt:lpstr>
      <vt:lpstr>Neural Network Summary</vt:lpstr>
      <vt:lpstr>Neural Network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– RIME 832 Over fitting Problem</dc:title>
  <dc:creator>Hasan</dc:creator>
  <cp:lastModifiedBy>Jawad Khan</cp:lastModifiedBy>
  <cp:revision>176</cp:revision>
  <dcterms:created xsi:type="dcterms:W3CDTF">2006-08-16T00:00:00Z</dcterms:created>
  <dcterms:modified xsi:type="dcterms:W3CDTF">2025-10-13T13:44:08Z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