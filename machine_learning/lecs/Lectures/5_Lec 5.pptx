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gs/tag4.xml" ContentType="application/vnd.openxmlformats-officedocument.presentationml.tags+xml"/>
  <Override PartName="/ppt/tags/tag6.xml" ContentType="application/vnd.openxmlformats-officedocument.presentationml.tags+xml"/>
  <Override PartName="/ppt/tags/tag2.xml" ContentType="application/vnd.openxmlformats-officedocument.presentationml.tags+xml"/>
  <Override PartName="/ppt/tags/tag1.xml" ContentType="application/vnd.openxmlformats-officedocument.presentationml.tags+xml"/>
  <Override PartName="/ppt/tags/tag3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5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401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33979-EA76-441C-B57B-0156F45BC18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E97D3-3F74-4EB0-8882-205D32D1416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3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9.png"/><Relationship Id="rId2" Type="http://schemas.openxmlformats.org/officeDocument/2006/relationships/tags" Target="../tags/tag2.xml"/><Relationship Id="rId16" Type="http://schemas.openxmlformats.org/officeDocument/2006/relationships/image" Target="../media/image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8.png"/><Relationship Id="rId5" Type="http://schemas.openxmlformats.org/officeDocument/2006/relationships/tags" Target="../tags/tag5.xml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tags" Target="../tags/tag4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w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Machine Learning – RIME 832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Over fitting Problem and Regularization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/>
              <a:t>Example: Linear Regression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" y="1181100"/>
            <a:ext cx="2219325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1143000"/>
            <a:ext cx="21717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00725" y="1171575"/>
            <a:ext cx="326707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/>
        </p:nvCxnSpPr>
        <p:spPr>
          <a:xfrm flipV="1">
            <a:off x="609600" y="1371600"/>
            <a:ext cx="1524000" cy="10668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3429000"/>
            <a:ext cx="1981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2000" b="1" dirty="0"/>
              <a:t>Under fit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/>
              <a:t> High bias</a:t>
            </a:r>
          </a:p>
          <a:p>
            <a:pPr>
              <a:buFont typeface="Arial" pitchFamily="34" charset="0"/>
              <a:buChar char="•"/>
            </a:pPr>
            <a:endParaRPr lang="en-US" sz="2000" b="1" dirty="0"/>
          </a:p>
          <a:p>
            <a:r>
              <a:rPr lang="en-US" sz="2000" b="1" dirty="0"/>
              <a:t>i.e. prices of houses will vary linearly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429000"/>
            <a:ext cx="2438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2000" b="1" dirty="0"/>
              <a:t>Over fit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/>
              <a:t> High variance</a:t>
            </a:r>
          </a:p>
          <a:p>
            <a:r>
              <a:rPr lang="en-US" sz="2000" b="1" dirty="0"/>
              <a:t>i.e. The space of high order polynomial hypothesis is too large and variable and can fit anything. 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86732" y="1488831"/>
            <a:ext cx="2222696" cy="1073834"/>
          </a:xfrm>
          <a:custGeom>
            <a:avLst/>
            <a:gdLst>
              <a:gd name="connsiteX0" fmla="*/ 0 w 2222696"/>
              <a:gd name="connsiteY0" fmla="*/ 722141 h 1073834"/>
              <a:gd name="connsiteX1" fmla="*/ 225083 w 2222696"/>
              <a:gd name="connsiteY1" fmla="*/ 1059766 h 1073834"/>
              <a:gd name="connsiteX2" fmla="*/ 365760 w 2222696"/>
              <a:gd name="connsiteY2" fmla="*/ 637735 h 1073834"/>
              <a:gd name="connsiteX3" fmla="*/ 548640 w 2222696"/>
              <a:gd name="connsiteY3" fmla="*/ 215704 h 1073834"/>
              <a:gd name="connsiteX4" fmla="*/ 984739 w 2222696"/>
              <a:gd name="connsiteY4" fmla="*/ 89095 h 1073834"/>
              <a:gd name="connsiteX5" fmla="*/ 1519311 w 2222696"/>
              <a:gd name="connsiteY5" fmla="*/ 4689 h 1073834"/>
              <a:gd name="connsiteX6" fmla="*/ 2222696 w 2222696"/>
              <a:gd name="connsiteY6" fmla="*/ 117231 h 1073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2696" h="1073834">
                <a:moveTo>
                  <a:pt x="0" y="722141"/>
                </a:moveTo>
                <a:cubicBezTo>
                  <a:pt x="82061" y="897987"/>
                  <a:pt x="164123" y="1073834"/>
                  <a:pt x="225083" y="1059766"/>
                </a:cubicBezTo>
                <a:cubicBezTo>
                  <a:pt x="286043" y="1045698"/>
                  <a:pt x="311834" y="778412"/>
                  <a:pt x="365760" y="637735"/>
                </a:cubicBezTo>
                <a:cubicBezTo>
                  <a:pt x="419686" y="497058"/>
                  <a:pt x="445477" y="307144"/>
                  <a:pt x="548640" y="215704"/>
                </a:cubicBezTo>
                <a:cubicBezTo>
                  <a:pt x="651803" y="124264"/>
                  <a:pt x="822961" y="124264"/>
                  <a:pt x="984739" y="89095"/>
                </a:cubicBezTo>
                <a:cubicBezTo>
                  <a:pt x="1146517" y="53926"/>
                  <a:pt x="1312985" y="0"/>
                  <a:pt x="1519311" y="4689"/>
                </a:cubicBezTo>
                <a:cubicBezTo>
                  <a:pt x="1725637" y="9378"/>
                  <a:pt x="1974166" y="63304"/>
                  <a:pt x="2222696" y="117231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3601329" y="1479452"/>
            <a:ext cx="1519311" cy="1266093"/>
          </a:xfrm>
          <a:custGeom>
            <a:avLst/>
            <a:gdLst>
              <a:gd name="connsiteX0" fmla="*/ 0 w 1519311"/>
              <a:gd name="connsiteY0" fmla="*/ 1266093 h 1266093"/>
              <a:gd name="connsiteX1" fmla="*/ 182880 w 1519311"/>
              <a:gd name="connsiteY1" fmla="*/ 604911 h 1266093"/>
              <a:gd name="connsiteX2" fmla="*/ 450166 w 1519311"/>
              <a:gd name="connsiteY2" fmla="*/ 154745 h 1266093"/>
              <a:gd name="connsiteX3" fmla="*/ 1519311 w 1519311"/>
              <a:gd name="connsiteY3" fmla="*/ 0 h 1266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9311" h="1266093">
                <a:moveTo>
                  <a:pt x="0" y="1266093"/>
                </a:moveTo>
                <a:cubicBezTo>
                  <a:pt x="53926" y="1028114"/>
                  <a:pt x="107852" y="790136"/>
                  <a:pt x="182880" y="604911"/>
                </a:cubicBezTo>
                <a:cubicBezTo>
                  <a:pt x="257908" y="419686"/>
                  <a:pt x="227428" y="255564"/>
                  <a:pt x="450166" y="154745"/>
                </a:cubicBezTo>
                <a:cubicBezTo>
                  <a:pt x="672905" y="53927"/>
                  <a:pt x="1310640" y="25791"/>
                  <a:pt x="1519311" y="0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429000" y="3581400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/>
              <a:t> Just Right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1475" y="5695950"/>
            <a:ext cx="840105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Logistic Regression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45341"/>
            <a:ext cx="9144000" cy="343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>
            <a:off x="685800" y="1524000"/>
            <a:ext cx="2057400" cy="20574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2000" y="51054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Under Fitting</a:t>
            </a:r>
          </a:p>
        </p:txBody>
      </p:sp>
      <p:sp>
        <p:nvSpPr>
          <p:cNvPr id="8" name="Freeform 7"/>
          <p:cNvSpPr/>
          <p:nvPr/>
        </p:nvSpPr>
        <p:spPr>
          <a:xfrm>
            <a:off x="6850966" y="1294228"/>
            <a:ext cx="1828800" cy="1610750"/>
          </a:xfrm>
          <a:custGeom>
            <a:avLst/>
            <a:gdLst>
              <a:gd name="connsiteX0" fmla="*/ 492369 w 1828800"/>
              <a:gd name="connsiteY0" fmla="*/ 0 h 1610750"/>
              <a:gd name="connsiteX1" fmla="*/ 267286 w 1828800"/>
              <a:gd name="connsiteY1" fmla="*/ 506437 h 1610750"/>
              <a:gd name="connsiteX2" fmla="*/ 196948 w 1828800"/>
              <a:gd name="connsiteY2" fmla="*/ 661181 h 1610750"/>
              <a:gd name="connsiteX3" fmla="*/ 14068 w 1828800"/>
              <a:gd name="connsiteY3" fmla="*/ 801858 h 1610750"/>
              <a:gd name="connsiteX4" fmla="*/ 112542 w 1828800"/>
              <a:gd name="connsiteY4" fmla="*/ 1055077 h 1610750"/>
              <a:gd name="connsiteX5" fmla="*/ 211016 w 1828800"/>
              <a:gd name="connsiteY5" fmla="*/ 1041009 h 1610750"/>
              <a:gd name="connsiteX6" fmla="*/ 436099 w 1828800"/>
              <a:gd name="connsiteY6" fmla="*/ 1012874 h 1610750"/>
              <a:gd name="connsiteX7" fmla="*/ 787791 w 1828800"/>
              <a:gd name="connsiteY7" fmla="*/ 1083212 h 1610750"/>
              <a:gd name="connsiteX8" fmla="*/ 787791 w 1828800"/>
              <a:gd name="connsiteY8" fmla="*/ 1237957 h 1610750"/>
              <a:gd name="connsiteX9" fmla="*/ 731520 w 1828800"/>
              <a:gd name="connsiteY9" fmla="*/ 1350498 h 1610750"/>
              <a:gd name="connsiteX10" fmla="*/ 534572 w 1828800"/>
              <a:gd name="connsiteY10" fmla="*/ 1308295 h 1610750"/>
              <a:gd name="connsiteX11" fmla="*/ 436099 w 1828800"/>
              <a:gd name="connsiteY11" fmla="*/ 1139483 h 1610750"/>
              <a:gd name="connsiteX12" fmla="*/ 351692 w 1828800"/>
              <a:gd name="connsiteY12" fmla="*/ 1055077 h 1610750"/>
              <a:gd name="connsiteX13" fmla="*/ 154745 w 1828800"/>
              <a:gd name="connsiteY13" fmla="*/ 1111347 h 1610750"/>
              <a:gd name="connsiteX14" fmla="*/ 267286 w 1828800"/>
              <a:gd name="connsiteY14" fmla="*/ 1350498 h 1610750"/>
              <a:gd name="connsiteX15" fmla="*/ 506437 w 1828800"/>
              <a:gd name="connsiteY15" fmla="*/ 1589649 h 1610750"/>
              <a:gd name="connsiteX16" fmla="*/ 703385 w 1828800"/>
              <a:gd name="connsiteY16" fmla="*/ 1477107 h 1610750"/>
              <a:gd name="connsiteX17" fmla="*/ 858129 w 1828800"/>
              <a:gd name="connsiteY17" fmla="*/ 1252024 h 1610750"/>
              <a:gd name="connsiteX18" fmla="*/ 1012874 w 1828800"/>
              <a:gd name="connsiteY18" fmla="*/ 1139483 h 1610750"/>
              <a:gd name="connsiteX19" fmla="*/ 1252025 w 1828800"/>
              <a:gd name="connsiteY19" fmla="*/ 1041009 h 1610750"/>
              <a:gd name="connsiteX20" fmla="*/ 1308296 w 1828800"/>
              <a:gd name="connsiteY20" fmla="*/ 1069144 h 1610750"/>
              <a:gd name="connsiteX21" fmla="*/ 1336431 w 1828800"/>
              <a:gd name="connsiteY21" fmla="*/ 1167618 h 1610750"/>
              <a:gd name="connsiteX22" fmla="*/ 1336431 w 1828800"/>
              <a:gd name="connsiteY22" fmla="*/ 1280160 h 1610750"/>
              <a:gd name="connsiteX23" fmla="*/ 1195754 w 1828800"/>
              <a:gd name="connsiteY23" fmla="*/ 1294227 h 1610750"/>
              <a:gd name="connsiteX24" fmla="*/ 1026942 w 1828800"/>
              <a:gd name="connsiteY24" fmla="*/ 1266092 h 1610750"/>
              <a:gd name="connsiteX25" fmla="*/ 900332 w 1828800"/>
              <a:gd name="connsiteY25" fmla="*/ 1266092 h 1610750"/>
              <a:gd name="connsiteX26" fmla="*/ 787791 w 1828800"/>
              <a:gd name="connsiteY26" fmla="*/ 1434904 h 1610750"/>
              <a:gd name="connsiteX27" fmla="*/ 886265 w 1828800"/>
              <a:gd name="connsiteY27" fmla="*/ 1561514 h 1610750"/>
              <a:gd name="connsiteX28" fmla="*/ 1139483 w 1828800"/>
              <a:gd name="connsiteY28" fmla="*/ 1547446 h 1610750"/>
              <a:gd name="connsiteX29" fmla="*/ 1420837 w 1828800"/>
              <a:gd name="connsiteY29" fmla="*/ 1434904 h 1610750"/>
              <a:gd name="connsiteX30" fmla="*/ 1828800 w 1828800"/>
              <a:gd name="connsiteY30" fmla="*/ 998806 h 161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828800" h="1610750">
                <a:moveTo>
                  <a:pt x="492369" y="0"/>
                </a:moveTo>
                <a:lnTo>
                  <a:pt x="267286" y="506437"/>
                </a:lnTo>
                <a:cubicBezTo>
                  <a:pt x="218049" y="616634"/>
                  <a:pt x="239151" y="611944"/>
                  <a:pt x="196948" y="661181"/>
                </a:cubicBezTo>
                <a:cubicBezTo>
                  <a:pt x="154745" y="710418"/>
                  <a:pt x="28136" y="736209"/>
                  <a:pt x="14068" y="801858"/>
                </a:cubicBezTo>
                <a:cubicBezTo>
                  <a:pt x="0" y="867507"/>
                  <a:pt x="79717" y="1015219"/>
                  <a:pt x="112542" y="1055077"/>
                </a:cubicBezTo>
                <a:cubicBezTo>
                  <a:pt x="145367" y="1094935"/>
                  <a:pt x="211016" y="1041009"/>
                  <a:pt x="211016" y="1041009"/>
                </a:cubicBezTo>
                <a:cubicBezTo>
                  <a:pt x="264942" y="1033975"/>
                  <a:pt x="339970" y="1005840"/>
                  <a:pt x="436099" y="1012874"/>
                </a:cubicBezTo>
                <a:cubicBezTo>
                  <a:pt x="532228" y="1019908"/>
                  <a:pt x="729176" y="1045698"/>
                  <a:pt x="787791" y="1083212"/>
                </a:cubicBezTo>
                <a:cubicBezTo>
                  <a:pt x="846406" y="1120726"/>
                  <a:pt x="797169" y="1193409"/>
                  <a:pt x="787791" y="1237957"/>
                </a:cubicBezTo>
                <a:cubicBezTo>
                  <a:pt x="778413" y="1282505"/>
                  <a:pt x="773723" y="1338775"/>
                  <a:pt x="731520" y="1350498"/>
                </a:cubicBezTo>
                <a:cubicBezTo>
                  <a:pt x="689317" y="1362221"/>
                  <a:pt x="583809" y="1343464"/>
                  <a:pt x="534572" y="1308295"/>
                </a:cubicBezTo>
                <a:cubicBezTo>
                  <a:pt x="485335" y="1273126"/>
                  <a:pt x="466579" y="1181686"/>
                  <a:pt x="436099" y="1139483"/>
                </a:cubicBezTo>
                <a:cubicBezTo>
                  <a:pt x="405619" y="1097280"/>
                  <a:pt x="398584" y="1059766"/>
                  <a:pt x="351692" y="1055077"/>
                </a:cubicBezTo>
                <a:cubicBezTo>
                  <a:pt x="304800" y="1050388"/>
                  <a:pt x="168813" y="1062110"/>
                  <a:pt x="154745" y="1111347"/>
                </a:cubicBezTo>
                <a:cubicBezTo>
                  <a:pt x="140677" y="1160584"/>
                  <a:pt x="208671" y="1270781"/>
                  <a:pt x="267286" y="1350498"/>
                </a:cubicBezTo>
                <a:cubicBezTo>
                  <a:pt x="325901" y="1430215"/>
                  <a:pt x="433754" y="1568548"/>
                  <a:pt x="506437" y="1589649"/>
                </a:cubicBezTo>
                <a:cubicBezTo>
                  <a:pt x="579120" y="1610750"/>
                  <a:pt x="644770" y="1533378"/>
                  <a:pt x="703385" y="1477107"/>
                </a:cubicBezTo>
                <a:cubicBezTo>
                  <a:pt x="762000" y="1420836"/>
                  <a:pt x="806548" y="1308295"/>
                  <a:pt x="858129" y="1252024"/>
                </a:cubicBezTo>
                <a:cubicBezTo>
                  <a:pt x="909710" y="1195753"/>
                  <a:pt x="947225" y="1174652"/>
                  <a:pt x="1012874" y="1139483"/>
                </a:cubicBezTo>
                <a:cubicBezTo>
                  <a:pt x="1078523" y="1104314"/>
                  <a:pt x="1202788" y="1052732"/>
                  <a:pt x="1252025" y="1041009"/>
                </a:cubicBezTo>
                <a:cubicBezTo>
                  <a:pt x="1301262" y="1029286"/>
                  <a:pt x="1294228" y="1048043"/>
                  <a:pt x="1308296" y="1069144"/>
                </a:cubicBezTo>
                <a:cubicBezTo>
                  <a:pt x="1322364" y="1090246"/>
                  <a:pt x="1331742" y="1132449"/>
                  <a:pt x="1336431" y="1167618"/>
                </a:cubicBezTo>
                <a:cubicBezTo>
                  <a:pt x="1341120" y="1202787"/>
                  <a:pt x="1359877" y="1259059"/>
                  <a:pt x="1336431" y="1280160"/>
                </a:cubicBezTo>
                <a:cubicBezTo>
                  <a:pt x="1312985" y="1301262"/>
                  <a:pt x="1247335" y="1296572"/>
                  <a:pt x="1195754" y="1294227"/>
                </a:cubicBezTo>
                <a:cubicBezTo>
                  <a:pt x="1144173" y="1291882"/>
                  <a:pt x="1076179" y="1270781"/>
                  <a:pt x="1026942" y="1266092"/>
                </a:cubicBezTo>
                <a:cubicBezTo>
                  <a:pt x="977705" y="1261403"/>
                  <a:pt x="940190" y="1237957"/>
                  <a:pt x="900332" y="1266092"/>
                </a:cubicBezTo>
                <a:cubicBezTo>
                  <a:pt x="860474" y="1294227"/>
                  <a:pt x="790135" y="1385667"/>
                  <a:pt x="787791" y="1434904"/>
                </a:cubicBezTo>
                <a:cubicBezTo>
                  <a:pt x="785447" y="1484141"/>
                  <a:pt x="827650" y="1542757"/>
                  <a:pt x="886265" y="1561514"/>
                </a:cubicBezTo>
                <a:cubicBezTo>
                  <a:pt x="944880" y="1580271"/>
                  <a:pt x="1050388" y="1568548"/>
                  <a:pt x="1139483" y="1547446"/>
                </a:cubicBezTo>
                <a:cubicBezTo>
                  <a:pt x="1228578" y="1526344"/>
                  <a:pt x="1305951" y="1526344"/>
                  <a:pt x="1420837" y="1434904"/>
                </a:cubicBezTo>
                <a:cubicBezTo>
                  <a:pt x="1535723" y="1343464"/>
                  <a:pt x="1678745" y="1094935"/>
                  <a:pt x="1828800" y="998806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05600" y="51054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Over Fitting</a:t>
            </a:r>
          </a:p>
        </p:txBody>
      </p:sp>
      <p:sp>
        <p:nvSpPr>
          <p:cNvPr id="10" name="Freeform 9"/>
          <p:cNvSpPr/>
          <p:nvPr/>
        </p:nvSpPr>
        <p:spPr>
          <a:xfrm>
            <a:off x="3896750" y="1350498"/>
            <a:ext cx="1814733" cy="1531035"/>
          </a:xfrm>
          <a:custGeom>
            <a:avLst/>
            <a:gdLst>
              <a:gd name="connsiteX0" fmla="*/ 633047 w 1814733"/>
              <a:gd name="connsiteY0" fmla="*/ 0 h 1531035"/>
              <a:gd name="connsiteX1" fmla="*/ 253219 w 1814733"/>
              <a:gd name="connsiteY1" fmla="*/ 478302 h 1531035"/>
              <a:gd name="connsiteX2" fmla="*/ 14068 w 1814733"/>
              <a:gd name="connsiteY2" fmla="*/ 815927 h 1531035"/>
              <a:gd name="connsiteX3" fmla="*/ 168813 w 1814733"/>
              <a:gd name="connsiteY3" fmla="*/ 1097280 h 1531035"/>
              <a:gd name="connsiteX4" fmla="*/ 309490 w 1814733"/>
              <a:gd name="connsiteY4" fmla="*/ 1350499 h 1531035"/>
              <a:gd name="connsiteX5" fmla="*/ 478302 w 1814733"/>
              <a:gd name="connsiteY5" fmla="*/ 1505244 h 1531035"/>
              <a:gd name="connsiteX6" fmla="*/ 815927 w 1814733"/>
              <a:gd name="connsiteY6" fmla="*/ 1505244 h 1531035"/>
              <a:gd name="connsiteX7" fmla="*/ 1055078 w 1814733"/>
              <a:gd name="connsiteY7" fmla="*/ 1477108 h 1531035"/>
              <a:gd name="connsiteX8" fmla="*/ 1294228 w 1814733"/>
              <a:gd name="connsiteY8" fmla="*/ 1505244 h 1531035"/>
              <a:gd name="connsiteX9" fmla="*/ 1505244 w 1814733"/>
              <a:gd name="connsiteY9" fmla="*/ 1392702 h 1531035"/>
              <a:gd name="connsiteX10" fmla="*/ 1645921 w 1814733"/>
              <a:gd name="connsiteY10" fmla="*/ 1195754 h 1531035"/>
              <a:gd name="connsiteX11" fmla="*/ 1814733 w 1814733"/>
              <a:gd name="connsiteY11" fmla="*/ 900333 h 1531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14733" h="1531035">
                <a:moveTo>
                  <a:pt x="633047" y="0"/>
                </a:moveTo>
                <a:cubicBezTo>
                  <a:pt x="494714" y="171157"/>
                  <a:pt x="356382" y="342314"/>
                  <a:pt x="253219" y="478302"/>
                </a:cubicBezTo>
                <a:cubicBezTo>
                  <a:pt x="150056" y="614290"/>
                  <a:pt x="28136" y="712764"/>
                  <a:pt x="14068" y="815927"/>
                </a:cubicBezTo>
                <a:cubicBezTo>
                  <a:pt x="0" y="919090"/>
                  <a:pt x="168813" y="1097280"/>
                  <a:pt x="168813" y="1097280"/>
                </a:cubicBezTo>
                <a:cubicBezTo>
                  <a:pt x="218050" y="1186375"/>
                  <a:pt x="257909" y="1282505"/>
                  <a:pt x="309490" y="1350499"/>
                </a:cubicBezTo>
                <a:cubicBezTo>
                  <a:pt x="361072" y="1418493"/>
                  <a:pt x="393896" y="1479453"/>
                  <a:pt x="478302" y="1505244"/>
                </a:cubicBezTo>
                <a:cubicBezTo>
                  <a:pt x="562708" y="1531035"/>
                  <a:pt x="719798" y="1509933"/>
                  <a:pt x="815927" y="1505244"/>
                </a:cubicBezTo>
                <a:cubicBezTo>
                  <a:pt x="912056" y="1500555"/>
                  <a:pt x="975361" y="1477108"/>
                  <a:pt x="1055078" y="1477108"/>
                </a:cubicBezTo>
                <a:cubicBezTo>
                  <a:pt x="1134795" y="1477108"/>
                  <a:pt x="1219200" y="1519312"/>
                  <a:pt x="1294228" y="1505244"/>
                </a:cubicBezTo>
                <a:cubicBezTo>
                  <a:pt x="1369256" y="1491176"/>
                  <a:pt x="1446629" y="1444284"/>
                  <a:pt x="1505244" y="1392702"/>
                </a:cubicBezTo>
                <a:cubicBezTo>
                  <a:pt x="1563860" y="1341120"/>
                  <a:pt x="1594340" y="1277815"/>
                  <a:pt x="1645921" y="1195754"/>
                </a:cubicBezTo>
                <a:cubicBezTo>
                  <a:pt x="1697502" y="1113693"/>
                  <a:pt x="1746739" y="991773"/>
                  <a:pt x="1814733" y="900333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810000" y="51054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Reasonable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1143001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Addressing overfitting: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08512"/>
            <a:ext cx="608076" cy="1805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58273"/>
            <a:ext cx="608076" cy="180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602914"/>
            <a:ext cx="608076" cy="1851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935908"/>
            <a:ext cx="608076" cy="1805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285669"/>
            <a:ext cx="608076" cy="185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630310"/>
            <a:ext cx="608076" cy="18516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038600"/>
            <a:ext cx="518922" cy="69265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71600" y="1737155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size of house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2052936"/>
            <a:ext cx="270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no. of bedrooms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2423662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no. of floors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8449" y="2772292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age of house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3119736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average income in neighborhood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3469914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kitchen size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9AB17602-927F-5E7F-A70A-E4FE4A864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800725" y="1171575"/>
            <a:ext cx="326707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05D12C70-B89D-9AEE-810A-80228FB537F5}"/>
              </a:ext>
            </a:extLst>
          </p:cNvPr>
          <p:cNvSpPr/>
          <p:nvPr/>
        </p:nvSpPr>
        <p:spPr>
          <a:xfrm>
            <a:off x="6386732" y="1488831"/>
            <a:ext cx="2222696" cy="1073834"/>
          </a:xfrm>
          <a:custGeom>
            <a:avLst/>
            <a:gdLst>
              <a:gd name="connsiteX0" fmla="*/ 0 w 2222696"/>
              <a:gd name="connsiteY0" fmla="*/ 722141 h 1073834"/>
              <a:gd name="connsiteX1" fmla="*/ 225083 w 2222696"/>
              <a:gd name="connsiteY1" fmla="*/ 1059766 h 1073834"/>
              <a:gd name="connsiteX2" fmla="*/ 365760 w 2222696"/>
              <a:gd name="connsiteY2" fmla="*/ 637735 h 1073834"/>
              <a:gd name="connsiteX3" fmla="*/ 548640 w 2222696"/>
              <a:gd name="connsiteY3" fmla="*/ 215704 h 1073834"/>
              <a:gd name="connsiteX4" fmla="*/ 984739 w 2222696"/>
              <a:gd name="connsiteY4" fmla="*/ 89095 h 1073834"/>
              <a:gd name="connsiteX5" fmla="*/ 1519311 w 2222696"/>
              <a:gd name="connsiteY5" fmla="*/ 4689 h 1073834"/>
              <a:gd name="connsiteX6" fmla="*/ 2222696 w 2222696"/>
              <a:gd name="connsiteY6" fmla="*/ 117231 h 1073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2696" h="1073834">
                <a:moveTo>
                  <a:pt x="0" y="722141"/>
                </a:moveTo>
                <a:cubicBezTo>
                  <a:pt x="82061" y="897987"/>
                  <a:pt x="164123" y="1073834"/>
                  <a:pt x="225083" y="1059766"/>
                </a:cubicBezTo>
                <a:cubicBezTo>
                  <a:pt x="286043" y="1045698"/>
                  <a:pt x="311834" y="778412"/>
                  <a:pt x="365760" y="637735"/>
                </a:cubicBezTo>
                <a:cubicBezTo>
                  <a:pt x="419686" y="497058"/>
                  <a:pt x="445477" y="307144"/>
                  <a:pt x="548640" y="215704"/>
                </a:cubicBezTo>
                <a:cubicBezTo>
                  <a:pt x="651803" y="124264"/>
                  <a:pt x="822961" y="124264"/>
                  <a:pt x="984739" y="89095"/>
                </a:cubicBezTo>
                <a:cubicBezTo>
                  <a:pt x="1146517" y="53926"/>
                  <a:pt x="1312985" y="0"/>
                  <a:pt x="1519311" y="4689"/>
                </a:cubicBezTo>
                <a:cubicBezTo>
                  <a:pt x="1725637" y="9378"/>
                  <a:pt x="1974166" y="63304"/>
                  <a:pt x="2222696" y="117231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42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37" y="1752601"/>
            <a:ext cx="9041963" cy="3733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/>
              <a:t>Regularization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876800" y="1247775"/>
            <a:ext cx="3267075" cy="2105025"/>
            <a:chOff x="5800725" y="1171575"/>
            <a:chExt cx="3267075" cy="2105025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800725" y="1171575"/>
              <a:ext cx="3267075" cy="2105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Freeform 10"/>
            <p:cNvSpPr/>
            <p:nvPr/>
          </p:nvSpPr>
          <p:spPr>
            <a:xfrm>
              <a:off x="6386732" y="1488831"/>
              <a:ext cx="2222696" cy="1073834"/>
            </a:xfrm>
            <a:custGeom>
              <a:avLst/>
              <a:gdLst>
                <a:gd name="connsiteX0" fmla="*/ 0 w 2222696"/>
                <a:gd name="connsiteY0" fmla="*/ 722141 h 1073834"/>
                <a:gd name="connsiteX1" fmla="*/ 225083 w 2222696"/>
                <a:gd name="connsiteY1" fmla="*/ 1059766 h 1073834"/>
                <a:gd name="connsiteX2" fmla="*/ 365760 w 2222696"/>
                <a:gd name="connsiteY2" fmla="*/ 637735 h 1073834"/>
                <a:gd name="connsiteX3" fmla="*/ 548640 w 2222696"/>
                <a:gd name="connsiteY3" fmla="*/ 215704 h 1073834"/>
                <a:gd name="connsiteX4" fmla="*/ 984739 w 2222696"/>
                <a:gd name="connsiteY4" fmla="*/ 89095 h 1073834"/>
                <a:gd name="connsiteX5" fmla="*/ 1519311 w 2222696"/>
                <a:gd name="connsiteY5" fmla="*/ 4689 h 1073834"/>
                <a:gd name="connsiteX6" fmla="*/ 2222696 w 2222696"/>
                <a:gd name="connsiteY6" fmla="*/ 117231 h 107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22696" h="1073834">
                  <a:moveTo>
                    <a:pt x="0" y="722141"/>
                  </a:moveTo>
                  <a:cubicBezTo>
                    <a:pt x="82061" y="897987"/>
                    <a:pt x="164123" y="1073834"/>
                    <a:pt x="225083" y="1059766"/>
                  </a:cubicBezTo>
                  <a:cubicBezTo>
                    <a:pt x="286043" y="1045698"/>
                    <a:pt x="311834" y="778412"/>
                    <a:pt x="365760" y="637735"/>
                  </a:cubicBezTo>
                  <a:cubicBezTo>
                    <a:pt x="419686" y="497058"/>
                    <a:pt x="445477" y="307144"/>
                    <a:pt x="548640" y="215704"/>
                  </a:cubicBezTo>
                  <a:cubicBezTo>
                    <a:pt x="651803" y="124264"/>
                    <a:pt x="822961" y="124264"/>
                    <a:pt x="984739" y="89095"/>
                  </a:cubicBezTo>
                  <a:cubicBezTo>
                    <a:pt x="1146517" y="53926"/>
                    <a:pt x="1312985" y="0"/>
                    <a:pt x="1519311" y="4689"/>
                  </a:cubicBezTo>
                  <a:cubicBezTo>
                    <a:pt x="1725637" y="9378"/>
                    <a:pt x="1974166" y="63304"/>
                    <a:pt x="2222696" y="117231"/>
                  </a:cubicBezTo>
                </a:path>
              </a:pathLst>
            </a:cu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09600" y="1323975"/>
            <a:ext cx="2171700" cy="2181225"/>
            <a:chOff x="3124200" y="1143000"/>
            <a:chExt cx="2171700" cy="2181225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124200" y="1143000"/>
              <a:ext cx="2171700" cy="2181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Freeform 11"/>
            <p:cNvSpPr/>
            <p:nvPr/>
          </p:nvSpPr>
          <p:spPr>
            <a:xfrm>
              <a:off x="3601329" y="1479452"/>
              <a:ext cx="1519311" cy="1266093"/>
            </a:xfrm>
            <a:custGeom>
              <a:avLst/>
              <a:gdLst>
                <a:gd name="connsiteX0" fmla="*/ 0 w 1519311"/>
                <a:gd name="connsiteY0" fmla="*/ 1266093 h 1266093"/>
                <a:gd name="connsiteX1" fmla="*/ 182880 w 1519311"/>
                <a:gd name="connsiteY1" fmla="*/ 604911 h 1266093"/>
                <a:gd name="connsiteX2" fmla="*/ 450166 w 1519311"/>
                <a:gd name="connsiteY2" fmla="*/ 154745 h 1266093"/>
                <a:gd name="connsiteX3" fmla="*/ 1519311 w 1519311"/>
                <a:gd name="connsiteY3" fmla="*/ 0 h 1266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311" h="1266093">
                  <a:moveTo>
                    <a:pt x="0" y="1266093"/>
                  </a:moveTo>
                  <a:cubicBezTo>
                    <a:pt x="53926" y="1028114"/>
                    <a:pt x="107852" y="790136"/>
                    <a:pt x="182880" y="604911"/>
                  </a:cubicBezTo>
                  <a:cubicBezTo>
                    <a:pt x="257908" y="419686"/>
                    <a:pt x="227428" y="255564"/>
                    <a:pt x="450166" y="154745"/>
                  </a:cubicBezTo>
                  <a:cubicBezTo>
                    <a:pt x="672905" y="53927"/>
                    <a:pt x="1310640" y="25791"/>
                    <a:pt x="1519311" y="0"/>
                  </a:cubicBezTo>
                </a:path>
              </a:pathLst>
            </a:cu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4572000"/>
            <a:ext cx="420151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5105400" y="4796135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+ 1000 </a:t>
            </a:r>
            <a:r>
              <a:rPr lang="el-GR" sz="2400" dirty="0"/>
              <a:t>θ</a:t>
            </a:r>
            <a:r>
              <a:rPr lang="en-US" sz="2400" baseline="-25000" dirty="0"/>
              <a:t>3</a:t>
            </a:r>
            <a:r>
              <a:rPr lang="en-US" sz="2400" baseline="30000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8006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+ 1000 </a:t>
            </a:r>
            <a:r>
              <a:rPr lang="el-GR" sz="2400" dirty="0"/>
              <a:t>θ</a:t>
            </a:r>
            <a:r>
              <a:rPr lang="en-US" sz="2400" baseline="-25000" dirty="0"/>
              <a:t>4</a:t>
            </a:r>
            <a:r>
              <a:rPr lang="en-US" sz="2400" baseline="30000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693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Suppose we penalize and make </a:t>
            </a:r>
            <a:r>
              <a:rPr lang="el-GR" sz="2400" b="1" dirty="0"/>
              <a:t>θ</a:t>
            </a:r>
            <a:r>
              <a:rPr lang="en-US" sz="2400" b="1" baseline="-25000" dirty="0"/>
              <a:t>3 </a:t>
            </a:r>
            <a:r>
              <a:rPr lang="en-US" sz="2400" b="1" dirty="0"/>
              <a:t>and </a:t>
            </a:r>
            <a:r>
              <a:rPr lang="el-GR" sz="2400" b="1" dirty="0"/>
              <a:t>θ</a:t>
            </a:r>
            <a:r>
              <a:rPr lang="en-US" sz="2400" b="1" baseline="-25000" dirty="0"/>
              <a:t>4</a:t>
            </a:r>
            <a:r>
              <a:rPr lang="en-US" sz="2400" b="1" dirty="0"/>
              <a:t> very small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8400" y="609600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b="1" dirty="0"/>
              <a:t>θ</a:t>
            </a:r>
            <a:r>
              <a:rPr lang="en-US" sz="2400" b="1" baseline="-25000" dirty="0"/>
              <a:t>3</a:t>
            </a:r>
            <a:r>
              <a:rPr lang="en-US" sz="2400" b="1" dirty="0"/>
              <a:t> = 0 and </a:t>
            </a:r>
            <a:r>
              <a:rPr lang="el-GR" sz="2400" b="1" dirty="0"/>
              <a:t>θ</a:t>
            </a:r>
            <a:r>
              <a:rPr lang="en-US" sz="2400" b="1" baseline="-25000" dirty="0"/>
              <a:t>4</a:t>
            </a:r>
            <a:r>
              <a:rPr lang="en-US" sz="2400" b="1" dirty="0"/>
              <a:t> = 0</a:t>
            </a:r>
            <a:endParaRPr lang="en-US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values of parameters </a:t>
            </a:r>
            <a:r>
              <a:rPr lang="el-GR" dirty="0"/>
              <a:t>θ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l-GR" dirty="0"/>
              <a:t>θ</a:t>
            </a:r>
            <a:r>
              <a:rPr lang="en-US" baseline="-25000" dirty="0"/>
              <a:t>2 ,</a:t>
            </a:r>
            <a:r>
              <a:rPr lang="el-GR" dirty="0"/>
              <a:t>θ</a:t>
            </a:r>
            <a:r>
              <a:rPr lang="en-US" baseline="-25000" dirty="0"/>
              <a:t>3</a:t>
            </a:r>
            <a:r>
              <a:rPr lang="en-US" dirty="0"/>
              <a:t>,…….., </a:t>
            </a:r>
            <a:r>
              <a:rPr lang="el-GR" dirty="0"/>
              <a:t>θ</a:t>
            </a:r>
            <a:r>
              <a:rPr lang="en-US" baseline="-25000" dirty="0"/>
              <a:t>n</a:t>
            </a:r>
          </a:p>
          <a:p>
            <a:pPr lvl="1"/>
            <a:r>
              <a:rPr lang="en-US" dirty="0"/>
              <a:t>Simpler hypothesis</a:t>
            </a:r>
          </a:p>
          <a:p>
            <a:pPr lvl="1"/>
            <a:r>
              <a:rPr lang="en-US" dirty="0"/>
              <a:t>Less prone to over fitting</a:t>
            </a:r>
          </a:p>
          <a:p>
            <a:r>
              <a:rPr lang="en-US" dirty="0"/>
              <a:t>Housing:</a:t>
            </a:r>
          </a:p>
          <a:p>
            <a:pPr lvl="1"/>
            <a:r>
              <a:rPr lang="en-US" dirty="0"/>
              <a:t>Features: x1, x2, …….., X100</a:t>
            </a:r>
          </a:p>
          <a:p>
            <a:pPr lvl="1"/>
            <a:r>
              <a:rPr lang="en-US" dirty="0"/>
              <a:t>Parameters: </a:t>
            </a:r>
            <a:r>
              <a:rPr lang="el-GR" dirty="0"/>
              <a:t>θ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l-GR" dirty="0"/>
              <a:t>θ</a:t>
            </a:r>
            <a:r>
              <a:rPr lang="en-US" baseline="-25000" dirty="0"/>
              <a:t>2 ,</a:t>
            </a:r>
            <a:r>
              <a:rPr lang="el-GR" dirty="0"/>
              <a:t>θ</a:t>
            </a:r>
            <a:r>
              <a:rPr lang="en-US" baseline="-25000" dirty="0"/>
              <a:t>3</a:t>
            </a:r>
            <a:r>
              <a:rPr lang="en-US" dirty="0"/>
              <a:t>,…….., </a:t>
            </a:r>
            <a:r>
              <a:rPr lang="el-GR" dirty="0"/>
              <a:t>θ</a:t>
            </a:r>
            <a:r>
              <a:rPr lang="en-US" baseline="-25000" dirty="0"/>
              <a:t>100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72200" y="4419600"/>
            <a:ext cx="281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 of 100, it is hard to pick the ones, which are less likely to be relevant?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5410200"/>
            <a:ext cx="54578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5410200"/>
            <a:ext cx="1524000" cy="103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791200" y="5587425"/>
            <a:ext cx="38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+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Lambda is the regularization parameter, and controls the tradeoff between our goals</a:t>
            </a:r>
          </a:p>
          <a:p>
            <a:pPr lvl="1"/>
            <a:r>
              <a:rPr lang="en-US" dirty="0"/>
              <a:t>Fit well to the training data</a:t>
            </a:r>
          </a:p>
          <a:p>
            <a:pPr lvl="1"/>
            <a:r>
              <a:rPr lang="en-US" dirty="0"/>
              <a:t>Keeping the parameters small</a:t>
            </a:r>
          </a:p>
          <a:p>
            <a:r>
              <a:rPr lang="en-US" dirty="0"/>
              <a:t>The two goals result in simple hypothesis and therefore less chances of over fitting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5454" y="5029201"/>
            <a:ext cx="630314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752600"/>
            <a:ext cx="630314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2819400" y="3581400"/>
            <a:ext cx="3267075" cy="2105025"/>
            <a:chOff x="5800725" y="1171575"/>
            <a:chExt cx="3267075" cy="2105025"/>
          </a:xfrm>
        </p:grpSpPr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800725" y="1171575"/>
              <a:ext cx="3267075" cy="2105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Freeform 6"/>
            <p:cNvSpPr/>
            <p:nvPr/>
          </p:nvSpPr>
          <p:spPr>
            <a:xfrm>
              <a:off x="6386732" y="1488831"/>
              <a:ext cx="2222696" cy="1073834"/>
            </a:xfrm>
            <a:custGeom>
              <a:avLst/>
              <a:gdLst>
                <a:gd name="connsiteX0" fmla="*/ 0 w 2222696"/>
                <a:gd name="connsiteY0" fmla="*/ 722141 h 1073834"/>
                <a:gd name="connsiteX1" fmla="*/ 225083 w 2222696"/>
                <a:gd name="connsiteY1" fmla="*/ 1059766 h 1073834"/>
                <a:gd name="connsiteX2" fmla="*/ 365760 w 2222696"/>
                <a:gd name="connsiteY2" fmla="*/ 637735 h 1073834"/>
                <a:gd name="connsiteX3" fmla="*/ 548640 w 2222696"/>
                <a:gd name="connsiteY3" fmla="*/ 215704 h 1073834"/>
                <a:gd name="connsiteX4" fmla="*/ 984739 w 2222696"/>
                <a:gd name="connsiteY4" fmla="*/ 89095 h 1073834"/>
                <a:gd name="connsiteX5" fmla="*/ 1519311 w 2222696"/>
                <a:gd name="connsiteY5" fmla="*/ 4689 h 1073834"/>
                <a:gd name="connsiteX6" fmla="*/ 2222696 w 2222696"/>
                <a:gd name="connsiteY6" fmla="*/ 117231 h 107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22696" h="1073834">
                  <a:moveTo>
                    <a:pt x="0" y="722141"/>
                  </a:moveTo>
                  <a:cubicBezTo>
                    <a:pt x="82061" y="897987"/>
                    <a:pt x="164123" y="1073834"/>
                    <a:pt x="225083" y="1059766"/>
                  </a:cubicBezTo>
                  <a:cubicBezTo>
                    <a:pt x="286043" y="1045698"/>
                    <a:pt x="311834" y="778412"/>
                    <a:pt x="365760" y="637735"/>
                  </a:cubicBezTo>
                  <a:cubicBezTo>
                    <a:pt x="419686" y="497058"/>
                    <a:pt x="445477" y="307144"/>
                    <a:pt x="548640" y="215704"/>
                  </a:cubicBezTo>
                  <a:cubicBezTo>
                    <a:pt x="651803" y="124264"/>
                    <a:pt x="822961" y="124264"/>
                    <a:pt x="984739" y="89095"/>
                  </a:cubicBezTo>
                  <a:cubicBezTo>
                    <a:pt x="1146517" y="53926"/>
                    <a:pt x="1312985" y="0"/>
                    <a:pt x="1519311" y="4689"/>
                  </a:cubicBezTo>
                  <a:cubicBezTo>
                    <a:pt x="1725637" y="9378"/>
                    <a:pt x="1974166" y="63304"/>
                    <a:pt x="2222696" y="117231"/>
                  </a:cubicBezTo>
                </a:path>
              </a:pathLst>
            </a:cu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>
            <a:off x="3581400" y="3886200"/>
            <a:ext cx="1519311" cy="1266093"/>
          </a:xfrm>
          <a:custGeom>
            <a:avLst/>
            <a:gdLst>
              <a:gd name="connsiteX0" fmla="*/ 0 w 1519311"/>
              <a:gd name="connsiteY0" fmla="*/ 1266093 h 1266093"/>
              <a:gd name="connsiteX1" fmla="*/ 182880 w 1519311"/>
              <a:gd name="connsiteY1" fmla="*/ 604911 h 1266093"/>
              <a:gd name="connsiteX2" fmla="*/ 450166 w 1519311"/>
              <a:gd name="connsiteY2" fmla="*/ 154745 h 1266093"/>
              <a:gd name="connsiteX3" fmla="*/ 1519311 w 1519311"/>
              <a:gd name="connsiteY3" fmla="*/ 0 h 1266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9311" h="1266093">
                <a:moveTo>
                  <a:pt x="0" y="1266093"/>
                </a:moveTo>
                <a:cubicBezTo>
                  <a:pt x="53926" y="1028114"/>
                  <a:pt x="107852" y="790136"/>
                  <a:pt x="182880" y="604911"/>
                </a:cubicBezTo>
                <a:cubicBezTo>
                  <a:pt x="257908" y="419686"/>
                  <a:pt x="227428" y="255564"/>
                  <a:pt x="450166" y="154745"/>
                </a:cubicBezTo>
                <a:cubicBezTo>
                  <a:pt x="672905" y="53927"/>
                  <a:pt x="1310640" y="25791"/>
                  <a:pt x="1519311" y="0"/>
                </a:cubicBezTo>
              </a:path>
            </a:pathLst>
          </a:cu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705600" y="3905071"/>
            <a:ext cx="205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- </a:t>
            </a:r>
            <a:r>
              <a:rPr lang="en-US" sz="1600" b="1" dirty="0">
                <a:solidFill>
                  <a:srgbClr val="00B050"/>
                </a:solidFill>
              </a:rPr>
              <a:t>Not Regularized</a:t>
            </a:r>
            <a:endParaRPr lang="en-US" sz="3600" b="1" dirty="0">
              <a:solidFill>
                <a:srgbClr val="00B050"/>
              </a:solidFill>
            </a:endParaRPr>
          </a:p>
          <a:p>
            <a:r>
              <a:rPr lang="en-US" sz="3600" b="1" dirty="0">
                <a:solidFill>
                  <a:schemeClr val="tx2"/>
                </a:solidFill>
              </a:rPr>
              <a:t>- </a:t>
            </a:r>
            <a:r>
              <a:rPr lang="en-US" sz="1600" b="1" dirty="0">
                <a:solidFill>
                  <a:schemeClr val="tx2"/>
                </a:solidFill>
              </a:rPr>
              <a:t>Regularized</a:t>
            </a:r>
            <a:endParaRPr lang="en-U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197" y="1219200"/>
            <a:ext cx="8564203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3352800"/>
            <a:ext cx="2895600" cy="2310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133600" y="6167735"/>
            <a:ext cx="464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  <a:r>
              <a:rPr lang="el-GR" sz="2400" baseline="-25000" dirty="0"/>
              <a:t>θ</a:t>
            </a:r>
            <a:r>
              <a:rPr lang="en-US" sz="2400" dirty="0"/>
              <a:t>(x) = </a:t>
            </a:r>
            <a:r>
              <a:rPr lang="el-GR" sz="2400" dirty="0"/>
              <a:t>θ</a:t>
            </a:r>
            <a:r>
              <a:rPr lang="en-US" sz="2400" baseline="-25000" dirty="0"/>
              <a:t>0</a:t>
            </a:r>
            <a:r>
              <a:rPr lang="en-US" sz="2400" dirty="0"/>
              <a:t> + </a:t>
            </a:r>
            <a:r>
              <a:rPr lang="el-GR" sz="2400" dirty="0"/>
              <a:t>θ</a:t>
            </a:r>
            <a:r>
              <a:rPr lang="en-US" sz="2400" baseline="-25000" dirty="0"/>
              <a:t>1</a:t>
            </a:r>
            <a:r>
              <a:rPr lang="en-US" sz="2400" dirty="0"/>
              <a:t>x +</a:t>
            </a:r>
            <a:r>
              <a:rPr lang="el-GR" sz="2400" dirty="0"/>
              <a:t> θ</a:t>
            </a:r>
            <a:r>
              <a:rPr lang="en-US" sz="2400" baseline="-25000" dirty="0"/>
              <a:t>2</a:t>
            </a:r>
            <a:r>
              <a:rPr lang="en-US" sz="2400" dirty="0"/>
              <a:t>x</a:t>
            </a:r>
            <a:r>
              <a:rPr lang="en-US" sz="2400" baseline="30000" dirty="0"/>
              <a:t>2</a:t>
            </a:r>
            <a:r>
              <a:rPr lang="en-US" sz="2400" dirty="0"/>
              <a:t> +</a:t>
            </a:r>
            <a:r>
              <a:rPr lang="el-GR" sz="2400" dirty="0"/>
              <a:t> θ</a:t>
            </a:r>
            <a:r>
              <a:rPr lang="en-US" sz="2400" baseline="-25000" dirty="0"/>
              <a:t>3</a:t>
            </a:r>
            <a:r>
              <a:rPr lang="en-US" sz="2400" dirty="0"/>
              <a:t>x</a:t>
            </a:r>
            <a:r>
              <a:rPr lang="en-US" sz="2400" baseline="30000" dirty="0"/>
              <a:t>3 </a:t>
            </a:r>
            <a:r>
              <a:rPr lang="en-US" sz="2400" dirty="0"/>
              <a:t>+</a:t>
            </a:r>
            <a:r>
              <a:rPr lang="el-GR" sz="2400" dirty="0"/>
              <a:t> θ</a:t>
            </a:r>
            <a:r>
              <a:rPr lang="en-US" sz="2400" baseline="-25000" dirty="0"/>
              <a:t>4</a:t>
            </a:r>
            <a:r>
              <a:rPr lang="en-US" sz="2400" dirty="0"/>
              <a:t>x</a:t>
            </a:r>
            <a:r>
              <a:rPr lang="en-US" sz="2400" baseline="30000" dirty="0"/>
              <a:t>4</a:t>
            </a:r>
            <a:r>
              <a:rPr lang="en-US" sz="2400" dirty="0"/>
              <a:t> 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943600" y="6096000"/>
            <a:ext cx="304800" cy="5334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5181600" y="6096000"/>
            <a:ext cx="304800" cy="5334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4343400" y="6096000"/>
            <a:ext cx="304800" cy="5334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657600" y="6096000"/>
            <a:ext cx="304800" cy="5334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10000" y="5695890"/>
            <a:ext cx="2514600" cy="400110"/>
          </a:xfrm>
          <a:prstGeom prst="rect">
            <a:avLst/>
          </a:prstGeom>
          <a:noFill/>
          <a:ln w="1270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Zero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429000" y="4267200"/>
            <a:ext cx="23622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0" y="4114800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/>
              <a:t>Under fitting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High bias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Regularized Linear Regression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250" y="1219200"/>
            <a:ext cx="59055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3429000"/>
            <a:ext cx="615315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Regularized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we do not penalize </a:t>
            </a:r>
            <a:r>
              <a:rPr lang="el-GR" dirty="0"/>
              <a:t>θ</a:t>
            </a:r>
            <a:r>
              <a:rPr lang="en-US" baseline="-25000" dirty="0"/>
              <a:t>0</a:t>
            </a:r>
            <a:r>
              <a:rPr lang="en-US" dirty="0"/>
              <a:t>, let’s take it out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514600"/>
            <a:ext cx="7010400" cy="3676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Regularized Linear Regression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48600" y="3291840"/>
            <a:ext cx="91440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7882146" cy="4133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352800" y="3200400"/>
            <a:ext cx="45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[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3200400"/>
            <a:ext cx="45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]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5029200"/>
            <a:ext cx="800936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Arrow Connector 10"/>
          <p:cNvCxnSpPr/>
          <p:nvPr/>
        </p:nvCxnSpPr>
        <p:spPr>
          <a:xfrm flipH="1">
            <a:off x="1066800" y="4038600"/>
            <a:ext cx="228600" cy="12954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676400" y="5181600"/>
            <a:ext cx="2057400" cy="762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114800" y="5029200"/>
            <a:ext cx="4419600" cy="990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447800" y="63246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Shrinks the parameter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63246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Original gradient descent update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 animBg="1"/>
      <p:bldP spid="13" grpId="0" animBg="1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Regularized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/>
              <a:t>Normal Equations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4025" y="4886325"/>
            <a:ext cx="650557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828800"/>
            <a:ext cx="2514600" cy="1748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52800" y="1904999"/>
            <a:ext cx="1828800" cy="1775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77000" y="2286000"/>
            <a:ext cx="1611086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3504863" y="3765550"/>
          <a:ext cx="3200737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440" imgH="228600" progId="Equation.3">
                  <p:embed/>
                </p:oleObj>
              </mc:Choice>
              <mc:Fallback>
                <p:oleObj name="Equation" r:id="rId6" imgW="1117440" imgH="228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4863" y="3765550"/>
                        <a:ext cx="3200737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3962400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Without Regularization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" y="5791200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With Regularization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Regularized Logistic Regression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09600" y="1066800"/>
            <a:ext cx="3200400" cy="2895600"/>
            <a:chOff x="3124200" y="2057400"/>
            <a:chExt cx="2743200" cy="2586038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24200" y="2214563"/>
              <a:ext cx="2743200" cy="2428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Freeform 7"/>
            <p:cNvSpPr/>
            <p:nvPr/>
          </p:nvSpPr>
          <p:spPr>
            <a:xfrm>
              <a:off x="3886200" y="2057400"/>
              <a:ext cx="1828800" cy="1610750"/>
            </a:xfrm>
            <a:custGeom>
              <a:avLst/>
              <a:gdLst>
                <a:gd name="connsiteX0" fmla="*/ 492369 w 1828800"/>
                <a:gd name="connsiteY0" fmla="*/ 0 h 1610750"/>
                <a:gd name="connsiteX1" fmla="*/ 267286 w 1828800"/>
                <a:gd name="connsiteY1" fmla="*/ 506437 h 1610750"/>
                <a:gd name="connsiteX2" fmla="*/ 196948 w 1828800"/>
                <a:gd name="connsiteY2" fmla="*/ 661181 h 1610750"/>
                <a:gd name="connsiteX3" fmla="*/ 14068 w 1828800"/>
                <a:gd name="connsiteY3" fmla="*/ 801858 h 1610750"/>
                <a:gd name="connsiteX4" fmla="*/ 112542 w 1828800"/>
                <a:gd name="connsiteY4" fmla="*/ 1055077 h 1610750"/>
                <a:gd name="connsiteX5" fmla="*/ 211016 w 1828800"/>
                <a:gd name="connsiteY5" fmla="*/ 1041009 h 1610750"/>
                <a:gd name="connsiteX6" fmla="*/ 436099 w 1828800"/>
                <a:gd name="connsiteY6" fmla="*/ 1012874 h 1610750"/>
                <a:gd name="connsiteX7" fmla="*/ 787791 w 1828800"/>
                <a:gd name="connsiteY7" fmla="*/ 1083212 h 1610750"/>
                <a:gd name="connsiteX8" fmla="*/ 787791 w 1828800"/>
                <a:gd name="connsiteY8" fmla="*/ 1237957 h 1610750"/>
                <a:gd name="connsiteX9" fmla="*/ 731520 w 1828800"/>
                <a:gd name="connsiteY9" fmla="*/ 1350498 h 1610750"/>
                <a:gd name="connsiteX10" fmla="*/ 534572 w 1828800"/>
                <a:gd name="connsiteY10" fmla="*/ 1308295 h 1610750"/>
                <a:gd name="connsiteX11" fmla="*/ 436099 w 1828800"/>
                <a:gd name="connsiteY11" fmla="*/ 1139483 h 1610750"/>
                <a:gd name="connsiteX12" fmla="*/ 351692 w 1828800"/>
                <a:gd name="connsiteY12" fmla="*/ 1055077 h 1610750"/>
                <a:gd name="connsiteX13" fmla="*/ 154745 w 1828800"/>
                <a:gd name="connsiteY13" fmla="*/ 1111347 h 1610750"/>
                <a:gd name="connsiteX14" fmla="*/ 267286 w 1828800"/>
                <a:gd name="connsiteY14" fmla="*/ 1350498 h 1610750"/>
                <a:gd name="connsiteX15" fmla="*/ 506437 w 1828800"/>
                <a:gd name="connsiteY15" fmla="*/ 1589649 h 1610750"/>
                <a:gd name="connsiteX16" fmla="*/ 703385 w 1828800"/>
                <a:gd name="connsiteY16" fmla="*/ 1477107 h 1610750"/>
                <a:gd name="connsiteX17" fmla="*/ 858129 w 1828800"/>
                <a:gd name="connsiteY17" fmla="*/ 1252024 h 1610750"/>
                <a:gd name="connsiteX18" fmla="*/ 1012874 w 1828800"/>
                <a:gd name="connsiteY18" fmla="*/ 1139483 h 1610750"/>
                <a:gd name="connsiteX19" fmla="*/ 1252025 w 1828800"/>
                <a:gd name="connsiteY19" fmla="*/ 1041009 h 1610750"/>
                <a:gd name="connsiteX20" fmla="*/ 1308296 w 1828800"/>
                <a:gd name="connsiteY20" fmla="*/ 1069144 h 1610750"/>
                <a:gd name="connsiteX21" fmla="*/ 1336431 w 1828800"/>
                <a:gd name="connsiteY21" fmla="*/ 1167618 h 1610750"/>
                <a:gd name="connsiteX22" fmla="*/ 1336431 w 1828800"/>
                <a:gd name="connsiteY22" fmla="*/ 1280160 h 1610750"/>
                <a:gd name="connsiteX23" fmla="*/ 1195754 w 1828800"/>
                <a:gd name="connsiteY23" fmla="*/ 1294227 h 1610750"/>
                <a:gd name="connsiteX24" fmla="*/ 1026942 w 1828800"/>
                <a:gd name="connsiteY24" fmla="*/ 1266092 h 1610750"/>
                <a:gd name="connsiteX25" fmla="*/ 900332 w 1828800"/>
                <a:gd name="connsiteY25" fmla="*/ 1266092 h 1610750"/>
                <a:gd name="connsiteX26" fmla="*/ 787791 w 1828800"/>
                <a:gd name="connsiteY26" fmla="*/ 1434904 h 1610750"/>
                <a:gd name="connsiteX27" fmla="*/ 886265 w 1828800"/>
                <a:gd name="connsiteY27" fmla="*/ 1561514 h 1610750"/>
                <a:gd name="connsiteX28" fmla="*/ 1139483 w 1828800"/>
                <a:gd name="connsiteY28" fmla="*/ 1547446 h 1610750"/>
                <a:gd name="connsiteX29" fmla="*/ 1420837 w 1828800"/>
                <a:gd name="connsiteY29" fmla="*/ 1434904 h 1610750"/>
                <a:gd name="connsiteX30" fmla="*/ 1828800 w 1828800"/>
                <a:gd name="connsiteY30" fmla="*/ 998806 h 161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828800" h="1610750">
                  <a:moveTo>
                    <a:pt x="492369" y="0"/>
                  </a:moveTo>
                  <a:lnTo>
                    <a:pt x="267286" y="506437"/>
                  </a:lnTo>
                  <a:cubicBezTo>
                    <a:pt x="218049" y="616634"/>
                    <a:pt x="239151" y="611944"/>
                    <a:pt x="196948" y="661181"/>
                  </a:cubicBezTo>
                  <a:cubicBezTo>
                    <a:pt x="154745" y="710418"/>
                    <a:pt x="28136" y="736209"/>
                    <a:pt x="14068" y="801858"/>
                  </a:cubicBezTo>
                  <a:cubicBezTo>
                    <a:pt x="0" y="867507"/>
                    <a:pt x="79717" y="1015219"/>
                    <a:pt x="112542" y="1055077"/>
                  </a:cubicBezTo>
                  <a:cubicBezTo>
                    <a:pt x="145367" y="1094935"/>
                    <a:pt x="211016" y="1041009"/>
                    <a:pt x="211016" y="1041009"/>
                  </a:cubicBezTo>
                  <a:cubicBezTo>
                    <a:pt x="264942" y="1033975"/>
                    <a:pt x="339970" y="1005840"/>
                    <a:pt x="436099" y="1012874"/>
                  </a:cubicBezTo>
                  <a:cubicBezTo>
                    <a:pt x="532228" y="1019908"/>
                    <a:pt x="729176" y="1045698"/>
                    <a:pt x="787791" y="1083212"/>
                  </a:cubicBezTo>
                  <a:cubicBezTo>
                    <a:pt x="846406" y="1120726"/>
                    <a:pt x="797169" y="1193409"/>
                    <a:pt x="787791" y="1237957"/>
                  </a:cubicBezTo>
                  <a:cubicBezTo>
                    <a:pt x="778413" y="1282505"/>
                    <a:pt x="773723" y="1338775"/>
                    <a:pt x="731520" y="1350498"/>
                  </a:cubicBezTo>
                  <a:cubicBezTo>
                    <a:pt x="689317" y="1362221"/>
                    <a:pt x="583809" y="1343464"/>
                    <a:pt x="534572" y="1308295"/>
                  </a:cubicBezTo>
                  <a:cubicBezTo>
                    <a:pt x="485335" y="1273126"/>
                    <a:pt x="466579" y="1181686"/>
                    <a:pt x="436099" y="1139483"/>
                  </a:cubicBezTo>
                  <a:cubicBezTo>
                    <a:pt x="405619" y="1097280"/>
                    <a:pt x="398584" y="1059766"/>
                    <a:pt x="351692" y="1055077"/>
                  </a:cubicBezTo>
                  <a:cubicBezTo>
                    <a:pt x="304800" y="1050388"/>
                    <a:pt x="168813" y="1062110"/>
                    <a:pt x="154745" y="1111347"/>
                  </a:cubicBezTo>
                  <a:cubicBezTo>
                    <a:pt x="140677" y="1160584"/>
                    <a:pt x="208671" y="1270781"/>
                    <a:pt x="267286" y="1350498"/>
                  </a:cubicBezTo>
                  <a:cubicBezTo>
                    <a:pt x="325901" y="1430215"/>
                    <a:pt x="433754" y="1568548"/>
                    <a:pt x="506437" y="1589649"/>
                  </a:cubicBezTo>
                  <a:cubicBezTo>
                    <a:pt x="579120" y="1610750"/>
                    <a:pt x="644770" y="1533378"/>
                    <a:pt x="703385" y="1477107"/>
                  </a:cubicBezTo>
                  <a:cubicBezTo>
                    <a:pt x="762000" y="1420836"/>
                    <a:pt x="806548" y="1308295"/>
                    <a:pt x="858129" y="1252024"/>
                  </a:cubicBezTo>
                  <a:cubicBezTo>
                    <a:pt x="909710" y="1195753"/>
                    <a:pt x="947225" y="1174652"/>
                    <a:pt x="1012874" y="1139483"/>
                  </a:cubicBezTo>
                  <a:cubicBezTo>
                    <a:pt x="1078523" y="1104314"/>
                    <a:pt x="1202788" y="1052732"/>
                    <a:pt x="1252025" y="1041009"/>
                  </a:cubicBezTo>
                  <a:cubicBezTo>
                    <a:pt x="1301262" y="1029286"/>
                    <a:pt x="1294228" y="1048043"/>
                    <a:pt x="1308296" y="1069144"/>
                  </a:cubicBezTo>
                  <a:cubicBezTo>
                    <a:pt x="1322364" y="1090246"/>
                    <a:pt x="1331742" y="1132449"/>
                    <a:pt x="1336431" y="1167618"/>
                  </a:cubicBezTo>
                  <a:cubicBezTo>
                    <a:pt x="1341120" y="1202787"/>
                    <a:pt x="1359877" y="1259059"/>
                    <a:pt x="1336431" y="1280160"/>
                  </a:cubicBezTo>
                  <a:cubicBezTo>
                    <a:pt x="1312985" y="1301262"/>
                    <a:pt x="1247335" y="1296572"/>
                    <a:pt x="1195754" y="1294227"/>
                  </a:cubicBezTo>
                  <a:cubicBezTo>
                    <a:pt x="1144173" y="1291882"/>
                    <a:pt x="1076179" y="1270781"/>
                    <a:pt x="1026942" y="1266092"/>
                  </a:cubicBezTo>
                  <a:cubicBezTo>
                    <a:pt x="977705" y="1261403"/>
                    <a:pt x="940190" y="1237957"/>
                    <a:pt x="900332" y="1266092"/>
                  </a:cubicBezTo>
                  <a:cubicBezTo>
                    <a:pt x="860474" y="1294227"/>
                    <a:pt x="790135" y="1385667"/>
                    <a:pt x="787791" y="1434904"/>
                  </a:cubicBezTo>
                  <a:cubicBezTo>
                    <a:pt x="785447" y="1484141"/>
                    <a:pt x="827650" y="1542757"/>
                    <a:pt x="886265" y="1561514"/>
                  </a:cubicBezTo>
                  <a:cubicBezTo>
                    <a:pt x="944880" y="1580271"/>
                    <a:pt x="1050388" y="1568548"/>
                    <a:pt x="1139483" y="1547446"/>
                  </a:cubicBezTo>
                  <a:cubicBezTo>
                    <a:pt x="1228578" y="1526344"/>
                    <a:pt x="1305951" y="1526344"/>
                    <a:pt x="1420837" y="1434904"/>
                  </a:cubicBezTo>
                  <a:cubicBezTo>
                    <a:pt x="1535723" y="1343464"/>
                    <a:pt x="1678745" y="1094935"/>
                    <a:pt x="1828800" y="998806"/>
                  </a:cubicBezTo>
                </a:path>
              </a:pathLst>
            </a:cu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524000"/>
            <a:ext cx="3940534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81075" y="4495800"/>
            <a:ext cx="816292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228600" y="4038600"/>
            <a:ext cx="556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Original/Without Regularization Cost function: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5391090"/>
            <a:ext cx="556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With Regularization Cost function:</a:t>
            </a:r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599" y="5791200"/>
            <a:ext cx="831062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7467600" y="5791200"/>
            <a:ext cx="15240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Regularized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Looks similar but not the same since hypothesis is different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990600"/>
            <a:ext cx="7287114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399" y="6096000"/>
            <a:ext cx="246264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14800" y="5943600"/>
            <a:ext cx="2161309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924800" y="2910840"/>
            <a:ext cx="91440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505200" y="2819400"/>
            <a:ext cx="45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[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819400"/>
            <a:ext cx="45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5 =&#10;$&#10;&#10;\end{document}"/>
  <p:tag name="IGUANATEXSIZE" val="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6 =&#10;$&#10;&#10;\end{document}"/>
  <p:tag name="IGUANATEXSIZE" val="2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vdots&#10;$&#10;&#10;$&#10;x_{100}&#10;$&#10;\end{document}"/>
  <p:tag name="IGUANATEXSIZE" val="2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3" ma:contentTypeDescription="Create a new document." ma:contentTypeScope="" ma:versionID="c56093a13bcf6bf1569280f252a463a7">
  <xsd:schema xmlns:xsd="http://www.w3.org/2001/XMLSchema" xmlns:xs="http://www.w3.org/2001/XMLSchema" xmlns:p="http://schemas.microsoft.com/office/2006/metadata/properties" xmlns:ns2="82062c1e-dd8f-4268-9e54-b0572c0891a6" targetNamespace="http://schemas.microsoft.com/office/2006/metadata/properties" ma:root="true" ma:fieldsID="66ec99b637a5ba745fffa7bcfec8d45f" ns2:_="">
    <xsd:import namespace="82062c1e-dd8f-4268-9e54-b0572c0891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62c1e-dd8f-4268-9e54-b0572c0891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ED510C6-F57A-4674-A473-70CDE86EB670}"/>
</file>

<file path=customXml/itemProps2.xml><?xml version="1.0" encoding="utf-8"?>
<ds:datastoreItem xmlns:ds="http://schemas.openxmlformats.org/officeDocument/2006/customXml" ds:itemID="{D8712769-359B-4A36-B4BB-4BE19A9919FF}"/>
</file>

<file path=customXml/itemProps3.xml><?xml version="1.0" encoding="utf-8"?>
<ds:datastoreItem xmlns:ds="http://schemas.openxmlformats.org/officeDocument/2006/customXml" ds:itemID="{DDC1BFEE-9AFA-42B9-A6E7-5E61A52B5D52}"/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330</Words>
  <Application>Microsoft Office PowerPoint</Application>
  <PresentationFormat>On-screen Show (4:3)</PresentationFormat>
  <Paragraphs>75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Office Theme</vt:lpstr>
      <vt:lpstr>Equation</vt:lpstr>
      <vt:lpstr>Machine Learning – RIME 832 Over fitting Problem and Regularization</vt:lpstr>
      <vt:lpstr>Example: Linear Regression</vt:lpstr>
      <vt:lpstr>Example: Logistic Regression</vt:lpstr>
      <vt:lpstr>PowerPoint Presentation</vt:lpstr>
      <vt:lpstr>Solution</vt:lpstr>
      <vt:lpstr>Regularization</vt:lpstr>
      <vt:lpstr>Regularization</vt:lpstr>
      <vt:lpstr>Regularization</vt:lpstr>
      <vt:lpstr>Regularization</vt:lpstr>
      <vt:lpstr>Regularization</vt:lpstr>
      <vt:lpstr>Regularized Linear Regression</vt:lpstr>
      <vt:lpstr>Regularized Linear Regression</vt:lpstr>
      <vt:lpstr>Regularized Linear Regression</vt:lpstr>
      <vt:lpstr>Regularized Linear Regression</vt:lpstr>
      <vt:lpstr>Regularized Logistic Regression</vt:lpstr>
      <vt:lpstr>Regularized Logistic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– RIME 832 Over fitting Problem</dc:title>
  <dc:creator>Hasan</dc:creator>
  <cp:lastModifiedBy>Jawad Khan</cp:lastModifiedBy>
  <cp:revision>55</cp:revision>
  <dcterms:created xsi:type="dcterms:W3CDTF">2006-08-16T00:00:00Z</dcterms:created>
  <dcterms:modified xsi:type="dcterms:W3CDTF">2025-10-13T13:04:10Z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