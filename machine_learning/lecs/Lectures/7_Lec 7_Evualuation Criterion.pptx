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9"/>
  </p:notes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5" r:id="rId14"/>
    <p:sldId id="267" r:id="rId15"/>
    <p:sldId id="268" r:id="rId16"/>
    <p:sldId id="270" r:id="rId17"/>
    <p:sldId id="269" r:id="rId18"/>
    <p:sldId id="271" r:id="rId19"/>
    <p:sldId id="272" r:id="rId20"/>
    <p:sldId id="274" r:id="rId21"/>
    <p:sldId id="273" r:id="rId22"/>
    <p:sldId id="276" r:id="rId23"/>
    <p:sldId id="277" r:id="rId24"/>
    <p:sldId id="278" r:id="rId25"/>
    <p:sldId id="279" r:id="rId26"/>
    <p:sldId id="287" r:id="rId27"/>
    <p:sldId id="292" r:id="rId28"/>
    <p:sldId id="280" r:id="rId29"/>
    <p:sldId id="290" r:id="rId30"/>
    <p:sldId id="291" r:id="rId31"/>
    <p:sldId id="281" r:id="rId32"/>
    <p:sldId id="282" r:id="rId33"/>
    <p:sldId id="284" r:id="rId34"/>
    <p:sldId id="289" r:id="rId35"/>
    <p:sldId id="285" r:id="rId36"/>
    <p:sldId id="288" r:id="rId37"/>
    <p:sldId id="286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D0E748-49AD-4BA4-9531-B1E45253ABB2}" v="1" dt="2021-01-05T08:52:11.9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elma Naz" userId="S::neelma.naz@seecs.nust.edu.pk::1e9f1a47-fac4-4c60-b5b7-d57074d58ce3" providerId="AD" clId="Web-{82D0E748-49AD-4BA4-9531-B1E45253ABB2}"/>
    <pc:docChg chg="delSld">
      <pc:chgData name="Neelma Naz" userId="S::neelma.naz@seecs.nust.edu.pk::1e9f1a47-fac4-4c60-b5b7-d57074d58ce3" providerId="AD" clId="Web-{82D0E748-49AD-4BA4-9531-B1E45253ABB2}" dt="2021-01-05T08:52:11.961" v="0"/>
      <pc:docMkLst>
        <pc:docMk/>
      </pc:docMkLst>
      <pc:sldChg chg="del">
        <pc:chgData name="Neelma Naz" userId="S::neelma.naz@seecs.nust.edu.pk::1e9f1a47-fac4-4c60-b5b7-d57074d58ce3" providerId="AD" clId="Web-{82D0E748-49AD-4BA4-9531-B1E45253ABB2}" dt="2021-01-05T08:52:11.961" v="0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6882FA-74B5-4239-850D-44A468860504}" type="datetimeFigureOut">
              <a:rPr lang="en-PK" smtClean="0"/>
              <a:t>10/11/2025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AC290-9C16-4745-8B38-87B3586918F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36322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82d1304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82d1304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952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57651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505200"/>
            <a:ext cx="8763000" cy="3124200"/>
          </a:xfrm>
        </p:spPr>
        <p:txBody>
          <a:bodyPr/>
          <a:lstStyle/>
          <a:p>
            <a:r>
              <a:rPr lang="en-US"/>
              <a:t>Get more training examples</a:t>
            </a:r>
          </a:p>
          <a:p>
            <a:r>
              <a:rPr lang="en-US"/>
              <a:t>Try smaller set of features to avoid over fitting</a:t>
            </a:r>
          </a:p>
          <a:p>
            <a:r>
              <a:rPr lang="en-US"/>
              <a:t>Try getting additional features</a:t>
            </a:r>
          </a:p>
          <a:p>
            <a:r>
              <a:rPr lang="en-US"/>
              <a:t>Try adding polynomial features</a:t>
            </a:r>
          </a:p>
          <a:p>
            <a:r>
              <a:rPr lang="en-US"/>
              <a:t>Try increasing/decreasing lambda</a:t>
            </a:r>
          </a:p>
          <a:p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533400"/>
            <a:ext cx="89154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/>
              <a:t>How to evaluate learning algorithm?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638800"/>
          </a:xfrm>
        </p:spPr>
        <p:txBody>
          <a:bodyPr/>
          <a:lstStyle/>
          <a:p>
            <a:r>
              <a:rPr lang="en-US"/>
              <a:t>Machine learning diagnostic: Test that you can run to gain insight into what is/</a:t>
            </a:r>
            <a:r>
              <a:rPr lang="en-US" err="1"/>
              <a:t>is’nt</a:t>
            </a:r>
            <a:r>
              <a:rPr lang="en-US"/>
              <a:t> working with learning algorithm and gain guidance to improve the performance of algorithm.</a:t>
            </a:r>
          </a:p>
          <a:p>
            <a:r>
              <a:rPr lang="en-US"/>
              <a:t>Diagnostics are not trivial and can take time to implement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How to evaluate hypothesis?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905000"/>
            <a:ext cx="3653403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4495800"/>
            <a:ext cx="28003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reeform 5"/>
          <p:cNvSpPr/>
          <p:nvPr/>
        </p:nvSpPr>
        <p:spPr>
          <a:xfrm>
            <a:off x="608428" y="2152357"/>
            <a:ext cx="2391507" cy="1711569"/>
          </a:xfrm>
          <a:custGeom>
            <a:avLst/>
            <a:gdLst>
              <a:gd name="connsiteX0" fmla="*/ 0 w 2391507"/>
              <a:gd name="connsiteY0" fmla="*/ 1252025 h 1711569"/>
              <a:gd name="connsiteX1" fmla="*/ 281354 w 2391507"/>
              <a:gd name="connsiteY1" fmla="*/ 1688123 h 1711569"/>
              <a:gd name="connsiteX2" fmla="*/ 506437 w 2391507"/>
              <a:gd name="connsiteY2" fmla="*/ 1111348 h 1711569"/>
              <a:gd name="connsiteX3" fmla="*/ 731520 w 2391507"/>
              <a:gd name="connsiteY3" fmla="*/ 576775 h 1711569"/>
              <a:gd name="connsiteX4" fmla="*/ 1139483 w 2391507"/>
              <a:gd name="connsiteY4" fmla="*/ 604911 h 1711569"/>
              <a:gd name="connsiteX5" fmla="*/ 1336430 w 2391507"/>
              <a:gd name="connsiteY5" fmla="*/ 281354 h 1711569"/>
              <a:gd name="connsiteX6" fmla="*/ 1603717 w 2391507"/>
              <a:gd name="connsiteY6" fmla="*/ 0 h 1711569"/>
              <a:gd name="connsiteX7" fmla="*/ 2208627 w 2391507"/>
              <a:gd name="connsiteY7" fmla="*/ 281354 h 1711569"/>
              <a:gd name="connsiteX8" fmla="*/ 2391507 w 2391507"/>
              <a:gd name="connsiteY8" fmla="*/ 365760 h 1711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91507" h="1711569">
                <a:moveTo>
                  <a:pt x="0" y="1252025"/>
                </a:moveTo>
                <a:cubicBezTo>
                  <a:pt x="98474" y="1481797"/>
                  <a:pt x="196948" y="1711569"/>
                  <a:pt x="281354" y="1688123"/>
                </a:cubicBezTo>
                <a:cubicBezTo>
                  <a:pt x="365760" y="1664677"/>
                  <a:pt x="431409" y="1296573"/>
                  <a:pt x="506437" y="1111348"/>
                </a:cubicBezTo>
                <a:cubicBezTo>
                  <a:pt x="581465" y="926123"/>
                  <a:pt x="626012" y="661181"/>
                  <a:pt x="731520" y="576775"/>
                </a:cubicBezTo>
                <a:cubicBezTo>
                  <a:pt x="837028" y="492369"/>
                  <a:pt x="1038665" y="654148"/>
                  <a:pt x="1139483" y="604911"/>
                </a:cubicBezTo>
                <a:cubicBezTo>
                  <a:pt x="1240301" y="555674"/>
                  <a:pt x="1259058" y="382173"/>
                  <a:pt x="1336430" y="281354"/>
                </a:cubicBezTo>
                <a:cubicBezTo>
                  <a:pt x="1413802" y="180536"/>
                  <a:pt x="1458351" y="0"/>
                  <a:pt x="1603717" y="0"/>
                </a:cubicBezTo>
                <a:cubicBezTo>
                  <a:pt x="1749083" y="0"/>
                  <a:pt x="2208627" y="281354"/>
                  <a:pt x="2208627" y="281354"/>
                </a:cubicBezTo>
                <a:lnTo>
                  <a:pt x="2391507" y="365760"/>
                </a:lnTo>
              </a:path>
            </a:pathLst>
          </a:cu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67200" y="1924050"/>
            <a:ext cx="4143375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43351" y="3276600"/>
            <a:ext cx="5048250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Evaluating hypothesis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799" y="1447800"/>
            <a:ext cx="3716341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Connector 5"/>
          <p:cNvCxnSpPr/>
          <p:nvPr/>
        </p:nvCxnSpPr>
        <p:spPr>
          <a:xfrm>
            <a:off x="838200" y="5334000"/>
            <a:ext cx="289560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ight Brace 6"/>
          <p:cNvSpPr/>
          <p:nvPr/>
        </p:nvSpPr>
        <p:spPr>
          <a:xfrm>
            <a:off x="3733800" y="2514600"/>
            <a:ext cx="381000" cy="2743200"/>
          </a:xfrm>
          <a:prstGeom prst="rightBrac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/>
          <p:cNvSpPr/>
          <p:nvPr/>
        </p:nvSpPr>
        <p:spPr>
          <a:xfrm>
            <a:off x="3733800" y="5334000"/>
            <a:ext cx="304800" cy="1219200"/>
          </a:xfrm>
          <a:prstGeom prst="rightBrac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267200" y="3505200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Training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7200" y="5695890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Test Set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2286000"/>
            <a:ext cx="1828800" cy="2838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81800" y="5257799"/>
            <a:ext cx="2057400" cy="1580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4" name="Straight Connector 13"/>
          <p:cNvCxnSpPr/>
          <p:nvPr/>
        </p:nvCxnSpPr>
        <p:spPr>
          <a:xfrm>
            <a:off x="6477000" y="5105400"/>
            <a:ext cx="243840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3075" idx="1"/>
          </p:cNvCxnSpPr>
          <p:nvPr/>
        </p:nvCxnSpPr>
        <p:spPr>
          <a:xfrm flipV="1">
            <a:off x="5867400" y="3705149"/>
            <a:ext cx="914400" cy="2865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5715000" y="5867400"/>
            <a:ext cx="914400" cy="2865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/>
              <a:t>Training/Testing Procedure for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Learn parameter </a:t>
            </a:r>
            <a:r>
              <a:rPr lang="el-GR"/>
              <a:t>θ</a:t>
            </a:r>
            <a:r>
              <a:rPr lang="en-US"/>
              <a:t> from training data by minimizing training error J(</a:t>
            </a:r>
            <a:r>
              <a:rPr lang="el-GR"/>
              <a:t>θ</a:t>
            </a:r>
            <a:r>
              <a:rPr lang="en-US"/>
              <a:t>)</a:t>
            </a:r>
          </a:p>
          <a:p>
            <a:r>
              <a:rPr lang="en-US"/>
              <a:t>Compute test set error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0" y="3657600"/>
            <a:ext cx="4540250" cy="990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/>
              <a:t>Training/Testing Procedure for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525963"/>
          </a:xfrm>
        </p:spPr>
        <p:txBody>
          <a:bodyPr/>
          <a:lstStyle/>
          <a:p>
            <a:r>
              <a:rPr lang="en-US"/>
              <a:t>Learn parameter </a:t>
            </a:r>
            <a:r>
              <a:rPr lang="el-GR"/>
              <a:t>θ</a:t>
            </a:r>
            <a:r>
              <a:rPr lang="en-US"/>
              <a:t> from training data by minimizing training error J(</a:t>
            </a:r>
            <a:r>
              <a:rPr lang="el-GR"/>
              <a:t>θ</a:t>
            </a:r>
            <a:r>
              <a:rPr lang="en-US"/>
              <a:t>)</a:t>
            </a:r>
          </a:p>
          <a:p>
            <a:r>
              <a:rPr lang="en-US"/>
              <a:t>Compute test set error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misclassification error (0/1 misclassification error) 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305175"/>
            <a:ext cx="795337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657600" y="5257800"/>
            <a:ext cx="4267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1 	if h</a:t>
            </a:r>
            <a:r>
              <a:rPr lang="el-GR" sz="2000" b="1" baseline="-25000"/>
              <a:t>θ</a:t>
            </a:r>
            <a:r>
              <a:rPr lang="en-US" sz="2000" b="1"/>
              <a:t>(x) &gt; 0.5, 	y=0</a:t>
            </a:r>
          </a:p>
          <a:p>
            <a:r>
              <a:rPr lang="en-US" sz="2000" b="1"/>
              <a:t>   	if h</a:t>
            </a:r>
            <a:r>
              <a:rPr lang="el-GR" sz="2000" b="1" baseline="-25000"/>
              <a:t>θ</a:t>
            </a:r>
            <a:r>
              <a:rPr lang="en-US" sz="2000" b="1"/>
              <a:t>(x) &lt; 0.5,	y=1</a:t>
            </a:r>
          </a:p>
          <a:p>
            <a:endParaRPr lang="en-US" sz="2000" b="1"/>
          </a:p>
          <a:p>
            <a:r>
              <a:rPr lang="en-US" sz="2000" b="1"/>
              <a:t>0	Otherwise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2600" y="5650468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Err(h</a:t>
            </a:r>
            <a:r>
              <a:rPr lang="el-GR" sz="2000" b="1" baseline="-25000"/>
              <a:t>θ</a:t>
            </a:r>
            <a:r>
              <a:rPr lang="en-US" sz="2000" b="1"/>
              <a:t>(x) ,y) =</a:t>
            </a:r>
          </a:p>
        </p:txBody>
      </p:sp>
      <p:sp>
        <p:nvSpPr>
          <p:cNvPr id="7" name="Left Brace 6"/>
          <p:cNvSpPr/>
          <p:nvPr/>
        </p:nvSpPr>
        <p:spPr>
          <a:xfrm>
            <a:off x="3352800" y="5181600"/>
            <a:ext cx="381000" cy="1447800"/>
          </a:xfrm>
          <a:prstGeom prst="leftBrace">
            <a:avLst>
              <a:gd name="adj1" fmla="val 35923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620000" y="63963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Test Error?</a:t>
            </a:r>
            <a:endParaRPr 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/>
              <a:t>Model Selection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905000"/>
            <a:ext cx="3653403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4495800"/>
            <a:ext cx="28003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reeform 5"/>
          <p:cNvSpPr/>
          <p:nvPr/>
        </p:nvSpPr>
        <p:spPr>
          <a:xfrm>
            <a:off x="608428" y="2152357"/>
            <a:ext cx="2391507" cy="1711569"/>
          </a:xfrm>
          <a:custGeom>
            <a:avLst/>
            <a:gdLst>
              <a:gd name="connsiteX0" fmla="*/ 0 w 2391507"/>
              <a:gd name="connsiteY0" fmla="*/ 1252025 h 1711569"/>
              <a:gd name="connsiteX1" fmla="*/ 281354 w 2391507"/>
              <a:gd name="connsiteY1" fmla="*/ 1688123 h 1711569"/>
              <a:gd name="connsiteX2" fmla="*/ 506437 w 2391507"/>
              <a:gd name="connsiteY2" fmla="*/ 1111348 h 1711569"/>
              <a:gd name="connsiteX3" fmla="*/ 731520 w 2391507"/>
              <a:gd name="connsiteY3" fmla="*/ 576775 h 1711569"/>
              <a:gd name="connsiteX4" fmla="*/ 1139483 w 2391507"/>
              <a:gd name="connsiteY4" fmla="*/ 604911 h 1711569"/>
              <a:gd name="connsiteX5" fmla="*/ 1336430 w 2391507"/>
              <a:gd name="connsiteY5" fmla="*/ 281354 h 1711569"/>
              <a:gd name="connsiteX6" fmla="*/ 1603717 w 2391507"/>
              <a:gd name="connsiteY6" fmla="*/ 0 h 1711569"/>
              <a:gd name="connsiteX7" fmla="*/ 2208627 w 2391507"/>
              <a:gd name="connsiteY7" fmla="*/ 281354 h 1711569"/>
              <a:gd name="connsiteX8" fmla="*/ 2391507 w 2391507"/>
              <a:gd name="connsiteY8" fmla="*/ 365760 h 1711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91507" h="1711569">
                <a:moveTo>
                  <a:pt x="0" y="1252025"/>
                </a:moveTo>
                <a:cubicBezTo>
                  <a:pt x="98474" y="1481797"/>
                  <a:pt x="196948" y="1711569"/>
                  <a:pt x="281354" y="1688123"/>
                </a:cubicBezTo>
                <a:cubicBezTo>
                  <a:pt x="365760" y="1664677"/>
                  <a:pt x="431409" y="1296573"/>
                  <a:pt x="506437" y="1111348"/>
                </a:cubicBezTo>
                <a:cubicBezTo>
                  <a:pt x="581465" y="926123"/>
                  <a:pt x="626012" y="661181"/>
                  <a:pt x="731520" y="576775"/>
                </a:cubicBezTo>
                <a:cubicBezTo>
                  <a:pt x="837028" y="492369"/>
                  <a:pt x="1038665" y="654148"/>
                  <a:pt x="1139483" y="604911"/>
                </a:cubicBezTo>
                <a:cubicBezTo>
                  <a:pt x="1240301" y="555674"/>
                  <a:pt x="1259058" y="382173"/>
                  <a:pt x="1336430" y="281354"/>
                </a:cubicBezTo>
                <a:cubicBezTo>
                  <a:pt x="1413802" y="180536"/>
                  <a:pt x="1458351" y="0"/>
                  <a:pt x="1603717" y="0"/>
                </a:cubicBezTo>
                <a:cubicBezTo>
                  <a:pt x="1749083" y="0"/>
                  <a:pt x="2208627" y="281354"/>
                  <a:pt x="2208627" y="281354"/>
                </a:cubicBezTo>
                <a:lnTo>
                  <a:pt x="2391507" y="365760"/>
                </a:lnTo>
              </a:path>
            </a:pathLst>
          </a:cu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67200" y="2200275"/>
            <a:ext cx="4619625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</p:spPr>
        <p:txBody>
          <a:bodyPr/>
          <a:lstStyle/>
          <a:p>
            <a:r>
              <a:rPr lang="en-US"/>
              <a:t>Model Selection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401762"/>
            <a:ext cx="6308741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76200" y="84925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Here we need to find the degree of polynomial that works well on unseen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34200" y="1401762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b="1"/>
              <a:t>Θ</a:t>
            </a:r>
            <a:r>
              <a:rPr lang="en-US" sz="2400" b="1" baseline="30000"/>
              <a:t>(1)</a:t>
            </a:r>
            <a:r>
              <a:rPr lang="en-US" sz="2400" b="1"/>
              <a:t> </a:t>
            </a:r>
            <a:r>
              <a:rPr lang="en-US" sz="2400" b="1">
                <a:sym typeface="Wingdings" pitchFamily="2" charset="2"/>
              </a:rPr>
              <a:t> </a:t>
            </a:r>
            <a:r>
              <a:rPr lang="en-US" sz="2400" b="1" err="1"/>
              <a:t>J</a:t>
            </a:r>
            <a:r>
              <a:rPr lang="en-US" sz="2400" b="1" baseline="-25000" err="1"/>
              <a:t>test</a:t>
            </a:r>
            <a:r>
              <a:rPr lang="en-US" sz="2400" b="1"/>
              <a:t>(</a:t>
            </a:r>
            <a:r>
              <a:rPr lang="el-GR" sz="2400" b="1"/>
              <a:t>Θ</a:t>
            </a:r>
            <a:r>
              <a:rPr lang="en-US" sz="2400" b="1" baseline="30000"/>
              <a:t>(1) </a:t>
            </a:r>
            <a:r>
              <a:rPr lang="en-US" sz="2400" b="1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34200" y="1854497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b="1"/>
              <a:t>Θ</a:t>
            </a:r>
            <a:r>
              <a:rPr lang="en-US" sz="2400" b="1" baseline="30000"/>
              <a:t>(2)</a:t>
            </a:r>
            <a:r>
              <a:rPr lang="en-US" sz="2400" b="1"/>
              <a:t> </a:t>
            </a:r>
            <a:r>
              <a:rPr lang="en-US" sz="2400" b="1">
                <a:sym typeface="Wingdings" pitchFamily="2" charset="2"/>
              </a:rPr>
              <a:t> </a:t>
            </a:r>
            <a:r>
              <a:rPr lang="en-US" sz="2400" b="1" err="1"/>
              <a:t>J</a:t>
            </a:r>
            <a:r>
              <a:rPr lang="en-US" sz="2400" b="1" baseline="-25000" err="1"/>
              <a:t>test</a:t>
            </a:r>
            <a:r>
              <a:rPr lang="en-US" sz="2400" b="1"/>
              <a:t>(</a:t>
            </a:r>
            <a:r>
              <a:rPr lang="el-GR" sz="2400" b="1"/>
              <a:t>Θ</a:t>
            </a:r>
            <a:r>
              <a:rPr lang="en-US" sz="2400" b="1" baseline="30000"/>
              <a:t>(2) </a:t>
            </a:r>
            <a:r>
              <a:rPr lang="en-US" sz="2400" b="1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4200" y="2540297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b="1"/>
              <a:t>Θ</a:t>
            </a:r>
            <a:r>
              <a:rPr lang="en-US" sz="2400" b="1" baseline="30000"/>
              <a:t>(3)</a:t>
            </a:r>
            <a:r>
              <a:rPr lang="en-US" sz="2400" b="1"/>
              <a:t> </a:t>
            </a:r>
            <a:r>
              <a:rPr lang="en-US" sz="2400" b="1">
                <a:sym typeface="Wingdings" pitchFamily="2" charset="2"/>
              </a:rPr>
              <a:t> </a:t>
            </a:r>
            <a:r>
              <a:rPr lang="en-US" sz="2400" b="1" err="1"/>
              <a:t>J</a:t>
            </a:r>
            <a:r>
              <a:rPr lang="en-US" sz="2400" b="1" baseline="-25000" err="1"/>
              <a:t>test</a:t>
            </a:r>
            <a:r>
              <a:rPr lang="en-US" sz="2400" b="1"/>
              <a:t>(</a:t>
            </a:r>
            <a:r>
              <a:rPr lang="el-GR" sz="2400" b="1"/>
              <a:t>Θ</a:t>
            </a:r>
            <a:r>
              <a:rPr lang="en-US" sz="2400" b="1" baseline="30000"/>
              <a:t>(3) </a:t>
            </a:r>
            <a:r>
              <a:rPr lang="en-US" sz="2400" b="1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530897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b="1"/>
              <a:t>Θ</a:t>
            </a:r>
            <a:r>
              <a:rPr lang="en-US" sz="2400" b="1" baseline="30000"/>
              <a:t>(10)</a:t>
            </a:r>
            <a:r>
              <a:rPr lang="en-US" sz="2400" b="1"/>
              <a:t> </a:t>
            </a:r>
            <a:r>
              <a:rPr lang="en-US" sz="2400" b="1">
                <a:sym typeface="Wingdings" pitchFamily="2" charset="2"/>
              </a:rPr>
              <a:t> </a:t>
            </a:r>
            <a:r>
              <a:rPr lang="en-US" sz="2400" b="1" err="1"/>
              <a:t>J</a:t>
            </a:r>
            <a:r>
              <a:rPr lang="en-US" sz="2400" b="1" baseline="-25000" err="1"/>
              <a:t>test</a:t>
            </a:r>
            <a:r>
              <a:rPr lang="en-US" sz="2400" b="1"/>
              <a:t>(</a:t>
            </a:r>
            <a:r>
              <a:rPr lang="el-GR" sz="2400" b="1"/>
              <a:t>Θ</a:t>
            </a:r>
            <a:r>
              <a:rPr lang="en-US" sz="2400" b="1" baseline="30000"/>
              <a:t>(10) </a:t>
            </a:r>
            <a:r>
              <a:rPr lang="en-US" sz="2400" b="1"/>
              <a:t>)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4191000"/>
            <a:ext cx="3124200" cy="48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4648200"/>
            <a:ext cx="7931883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" y="5486400"/>
            <a:ext cx="8363284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Selection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799" y="1447800"/>
            <a:ext cx="3716341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Connector 5"/>
          <p:cNvCxnSpPr/>
          <p:nvPr/>
        </p:nvCxnSpPr>
        <p:spPr>
          <a:xfrm>
            <a:off x="762000" y="4953000"/>
            <a:ext cx="289560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ight Brace 6"/>
          <p:cNvSpPr/>
          <p:nvPr/>
        </p:nvSpPr>
        <p:spPr>
          <a:xfrm>
            <a:off x="3733800" y="2514600"/>
            <a:ext cx="381000" cy="2438400"/>
          </a:xfrm>
          <a:prstGeom prst="rightBrac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/>
          <p:cNvSpPr/>
          <p:nvPr/>
        </p:nvSpPr>
        <p:spPr>
          <a:xfrm>
            <a:off x="3733800" y="4953000"/>
            <a:ext cx="304800" cy="838200"/>
          </a:xfrm>
          <a:prstGeom prst="rightBrac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267200" y="3505200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Training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076890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Test Set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0" y="1143000"/>
            <a:ext cx="1676400" cy="2601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81800" y="5257799"/>
            <a:ext cx="2057400" cy="1580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4" name="Straight Connector 13"/>
          <p:cNvCxnSpPr/>
          <p:nvPr/>
        </p:nvCxnSpPr>
        <p:spPr>
          <a:xfrm>
            <a:off x="6477000" y="3581400"/>
            <a:ext cx="243840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3075" idx="1"/>
          </p:cNvCxnSpPr>
          <p:nvPr/>
        </p:nvCxnSpPr>
        <p:spPr>
          <a:xfrm flipV="1">
            <a:off x="5486400" y="2443887"/>
            <a:ext cx="1371600" cy="1137513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3076" idx="1"/>
          </p:cNvCxnSpPr>
          <p:nvPr/>
        </p:nvCxnSpPr>
        <p:spPr>
          <a:xfrm flipV="1">
            <a:off x="5257800" y="6048142"/>
            <a:ext cx="1524000" cy="27645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62000" y="5791200"/>
            <a:ext cx="289560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ight Brace 17"/>
          <p:cNvSpPr/>
          <p:nvPr/>
        </p:nvSpPr>
        <p:spPr>
          <a:xfrm>
            <a:off x="3733800" y="5791200"/>
            <a:ext cx="304800" cy="838200"/>
          </a:xfrm>
          <a:prstGeom prst="rightBrac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6553200" y="5257800"/>
            <a:ext cx="243840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34200" y="3657600"/>
            <a:ext cx="1714500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TextBox 20"/>
          <p:cNvSpPr txBox="1"/>
          <p:nvPr/>
        </p:nvSpPr>
        <p:spPr>
          <a:xfrm>
            <a:off x="4114800" y="5162490"/>
            <a:ext cx="198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Cross Validation (CV) Set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5257800" y="4495800"/>
            <a:ext cx="1600200" cy="65746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Train/Validation/Test Error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00200"/>
            <a:ext cx="6324600" cy="1301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3048000"/>
            <a:ext cx="6324600" cy="1383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199" y="4572000"/>
            <a:ext cx="7641771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</p:spPr>
        <p:txBody>
          <a:bodyPr/>
          <a:lstStyle/>
          <a:p>
            <a:r>
              <a:rPr lang="en-US"/>
              <a:t>Model Selection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401762"/>
            <a:ext cx="6308741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76200" y="84925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Here we need to find the degree of polynomial that works well on unseen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34200" y="1401762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b="1"/>
              <a:t>Θ</a:t>
            </a:r>
            <a:r>
              <a:rPr lang="en-US" sz="2400" b="1" baseline="30000"/>
              <a:t>(1)</a:t>
            </a:r>
            <a:r>
              <a:rPr lang="en-US" sz="2400" b="1"/>
              <a:t> </a:t>
            </a:r>
            <a:r>
              <a:rPr lang="en-US" sz="2400" b="1">
                <a:sym typeface="Wingdings" pitchFamily="2" charset="2"/>
              </a:rPr>
              <a:t> </a:t>
            </a:r>
            <a:r>
              <a:rPr lang="en-US" sz="2400" b="1" err="1"/>
              <a:t>J</a:t>
            </a:r>
            <a:r>
              <a:rPr lang="en-US" sz="2400" b="1" baseline="-25000" err="1"/>
              <a:t>cv</a:t>
            </a:r>
            <a:r>
              <a:rPr lang="en-US" sz="2400" b="1"/>
              <a:t>(</a:t>
            </a:r>
            <a:r>
              <a:rPr lang="el-GR" sz="2400" b="1"/>
              <a:t>Θ</a:t>
            </a:r>
            <a:r>
              <a:rPr lang="en-US" sz="2400" b="1" baseline="30000"/>
              <a:t>(1) </a:t>
            </a:r>
            <a:r>
              <a:rPr lang="en-US" sz="2400" b="1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34200" y="1854497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b="1"/>
              <a:t>Θ</a:t>
            </a:r>
            <a:r>
              <a:rPr lang="en-US" sz="2400" b="1" baseline="30000"/>
              <a:t>(2)</a:t>
            </a:r>
            <a:r>
              <a:rPr lang="en-US" sz="2400" b="1"/>
              <a:t> </a:t>
            </a:r>
            <a:r>
              <a:rPr lang="en-US" sz="2400" b="1">
                <a:sym typeface="Wingdings" pitchFamily="2" charset="2"/>
              </a:rPr>
              <a:t> </a:t>
            </a:r>
            <a:r>
              <a:rPr lang="en-US" sz="2400" b="1" err="1"/>
              <a:t>J</a:t>
            </a:r>
            <a:r>
              <a:rPr lang="en-US" sz="2400" b="1" baseline="-25000" err="1"/>
              <a:t>cv</a:t>
            </a:r>
            <a:r>
              <a:rPr lang="en-US" sz="2400" b="1"/>
              <a:t>(</a:t>
            </a:r>
            <a:r>
              <a:rPr lang="el-GR" sz="2400" b="1"/>
              <a:t>Θ</a:t>
            </a:r>
            <a:r>
              <a:rPr lang="en-US" sz="2400" b="1" baseline="30000"/>
              <a:t>(2) </a:t>
            </a:r>
            <a:r>
              <a:rPr lang="en-US" sz="2400" b="1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4200" y="2540297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b="1"/>
              <a:t>Θ</a:t>
            </a:r>
            <a:r>
              <a:rPr lang="en-US" sz="2400" b="1" baseline="30000"/>
              <a:t>(3)</a:t>
            </a:r>
            <a:r>
              <a:rPr lang="en-US" sz="2400" b="1"/>
              <a:t> </a:t>
            </a:r>
            <a:r>
              <a:rPr lang="en-US" sz="2400" b="1">
                <a:sym typeface="Wingdings" pitchFamily="2" charset="2"/>
              </a:rPr>
              <a:t> </a:t>
            </a:r>
            <a:r>
              <a:rPr lang="en-US" sz="2400" b="1" err="1"/>
              <a:t>J</a:t>
            </a:r>
            <a:r>
              <a:rPr lang="en-US" sz="2400" b="1" baseline="-25000" err="1"/>
              <a:t>cv</a:t>
            </a:r>
            <a:r>
              <a:rPr lang="en-US" sz="2400" b="1"/>
              <a:t>(</a:t>
            </a:r>
            <a:r>
              <a:rPr lang="el-GR" sz="2400" b="1"/>
              <a:t>Θ</a:t>
            </a:r>
            <a:r>
              <a:rPr lang="en-US" sz="2400" b="1" baseline="30000"/>
              <a:t>(3) </a:t>
            </a:r>
            <a:r>
              <a:rPr lang="en-US" sz="2400" b="1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530897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b="1"/>
              <a:t>Θ</a:t>
            </a:r>
            <a:r>
              <a:rPr lang="en-US" sz="2400" b="1" baseline="30000"/>
              <a:t>(10)</a:t>
            </a:r>
            <a:r>
              <a:rPr lang="en-US" sz="2400" b="1"/>
              <a:t> </a:t>
            </a:r>
            <a:r>
              <a:rPr lang="en-US" sz="2400" b="1">
                <a:sym typeface="Wingdings" pitchFamily="2" charset="2"/>
              </a:rPr>
              <a:t> </a:t>
            </a:r>
            <a:r>
              <a:rPr lang="en-US" sz="2400" b="1" err="1"/>
              <a:t>J</a:t>
            </a:r>
            <a:r>
              <a:rPr lang="en-US" sz="2400" b="1" baseline="-25000" err="1"/>
              <a:t>cv</a:t>
            </a:r>
            <a:r>
              <a:rPr lang="en-US" sz="2400" b="1"/>
              <a:t>(</a:t>
            </a:r>
            <a:r>
              <a:rPr lang="el-GR" sz="2400" b="1"/>
              <a:t>Θ</a:t>
            </a:r>
            <a:r>
              <a:rPr lang="en-US" sz="2400" b="1" baseline="30000"/>
              <a:t>(10) </a:t>
            </a:r>
            <a:r>
              <a:rPr lang="en-US" sz="2400" b="1"/>
              <a:t>)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4876800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5334000"/>
            <a:ext cx="711777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Diagnosing Bias and 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If a predictor/algorithm does not work as expected it is generally because of high bias (under-fitting) or high variance (over-fitting)</a:t>
            </a:r>
          </a:p>
          <a:p>
            <a:r>
              <a:rPr lang="en-US"/>
              <a:t>If we can identify bias or variance problem, it is critical in improving performance of predictor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/>
              <a:t>Example: Linear Regression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" y="1181100"/>
            <a:ext cx="2219325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4200" y="1143000"/>
            <a:ext cx="2171700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00725" y="1171575"/>
            <a:ext cx="3267075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Connector 7"/>
          <p:cNvCxnSpPr/>
          <p:nvPr/>
        </p:nvCxnSpPr>
        <p:spPr>
          <a:xfrm flipV="1">
            <a:off x="609600" y="1371600"/>
            <a:ext cx="1524000" cy="106680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9600" y="3429000"/>
            <a:ext cx="1981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/>
              <a:t> </a:t>
            </a:r>
            <a:r>
              <a:rPr lang="en-US" sz="2000" b="1"/>
              <a:t>Under fit</a:t>
            </a:r>
          </a:p>
          <a:p>
            <a:pPr>
              <a:buFont typeface="Arial" pitchFamily="34" charset="0"/>
              <a:buChar char="•"/>
            </a:pPr>
            <a:r>
              <a:rPr lang="en-US" sz="2000" b="1"/>
              <a:t> High bias</a:t>
            </a:r>
          </a:p>
          <a:p>
            <a:pPr>
              <a:buFont typeface="Arial" pitchFamily="34" charset="0"/>
              <a:buChar char="•"/>
            </a:pPr>
            <a:endParaRPr lang="en-US" sz="2000" b="1"/>
          </a:p>
          <a:p>
            <a:r>
              <a:rPr lang="en-US" sz="2000" b="1"/>
              <a:t>i.e. prices of houses will vary linearly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429000"/>
            <a:ext cx="2438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/>
              <a:t> </a:t>
            </a:r>
            <a:r>
              <a:rPr lang="en-US" sz="2000" b="1"/>
              <a:t>Over fit</a:t>
            </a:r>
          </a:p>
          <a:p>
            <a:pPr>
              <a:buFont typeface="Arial" pitchFamily="34" charset="0"/>
              <a:buChar char="•"/>
            </a:pPr>
            <a:r>
              <a:rPr lang="en-US" sz="2000" b="1"/>
              <a:t> High variance</a:t>
            </a:r>
          </a:p>
          <a:p>
            <a:r>
              <a:rPr lang="en-US" sz="2000" b="1"/>
              <a:t>i.e. The space of high order polynomial hypothesis is too large and variable and can fit anything. 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86732" y="1488831"/>
            <a:ext cx="2222696" cy="1073834"/>
          </a:xfrm>
          <a:custGeom>
            <a:avLst/>
            <a:gdLst>
              <a:gd name="connsiteX0" fmla="*/ 0 w 2222696"/>
              <a:gd name="connsiteY0" fmla="*/ 722141 h 1073834"/>
              <a:gd name="connsiteX1" fmla="*/ 225083 w 2222696"/>
              <a:gd name="connsiteY1" fmla="*/ 1059766 h 1073834"/>
              <a:gd name="connsiteX2" fmla="*/ 365760 w 2222696"/>
              <a:gd name="connsiteY2" fmla="*/ 637735 h 1073834"/>
              <a:gd name="connsiteX3" fmla="*/ 548640 w 2222696"/>
              <a:gd name="connsiteY3" fmla="*/ 215704 h 1073834"/>
              <a:gd name="connsiteX4" fmla="*/ 984739 w 2222696"/>
              <a:gd name="connsiteY4" fmla="*/ 89095 h 1073834"/>
              <a:gd name="connsiteX5" fmla="*/ 1519311 w 2222696"/>
              <a:gd name="connsiteY5" fmla="*/ 4689 h 1073834"/>
              <a:gd name="connsiteX6" fmla="*/ 2222696 w 2222696"/>
              <a:gd name="connsiteY6" fmla="*/ 117231 h 1073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2696" h="1073834">
                <a:moveTo>
                  <a:pt x="0" y="722141"/>
                </a:moveTo>
                <a:cubicBezTo>
                  <a:pt x="82061" y="897987"/>
                  <a:pt x="164123" y="1073834"/>
                  <a:pt x="225083" y="1059766"/>
                </a:cubicBezTo>
                <a:cubicBezTo>
                  <a:pt x="286043" y="1045698"/>
                  <a:pt x="311834" y="778412"/>
                  <a:pt x="365760" y="637735"/>
                </a:cubicBezTo>
                <a:cubicBezTo>
                  <a:pt x="419686" y="497058"/>
                  <a:pt x="445477" y="307144"/>
                  <a:pt x="548640" y="215704"/>
                </a:cubicBezTo>
                <a:cubicBezTo>
                  <a:pt x="651803" y="124264"/>
                  <a:pt x="822961" y="124264"/>
                  <a:pt x="984739" y="89095"/>
                </a:cubicBezTo>
                <a:cubicBezTo>
                  <a:pt x="1146517" y="53926"/>
                  <a:pt x="1312985" y="0"/>
                  <a:pt x="1519311" y="4689"/>
                </a:cubicBezTo>
                <a:cubicBezTo>
                  <a:pt x="1725637" y="9378"/>
                  <a:pt x="1974166" y="63304"/>
                  <a:pt x="2222696" y="117231"/>
                </a:cubicBezTo>
              </a:path>
            </a:pathLst>
          </a:cu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3601329" y="1479452"/>
            <a:ext cx="1519311" cy="1266093"/>
          </a:xfrm>
          <a:custGeom>
            <a:avLst/>
            <a:gdLst>
              <a:gd name="connsiteX0" fmla="*/ 0 w 1519311"/>
              <a:gd name="connsiteY0" fmla="*/ 1266093 h 1266093"/>
              <a:gd name="connsiteX1" fmla="*/ 182880 w 1519311"/>
              <a:gd name="connsiteY1" fmla="*/ 604911 h 1266093"/>
              <a:gd name="connsiteX2" fmla="*/ 450166 w 1519311"/>
              <a:gd name="connsiteY2" fmla="*/ 154745 h 1266093"/>
              <a:gd name="connsiteX3" fmla="*/ 1519311 w 1519311"/>
              <a:gd name="connsiteY3" fmla="*/ 0 h 1266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9311" h="1266093">
                <a:moveTo>
                  <a:pt x="0" y="1266093"/>
                </a:moveTo>
                <a:cubicBezTo>
                  <a:pt x="53926" y="1028114"/>
                  <a:pt x="107852" y="790136"/>
                  <a:pt x="182880" y="604911"/>
                </a:cubicBezTo>
                <a:cubicBezTo>
                  <a:pt x="257908" y="419686"/>
                  <a:pt x="227428" y="255564"/>
                  <a:pt x="450166" y="154745"/>
                </a:cubicBezTo>
                <a:cubicBezTo>
                  <a:pt x="672905" y="53927"/>
                  <a:pt x="1310640" y="25791"/>
                  <a:pt x="1519311" y="0"/>
                </a:cubicBezTo>
              </a:path>
            </a:pathLst>
          </a:cu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429000" y="3581400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b="1"/>
              <a:t> Just Right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2" grpId="0" animBg="1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Diagnosing Bias and Variance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990600"/>
            <a:ext cx="7587343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3352800"/>
            <a:ext cx="4685526" cy="307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Freeform 6"/>
          <p:cNvSpPr/>
          <p:nvPr/>
        </p:nvSpPr>
        <p:spPr>
          <a:xfrm>
            <a:off x="1088886" y="3770142"/>
            <a:ext cx="3418449" cy="2096086"/>
          </a:xfrm>
          <a:custGeom>
            <a:avLst/>
            <a:gdLst>
              <a:gd name="connsiteX0" fmla="*/ 0 w 3418449"/>
              <a:gd name="connsiteY0" fmla="*/ 0 h 2096086"/>
              <a:gd name="connsiteX1" fmla="*/ 731520 w 3418449"/>
              <a:gd name="connsiteY1" fmla="*/ 1575581 h 2096086"/>
              <a:gd name="connsiteX2" fmla="*/ 3418449 w 3418449"/>
              <a:gd name="connsiteY2" fmla="*/ 2096086 h 2096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8449" h="2096086">
                <a:moveTo>
                  <a:pt x="0" y="0"/>
                </a:moveTo>
                <a:cubicBezTo>
                  <a:pt x="80889" y="613116"/>
                  <a:pt x="161779" y="1226233"/>
                  <a:pt x="731520" y="1575581"/>
                </a:cubicBezTo>
                <a:cubicBezTo>
                  <a:pt x="1301261" y="1924929"/>
                  <a:pt x="2359855" y="2010507"/>
                  <a:pt x="3418449" y="2096086"/>
                </a:cubicBezTo>
              </a:path>
            </a:pathLst>
          </a:cu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102954" y="3587262"/>
            <a:ext cx="2560320" cy="1737359"/>
          </a:xfrm>
          <a:custGeom>
            <a:avLst/>
            <a:gdLst>
              <a:gd name="connsiteX0" fmla="*/ 0 w 2560320"/>
              <a:gd name="connsiteY0" fmla="*/ 0 h 1737359"/>
              <a:gd name="connsiteX1" fmla="*/ 773723 w 2560320"/>
              <a:gd name="connsiteY1" fmla="*/ 1659987 h 1737359"/>
              <a:gd name="connsiteX2" fmla="*/ 2560320 w 2560320"/>
              <a:gd name="connsiteY2" fmla="*/ 464233 h 1737359"/>
              <a:gd name="connsiteX3" fmla="*/ 2560320 w 2560320"/>
              <a:gd name="connsiteY3" fmla="*/ 464233 h 1737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20" h="1737359">
                <a:moveTo>
                  <a:pt x="0" y="0"/>
                </a:moveTo>
                <a:cubicBezTo>
                  <a:pt x="173501" y="791307"/>
                  <a:pt x="347003" y="1582615"/>
                  <a:pt x="773723" y="1659987"/>
                </a:cubicBezTo>
                <a:cubicBezTo>
                  <a:pt x="1200443" y="1737359"/>
                  <a:pt x="2560320" y="464233"/>
                  <a:pt x="2560320" y="464233"/>
                </a:cubicBezTo>
                <a:lnTo>
                  <a:pt x="2560320" y="464233"/>
                </a:lnTo>
              </a:path>
            </a:pathLst>
          </a:cu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866126" y="3886200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err="1">
                <a:solidFill>
                  <a:srgbClr val="FF0000"/>
                </a:solidFill>
              </a:rPr>
              <a:t>J</a:t>
            </a:r>
            <a:r>
              <a:rPr lang="en-US" sz="2000" b="1" baseline="-25000" err="1">
                <a:solidFill>
                  <a:srgbClr val="FF0000"/>
                </a:solidFill>
              </a:rPr>
              <a:t>cv</a:t>
            </a:r>
            <a:r>
              <a:rPr lang="en-US" sz="2000" b="1">
                <a:solidFill>
                  <a:srgbClr val="FF0000"/>
                </a:solidFill>
              </a:rPr>
              <a:t>(</a:t>
            </a:r>
            <a:r>
              <a:rPr lang="el-GR" sz="2000" b="1">
                <a:solidFill>
                  <a:srgbClr val="FF0000"/>
                </a:solidFill>
              </a:rPr>
              <a:t>θ</a:t>
            </a:r>
            <a:r>
              <a:rPr lang="en-US" sz="2000" b="1">
                <a:solidFill>
                  <a:srgbClr val="FF0000"/>
                </a:solidFill>
              </a:rPr>
              <a:t>) or </a:t>
            </a:r>
            <a:r>
              <a:rPr lang="en-US" sz="2000" b="1" err="1">
                <a:solidFill>
                  <a:srgbClr val="FF0000"/>
                </a:solidFill>
              </a:rPr>
              <a:t>J</a:t>
            </a:r>
            <a:r>
              <a:rPr lang="en-US" sz="2000" b="1" baseline="-25000" err="1">
                <a:solidFill>
                  <a:srgbClr val="FF0000"/>
                </a:solidFill>
              </a:rPr>
              <a:t>test</a:t>
            </a:r>
            <a:r>
              <a:rPr lang="en-US" sz="2000" b="1">
                <a:solidFill>
                  <a:srgbClr val="FF0000"/>
                </a:solidFill>
              </a:rPr>
              <a:t>(</a:t>
            </a:r>
            <a:r>
              <a:rPr lang="el-GR" sz="2000" b="1">
                <a:solidFill>
                  <a:srgbClr val="FF0000"/>
                </a:solidFill>
              </a:rPr>
              <a:t>θ</a:t>
            </a:r>
            <a:r>
              <a:rPr lang="en-US" sz="2000" b="1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1526" y="5334000"/>
            <a:ext cx="106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err="1">
                <a:solidFill>
                  <a:srgbClr val="00B050"/>
                </a:solidFill>
              </a:rPr>
              <a:t>J</a:t>
            </a:r>
            <a:r>
              <a:rPr lang="en-US" sz="2000" b="1" baseline="-25000" err="1">
                <a:solidFill>
                  <a:srgbClr val="00B050"/>
                </a:solidFill>
              </a:rPr>
              <a:t>train</a:t>
            </a:r>
            <a:r>
              <a:rPr lang="en-US" sz="2000" b="1">
                <a:solidFill>
                  <a:srgbClr val="00B050"/>
                </a:solidFill>
              </a:rPr>
              <a:t>(</a:t>
            </a:r>
            <a:r>
              <a:rPr lang="el-GR" sz="2000" b="1">
                <a:solidFill>
                  <a:srgbClr val="00B050"/>
                </a:solidFill>
              </a:rPr>
              <a:t>θ</a:t>
            </a:r>
            <a:r>
              <a:rPr lang="en-US" sz="2000" b="1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0200" y="3048000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How to know high bias or high variance?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0200" y="3886200"/>
            <a:ext cx="3733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High Bias Problem (under-fit):</a:t>
            </a:r>
          </a:p>
          <a:p>
            <a:pPr>
              <a:buFont typeface="Arial" pitchFamily="34" charset="0"/>
              <a:buChar char="•"/>
            </a:pPr>
            <a:r>
              <a:rPr lang="en-US" sz="2000" b="1"/>
              <a:t> High training and validation errors</a:t>
            </a:r>
          </a:p>
          <a:p>
            <a:pPr>
              <a:buFont typeface="Arial" pitchFamily="34" charset="0"/>
              <a:buChar char="•"/>
            </a:pPr>
            <a:r>
              <a:rPr lang="en-US" sz="2000" b="1"/>
              <a:t> </a:t>
            </a:r>
            <a:r>
              <a:rPr lang="en-US" sz="2000" b="1" err="1"/>
              <a:t>J</a:t>
            </a:r>
            <a:r>
              <a:rPr lang="en-US" sz="2000" b="1" baseline="-25000" err="1"/>
              <a:t>train</a:t>
            </a:r>
            <a:r>
              <a:rPr lang="en-US" sz="2000" b="1"/>
              <a:t> is approximately equal to </a:t>
            </a:r>
            <a:r>
              <a:rPr lang="en-US" sz="2000" b="1" err="1"/>
              <a:t>J</a:t>
            </a:r>
            <a:r>
              <a:rPr lang="en-US" sz="2000" b="1" baseline="-25000" err="1"/>
              <a:t>cv</a:t>
            </a:r>
            <a:endParaRPr lang="en-US" sz="2000" b="1" baseline="-25000"/>
          </a:p>
        </p:txBody>
      </p:sp>
      <p:sp>
        <p:nvSpPr>
          <p:cNvPr id="13" name="TextBox 12"/>
          <p:cNvSpPr txBox="1"/>
          <p:nvPr/>
        </p:nvSpPr>
        <p:spPr>
          <a:xfrm>
            <a:off x="5410200" y="5537537"/>
            <a:ext cx="3733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High Variance Problem (over-fit):</a:t>
            </a:r>
          </a:p>
          <a:p>
            <a:pPr>
              <a:buFont typeface="Arial" pitchFamily="34" charset="0"/>
              <a:buChar char="•"/>
            </a:pPr>
            <a:r>
              <a:rPr lang="en-US" sz="2000" b="1"/>
              <a:t> Low training error</a:t>
            </a:r>
          </a:p>
          <a:p>
            <a:pPr>
              <a:buFont typeface="Arial" pitchFamily="34" charset="0"/>
              <a:buChar char="•"/>
            </a:pPr>
            <a:r>
              <a:rPr lang="en-US" sz="2000" b="1"/>
              <a:t> </a:t>
            </a:r>
            <a:r>
              <a:rPr lang="en-US" sz="2000" b="1" err="1"/>
              <a:t>J</a:t>
            </a:r>
            <a:r>
              <a:rPr lang="en-US" sz="2000" b="1" baseline="-25000" err="1"/>
              <a:t>cv</a:t>
            </a:r>
            <a:r>
              <a:rPr lang="en-US" sz="2000" b="1"/>
              <a:t> &gt;&gt; </a:t>
            </a:r>
            <a:r>
              <a:rPr lang="en-US" sz="2000" b="1" err="1"/>
              <a:t>J</a:t>
            </a:r>
            <a:r>
              <a:rPr lang="en-US" sz="2000" b="1" baseline="-25000" err="1"/>
              <a:t>train</a:t>
            </a:r>
            <a:endParaRPr lang="en-US" sz="2000" b="1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/>
      <p:bldP spid="12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>
            <a:normAutofit/>
          </a:bodyPr>
          <a:lstStyle/>
          <a:p>
            <a:r>
              <a:rPr lang="en-US"/>
              <a:t>Regularization and Bias/Variance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1" y="1143000"/>
            <a:ext cx="5181600" cy="408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752600"/>
            <a:ext cx="6248400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3581400"/>
            <a:ext cx="2219325" cy="1844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24200" y="3581400"/>
            <a:ext cx="2219325" cy="1844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24600" y="3581400"/>
            <a:ext cx="2292112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8600" y="5657850"/>
            <a:ext cx="29051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2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81400" y="5638800"/>
            <a:ext cx="16383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3" name="Picture 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400800" y="5638800"/>
            <a:ext cx="24098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Straight Connector 12"/>
          <p:cNvCxnSpPr/>
          <p:nvPr/>
        </p:nvCxnSpPr>
        <p:spPr>
          <a:xfrm>
            <a:off x="609600" y="4267200"/>
            <a:ext cx="1676400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3601329" y="3861582"/>
            <a:ext cx="1631853" cy="1287193"/>
          </a:xfrm>
          <a:custGeom>
            <a:avLst/>
            <a:gdLst>
              <a:gd name="connsiteX0" fmla="*/ 0 w 1631853"/>
              <a:gd name="connsiteY0" fmla="*/ 1287193 h 1287193"/>
              <a:gd name="connsiteX1" fmla="*/ 126609 w 1631853"/>
              <a:gd name="connsiteY1" fmla="*/ 963636 h 1287193"/>
              <a:gd name="connsiteX2" fmla="*/ 211016 w 1631853"/>
              <a:gd name="connsiteY2" fmla="*/ 710418 h 1287193"/>
              <a:gd name="connsiteX3" fmla="*/ 379828 w 1631853"/>
              <a:gd name="connsiteY3" fmla="*/ 288387 h 1287193"/>
              <a:gd name="connsiteX4" fmla="*/ 844062 w 1631853"/>
              <a:gd name="connsiteY4" fmla="*/ 91440 h 1287193"/>
              <a:gd name="connsiteX5" fmla="*/ 1631853 w 1631853"/>
              <a:gd name="connsiteY5" fmla="*/ 35169 h 1287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31853" h="1287193">
                <a:moveTo>
                  <a:pt x="0" y="1287193"/>
                </a:moveTo>
                <a:cubicBezTo>
                  <a:pt x="45720" y="1173479"/>
                  <a:pt x="91440" y="1059765"/>
                  <a:pt x="126609" y="963636"/>
                </a:cubicBezTo>
                <a:cubicBezTo>
                  <a:pt x="161778" y="867507"/>
                  <a:pt x="168813" y="822959"/>
                  <a:pt x="211016" y="710418"/>
                </a:cubicBezTo>
                <a:cubicBezTo>
                  <a:pt x="253219" y="597877"/>
                  <a:pt x="274320" y="391550"/>
                  <a:pt x="379828" y="288387"/>
                </a:cubicBezTo>
                <a:cubicBezTo>
                  <a:pt x="485336" y="185224"/>
                  <a:pt x="635391" y="133643"/>
                  <a:pt x="844062" y="91440"/>
                </a:cubicBezTo>
                <a:cubicBezTo>
                  <a:pt x="1052733" y="49237"/>
                  <a:pt x="1514622" y="0"/>
                  <a:pt x="1631853" y="35169"/>
                </a:cubicBezTo>
              </a:path>
            </a:pathLst>
          </a:cu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6682154" y="3753729"/>
            <a:ext cx="1828800" cy="1324708"/>
          </a:xfrm>
          <a:custGeom>
            <a:avLst/>
            <a:gdLst>
              <a:gd name="connsiteX0" fmla="*/ 0 w 1828800"/>
              <a:gd name="connsiteY0" fmla="*/ 1001151 h 1324708"/>
              <a:gd name="connsiteX1" fmla="*/ 211015 w 1828800"/>
              <a:gd name="connsiteY1" fmla="*/ 1296573 h 1324708"/>
              <a:gd name="connsiteX2" fmla="*/ 337624 w 1828800"/>
              <a:gd name="connsiteY2" fmla="*/ 832339 h 1324708"/>
              <a:gd name="connsiteX3" fmla="*/ 576775 w 1828800"/>
              <a:gd name="connsiteY3" fmla="*/ 410308 h 1324708"/>
              <a:gd name="connsiteX4" fmla="*/ 914400 w 1828800"/>
              <a:gd name="connsiteY4" fmla="*/ 494714 h 1324708"/>
              <a:gd name="connsiteX5" fmla="*/ 1069144 w 1828800"/>
              <a:gd name="connsiteY5" fmla="*/ 44548 h 1324708"/>
              <a:gd name="connsiteX6" fmla="*/ 1828800 w 1828800"/>
              <a:gd name="connsiteY6" fmla="*/ 227428 h 1324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8800" h="1324708">
                <a:moveTo>
                  <a:pt x="0" y="1001151"/>
                </a:moveTo>
                <a:cubicBezTo>
                  <a:pt x="77372" y="1162929"/>
                  <a:pt x="154744" y="1324708"/>
                  <a:pt x="211015" y="1296573"/>
                </a:cubicBezTo>
                <a:cubicBezTo>
                  <a:pt x="267286" y="1268438"/>
                  <a:pt x="276664" y="980050"/>
                  <a:pt x="337624" y="832339"/>
                </a:cubicBezTo>
                <a:cubicBezTo>
                  <a:pt x="398584" y="684628"/>
                  <a:pt x="480646" y="466579"/>
                  <a:pt x="576775" y="410308"/>
                </a:cubicBezTo>
                <a:cubicBezTo>
                  <a:pt x="672904" y="354037"/>
                  <a:pt x="832339" y="555674"/>
                  <a:pt x="914400" y="494714"/>
                </a:cubicBezTo>
                <a:cubicBezTo>
                  <a:pt x="996462" y="433754"/>
                  <a:pt x="916744" y="89096"/>
                  <a:pt x="1069144" y="44548"/>
                </a:cubicBezTo>
                <a:cubicBezTo>
                  <a:pt x="1221544" y="0"/>
                  <a:pt x="1681089" y="98474"/>
                  <a:pt x="1828800" y="227428"/>
                </a:cubicBezTo>
              </a:path>
            </a:pathLst>
          </a:cu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/>
              <a:t>Choosing Regularization Parameter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524000"/>
            <a:ext cx="6663724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4191000"/>
            <a:ext cx="6207868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/>
              <a:t>Choosing Regularization Parameter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219200"/>
            <a:ext cx="7047186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2819400"/>
            <a:ext cx="2858347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4114800" y="2971800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b="1"/>
              <a:t>Θ</a:t>
            </a:r>
            <a:r>
              <a:rPr lang="en-US" sz="2400" b="1" baseline="30000"/>
              <a:t>(1)</a:t>
            </a:r>
            <a:r>
              <a:rPr lang="en-US" sz="2400" b="1"/>
              <a:t> </a:t>
            </a:r>
            <a:r>
              <a:rPr lang="en-US" sz="2400" b="1">
                <a:sym typeface="Wingdings" pitchFamily="2" charset="2"/>
              </a:rPr>
              <a:t> </a:t>
            </a:r>
            <a:r>
              <a:rPr lang="en-US" sz="2400" b="1" err="1"/>
              <a:t>J</a:t>
            </a:r>
            <a:r>
              <a:rPr lang="en-US" sz="2400" b="1" baseline="-25000" err="1"/>
              <a:t>cv</a:t>
            </a:r>
            <a:r>
              <a:rPr lang="en-US" sz="2400" b="1"/>
              <a:t>(</a:t>
            </a:r>
            <a:r>
              <a:rPr lang="el-GR" sz="2400" b="1"/>
              <a:t>Θ</a:t>
            </a:r>
            <a:r>
              <a:rPr lang="en-US" sz="2400" b="1" baseline="30000"/>
              <a:t>(1) </a:t>
            </a:r>
            <a:r>
              <a:rPr lang="en-US" sz="2400" b="1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424535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b="1"/>
              <a:t>Θ</a:t>
            </a:r>
            <a:r>
              <a:rPr lang="en-US" sz="2400" b="1" baseline="30000"/>
              <a:t>(2)</a:t>
            </a:r>
            <a:r>
              <a:rPr lang="en-US" sz="2400" b="1"/>
              <a:t> </a:t>
            </a:r>
            <a:r>
              <a:rPr lang="en-US" sz="2400" b="1">
                <a:sym typeface="Wingdings" pitchFamily="2" charset="2"/>
              </a:rPr>
              <a:t> </a:t>
            </a:r>
            <a:r>
              <a:rPr lang="en-US" sz="2400" b="1" err="1"/>
              <a:t>J</a:t>
            </a:r>
            <a:r>
              <a:rPr lang="en-US" sz="2400" b="1" baseline="-25000" err="1"/>
              <a:t>cv</a:t>
            </a:r>
            <a:r>
              <a:rPr lang="en-US" sz="2400" b="1"/>
              <a:t>(</a:t>
            </a:r>
            <a:r>
              <a:rPr lang="el-GR" sz="2400" b="1"/>
              <a:t>Θ</a:t>
            </a:r>
            <a:r>
              <a:rPr lang="en-US" sz="2400" b="1" baseline="30000"/>
              <a:t>(2) </a:t>
            </a:r>
            <a:r>
              <a:rPr lang="en-US" sz="2400" b="1"/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491335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b="1"/>
              <a:t>Θ</a:t>
            </a:r>
            <a:r>
              <a:rPr lang="en-US" sz="2400" b="1" baseline="30000"/>
              <a:t>(4)</a:t>
            </a:r>
            <a:r>
              <a:rPr lang="en-US" sz="2400" b="1"/>
              <a:t> </a:t>
            </a:r>
            <a:r>
              <a:rPr lang="en-US" sz="2400" b="1">
                <a:sym typeface="Wingdings" pitchFamily="2" charset="2"/>
              </a:rPr>
              <a:t> </a:t>
            </a:r>
            <a:r>
              <a:rPr lang="en-US" sz="2400" b="1" err="1"/>
              <a:t>J</a:t>
            </a:r>
            <a:r>
              <a:rPr lang="en-US" sz="2400" b="1" baseline="-25000" err="1"/>
              <a:t>cv</a:t>
            </a:r>
            <a:r>
              <a:rPr lang="en-US" sz="2400" b="1"/>
              <a:t>(</a:t>
            </a:r>
            <a:r>
              <a:rPr lang="el-GR" sz="2400" b="1"/>
              <a:t>Θ</a:t>
            </a:r>
            <a:r>
              <a:rPr lang="en-US" sz="2400" b="1" baseline="30000"/>
              <a:t>(4) </a:t>
            </a:r>
            <a:r>
              <a:rPr lang="en-US" sz="2400" b="1"/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8600" y="6015335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b="1"/>
              <a:t>Θ</a:t>
            </a:r>
            <a:r>
              <a:rPr lang="en-US" sz="2400" b="1" baseline="30000"/>
              <a:t>(12)</a:t>
            </a:r>
            <a:r>
              <a:rPr lang="en-US" sz="2400" b="1"/>
              <a:t> </a:t>
            </a:r>
            <a:r>
              <a:rPr lang="en-US" sz="2400" b="1">
                <a:sym typeface="Wingdings" pitchFamily="2" charset="2"/>
              </a:rPr>
              <a:t> </a:t>
            </a:r>
            <a:r>
              <a:rPr lang="en-US" sz="2400" b="1" err="1"/>
              <a:t>J</a:t>
            </a:r>
            <a:r>
              <a:rPr lang="en-US" sz="2400" b="1" baseline="-25000" err="1"/>
              <a:t>cv</a:t>
            </a:r>
            <a:r>
              <a:rPr lang="en-US" sz="2400" b="1"/>
              <a:t>(</a:t>
            </a:r>
            <a:r>
              <a:rPr lang="el-GR" sz="2400" b="1"/>
              <a:t>Θ</a:t>
            </a:r>
            <a:r>
              <a:rPr lang="en-US" sz="2400" b="1" baseline="30000"/>
              <a:t>(12) </a:t>
            </a:r>
            <a:r>
              <a:rPr lang="en-US" sz="2400" b="1"/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3000" y="3810000"/>
            <a:ext cx="38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.</a:t>
            </a:r>
          </a:p>
          <a:p>
            <a:r>
              <a:rPr lang="en-US" sz="2000" b="1"/>
              <a:t>.</a:t>
            </a:r>
            <a:endParaRPr lang="en-US" b="1"/>
          </a:p>
        </p:txBody>
      </p:sp>
      <p:sp>
        <p:nvSpPr>
          <p:cNvPr id="13" name="TextBox 12"/>
          <p:cNvSpPr txBox="1"/>
          <p:nvPr/>
        </p:nvSpPr>
        <p:spPr>
          <a:xfrm>
            <a:off x="4953000" y="4800600"/>
            <a:ext cx="381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.</a:t>
            </a:r>
          </a:p>
          <a:p>
            <a:r>
              <a:rPr lang="en-US" sz="2000" b="1"/>
              <a:t>.</a:t>
            </a:r>
          </a:p>
          <a:p>
            <a:r>
              <a:rPr lang="en-US" sz="2000" b="1"/>
              <a:t>.</a:t>
            </a:r>
          </a:p>
          <a:p>
            <a:r>
              <a:rPr lang="en-US" sz="2000" b="1"/>
              <a:t>.</a:t>
            </a:r>
            <a:endParaRPr 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-76200"/>
            <a:ext cx="8229600" cy="1143000"/>
          </a:xfrm>
        </p:spPr>
        <p:txBody>
          <a:bodyPr>
            <a:normAutofit/>
          </a:bodyPr>
          <a:lstStyle/>
          <a:p>
            <a:r>
              <a:rPr lang="en-US"/>
              <a:t>Bias/Variance as a function of    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96200" y="152400"/>
            <a:ext cx="533400" cy="688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990600"/>
            <a:ext cx="5611608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800" y="3124200"/>
            <a:ext cx="3619500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09600" y="4552890"/>
            <a:ext cx="3276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If small/large lambda then?</a:t>
            </a:r>
            <a:endParaRPr lang="en-US" b="1"/>
          </a:p>
        </p:txBody>
      </p:sp>
      <p:sp>
        <p:nvSpPr>
          <p:cNvPr id="9" name="Freeform 8"/>
          <p:cNvSpPr/>
          <p:nvPr/>
        </p:nvSpPr>
        <p:spPr>
          <a:xfrm>
            <a:off x="5641145" y="3699803"/>
            <a:ext cx="2532184" cy="2489982"/>
          </a:xfrm>
          <a:custGeom>
            <a:avLst/>
            <a:gdLst>
              <a:gd name="connsiteX0" fmla="*/ 0 w 2532184"/>
              <a:gd name="connsiteY0" fmla="*/ 2489982 h 2489982"/>
              <a:gd name="connsiteX1" fmla="*/ 1519310 w 2532184"/>
              <a:gd name="connsiteY1" fmla="*/ 1350499 h 2489982"/>
              <a:gd name="connsiteX2" fmla="*/ 2532184 w 2532184"/>
              <a:gd name="connsiteY2" fmla="*/ 0 h 2489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32184" h="2489982">
                <a:moveTo>
                  <a:pt x="0" y="2489982"/>
                </a:moveTo>
                <a:cubicBezTo>
                  <a:pt x="548639" y="2127739"/>
                  <a:pt x="1097279" y="1765496"/>
                  <a:pt x="1519310" y="1350499"/>
                </a:cubicBezTo>
                <a:cubicBezTo>
                  <a:pt x="1941341" y="935502"/>
                  <a:pt x="2236762" y="467751"/>
                  <a:pt x="2532184" y="0"/>
                </a:cubicBezTo>
              </a:path>
            </a:pathLst>
          </a:cu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5627077" y="3488788"/>
            <a:ext cx="2307101" cy="1341120"/>
          </a:xfrm>
          <a:custGeom>
            <a:avLst/>
            <a:gdLst>
              <a:gd name="connsiteX0" fmla="*/ 0 w 2307101"/>
              <a:gd name="connsiteY0" fmla="*/ 0 h 1341120"/>
              <a:gd name="connsiteX1" fmla="*/ 253218 w 2307101"/>
              <a:gd name="connsiteY1" fmla="*/ 731520 h 1341120"/>
              <a:gd name="connsiteX2" fmla="*/ 1012874 w 2307101"/>
              <a:gd name="connsiteY2" fmla="*/ 1322363 h 1341120"/>
              <a:gd name="connsiteX3" fmla="*/ 1871003 w 2307101"/>
              <a:gd name="connsiteY3" fmla="*/ 844061 h 1341120"/>
              <a:gd name="connsiteX4" fmla="*/ 2307101 w 2307101"/>
              <a:gd name="connsiteY4" fmla="*/ 0 h 1341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7101" h="1341120">
                <a:moveTo>
                  <a:pt x="0" y="0"/>
                </a:moveTo>
                <a:cubicBezTo>
                  <a:pt x="42203" y="255563"/>
                  <a:pt x="84406" y="511126"/>
                  <a:pt x="253218" y="731520"/>
                </a:cubicBezTo>
                <a:cubicBezTo>
                  <a:pt x="422030" y="951914"/>
                  <a:pt x="743243" y="1303606"/>
                  <a:pt x="1012874" y="1322363"/>
                </a:cubicBezTo>
                <a:cubicBezTo>
                  <a:pt x="1282505" y="1341120"/>
                  <a:pt x="1655298" y="1064455"/>
                  <a:pt x="1871003" y="844061"/>
                </a:cubicBezTo>
                <a:cubicBezTo>
                  <a:pt x="2086708" y="623667"/>
                  <a:pt x="2196904" y="311833"/>
                  <a:pt x="2307101" y="0"/>
                </a:cubicBezTo>
              </a:path>
            </a:pathLst>
          </a:cu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638800" y="3352800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err="1">
                <a:solidFill>
                  <a:srgbClr val="FF0000"/>
                </a:solidFill>
              </a:rPr>
              <a:t>J</a:t>
            </a:r>
            <a:r>
              <a:rPr lang="en-US" sz="2000" b="1" baseline="-25000" err="1">
                <a:solidFill>
                  <a:srgbClr val="FF0000"/>
                </a:solidFill>
              </a:rPr>
              <a:t>cv</a:t>
            </a:r>
            <a:r>
              <a:rPr lang="en-US" sz="2000" b="1">
                <a:solidFill>
                  <a:srgbClr val="FF0000"/>
                </a:solidFill>
              </a:rPr>
              <a:t>(</a:t>
            </a:r>
            <a:r>
              <a:rPr lang="el-GR" sz="2000" b="1">
                <a:solidFill>
                  <a:srgbClr val="FF0000"/>
                </a:solidFill>
              </a:rPr>
              <a:t>θ</a:t>
            </a:r>
            <a:r>
              <a:rPr lang="en-US" sz="2000" b="1">
                <a:solidFill>
                  <a:srgbClr val="FF0000"/>
                </a:solidFill>
              </a:rPr>
              <a:t>) or </a:t>
            </a:r>
            <a:r>
              <a:rPr lang="en-US" sz="2000" b="1" err="1">
                <a:solidFill>
                  <a:srgbClr val="FF0000"/>
                </a:solidFill>
              </a:rPr>
              <a:t>J</a:t>
            </a:r>
            <a:r>
              <a:rPr lang="en-US" sz="2000" b="1" baseline="-25000" err="1">
                <a:solidFill>
                  <a:srgbClr val="FF0000"/>
                </a:solidFill>
              </a:rPr>
              <a:t>test</a:t>
            </a:r>
            <a:r>
              <a:rPr lang="en-US" sz="2000" b="1">
                <a:solidFill>
                  <a:srgbClr val="FF0000"/>
                </a:solidFill>
              </a:rPr>
              <a:t>(</a:t>
            </a:r>
            <a:r>
              <a:rPr lang="el-GR" sz="2000" b="1">
                <a:solidFill>
                  <a:srgbClr val="FF0000"/>
                </a:solidFill>
              </a:rPr>
              <a:t>θ</a:t>
            </a:r>
            <a:r>
              <a:rPr lang="en-US" sz="2000" b="1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0" y="5029200"/>
            <a:ext cx="106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err="1">
                <a:solidFill>
                  <a:srgbClr val="00B050"/>
                </a:solidFill>
              </a:rPr>
              <a:t>J</a:t>
            </a:r>
            <a:r>
              <a:rPr lang="en-US" sz="2000" b="1" baseline="-25000" err="1">
                <a:solidFill>
                  <a:srgbClr val="00B050"/>
                </a:solidFill>
              </a:rPr>
              <a:t>train</a:t>
            </a:r>
            <a:r>
              <a:rPr lang="en-US" sz="2000" b="1">
                <a:solidFill>
                  <a:srgbClr val="00B050"/>
                </a:solidFill>
              </a:rPr>
              <a:t>(</a:t>
            </a:r>
            <a:r>
              <a:rPr lang="el-GR" sz="2000" b="1">
                <a:solidFill>
                  <a:srgbClr val="00B050"/>
                </a:solidFill>
              </a:rPr>
              <a:t>θ</a:t>
            </a:r>
            <a:r>
              <a:rPr lang="en-US" sz="2000" b="1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8600" y="2266890"/>
            <a:ext cx="129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High Bias</a:t>
            </a:r>
            <a:endParaRPr lang="en-US" b="1"/>
          </a:p>
        </p:txBody>
      </p:sp>
      <p:sp>
        <p:nvSpPr>
          <p:cNvPr id="14" name="TextBox 13"/>
          <p:cNvSpPr txBox="1"/>
          <p:nvPr/>
        </p:nvSpPr>
        <p:spPr>
          <a:xfrm>
            <a:off x="5181600" y="2266890"/>
            <a:ext cx="167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High Variance</a:t>
            </a:r>
            <a:endParaRPr lang="en-US" b="1"/>
          </a:p>
        </p:txBody>
      </p:sp>
      <p:cxnSp>
        <p:nvCxnSpPr>
          <p:cNvPr id="16" name="Straight Arrow Connector 15"/>
          <p:cNvCxnSpPr>
            <a:stCxn id="13" idx="2"/>
          </p:cNvCxnSpPr>
          <p:nvPr/>
        </p:nvCxnSpPr>
        <p:spPr>
          <a:xfrm flipH="1">
            <a:off x="8153400" y="2667000"/>
            <a:ext cx="342900" cy="9144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4" idx="2"/>
          </p:cNvCxnSpPr>
          <p:nvPr/>
        </p:nvCxnSpPr>
        <p:spPr>
          <a:xfrm>
            <a:off x="6019800" y="2667000"/>
            <a:ext cx="76200" cy="685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/>
      <p:bldP spid="13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Error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Recommended Approach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1013" y="2209800"/>
            <a:ext cx="8181975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Error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8686800" cy="4525963"/>
          </a:xfrm>
        </p:spPr>
        <p:txBody>
          <a:bodyPr/>
          <a:lstStyle/>
          <a:p>
            <a:r>
              <a:rPr lang="en-US"/>
              <a:t>Example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437" y="2286000"/>
            <a:ext cx="8937122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4953000"/>
            <a:ext cx="2362200" cy="1639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600200" y="5029200"/>
            <a:ext cx="68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10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057400" y="5410200"/>
            <a:ext cx="68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6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590800" y="5772090"/>
            <a:ext cx="68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55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19200" y="6153090"/>
            <a:ext cx="68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 29 </a:t>
            </a:r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86200" y="5029200"/>
            <a:ext cx="4411014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6934200" y="5029200"/>
            <a:ext cx="68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1800" y="5772090"/>
            <a:ext cx="68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172200"/>
            <a:ext cx="68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30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2" grpId="0"/>
      <p:bldP spid="13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Error Metrics for Skewed Classes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813074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4343400"/>
            <a:ext cx="838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We find that only 0.5% patients in train and test set have cancer ………..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257800"/>
            <a:ext cx="853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When there is large imbalance between positive and negative classes, we call it as skewed data/classes. Hence classification accuracy is a poor metric here …..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1143000"/>
          </a:xfrm>
        </p:spPr>
        <p:txBody>
          <a:bodyPr/>
          <a:lstStyle/>
          <a:p>
            <a:r>
              <a:rPr lang="en-US"/>
              <a:t>Error Metrics for Skewed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534400" cy="4495800"/>
          </a:xfrm>
        </p:spPr>
        <p:txBody>
          <a:bodyPr/>
          <a:lstStyle/>
          <a:p>
            <a:r>
              <a:rPr lang="en-US"/>
              <a:t>To cope with the problem of skewed classes we use different metrics:</a:t>
            </a:r>
          </a:p>
          <a:p>
            <a:pPr lvl="1"/>
            <a:r>
              <a:rPr lang="en-US"/>
              <a:t>Precision</a:t>
            </a:r>
          </a:p>
          <a:p>
            <a:pPr lvl="1"/>
            <a:r>
              <a:rPr lang="en-US"/>
              <a:t>Recall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Error Metrics for Skewed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93837"/>
            <a:ext cx="48768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To understand these first lets define some important terms</a:t>
            </a:r>
          </a:p>
          <a:p>
            <a:pPr lvl="1"/>
            <a:r>
              <a:rPr lang="en-US"/>
              <a:t>True Positive (Actual class = 1 and Predicted class = 1)</a:t>
            </a:r>
          </a:p>
          <a:p>
            <a:pPr lvl="1"/>
            <a:r>
              <a:rPr lang="en-US"/>
              <a:t>True Negative (Actual class = 0 and Predicted class = 0)</a:t>
            </a:r>
          </a:p>
          <a:p>
            <a:pPr lvl="1"/>
            <a:r>
              <a:rPr lang="en-US"/>
              <a:t>False Positive (Actual class = 0 and Predicted class = 1)</a:t>
            </a:r>
          </a:p>
          <a:p>
            <a:pPr lvl="1"/>
            <a:r>
              <a:rPr lang="en-US"/>
              <a:t>False Negative (Actual class = 1 and Predicted class = 0)</a:t>
            </a:r>
          </a:p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1828800"/>
            <a:ext cx="3514725" cy="344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4"/>
          <p:cNvSpPr txBox="1">
            <a:spLocks noGrp="1"/>
          </p:cNvSpPr>
          <p:nvPr>
            <p:ph type="title"/>
          </p:nvPr>
        </p:nvSpPr>
        <p:spPr>
          <a:xfrm>
            <a:off x="311700" y="28455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sz="3200" dirty="0"/>
              <a:t>FP and FN also called Type-1 and Type-2 errors</a:t>
            </a:r>
            <a:endParaRPr sz="3200" dirty="0"/>
          </a:p>
        </p:txBody>
      </p:sp>
      <p:pic>
        <p:nvPicPr>
          <p:cNvPr id="1026" name="Picture 2" descr="Captur">
            <a:extLst>
              <a:ext uri="{FF2B5EF4-FFF2-40B4-BE49-F238E27FC236}">
                <a16:creationId xmlns:a16="http://schemas.microsoft.com/office/drawing/2014/main" id="{A250A405-BA8C-CE34-BABB-C7AB50E4A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159915"/>
            <a:ext cx="6662057" cy="5294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7608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/>
              <a:t>Error Metrics for Skewed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3352800" cy="1981200"/>
          </a:xfrm>
        </p:spPr>
        <p:txBody>
          <a:bodyPr/>
          <a:lstStyle/>
          <a:p>
            <a:pPr lvl="1">
              <a:buNone/>
            </a:pPr>
            <a:r>
              <a:rPr lang="en-US" sz="2400"/>
              <a:t>True Positive (TP)</a:t>
            </a:r>
          </a:p>
          <a:p>
            <a:pPr lvl="1">
              <a:buNone/>
            </a:pPr>
            <a:r>
              <a:rPr lang="en-US" sz="2400"/>
              <a:t>True Negative (TN)</a:t>
            </a:r>
          </a:p>
          <a:p>
            <a:pPr lvl="1">
              <a:buNone/>
            </a:pPr>
            <a:r>
              <a:rPr lang="en-US" sz="2400"/>
              <a:t>False Positive (FP)</a:t>
            </a:r>
          </a:p>
          <a:p>
            <a:pPr lvl="1">
              <a:buNone/>
            </a:pPr>
            <a:r>
              <a:rPr lang="en-US" sz="2400"/>
              <a:t>False Negative (FN)</a:t>
            </a:r>
          </a:p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733800"/>
            <a:ext cx="5806289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5334000"/>
            <a:ext cx="5980380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5" descr="Image result for precision and recall formul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52999" y="2514600"/>
            <a:ext cx="2972439" cy="838200"/>
          </a:xfrm>
          <a:prstGeom prst="rect">
            <a:avLst/>
          </a:prstGeom>
          <a:noFill/>
        </p:spPr>
      </p:pic>
      <p:pic>
        <p:nvPicPr>
          <p:cNvPr id="5126" name="Picture 6" descr="C:\Users\Hasan\Desktop\eval1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53000" y="1219200"/>
            <a:ext cx="3179234" cy="762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C6B41B6-FCCB-98FA-9CCD-60AAAB0D2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15" y="105058"/>
            <a:ext cx="6315566" cy="7508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1C358A-3E38-51EE-C5A7-8AC4651F1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15" y="1054905"/>
            <a:ext cx="5557763" cy="7508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5B8D9B-BCA4-3229-1180-6349A08C26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43" y="2032470"/>
            <a:ext cx="5133519" cy="10870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3CFC24-CE77-4821-63F7-E323D4BCD0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643" y="3119568"/>
            <a:ext cx="4766847" cy="9888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552F805-E911-7037-F2DC-7121415C94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000" y="4133820"/>
            <a:ext cx="5448803" cy="988818"/>
          </a:xfrm>
          <a:prstGeom prst="rect">
            <a:avLst/>
          </a:prstGeom>
        </p:spPr>
      </p:pic>
      <p:pic>
        <p:nvPicPr>
          <p:cNvPr id="3076" name="Picture 4" descr="f1 Score Definition | Encord">
            <a:extLst>
              <a:ext uri="{FF2B5EF4-FFF2-40B4-BE49-F238E27FC236}">
                <a16:creationId xmlns:a16="http://schemas.microsoft.com/office/drawing/2014/main" id="{9DF87BAC-51EF-4B8A-4B6F-0E8F79592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3" y="5122638"/>
            <a:ext cx="3962400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8171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onfusion matrix: Precision, Recall, Accuracy, and F1 score. | Download  Scientific Diagram">
            <a:extLst>
              <a:ext uri="{FF2B5EF4-FFF2-40B4-BE49-F238E27FC236}">
                <a16:creationId xmlns:a16="http://schemas.microsoft.com/office/drawing/2014/main" id="{35AF7101-0138-93F8-3CEE-33A22264B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61" y="1600200"/>
            <a:ext cx="8583976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5549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Precision-Recall Tradeoff</a:t>
            </a:r>
          </a:p>
        </p:txBody>
      </p:sp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199" y="1447800"/>
            <a:ext cx="5942361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3429000"/>
            <a:ext cx="7084671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533400" y="4572000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How can we do this?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5410200"/>
            <a:ext cx="861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Increasing threshold i.e. more confidence results in higher precision and lower recall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Precision-Recall Tradeoff</a:t>
            </a:r>
          </a:p>
        </p:txBody>
      </p:sp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199" y="1447800"/>
            <a:ext cx="5942361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3352800"/>
            <a:ext cx="7435932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685800" y="4648200"/>
            <a:ext cx="464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We set a lower threshold ……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410200"/>
            <a:ext cx="800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Result is a classifier with higher recall but lower precision ……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Precision-Recall Tradeoff</a:t>
            </a:r>
          </a:p>
        </p:txBody>
      </p:sp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199" y="1447800"/>
            <a:ext cx="5942361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3352800"/>
            <a:ext cx="3429000" cy="3417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Freeform 7"/>
          <p:cNvSpPr/>
          <p:nvPr/>
        </p:nvSpPr>
        <p:spPr>
          <a:xfrm>
            <a:off x="3629465" y="3981157"/>
            <a:ext cx="1955409" cy="1941341"/>
          </a:xfrm>
          <a:custGeom>
            <a:avLst/>
            <a:gdLst>
              <a:gd name="connsiteX0" fmla="*/ 0 w 1955409"/>
              <a:gd name="connsiteY0" fmla="*/ 0 h 1941341"/>
              <a:gd name="connsiteX1" fmla="*/ 351692 w 1955409"/>
              <a:gd name="connsiteY1" fmla="*/ 478301 h 1941341"/>
              <a:gd name="connsiteX2" fmla="*/ 1955409 w 1955409"/>
              <a:gd name="connsiteY2" fmla="*/ 1941341 h 1941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5409" h="1941341">
                <a:moveTo>
                  <a:pt x="0" y="0"/>
                </a:moveTo>
                <a:cubicBezTo>
                  <a:pt x="12895" y="77372"/>
                  <a:pt x="25791" y="154744"/>
                  <a:pt x="351692" y="478301"/>
                </a:cubicBezTo>
                <a:cubicBezTo>
                  <a:pt x="677593" y="801858"/>
                  <a:pt x="1521655" y="1786596"/>
                  <a:pt x="1955409" y="1941341"/>
                </a:cubicBezTo>
              </a:path>
            </a:pathLst>
          </a:cu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105400" y="34290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High 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51054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Low threshold</a:t>
            </a:r>
          </a:p>
        </p:txBody>
      </p:sp>
      <p:cxnSp>
        <p:nvCxnSpPr>
          <p:cNvPr id="14" name="Straight Arrow Connector 13"/>
          <p:cNvCxnSpPr>
            <a:stCxn id="11" idx="1"/>
          </p:cNvCxnSpPr>
          <p:nvPr/>
        </p:nvCxnSpPr>
        <p:spPr>
          <a:xfrm flipH="1">
            <a:off x="3886200" y="3613666"/>
            <a:ext cx="1219200" cy="42493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1"/>
          </p:cNvCxnSpPr>
          <p:nvPr/>
        </p:nvCxnSpPr>
        <p:spPr>
          <a:xfrm flipH="1">
            <a:off x="5410200" y="5290066"/>
            <a:ext cx="533400" cy="27253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DB954CA-04AA-363C-4E07-136EACC13CB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36787" y="274821"/>
            <a:ext cx="7881927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Threshold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(arrow near top-left): A strict threshold (e.g., only predict "positive" if score &gt; 0.9). This yields 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high precision but low recall—great for minimizing false positives 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in fraud detection where false alarms are costly). </a:t>
            </a:r>
            <a:endParaRPr kumimoji="0" lang="en-US" altLang="en-P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PK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Threshold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(arrow near bottom-right): A lenient threshold (e.g., predict "positive" if score &gt; 0.1). This yields 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high recall but low precision—useful when missing positives is worse 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cancer screening). </a:t>
            </a:r>
          </a:p>
        </p:txBody>
      </p:sp>
    </p:spTree>
    <p:extLst>
      <p:ext uri="{BB962C8B-B14F-4D97-AF65-F5344CB8AC3E}">
        <p14:creationId xmlns:p14="http://schemas.microsoft.com/office/powerpoint/2010/main" val="38795784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Precision-Recall Tradeoff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43000"/>
          </a:xfrm>
        </p:spPr>
        <p:txBody>
          <a:bodyPr/>
          <a:lstStyle/>
          <a:p>
            <a:r>
              <a:rPr lang="en-US"/>
              <a:t>How to choose best algorithm now? We have two numbers precision and recall.</a:t>
            </a: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2743200"/>
            <a:ext cx="5490253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5181600"/>
            <a:ext cx="277177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69192-6A69-15A6-53EC-7F6D97C9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1D4CAC4-CBF7-9DF9-0B95-316F6C3DCC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0405342"/>
              </p:ext>
            </p:extLst>
          </p:nvPr>
        </p:nvGraphicFramePr>
        <p:xfrm>
          <a:off x="457200" y="2514600"/>
          <a:ext cx="8229600" cy="18288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308451318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97406623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01809273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517729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Algorithm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Precision (P)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Recall (R)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F1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7965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Algorithm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2400"/>
                        <a:t>0.5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2400" dirty="0"/>
                        <a:t>0.4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2400"/>
                        <a:t>0.4444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038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Algorithm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2400"/>
                        <a:t>0.7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2400"/>
                        <a:t>0.1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2400"/>
                        <a:t>0.175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36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Algorithm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2400"/>
                        <a:t>0.02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2400"/>
                        <a:t>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2400" dirty="0"/>
                        <a:t>0.0392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634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55830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Which is better?</a:t>
            </a:r>
          </a:p>
          <a:p>
            <a:pPr lvl="1"/>
            <a:r>
              <a:rPr lang="en-US"/>
              <a:t>Better algorithm</a:t>
            </a:r>
          </a:p>
          <a:p>
            <a:pPr lvl="1"/>
            <a:r>
              <a:rPr lang="en-US"/>
              <a:t>More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19A45FDF435D4CA9F3A585DD4ABEB3" ma:contentTypeVersion="3" ma:contentTypeDescription="Create a new document." ma:contentTypeScope="" ma:versionID="f15c6cd630bf8942c37780dd86cd0f40">
  <xsd:schema xmlns:xsd="http://www.w3.org/2001/XMLSchema" xmlns:xs="http://www.w3.org/2001/XMLSchema" xmlns:p="http://schemas.microsoft.com/office/2006/metadata/properties" xmlns:ns2="82062c1e-dd8f-4268-9e54-b0572c0891a6" targetNamespace="http://schemas.microsoft.com/office/2006/metadata/properties" ma:root="true" ma:fieldsID="2e3acf5cd54823db6264b3c66621dce5" ns2:_="">
    <xsd:import namespace="82062c1e-dd8f-4268-9e54-b0572c0891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62c1e-dd8f-4268-9e54-b0572c0891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0A842D4-1D02-4CA2-9BCA-FADDFA73074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994520E-AAD4-42BA-8D6A-2C8504DD84A6}"/>
</file>

<file path=customXml/itemProps3.xml><?xml version="1.0" encoding="utf-8"?>
<ds:datastoreItem xmlns:ds="http://schemas.openxmlformats.org/officeDocument/2006/customXml" ds:itemID="{6AEADC6E-7D1B-44D4-86C6-2A7E51B2DE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972</Words>
  <Application>Microsoft Office PowerPoint</Application>
  <PresentationFormat>On-screen Show (4:3)</PresentationFormat>
  <Paragraphs>151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Arial</vt:lpstr>
      <vt:lpstr>Calibri</vt:lpstr>
      <vt:lpstr>Wingdings</vt:lpstr>
      <vt:lpstr>Office Theme</vt:lpstr>
      <vt:lpstr>PowerPoint Presentation</vt:lpstr>
      <vt:lpstr>How to evaluate learning algorithm?</vt:lpstr>
      <vt:lpstr>How to evaluate hypothesis?</vt:lpstr>
      <vt:lpstr>Evaluating hypothesis</vt:lpstr>
      <vt:lpstr>Training/Testing Procedure for linear regression</vt:lpstr>
      <vt:lpstr>Training/Testing Procedure for logistic regression</vt:lpstr>
      <vt:lpstr>Model Selection</vt:lpstr>
      <vt:lpstr>Model Selection</vt:lpstr>
      <vt:lpstr>Model Selection</vt:lpstr>
      <vt:lpstr>Train/Validation/Test Error</vt:lpstr>
      <vt:lpstr>Model Selection</vt:lpstr>
      <vt:lpstr>Diagnosing Bias and Variance</vt:lpstr>
      <vt:lpstr>Example: Linear Regression</vt:lpstr>
      <vt:lpstr>Diagnosing Bias and Variance</vt:lpstr>
      <vt:lpstr>Regularization and Bias/Variance</vt:lpstr>
      <vt:lpstr>Choosing Regularization Parameter</vt:lpstr>
      <vt:lpstr>Choosing Regularization Parameter</vt:lpstr>
      <vt:lpstr>Bias/Variance as a function of    </vt:lpstr>
      <vt:lpstr>Error Analysis</vt:lpstr>
      <vt:lpstr>Error Analysis</vt:lpstr>
      <vt:lpstr>Error Metrics for Skewed Classes</vt:lpstr>
      <vt:lpstr>Error Metrics for Skewed Classes</vt:lpstr>
      <vt:lpstr>Error Metrics for Skewed Classes</vt:lpstr>
      <vt:lpstr>FP and FN also called Type-1 and Type-2 errors</vt:lpstr>
      <vt:lpstr>Error Metrics for Skewed Classes</vt:lpstr>
      <vt:lpstr>PowerPoint Presentation</vt:lpstr>
      <vt:lpstr>PowerPoint Presentation</vt:lpstr>
      <vt:lpstr>Precision-Recall Tradeoff</vt:lpstr>
      <vt:lpstr>Precision-Recall Tradeoff</vt:lpstr>
      <vt:lpstr>Precision-Recall Tradeoff</vt:lpstr>
      <vt:lpstr>PowerPoint Presentation</vt:lpstr>
      <vt:lpstr>Precision-Recall Tradeoff</vt:lpstr>
      <vt:lpstr>PowerPoint Presentation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– RIME 832 Practical Advice and Model Selection</dc:title>
  <dc:creator>Hasan</dc:creator>
  <cp:lastModifiedBy>Jawad Khan</cp:lastModifiedBy>
  <cp:revision>5</cp:revision>
  <dcterms:created xsi:type="dcterms:W3CDTF">2006-08-16T00:00:00Z</dcterms:created>
  <dcterms:modified xsi:type="dcterms:W3CDTF">2025-11-10T13:56:48Z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0x0101002419A45FDF435D4CA9F3A585DD4ABEB3</vt:lpwstr>
  </property>
</Properties>
</file>