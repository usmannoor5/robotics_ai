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9" r:id="rId2"/>
    <p:sldId id="330" r:id="rId3"/>
    <p:sldId id="328" r:id="rId4"/>
    <p:sldId id="329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516" r:id="rId44"/>
    <p:sldId id="517" r:id="rId45"/>
    <p:sldId id="518" r:id="rId46"/>
    <p:sldId id="519" r:id="rId47"/>
    <p:sldId id="520" r:id="rId48"/>
    <p:sldId id="521" r:id="rId49"/>
    <p:sldId id="522" r:id="rId50"/>
    <p:sldId id="523" r:id="rId51"/>
    <p:sldId id="524" r:id="rId52"/>
    <p:sldId id="525" r:id="rId53"/>
    <p:sldId id="526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00686-F4F7-43E0-BCBA-5E38847C1175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4BBF2-8F51-42BC-9900-E7593F469B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4BBF2-8F51-42BC-9900-E7593F469BC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18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4BBF2-8F51-42BC-9900-E7593F469BC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24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4BBF2-8F51-42BC-9900-E7593F469BC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8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4BBF2-8F51-42BC-9900-E7593F469BC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9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(ML)</a:t>
            </a:r>
            <a:br>
              <a:rPr lang="en-US" dirty="0"/>
            </a:br>
            <a:r>
              <a:rPr lang="en-US" dirty="0"/>
              <a:t>RIME-832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Muhammad Jawad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07E7-115B-B166-EECB-E02E60512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discuss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86C56-B216-0954-71A5-D96A06004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1. Look at the big picture. </a:t>
            </a:r>
          </a:p>
          <a:p>
            <a:r>
              <a:rPr lang="en-US" dirty="0"/>
              <a:t>2. Get the data. </a:t>
            </a:r>
          </a:p>
          <a:p>
            <a:r>
              <a:rPr lang="en-US" dirty="0"/>
              <a:t>3. Discover and visualize the data to gain insights. </a:t>
            </a:r>
          </a:p>
          <a:p>
            <a:r>
              <a:rPr lang="en-US" dirty="0"/>
              <a:t>4. Prepare the data for Machine Learning algorithms. </a:t>
            </a:r>
          </a:p>
          <a:p>
            <a:r>
              <a:rPr lang="en-US" dirty="0"/>
              <a:t>5. Select a model and train it. </a:t>
            </a:r>
          </a:p>
          <a:p>
            <a:r>
              <a:rPr lang="en-US" dirty="0"/>
              <a:t>6. Fine-tune your model. </a:t>
            </a:r>
          </a:p>
          <a:p>
            <a:r>
              <a:rPr lang="en-US" dirty="0"/>
              <a:t>7. Present your solution. 8. Launch, monitor, and maintain your system.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7191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EC4B4-0A88-E51E-48B9-F7E55343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2456"/>
            <a:ext cx="9144000" cy="1415144"/>
          </a:xfrm>
        </p:spPr>
        <p:txBody>
          <a:bodyPr>
            <a:normAutofit fontScale="90000"/>
          </a:bodyPr>
          <a:lstStyle/>
          <a:p>
            <a:r>
              <a:rPr lang="en-US" dirty="0"/>
              <a:t>End-to-End: The Machine Learning Pipeline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6597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9BA5-98A1-6F3A-8E4A-31513687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23B8F-7479-AB40-D29D-E0739F3E4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B9355-076F-A20C-944E-1B3A6A715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49" y="503237"/>
            <a:ext cx="8467501" cy="58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2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B267F-5FDE-CC4C-F151-32454188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California Housing Prices dataset from the </a:t>
            </a:r>
            <a:r>
              <a:rPr lang="en-US" dirty="0" err="1"/>
              <a:t>StatLib</a:t>
            </a:r>
            <a:r>
              <a:rPr lang="en-US" dirty="0"/>
              <a:t> repository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89047-AFC1-999A-E042-7465A8A29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This dataset was based on data from the 1990 California </a:t>
            </a:r>
            <a:r>
              <a:rPr lang="en-US" sz="2400" dirty="0" err="1"/>
              <a:t>cen</a:t>
            </a:r>
            <a:r>
              <a:rPr lang="en-US" sz="2400" dirty="0"/>
              <a:t> sus. It is not exactly recent (you could still afford a nice house in the Bay Area at the time), but it has many qualities for learning, so we will pretend it is recent data. We also added a categorical attribute and removed a few features for teaching purposes</a:t>
            </a:r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22240-0385-76F7-EF75-0AE2E7895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429000"/>
            <a:ext cx="5346881" cy="321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B336-D7A3-DDB5-CB8D-E75550EB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89C0C-B361-1CC8-31C4-1C93B9B12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first task you are asked to perform is to build a model of housing prices </a:t>
            </a:r>
            <a:r>
              <a:rPr lang="en-US" dirty="0"/>
              <a:t>in California using the California census data. </a:t>
            </a:r>
          </a:p>
          <a:p>
            <a:r>
              <a:rPr lang="en-US" dirty="0"/>
              <a:t>This data has </a:t>
            </a:r>
            <a:r>
              <a:rPr lang="en-US" dirty="0">
                <a:solidFill>
                  <a:srgbClr val="FF0000"/>
                </a:solidFill>
              </a:rPr>
              <a:t>metrics such as the population, median income, median housing price</a:t>
            </a:r>
            <a:r>
              <a:rPr lang="en-US" dirty="0"/>
              <a:t>, and so on for each block group in California. </a:t>
            </a:r>
          </a:p>
          <a:p>
            <a:r>
              <a:rPr lang="en-US" dirty="0"/>
              <a:t>A group typically has a population of 600 to 3,000 people</a:t>
            </a:r>
          </a:p>
          <a:p>
            <a:r>
              <a:rPr lang="en-US" dirty="0"/>
              <a:t>Your model should </a:t>
            </a:r>
            <a:r>
              <a:rPr lang="en-US" dirty="0">
                <a:solidFill>
                  <a:srgbClr val="FF0000"/>
                </a:solidFill>
              </a:rPr>
              <a:t>learn from this data and be able to predict the median housing price </a:t>
            </a:r>
            <a:r>
              <a:rPr lang="en-US" dirty="0"/>
              <a:t>in any district, given all the other metrics.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241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D72A-54C2-4A31-BBB5-2593F4C47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questions you must ask: </a:t>
            </a:r>
            <a:r>
              <a:rPr lang="en-US" dirty="0">
                <a:solidFill>
                  <a:srgbClr val="FF0000"/>
                </a:solidFill>
              </a:rPr>
              <a:t>First Question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2A55C-C957-A3CD-B552-F2E8CD4F3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first question to ask your boss is </a:t>
            </a:r>
            <a:r>
              <a:rPr lang="en-US" dirty="0">
                <a:solidFill>
                  <a:srgbClr val="FF0000"/>
                </a:solidFill>
              </a:rPr>
              <a:t>what exactly is the business objective</a:t>
            </a:r>
            <a:r>
              <a:rPr lang="en-US" dirty="0"/>
              <a:t>; building a model is probably not the end goal. </a:t>
            </a:r>
            <a:r>
              <a:rPr lang="en-US" dirty="0">
                <a:solidFill>
                  <a:srgbClr val="FF0000"/>
                </a:solidFill>
              </a:rPr>
              <a:t>How does the company expect to use and benefit from the model?</a:t>
            </a:r>
          </a:p>
          <a:p>
            <a:pPr lvl="1" algn="just"/>
            <a:r>
              <a:rPr lang="en-US" dirty="0"/>
              <a:t>it will determine </a:t>
            </a:r>
            <a:r>
              <a:rPr lang="en-US" dirty="0">
                <a:solidFill>
                  <a:srgbClr val="FF0000"/>
                </a:solidFill>
              </a:rPr>
              <a:t>how you frame the problem, what algorithms you will select</a:t>
            </a:r>
            <a:r>
              <a:rPr lang="en-US" dirty="0"/>
              <a:t>, 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what performance measure you will use to evaluate your model,</a:t>
            </a:r>
            <a:r>
              <a:rPr lang="en-US" dirty="0"/>
              <a:t> 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How much effort you should spend tweaking it.</a:t>
            </a: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94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0D69-5B46-789A-8D51-A92363E81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Answer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C1177-7508-D304-515F-872DECCBA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Your model’s output (a prediction of a district’s median </a:t>
            </a:r>
            <a:r>
              <a:rPr lang="en-US" dirty="0" err="1"/>
              <a:t>hous</a:t>
            </a:r>
            <a:r>
              <a:rPr lang="en-US" dirty="0"/>
              <a:t> </a:t>
            </a:r>
            <a:r>
              <a:rPr lang="en-US" dirty="0" err="1"/>
              <a:t>ing</a:t>
            </a:r>
            <a:r>
              <a:rPr lang="en-US" dirty="0"/>
              <a:t> price) </a:t>
            </a:r>
            <a:r>
              <a:rPr lang="en-US" dirty="0">
                <a:solidFill>
                  <a:srgbClr val="FF0000"/>
                </a:solidFill>
              </a:rPr>
              <a:t>will be fed to another Machine Learning system along with </a:t>
            </a:r>
            <a:r>
              <a:rPr lang="en-US" dirty="0" err="1">
                <a:solidFill>
                  <a:srgbClr val="FF0000"/>
                </a:solidFill>
              </a:rPr>
              <a:t>outher</a:t>
            </a:r>
            <a:r>
              <a:rPr lang="en-US" dirty="0">
                <a:solidFill>
                  <a:srgbClr val="FF0000"/>
                </a:solidFill>
              </a:rPr>
              <a:t> parameters</a:t>
            </a:r>
          </a:p>
          <a:p>
            <a:pPr algn="just"/>
            <a:r>
              <a:rPr lang="en-US" dirty="0"/>
              <a:t>This </a:t>
            </a:r>
            <a:r>
              <a:rPr lang="en-US" dirty="0">
                <a:solidFill>
                  <a:srgbClr val="FF0000"/>
                </a:solidFill>
              </a:rPr>
              <a:t>downstream</a:t>
            </a:r>
            <a:r>
              <a:rPr lang="en-US" dirty="0"/>
              <a:t> system will determine </a:t>
            </a:r>
            <a:r>
              <a:rPr lang="en-US" dirty="0">
                <a:solidFill>
                  <a:srgbClr val="FF0000"/>
                </a:solidFill>
              </a:rPr>
              <a:t>whether it is worth investing in a given area or not.</a:t>
            </a:r>
            <a:r>
              <a:rPr lang="en-US" dirty="0"/>
              <a:t> Getting this right is </a:t>
            </a:r>
            <a:r>
              <a:rPr lang="en-US" dirty="0">
                <a:solidFill>
                  <a:srgbClr val="FF0000"/>
                </a:solidFill>
              </a:rPr>
              <a:t>critical,</a:t>
            </a:r>
            <a:r>
              <a:rPr lang="en-US" dirty="0"/>
              <a:t> as it directly affects revenue</a:t>
            </a: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942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3E5B22-2949-5EEA-A19C-E303B6547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06752"/>
            <a:ext cx="8615631" cy="324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3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F56E-2EC7-28AB-FD6C-929F4D22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pipeline?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DEB93-DAE6-E98C-4E47-2C64BFE3C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1417638"/>
            <a:ext cx="8904514" cy="54403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A sequence of data processing components is called a data pipeline.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Each component pulls in a large amount of data, processes it, and spits out the result in another data</a:t>
            </a:r>
            <a:r>
              <a:rPr lang="en-US" sz="2400" dirty="0"/>
              <a:t> store, and then some time later the next component in the pipeline pulls this data and spits out its own output, and so on.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If a component breaks down, </a:t>
            </a:r>
            <a:r>
              <a:rPr lang="en-US" sz="2400" dirty="0">
                <a:solidFill>
                  <a:srgbClr val="FF0000"/>
                </a:solidFill>
              </a:rPr>
              <a:t>the downstream components can often continue to run normally (at least for a while)</a:t>
            </a:r>
            <a:r>
              <a:rPr lang="en-US" sz="2400" dirty="0"/>
              <a:t> by just using the last output from the broken compo </a:t>
            </a:r>
            <a:r>
              <a:rPr lang="en-US" sz="2400" dirty="0" err="1"/>
              <a:t>nent</a:t>
            </a:r>
            <a:r>
              <a:rPr lang="en-US" sz="2400" dirty="0"/>
              <a:t>. This makes the architecture quite robust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Broken component can go unnoticed for some time </a:t>
            </a:r>
            <a:r>
              <a:rPr lang="en-US" sz="2400" dirty="0"/>
              <a:t>if proper monitoring is not implemented. The data gets stale and the overall system’s </a:t>
            </a:r>
            <a:r>
              <a:rPr lang="en-US" sz="2400" dirty="0" err="1"/>
              <a:t>perfor</a:t>
            </a:r>
            <a:r>
              <a:rPr lang="en-US" sz="2400" dirty="0"/>
              <a:t> </a:t>
            </a:r>
            <a:r>
              <a:rPr lang="en-US" sz="2400" dirty="0" err="1"/>
              <a:t>mance</a:t>
            </a:r>
            <a:r>
              <a:rPr lang="en-US" sz="2400" dirty="0"/>
              <a:t> drops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7440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DA2-92D1-2761-3D59-749E2466F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Second Question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189B7-D701-FCC9-1D4D-ABF0A1F2B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</a:t>
            </a:r>
            <a:r>
              <a:rPr lang="en-US" dirty="0">
                <a:solidFill>
                  <a:srgbClr val="FF0000"/>
                </a:solidFill>
              </a:rPr>
              <a:t>current solution looks like </a:t>
            </a:r>
            <a:r>
              <a:rPr lang="en-US" dirty="0"/>
              <a:t>(if any)</a:t>
            </a:r>
          </a:p>
          <a:p>
            <a:endParaRPr lang="en-US" dirty="0"/>
          </a:p>
          <a:p>
            <a:r>
              <a:rPr lang="en-US" dirty="0"/>
              <a:t>It will often give you a reference performance, as well as insights on how to solve the problem.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29845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5823-025D-6108-29FA-502BD9CC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Answer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9F43E-9B67-348A-C788-D7C2CB80E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45259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district housing prices are </a:t>
            </a:r>
            <a:r>
              <a:rPr lang="en-US" dirty="0">
                <a:solidFill>
                  <a:srgbClr val="FF0000"/>
                </a:solidFill>
              </a:rPr>
              <a:t>currently estimated manually by experts</a:t>
            </a:r>
            <a:r>
              <a:rPr lang="en-US" dirty="0"/>
              <a:t>: a </a:t>
            </a:r>
            <a:r>
              <a:rPr lang="en-US" dirty="0">
                <a:solidFill>
                  <a:srgbClr val="3333CC"/>
                </a:solidFill>
              </a:rPr>
              <a:t>team gathers up-to-date information about a district</a:t>
            </a:r>
            <a:r>
              <a:rPr lang="en-US" dirty="0"/>
              <a:t>, and </a:t>
            </a:r>
            <a:r>
              <a:rPr lang="en-US" dirty="0">
                <a:solidFill>
                  <a:srgbClr val="3333CC"/>
                </a:solidFill>
              </a:rPr>
              <a:t>when they cannot get the median housing price, they estimate it using complex rules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This is costly and time-consuming, and their estimates are not great; in cases </a:t>
            </a:r>
            <a:r>
              <a:rPr lang="en-US" dirty="0">
                <a:solidFill>
                  <a:srgbClr val="FF0000"/>
                </a:solidFill>
              </a:rPr>
              <a:t>where they manage to find out the actual median housing price, they often realize that their estimates were off by more than 20%. </a:t>
            </a:r>
            <a:endParaRPr lang="en-P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039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F98A9-4E6E-3BD5-F434-F29390F8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 Work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0DFB0-6293-88F8-654D-A3A5E6A1A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r>
              <a:rPr lang="en-US" dirty="0"/>
              <a:t>is it supervised, unsupervised, or Reinforcement learning?</a:t>
            </a:r>
          </a:p>
          <a:p>
            <a:endParaRPr lang="en-US" dirty="0"/>
          </a:p>
          <a:p>
            <a:r>
              <a:rPr lang="en-US" dirty="0"/>
              <a:t>Is it a classification task, a regression task, or something else?</a:t>
            </a:r>
          </a:p>
          <a:p>
            <a:endParaRPr lang="en-US" dirty="0"/>
          </a:p>
          <a:p>
            <a:r>
              <a:rPr lang="en-US" dirty="0"/>
              <a:t>Should you use batch learning or online learning techniques?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35872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28B1D-D7CB-E826-2393-AB55B34A3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610600" cy="60960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Supervised learning </a:t>
            </a:r>
            <a:r>
              <a:rPr lang="en-US" dirty="0"/>
              <a:t>task since you are given labeled training examples</a:t>
            </a:r>
          </a:p>
          <a:p>
            <a:endParaRPr lang="en-US" dirty="0"/>
          </a:p>
          <a:p>
            <a:r>
              <a:rPr lang="en-US" dirty="0"/>
              <a:t>it is also a typical </a:t>
            </a:r>
            <a:r>
              <a:rPr lang="en-US" dirty="0">
                <a:solidFill>
                  <a:srgbClr val="FF0000"/>
                </a:solidFill>
              </a:rPr>
              <a:t>regression task</a:t>
            </a:r>
            <a:r>
              <a:rPr lang="en-US" dirty="0"/>
              <a:t>, since you are asked to predict a value. More specifically, this is a </a:t>
            </a:r>
            <a:r>
              <a:rPr lang="en-US" dirty="0">
                <a:solidFill>
                  <a:srgbClr val="FF0000"/>
                </a:solidFill>
              </a:rPr>
              <a:t>multiple regression problem </a:t>
            </a:r>
            <a:r>
              <a:rPr lang="en-US" dirty="0"/>
              <a:t>since the system will use multiple features to make a prediction </a:t>
            </a:r>
          </a:p>
          <a:p>
            <a:endParaRPr lang="en-US" dirty="0"/>
          </a:p>
          <a:p>
            <a:r>
              <a:rPr lang="en-US" dirty="0"/>
              <a:t>It is also a </a:t>
            </a:r>
            <a:r>
              <a:rPr lang="en-US" dirty="0">
                <a:solidFill>
                  <a:srgbClr val="FF0000"/>
                </a:solidFill>
              </a:rPr>
              <a:t>univariate regression </a:t>
            </a:r>
            <a:r>
              <a:rPr lang="en-US" dirty="0"/>
              <a:t>problem since we are only trying to predict a single value for each district. If we were trying to predict multiple values per district, it would be a </a:t>
            </a:r>
            <a:r>
              <a:rPr lang="en-US" dirty="0">
                <a:solidFill>
                  <a:srgbClr val="FF0000"/>
                </a:solidFill>
              </a:rPr>
              <a:t>multivariate regression</a:t>
            </a:r>
            <a:r>
              <a:rPr lang="en-US" dirty="0"/>
              <a:t> problem</a:t>
            </a:r>
          </a:p>
          <a:p>
            <a:endParaRPr lang="en-US" dirty="0"/>
          </a:p>
          <a:p>
            <a:r>
              <a:rPr lang="en-US" dirty="0"/>
              <a:t>there is </a:t>
            </a:r>
            <a:r>
              <a:rPr lang="en-US" dirty="0">
                <a:solidFill>
                  <a:srgbClr val="FF0000"/>
                </a:solidFill>
              </a:rPr>
              <a:t>no continuous flow of data coming </a:t>
            </a:r>
            <a:r>
              <a:rPr lang="en-US" dirty="0"/>
              <a:t>in the system, there is </a:t>
            </a:r>
            <a:r>
              <a:rPr lang="en-US" dirty="0">
                <a:solidFill>
                  <a:srgbClr val="FF0000"/>
                </a:solidFill>
              </a:rPr>
              <a:t>no particular need to adjust to changing data rapidly, </a:t>
            </a:r>
            <a:r>
              <a:rPr lang="en-US" dirty="0"/>
              <a:t>and the </a:t>
            </a:r>
            <a:r>
              <a:rPr lang="en-US" dirty="0">
                <a:solidFill>
                  <a:srgbClr val="FF0000"/>
                </a:solidFill>
              </a:rPr>
              <a:t>data is small enough to fit in memory</a:t>
            </a:r>
            <a:r>
              <a:rPr lang="en-US" dirty="0"/>
              <a:t>, so plain </a:t>
            </a:r>
            <a:r>
              <a:rPr lang="en-US" dirty="0">
                <a:solidFill>
                  <a:srgbClr val="FF0000"/>
                </a:solidFill>
              </a:rPr>
              <a:t>batch learning</a:t>
            </a:r>
            <a:r>
              <a:rPr lang="en-US" dirty="0"/>
              <a:t> should do just fine.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09753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5F4A-ACDC-C80F-340C-563E0CEF9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Next step: Performance measure selection</a:t>
            </a:r>
            <a:endParaRPr lang="en-PK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03C27-B8B1-D547-B7D8-15AB96655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A typical performance measure for regression problems is the </a:t>
            </a:r>
            <a:r>
              <a:rPr lang="en-US" sz="2800" dirty="0">
                <a:solidFill>
                  <a:srgbClr val="FF0000"/>
                </a:solidFill>
              </a:rPr>
              <a:t>Root Mean Square Error (RMSE)</a:t>
            </a:r>
            <a:r>
              <a:rPr lang="en-US" sz="2800" dirty="0"/>
              <a:t>. </a:t>
            </a:r>
          </a:p>
          <a:p>
            <a:pPr algn="just"/>
            <a:r>
              <a:rPr lang="en-US" sz="2800" dirty="0"/>
              <a:t>It gives an idea of how much error the system typically makes in its predictions, </a:t>
            </a:r>
            <a:r>
              <a:rPr lang="en-US" sz="2800" dirty="0">
                <a:solidFill>
                  <a:srgbClr val="FF0000"/>
                </a:solidFill>
              </a:rPr>
              <a:t>with a higher weight for large errors</a:t>
            </a:r>
            <a:endParaRPr lang="en-PK" sz="28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1473A-3CB3-92D3-A0A7-BFD8D1B34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863181"/>
            <a:ext cx="6666614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02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46BC-3891-F119-6AF9-3F0E8336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B12D9-8E3E-5F46-2DCF-BF1116DD4284}"/>
              </a:ext>
            </a:extLst>
          </p:cNvPr>
          <p:cNvSpPr txBox="1"/>
          <p:nvPr/>
        </p:nvSpPr>
        <p:spPr>
          <a:xfrm>
            <a:off x="114300" y="5257800"/>
            <a:ext cx="8915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X</a:t>
            </a:r>
            <a:r>
              <a:rPr lang="en-US" sz="2400" dirty="0">
                <a:solidFill>
                  <a:srgbClr val="FF0000"/>
                </a:solidFill>
              </a:rPr>
              <a:t> is a matrix containing all the feature values</a:t>
            </a:r>
            <a:r>
              <a:rPr lang="en-US" sz="2400" dirty="0"/>
              <a:t> (excluding labels) of all instances in the dataset. There is </a:t>
            </a:r>
            <a:r>
              <a:rPr lang="en-US" sz="2400" dirty="0">
                <a:solidFill>
                  <a:srgbClr val="FF0000"/>
                </a:solidFill>
              </a:rPr>
              <a:t>one row per instance </a:t>
            </a:r>
            <a:r>
              <a:rPr lang="en-US" sz="2400" dirty="0"/>
              <a:t>and the </a:t>
            </a:r>
            <a:r>
              <a:rPr lang="en-US" sz="2400" dirty="0" err="1"/>
              <a:t>i</a:t>
            </a:r>
            <a:r>
              <a:rPr lang="en-US" sz="2400" baseline="30000" dirty="0" err="1"/>
              <a:t>th</a:t>
            </a:r>
            <a:r>
              <a:rPr lang="en-US" sz="2400" dirty="0"/>
              <a:t> row is equal to the transpose of x</a:t>
            </a:r>
            <a:r>
              <a:rPr lang="en-US" sz="2400" baseline="30000" dirty="0"/>
              <a:t>(</a:t>
            </a:r>
            <a:r>
              <a:rPr lang="en-US" sz="2400" baseline="30000" dirty="0" err="1"/>
              <a:t>i</a:t>
            </a:r>
            <a:r>
              <a:rPr lang="en-US" sz="2400" baseline="30000" dirty="0"/>
              <a:t>)</a:t>
            </a:r>
            <a:r>
              <a:rPr lang="en-US" sz="2400" dirty="0"/>
              <a:t>, noted (x</a:t>
            </a:r>
            <a:r>
              <a:rPr lang="en-US" sz="2400" baseline="30000" dirty="0"/>
              <a:t>(</a:t>
            </a:r>
            <a:r>
              <a:rPr lang="en-US" sz="2400" baseline="30000" dirty="0" err="1"/>
              <a:t>i</a:t>
            </a:r>
            <a:r>
              <a:rPr lang="en-US" sz="2400" baseline="30000" dirty="0"/>
              <a:t>)</a:t>
            </a:r>
            <a:r>
              <a:rPr lang="en-US" sz="2400" dirty="0"/>
              <a:t>)</a:t>
            </a:r>
            <a:endParaRPr lang="en-PK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D485A1-E975-E262-E4B9-C4BFC3CE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693" y="1152071"/>
            <a:ext cx="6666614" cy="1676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BD5F01-5865-282F-311B-5A539B7376E5}"/>
              </a:ext>
            </a:extLst>
          </p:cNvPr>
          <p:cNvSpPr txBox="1"/>
          <p:nvPr/>
        </p:nvSpPr>
        <p:spPr>
          <a:xfrm>
            <a:off x="239486" y="2795814"/>
            <a:ext cx="8915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 is the number of instances in the dataset you are measuring the RMSE.</a:t>
            </a:r>
            <a:endParaRPr lang="en-PK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DC374B-D15A-A08C-759A-7D6077C78C32}"/>
              </a:ext>
            </a:extLst>
          </p:cNvPr>
          <p:cNvSpPr txBox="1"/>
          <p:nvPr/>
        </p:nvSpPr>
        <p:spPr>
          <a:xfrm>
            <a:off x="152400" y="3782887"/>
            <a:ext cx="8991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x</a:t>
            </a:r>
            <a:r>
              <a:rPr lang="en-US" sz="2400" baseline="30000" dirty="0">
                <a:solidFill>
                  <a:srgbClr val="FF0000"/>
                </a:solidFill>
              </a:rPr>
              <a:t>(</a:t>
            </a:r>
            <a:r>
              <a:rPr lang="en-US" sz="2400" baseline="30000" dirty="0" err="1">
                <a:solidFill>
                  <a:srgbClr val="FF0000"/>
                </a:solidFill>
              </a:rPr>
              <a:t>i</a:t>
            </a:r>
            <a:r>
              <a:rPr lang="en-US" sz="2400" baseline="30000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rgbClr val="FF0000"/>
                </a:solidFill>
              </a:rPr>
              <a:t> is a vector of all the feature values (excluding the label) of the 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baseline="30000" dirty="0" err="1">
                <a:solidFill>
                  <a:srgbClr val="FF0000"/>
                </a:solidFill>
              </a:rPr>
              <a:t>th</a:t>
            </a:r>
            <a:r>
              <a:rPr lang="en-US" sz="2400" dirty="0">
                <a:solidFill>
                  <a:srgbClr val="FF0000"/>
                </a:solidFill>
              </a:rPr>
              <a:t> instance in the dataset, and y</a:t>
            </a:r>
            <a:r>
              <a:rPr lang="en-US" sz="2400" baseline="30000" dirty="0">
                <a:solidFill>
                  <a:srgbClr val="FF0000"/>
                </a:solidFill>
              </a:rPr>
              <a:t>(</a:t>
            </a:r>
            <a:r>
              <a:rPr lang="en-US" sz="2400" baseline="30000" dirty="0" err="1">
                <a:solidFill>
                  <a:srgbClr val="FF0000"/>
                </a:solidFill>
              </a:rPr>
              <a:t>i</a:t>
            </a:r>
            <a:r>
              <a:rPr lang="en-US" sz="2400" baseline="30000" dirty="0">
                <a:solidFill>
                  <a:srgbClr val="FF0000"/>
                </a:solidFill>
              </a:rPr>
              <a:t>)</a:t>
            </a:r>
            <a:r>
              <a:rPr lang="en-US" sz="2400" dirty="0">
                <a:solidFill>
                  <a:srgbClr val="FF0000"/>
                </a:solidFill>
              </a:rPr>
              <a:t> is its label (the desired output value for that instance).</a:t>
            </a:r>
            <a:endParaRPr lang="en-PK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612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31E94C-EE11-7D13-2D9B-84114C5A396D}"/>
              </a:ext>
            </a:extLst>
          </p:cNvPr>
          <p:cNvSpPr txBox="1"/>
          <p:nvPr/>
        </p:nvSpPr>
        <p:spPr>
          <a:xfrm>
            <a:off x="228600" y="2690336"/>
            <a:ext cx="8686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h is your system’s prediction function, also called a hypothesis</a:t>
            </a:r>
            <a:r>
              <a:rPr lang="en-US" sz="2400" dirty="0"/>
              <a:t>. When your system is given an instance’s feature vector x</a:t>
            </a:r>
            <a:r>
              <a:rPr lang="en-US" sz="2400" baseline="30000" dirty="0"/>
              <a:t>(</a:t>
            </a:r>
            <a:r>
              <a:rPr lang="en-US" sz="2400" baseline="30000" dirty="0" err="1"/>
              <a:t>i</a:t>
            </a:r>
            <a:r>
              <a:rPr lang="en-US" sz="2400" baseline="30000" dirty="0"/>
              <a:t>)</a:t>
            </a:r>
            <a:r>
              <a:rPr lang="en-US" sz="2400" dirty="0"/>
              <a:t>, it outputs a predicted value ŷ</a:t>
            </a:r>
            <a:r>
              <a:rPr lang="en-US" sz="2400" baseline="30000" dirty="0"/>
              <a:t>(</a:t>
            </a:r>
            <a:r>
              <a:rPr lang="en-US" sz="2400" baseline="30000" dirty="0" err="1"/>
              <a:t>i</a:t>
            </a:r>
            <a:r>
              <a:rPr lang="en-US" sz="2400" baseline="30000" dirty="0"/>
              <a:t>)</a:t>
            </a:r>
            <a:r>
              <a:rPr lang="en-US" sz="2400" dirty="0"/>
              <a:t> = h(x</a:t>
            </a:r>
            <a:r>
              <a:rPr lang="en-US" sz="2400" baseline="30000" dirty="0"/>
              <a:t>(</a:t>
            </a:r>
            <a:r>
              <a:rPr lang="en-US" sz="2400" baseline="30000" dirty="0" err="1"/>
              <a:t>i</a:t>
            </a:r>
            <a:r>
              <a:rPr lang="en-US" sz="2400" baseline="30000" dirty="0"/>
              <a:t>)</a:t>
            </a:r>
            <a:r>
              <a:rPr lang="en-US" sz="2400" dirty="0"/>
              <a:t>) for that instance (ŷ is pronounced “y-hat”).</a:t>
            </a:r>
            <a:endParaRPr lang="en-PK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E0E5B0-1630-18E1-F9FD-A0B8BFF5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693" y="1152071"/>
            <a:ext cx="6666614" cy="167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34A961-D4F7-F9DA-4849-E80647FCC036}"/>
              </a:ext>
            </a:extLst>
          </p:cNvPr>
          <p:cNvSpPr txBox="1"/>
          <p:nvPr/>
        </p:nvSpPr>
        <p:spPr>
          <a:xfrm>
            <a:off x="152400" y="4572000"/>
            <a:ext cx="883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RMSE(</a:t>
            </a:r>
            <a:r>
              <a:rPr lang="en-US" sz="2400" dirty="0" err="1">
                <a:solidFill>
                  <a:srgbClr val="FF0000"/>
                </a:solidFill>
              </a:rPr>
              <a:t>X,h</a:t>
            </a:r>
            <a:r>
              <a:rPr lang="en-US" sz="2400" dirty="0">
                <a:solidFill>
                  <a:srgbClr val="FF0000"/>
                </a:solidFill>
              </a:rPr>
              <a:t>) is the cost function</a:t>
            </a:r>
            <a:r>
              <a:rPr lang="en-US" sz="2400" dirty="0"/>
              <a:t> measured on the set of examples using your hypothesis h.</a:t>
            </a:r>
            <a:endParaRPr lang="en-PK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A05498-D68A-DA95-B893-1F97038775A7}"/>
              </a:ext>
            </a:extLst>
          </p:cNvPr>
          <p:cNvSpPr txBox="1"/>
          <p:nvPr/>
        </p:nvSpPr>
        <p:spPr>
          <a:xfrm>
            <a:off x="190500" y="5700613"/>
            <a:ext cx="8763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CC"/>
                </a:solidFill>
              </a:rPr>
              <a:t>We use lowercase italic font for scalar values (such as m or y(</a:t>
            </a:r>
            <a:r>
              <a:rPr lang="en-US" dirty="0" err="1">
                <a:solidFill>
                  <a:srgbClr val="3333CC"/>
                </a:solidFill>
              </a:rPr>
              <a:t>i</a:t>
            </a:r>
            <a:r>
              <a:rPr lang="en-US" dirty="0">
                <a:solidFill>
                  <a:srgbClr val="3333CC"/>
                </a:solidFill>
              </a:rPr>
              <a:t>)) and function names (such as h), lowercase bold font for vectors (such as x(</a:t>
            </a:r>
            <a:r>
              <a:rPr lang="en-US" dirty="0" err="1">
                <a:solidFill>
                  <a:srgbClr val="3333CC"/>
                </a:solidFill>
              </a:rPr>
              <a:t>i</a:t>
            </a:r>
            <a:r>
              <a:rPr lang="en-US" dirty="0">
                <a:solidFill>
                  <a:srgbClr val="3333CC"/>
                </a:solidFill>
              </a:rPr>
              <a:t>)), and uppercase bold font for matrices (such as X).</a:t>
            </a:r>
            <a:endParaRPr lang="en-PK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833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18E3-6B35-7027-9222-3A039D8C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4B5DF-9D20-D2FF-20CC-A450E4A36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95" y="1444219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if you are evaluating the RMSE on a validation set of 2,000 districts, then m = 2,000.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if the first district in the dataset is located at longitude –118.29°, latitude 33.91°, and it has 1,416 inhabitants with a median income of $38,372, and the median house value is $156,400 (ignoring the other features for now), then:</a:t>
            </a:r>
            <a:endParaRPr lang="en-PK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80C78-2D68-80DA-FEE3-C3FA6ADB1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572000"/>
            <a:ext cx="2669038" cy="190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09693A-2D3F-3DC8-6837-00259E12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633" y="4688248"/>
            <a:ext cx="2609520" cy="102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01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9534-1EFB-372C-924F-EED4565A8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FB9A2-E614-1D99-EA64-847F68B9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831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if the first district is as just described, then the matrix X looks like this: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example, if your system predicts that the median housing price in the first district is $158,400, then ŷ(1) = h(x(1)) = 158,400. The prediction error for this district is ŷ(1) – y(1) = 2,000.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DA35A-31BB-1D70-4890-8616F8D1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22113"/>
            <a:ext cx="4419600" cy="227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07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1056C-1DB7-7AE5-29E2-FB4136EA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Absolute Error (MAE)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07FC-B3E2-4AF7-259C-43C8573BF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If there are many outlier districts. In that case, you may consider using the Mean Absolute Error (also called the Average Absolute Deviation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07D5D-87D0-3F20-9C5C-5C6ACA89E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38600"/>
            <a:ext cx="638605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15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CA851-AB3C-1B29-453A-D9A4431F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552F6-854B-26F2-C0E8-0EF7FC97A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023679"/>
            <a:ext cx="8890384" cy="354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02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FB28-B1BD-7A21-5B8E-DA5B52BDD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Step: Check Assumptions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84C72-3F09-6320-EE4B-0095A4DC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good practice to list and verify the assumptions that were made so far (by you or others); this can catch serious issues early on.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If all is set, you are ready for implementation.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42807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DDDC-1031-BA94-A182-CFAAFD051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Implementation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95CFE-175D-7A89-2706-71B27784A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Data</a:t>
            </a:r>
          </a:p>
          <a:p>
            <a:r>
              <a:rPr lang="en-US" dirty="0"/>
              <a:t>Create Workspace</a:t>
            </a:r>
          </a:p>
          <a:p>
            <a:r>
              <a:rPr lang="en-US" dirty="0"/>
              <a:t>Fetch/Download the data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98552-DF8D-5C71-0A57-E00361128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29000"/>
            <a:ext cx="6610690" cy="320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22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1A43-3376-D8C4-2385-D2A992F95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Implementation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957F7-0BA0-DE54-59D6-249356CE7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the Data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26AD4-6646-5B97-6459-214A813AC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2342206"/>
            <a:ext cx="6163895" cy="1391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72781-CCCD-F731-CF07-4206D9B67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01974"/>
            <a:ext cx="8096743" cy="298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29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3EE8-891A-65A0-1685-7CBB8188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6EACF-C113-3BA3-D09D-069747DFD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4C150-04D8-EB61-2791-EA0CBB6C5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237"/>
            <a:ext cx="9074074" cy="46783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44CEFA8-C36D-DAD4-BBDF-302E6EE90297}"/>
              </a:ext>
            </a:extLst>
          </p:cNvPr>
          <p:cNvSpPr/>
          <p:nvPr/>
        </p:nvSpPr>
        <p:spPr>
          <a:xfrm>
            <a:off x="990600" y="4495800"/>
            <a:ext cx="5943600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6200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E78BF-BFF2-D393-75A8-79809E0B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79662-12A4-9725-43BC-BBEBD0E86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8E9C6-C7DC-776C-AA79-7B8BF660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738925"/>
            <a:ext cx="6382592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5FD252-8918-9E37-CBE6-179B151BA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21" y="3024925"/>
            <a:ext cx="7588707" cy="352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6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8FAF0F-960E-9BBB-96BC-075D73E27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8600"/>
            <a:ext cx="6493435" cy="1616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60F5FA-27F0-D742-E40C-0DB710880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676400"/>
            <a:ext cx="6705600" cy="504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97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D05A-D2D0-0F3F-459C-A2FD8A4E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Implementation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5694-38FF-91EB-CB42-BE275BEB7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test set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29CBB-15E5-DCB3-7612-DA49D84C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04" y="2362200"/>
            <a:ext cx="5531992" cy="2971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E4C51A-522D-4443-5F80-4B87F3EA0E50}"/>
              </a:ext>
            </a:extLst>
          </p:cNvPr>
          <p:cNvSpPr txBox="1"/>
          <p:nvPr/>
        </p:nvSpPr>
        <p:spPr>
          <a:xfrm>
            <a:off x="304800" y="5380672"/>
            <a:ext cx="8915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works, but it is not perfect: </a:t>
            </a:r>
            <a:r>
              <a:rPr lang="en-US" sz="2400" dirty="0">
                <a:solidFill>
                  <a:srgbClr val="FF0000"/>
                </a:solidFill>
              </a:rPr>
              <a:t>if you run the program again, it will generate a different test set</a:t>
            </a:r>
            <a:r>
              <a:rPr lang="en-US" sz="2400" dirty="0"/>
              <a:t>! Over time, you (or your Machine Learning algorithms) will get to see the whole dataset, which is what you want to avoid.</a:t>
            </a:r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1872043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009E-A5F5-4D33-C14F-1B94E8CE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4CE09-4C72-E13A-A21A-956EE49FA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One solution is to save the test set on the first run and then load it in subsequent runs.</a:t>
            </a:r>
          </a:p>
          <a:p>
            <a:pPr algn="just"/>
            <a:r>
              <a:rPr lang="en-US" dirty="0"/>
              <a:t> Another option is to set the random number generator’s seed (e.g., </a:t>
            </a:r>
            <a:r>
              <a:rPr lang="en-US" dirty="0" err="1"/>
              <a:t>np.ran</a:t>
            </a:r>
            <a:r>
              <a:rPr lang="en-US" dirty="0"/>
              <a:t> </a:t>
            </a:r>
            <a:r>
              <a:rPr lang="en-US" dirty="0" err="1"/>
              <a:t>dom.seed</a:t>
            </a:r>
            <a:r>
              <a:rPr lang="en-US" dirty="0"/>
              <a:t>(42))14 before calling </a:t>
            </a:r>
            <a:r>
              <a:rPr lang="en-US" dirty="0" err="1"/>
              <a:t>np.random.permutation</a:t>
            </a:r>
            <a:r>
              <a:rPr lang="en-US" dirty="0"/>
              <a:t>(), so that it always generates the same shuffled indices. But both these solutions will break next time you fetch an updated dataset. </a:t>
            </a:r>
          </a:p>
          <a:p>
            <a:pPr algn="just"/>
            <a:r>
              <a:rPr lang="en-US" dirty="0"/>
              <a:t>A common solution is to use each instance’s identifier to decide whether or not it should go in the test set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81826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919F-3099-E08D-9BC3-CF82642D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Scikit learn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B3561-319F-E54C-8D4D-8FAF4ED0A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Scikit-Learn provides a </a:t>
            </a:r>
            <a:r>
              <a:rPr lang="en-US" dirty="0">
                <a:solidFill>
                  <a:srgbClr val="FF0000"/>
                </a:solidFill>
              </a:rPr>
              <a:t>few functions to split datasets into multiple subsets </a:t>
            </a:r>
            <a:r>
              <a:rPr lang="en-US" dirty="0"/>
              <a:t>in various ways.</a:t>
            </a:r>
          </a:p>
          <a:p>
            <a:pPr algn="just"/>
            <a:r>
              <a:rPr lang="en-US" dirty="0"/>
              <a:t> The simplest function is </a:t>
            </a:r>
            <a:r>
              <a:rPr lang="en-US" dirty="0" err="1">
                <a:solidFill>
                  <a:srgbClr val="FF0000"/>
                </a:solidFill>
              </a:rPr>
              <a:t>train_test_split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which does pretty much the same thing as the function </a:t>
            </a:r>
            <a:r>
              <a:rPr lang="en-US" dirty="0" err="1">
                <a:solidFill>
                  <a:srgbClr val="FF0000"/>
                </a:solidFill>
              </a:rPr>
              <a:t>split_train_test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defined earlier, with a couple of additional features. </a:t>
            </a:r>
          </a:p>
          <a:p>
            <a:pPr lvl="1" algn="just"/>
            <a:r>
              <a:rPr lang="en-US" dirty="0"/>
              <a:t>First there is a </a:t>
            </a:r>
            <a:r>
              <a:rPr lang="en-US" dirty="0" err="1">
                <a:solidFill>
                  <a:srgbClr val="FF0000"/>
                </a:solidFill>
              </a:rPr>
              <a:t>random_state</a:t>
            </a:r>
            <a:r>
              <a:rPr lang="en-US" dirty="0">
                <a:solidFill>
                  <a:srgbClr val="FF0000"/>
                </a:solidFill>
              </a:rPr>
              <a:t> parameter that allows you to set the random generator</a:t>
            </a:r>
            <a:r>
              <a:rPr lang="en-US" dirty="0"/>
              <a:t> seed as explained previously</a:t>
            </a:r>
          </a:p>
          <a:p>
            <a:pPr lvl="1" algn="just"/>
            <a:r>
              <a:rPr lang="en-US" dirty="0"/>
              <a:t>Second you can pass it </a:t>
            </a:r>
            <a:r>
              <a:rPr lang="en-US" dirty="0">
                <a:solidFill>
                  <a:srgbClr val="FF0000"/>
                </a:solidFill>
              </a:rPr>
              <a:t>multiple datasets with an identical number of rows, and it will split them on the same indices</a:t>
            </a:r>
            <a:r>
              <a:rPr lang="en-US" dirty="0"/>
              <a:t> (this is very useful, for example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24698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8C127-2D9F-2612-C920-BC73680C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04411-1314-B9CC-952E-2764B2CCE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A38F9-BA99-BC28-2116-373E725EE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057400"/>
            <a:ext cx="904047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50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31DF-3B4F-85A3-2DBD-6FEC5F01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03B32-4186-9001-D8F8-F100B7422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chatted with experts who told you that the </a:t>
            </a:r>
            <a:r>
              <a:rPr lang="en-US" dirty="0">
                <a:solidFill>
                  <a:srgbClr val="FF0000"/>
                </a:solidFill>
              </a:rPr>
              <a:t>median income is a very important attribute to predict median housing prices. </a:t>
            </a:r>
            <a:r>
              <a:rPr lang="en-US" dirty="0"/>
              <a:t>You may want to ensure that the </a:t>
            </a:r>
            <a:r>
              <a:rPr lang="en-US" dirty="0">
                <a:solidFill>
                  <a:srgbClr val="FF0000"/>
                </a:solidFill>
              </a:rPr>
              <a:t>test set is representative of the various categories of incomes in the whole dataset</a:t>
            </a:r>
            <a:r>
              <a:rPr lang="en-US" dirty="0"/>
              <a:t>. Since the median income is a continuous numerical attribute, you first need to create an income category attribute.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31352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12B83-71CC-B252-5814-61A53E77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4980F-B163-DF47-972D-05366C1B4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DB833-6218-F8A9-003C-539C124E7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33400"/>
            <a:ext cx="8682458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81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6610-B1E9-9835-B135-206E73EAF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 </a:t>
            </a:r>
            <a:r>
              <a:rPr lang="en-US"/>
              <a:t>and Visualize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A6C58-0EF0-2177-8487-0E9F5834A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scatterplot of all districts to visualize the data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02545F-9EB2-D7AD-7930-2EB8F98BD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17650"/>
            <a:ext cx="6629400" cy="376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845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CD0A-9515-B77C-1546-037A04299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Correlations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A24A9-30B5-1047-A528-D970088FC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Since the dataset is not too large, you can easily compute the standard correlation coefficient (also called Pearson’s r) between every pair of attributes using the </a:t>
            </a:r>
            <a:r>
              <a:rPr lang="en-US" sz="2400" dirty="0" err="1"/>
              <a:t>corr</a:t>
            </a:r>
            <a:r>
              <a:rPr lang="en-US" sz="2400" dirty="0"/>
              <a:t>() method</a:t>
            </a:r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7A4BA3-CD9D-A8FE-FEB6-E062DC663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9" y="3124200"/>
            <a:ext cx="8059236" cy="333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91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62C2-EDF0-FE15-D9D9-1C39DE0B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Data for ML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E4C8F-11B4-7C20-7B30-B2DB117F6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backup of data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9C7D9-5E09-15FE-B9F5-6969D6740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797" y="2286000"/>
            <a:ext cx="7264406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656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596C-BC44-14B4-5910-932A1125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9CBC-15B5-2A4C-D2E7-EF578F99F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Features with missing attributes:</a:t>
            </a:r>
          </a:p>
          <a:p>
            <a:r>
              <a:rPr lang="en-US" dirty="0"/>
              <a:t>Get rid of the corresponding values </a:t>
            </a:r>
          </a:p>
          <a:p>
            <a:r>
              <a:rPr lang="en-US" dirty="0"/>
              <a:t>Get rid of the whole attribute</a:t>
            </a:r>
          </a:p>
          <a:p>
            <a:r>
              <a:rPr lang="en-US" dirty="0"/>
              <a:t>Set the values to some value (zero, the mean, the median, etc.).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F0189-9EA1-4176-10BA-C3BFA0A2E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44" y="4604657"/>
            <a:ext cx="8346912" cy="173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056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4550-F66F-9CD9-A3EC-8007C88BC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57DB5-D8C0-8699-6DB2-53DA98A31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dirty="0">
                <a:solidFill>
                  <a:srgbClr val="FF0000"/>
                </a:solidFill>
              </a:rPr>
              <a:t>two common ways to get all attributes to have the same scale: min-max scaling and standardization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/>
            </a:br>
            <a:br>
              <a:rPr lang="en-US" dirty="0"/>
            </a:br>
            <a:r>
              <a:rPr lang="en-US" dirty="0"/>
              <a:t>Already discussed in lecture 2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570201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6BC9-C53C-13E0-F964-33750258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 Pipeline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34440-CBC0-0F41-7E8F-87D66BE35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Scikit-Learn provides the Pipeline class to help with sequences of transformations.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55630-B9CD-4B6E-D011-1A19A12FA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64609"/>
            <a:ext cx="6858000" cy="301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50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0733-72C9-BDE0-53A6-D0DB6F8A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and train model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8226-AB9F-1A8F-4C41-1856D28AF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405F3-199F-09FE-577A-4EB519F85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5770"/>
            <a:ext cx="6135073" cy="1142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D4C411-341C-5A03-F650-88E463E26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08523"/>
            <a:ext cx="7173686" cy="1909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3C70E8-9324-D376-C13E-A92DBC184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943" y="4904925"/>
            <a:ext cx="6860074" cy="140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59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69F3-F146-9FE9-A71C-1CAFCC5F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model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C39B6-C3FE-F6BD-F98C-36D40A78E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D3425-C2EF-2F69-A8AB-619665D7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8960691" cy="32603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CCDFA7-4EF9-9806-83A0-1ECBA69B8DCF}"/>
              </a:ext>
            </a:extLst>
          </p:cNvPr>
          <p:cNvSpPr/>
          <p:nvPr/>
        </p:nvSpPr>
        <p:spPr>
          <a:xfrm>
            <a:off x="1371600" y="5248870"/>
            <a:ext cx="74152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How decision tree works?</a:t>
            </a:r>
          </a:p>
        </p:txBody>
      </p:sp>
    </p:spTree>
    <p:extLst>
      <p:ext uri="{BB962C8B-B14F-4D97-AF65-F5344CB8AC3E}">
        <p14:creationId xmlns:p14="http://schemas.microsoft.com/office/powerpoint/2010/main" val="433291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962F-A6B6-CB46-8D4F-66E729645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Cross Validation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ECA63-795C-1D0C-A44B-04E52015D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6BF5A-E30E-4A4B-4A09-4A560BC63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638"/>
            <a:ext cx="6334798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08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>
            <a:extLst>
              <a:ext uri="{FF2B5EF4-FFF2-40B4-BE49-F238E27FC236}">
                <a16:creationId xmlns:a16="http://schemas.microsoft.com/office/drawing/2014/main" id="{8FD13DA0-F265-0F33-3569-4903D10A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Cross Validation</a:t>
            </a:r>
          </a:p>
        </p:txBody>
      </p:sp>
      <p:sp>
        <p:nvSpPr>
          <p:cNvPr id="114691" name="Content Placeholder 2">
            <a:extLst>
              <a:ext uri="{FF2B5EF4-FFF2-40B4-BE49-F238E27FC236}">
                <a16:creationId xmlns:a16="http://schemas.microsoft.com/office/drawing/2014/main" id="{9E0989CB-D1CD-6BE9-E5D9-98F14F753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We can solve our dilemma by repeating the training many times on different partitioning </a:t>
            </a:r>
          </a:p>
          <a:p>
            <a:pPr eaLnBrk="1" hangingPunct="1"/>
            <a:r>
              <a:rPr lang="en-US" altLang="en-PK"/>
              <a:t>This is known as K-fold cross validation </a:t>
            </a:r>
          </a:p>
          <a:p>
            <a:pPr eaLnBrk="1" hangingPunct="1"/>
            <a:endParaRPr lang="en-US" altLang="en-PK"/>
          </a:p>
        </p:txBody>
      </p:sp>
      <p:pic>
        <p:nvPicPr>
          <p:cNvPr id="114692" name="Picture 4" descr="Screen Shot 2014-03-21 at 16.13.13.png">
            <a:extLst>
              <a:ext uri="{FF2B5EF4-FFF2-40B4-BE49-F238E27FC236}">
                <a16:creationId xmlns:a16="http://schemas.microsoft.com/office/drawing/2014/main" id="{4FC90E71-A97D-5719-4F8C-114BFB6B8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3975100"/>
            <a:ext cx="84931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693" name="Picture 5" descr="latex-image-1.pdf">
            <a:extLst>
              <a:ext uri="{FF2B5EF4-FFF2-40B4-BE49-F238E27FC236}">
                <a16:creationId xmlns:a16="http://schemas.microsoft.com/office/drawing/2014/main" id="{F43A6170-5D8C-12F1-09E4-A4F943FD4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4916488"/>
            <a:ext cx="5486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>
            <a:extLst>
              <a:ext uri="{FF2B5EF4-FFF2-40B4-BE49-F238E27FC236}">
                <a16:creationId xmlns:a16="http://schemas.microsoft.com/office/drawing/2014/main" id="{20E23F59-86CB-49A4-B0BC-B8EADE34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Cross Validation</a:t>
            </a:r>
          </a:p>
        </p:txBody>
      </p:sp>
      <p:pic>
        <p:nvPicPr>
          <p:cNvPr id="115715" name="Content Placeholder 6" descr="Screen Shot 2014-03-21 at 16.21.52.png">
            <a:extLst>
              <a:ext uri="{FF2B5EF4-FFF2-40B4-BE49-F238E27FC236}">
                <a16:creationId xmlns:a16="http://schemas.microsoft.com/office/drawing/2014/main" id="{5205E6C1-24C1-320E-BF1F-3FF367C0FB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7234" b="-87234"/>
          <a:stretch>
            <a:fillRect/>
          </a:stretch>
        </p:blipFill>
        <p:spPr/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>
            <a:extLst>
              <a:ext uri="{FF2B5EF4-FFF2-40B4-BE49-F238E27FC236}">
                <a16:creationId xmlns:a16="http://schemas.microsoft.com/office/drawing/2014/main" id="{3D9E43A3-998A-B50B-E5F1-63CA57345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Cross Validation</a:t>
            </a:r>
          </a:p>
        </p:txBody>
      </p:sp>
      <p:pic>
        <p:nvPicPr>
          <p:cNvPr id="116739" name="Content Placeholder 4" descr="Screen Shot 2014-03-21 at 16.22.17.png">
            <a:extLst>
              <a:ext uri="{FF2B5EF4-FFF2-40B4-BE49-F238E27FC236}">
                <a16:creationId xmlns:a16="http://schemas.microsoft.com/office/drawing/2014/main" id="{4051390F-7CAE-2C0F-3B2E-A761C0584B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3990" b="-83990"/>
          <a:stretch>
            <a:fillRect/>
          </a:stretch>
        </p:blipFill>
        <p:spPr/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>
            <a:extLst>
              <a:ext uri="{FF2B5EF4-FFF2-40B4-BE49-F238E27FC236}">
                <a16:creationId xmlns:a16="http://schemas.microsoft.com/office/drawing/2014/main" id="{3A527E41-9D01-9CB0-1201-5B5CB084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Cross Validation</a:t>
            </a:r>
          </a:p>
        </p:txBody>
      </p:sp>
      <p:pic>
        <p:nvPicPr>
          <p:cNvPr id="117763" name="Content Placeholder 4" descr="Screen Shot 2014-03-21 at 16.22.39.png">
            <a:extLst>
              <a:ext uri="{FF2B5EF4-FFF2-40B4-BE49-F238E27FC236}">
                <a16:creationId xmlns:a16="http://schemas.microsoft.com/office/drawing/2014/main" id="{1A1CE2FF-D333-781A-8716-F0FBCDBC2B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9462" b="-79462"/>
          <a:stretch>
            <a:fillRect/>
          </a:stretch>
        </p:blipFill>
        <p:spPr/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>
            <a:extLst>
              <a:ext uri="{FF2B5EF4-FFF2-40B4-BE49-F238E27FC236}">
                <a16:creationId xmlns:a16="http://schemas.microsoft.com/office/drawing/2014/main" id="{ECCE2E40-6BC5-6AAD-7AC8-877C4286C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Cross Validation</a:t>
            </a:r>
          </a:p>
        </p:txBody>
      </p:sp>
      <p:pic>
        <p:nvPicPr>
          <p:cNvPr id="118787" name="Content Placeholder 4" descr="Screen Shot 2014-03-21 at 16.23.00.png">
            <a:extLst>
              <a:ext uri="{FF2B5EF4-FFF2-40B4-BE49-F238E27FC236}">
                <a16:creationId xmlns:a16="http://schemas.microsoft.com/office/drawing/2014/main" id="{E45F886D-A398-564E-654D-465BCB16AA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4122" b="-94122"/>
          <a:stretch>
            <a:fillRect/>
          </a:stretch>
        </p:blipFill>
        <p:spPr/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>
            <a:extLst>
              <a:ext uri="{FF2B5EF4-FFF2-40B4-BE49-F238E27FC236}">
                <a16:creationId xmlns:a16="http://schemas.microsoft.com/office/drawing/2014/main" id="{EE901A07-C8CD-250B-FB46-4F43BFF31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Cross Validation</a:t>
            </a:r>
          </a:p>
        </p:txBody>
      </p:sp>
      <p:pic>
        <p:nvPicPr>
          <p:cNvPr id="119811" name="Content Placeholder 4" descr="Screen Shot 2014-03-21 at 16.23.22.png">
            <a:extLst>
              <a:ext uri="{FF2B5EF4-FFF2-40B4-BE49-F238E27FC236}">
                <a16:creationId xmlns:a16="http://schemas.microsoft.com/office/drawing/2014/main" id="{7CB47FF4-8736-53EA-F713-FEBDA3D05B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5820" b="-85820"/>
          <a:stretch>
            <a:fillRect/>
          </a:stretch>
        </p:blipFill>
        <p:spPr/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>
            <a:extLst>
              <a:ext uri="{FF2B5EF4-FFF2-40B4-BE49-F238E27FC236}">
                <a16:creationId xmlns:a16="http://schemas.microsoft.com/office/drawing/2014/main" id="{5B2BB62B-0F54-72BA-9D85-C4E8B23F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Cross Validation</a:t>
            </a:r>
          </a:p>
        </p:txBody>
      </p:sp>
      <p:pic>
        <p:nvPicPr>
          <p:cNvPr id="120835" name="Content Placeholder 4" descr="Screen Shot 2014-03-21 at 16.23.59.png">
            <a:extLst>
              <a:ext uri="{FF2B5EF4-FFF2-40B4-BE49-F238E27FC236}">
                <a16:creationId xmlns:a16="http://schemas.microsoft.com/office/drawing/2014/main" id="{6D7EDCDF-A410-C8A6-D3A1-9D95252285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8583" b="-88583"/>
          <a:stretch>
            <a:fillRect/>
          </a:stretch>
        </p:blipFill>
        <p:spPr/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8363-440F-3DE9-849B-76EF8D9A0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Tune Model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0B966-0CB1-71B1-28CE-20597FA1C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B6D25-24A0-4323-37F0-BE70C5E84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600200"/>
            <a:ext cx="792536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46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7543-D52A-4795-B804-F4C2193A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 Models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30DAC-83E1-5174-C9E9-6946096FD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the Best Models and Their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7569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D7E35-DDC8-93EB-E0AD-0D7FC38E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Evaluate on test data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62FDE-E5AE-C296-0C74-4AD7AE621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84A95-FBD6-6D3A-CD66-9414890F7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4495800"/>
            <a:ext cx="7317624" cy="19495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351FBB-EAF7-9216-108E-6C0444944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54497"/>
            <a:ext cx="6705600" cy="284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55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B1E4-F755-8BF1-8A56-680AC571A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done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09BE3-D1D1-FAED-6B3E-F52734D6C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ready to launch your model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3486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3" ma:contentTypeDescription="Create a new document." ma:contentTypeScope="" ma:versionID="c56093a13bcf6bf1569280f252a463a7">
  <xsd:schema xmlns:xsd="http://www.w3.org/2001/XMLSchema" xmlns:xs="http://www.w3.org/2001/XMLSchema" xmlns:p="http://schemas.microsoft.com/office/2006/metadata/properties" xmlns:ns2="82062c1e-dd8f-4268-9e54-b0572c0891a6" targetNamespace="http://schemas.microsoft.com/office/2006/metadata/properties" ma:root="true" ma:fieldsID="66ec99b637a5ba745fffa7bcfec8d45f" ns2:_="">
    <xsd:import namespace="82062c1e-dd8f-4268-9e54-b0572c0891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62c1e-dd8f-4268-9e54-b0572c0891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AAE61F-CF6F-429C-9E91-4165BF47A191}"/>
</file>

<file path=customXml/itemProps2.xml><?xml version="1.0" encoding="utf-8"?>
<ds:datastoreItem xmlns:ds="http://schemas.openxmlformats.org/officeDocument/2006/customXml" ds:itemID="{ECD7893B-F5BF-4458-B6E7-F60A3FC36E68}"/>
</file>

<file path=customXml/itemProps3.xml><?xml version="1.0" encoding="utf-8"?>
<ds:datastoreItem xmlns:ds="http://schemas.openxmlformats.org/officeDocument/2006/customXml" ds:itemID="{B7975D98-9ACD-429F-A953-D9AC4E59F213}"/>
</file>

<file path=docProps/app.xml><?xml version="1.0" encoding="utf-8"?>
<Properties xmlns="http://schemas.openxmlformats.org/officeDocument/2006/extended-properties" xmlns:vt="http://schemas.openxmlformats.org/officeDocument/2006/docPropsVTypes">
  <TotalTime>7085</TotalTime>
  <Words>1839</Words>
  <Application>Microsoft Office PowerPoint</Application>
  <PresentationFormat>On-screen Show (4:3)</PresentationFormat>
  <Paragraphs>140</Paragraphs>
  <Slides>53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Machine Learning (ML) RIME-832</vt:lpstr>
      <vt:lpstr>What we will discuss</vt:lpstr>
      <vt:lpstr>End-to-End: The Machine Learning Pipeline</vt:lpstr>
      <vt:lpstr>PowerPoint Presentation</vt:lpstr>
      <vt:lpstr>California Housing Prices dataset from the StatLib repository</vt:lpstr>
      <vt:lpstr>The big picture</vt:lpstr>
      <vt:lpstr>The questions you must ask: First Question</vt:lpstr>
      <vt:lpstr>Expected Answer</vt:lpstr>
      <vt:lpstr>PowerPoint Presentation</vt:lpstr>
      <vt:lpstr>What is a pipeline?</vt:lpstr>
      <vt:lpstr>Second Question</vt:lpstr>
      <vt:lpstr>Expected Answer</vt:lpstr>
      <vt:lpstr>Frame Work</vt:lpstr>
      <vt:lpstr>PowerPoint Presentation</vt:lpstr>
      <vt:lpstr>Next step: Performance measure selection</vt:lpstr>
      <vt:lpstr>PowerPoint Presentation</vt:lpstr>
      <vt:lpstr>PowerPoint Presentation</vt:lpstr>
      <vt:lpstr>Example</vt:lpstr>
      <vt:lpstr>PowerPoint Presentation</vt:lpstr>
      <vt:lpstr>Mean Absolute Error (MAE)</vt:lpstr>
      <vt:lpstr>PowerPoint Presentation</vt:lpstr>
      <vt:lpstr>Next Step: Check Assumptions</vt:lpstr>
      <vt:lpstr>Steps for Implementation</vt:lpstr>
      <vt:lpstr>Steps for Implementation</vt:lpstr>
      <vt:lpstr>PowerPoint Presentation</vt:lpstr>
      <vt:lpstr>PowerPoint Presentation</vt:lpstr>
      <vt:lpstr>PowerPoint Presentation</vt:lpstr>
      <vt:lpstr>Steps for Implementation</vt:lpstr>
      <vt:lpstr>Solution</vt:lpstr>
      <vt:lpstr>Scikit learn</vt:lpstr>
      <vt:lpstr>PowerPoint Presentation</vt:lpstr>
      <vt:lpstr>PowerPoint Presentation</vt:lpstr>
      <vt:lpstr>PowerPoint Presentation</vt:lpstr>
      <vt:lpstr>Discover and Visualize</vt:lpstr>
      <vt:lpstr>Find Correlations</vt:lpstr>
      <vt:lpstr>Prepare Data for ML</vt:lpstr>
      <vt:lpstr>Data Cleaning</vt:lpstr>
      <vt:lpstr>Feature Scaling</vt:lpstr>
      <vt:lpstr>Transformation Pipeline</vt:lpstr>
      <vt:lpstr>Select and train model</vt:lpstr>
      <vt:lpstr>Another model</vt:lpstr>
      <vt:lpstr>Use Cross Validation</vt:lpstr>
      <vt:lpstr>Cross Validation</vt:lpstr>
      <vt:lpstr>Cross Validation</vt:lpstr>
      <vt:lpstr>Cross Validation</vt:lpstr>
      <vt:lpstr>Cross Validation</vt:lpstr>
      <vt:lpstr>Cross Validation</vt:lpstr>
      <vt:lpstr>Cross Validation</vt:lpstr>
      <vt:lpstr>Cross Validation</vt:lpstr>
      <vt:lpstr>Fine Tune Model</vt:lpstr>
      <vt:lpstr>Ensemble Models</vt:lpstr>
      <vt:lpstr>Evaluate on test data</vt:lpstr>
      <vt:lpstr>Once 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RIME-314</dc:title>
  <dc:creator>Hasan</dc:creator>
  <cp:lastModifiedBy>Jawad Khan</cp:lastModifiedBy>
  <cp:revision>265</cp:revision>
  <dcterms:created xsi:type="dcterms:W3CDTF">2006-08-16T00:00:00Z</dcterms:created>
  <dcterms:modified xsi:type="dcterms:W3CDTF">2025-09-29T10:55:06Z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0x0101002419A45FDF435D4CA9F3A585DD4ABEB3</vt:lpwstr>
  </property>
</Properties>
</file>