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ink/ink1.xml" ContentType="application/inkml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77.xml" ContentType="application/vnd.openxmlformats-officedocument.presentationml.tags+xml"/>
  <Override PartName="/ppt/tags/tag10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6.xml" ContentType="application/vnd.openxmlformats-officedocument.presentationml.tags+xml"/>
  <Override PartName="/ppt/tags/tag37.xml" ContentType="application/vnd.openxmlformats-officedocument.presentationml.tags+xml"/>
  <Override PartName="/ppt/tags/tag1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24.xml" ContentType="application/vnd.openxmlformats-officedocument.presentationml.tags+xml"/>
  <Override PartName="/ppt/tags/tag55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25.xml" ContentType="application/vnd.openxmlformats-officedocument.presentationml.tag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3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8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  <p:sldId id="281" r:id="rId25"/>
    <p:sldId id="283" r:id="rId26"/>
    <p:sldId id="29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0T01:35:12.041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21478 7431 416,'21'0'897,"-21"0"-257,0 0 642,0-20 928,0 20 416,0 0-544,0 0-480,0 0-385,0 0-160,0 0-224,0 0-225,0 0-320,0 0-63,18 20-1,-18-20 64,20 40-32,-20-20-63,20 19 127,21-18 0,-23 38-64,3-19 33,19 20-161,-1-21-32,21 21-96,-21-1-32,1-19 96,0 0-128,-1-1 32,2 2-192,-21-22-161,-20-19-255,20 20-289,-20-20-288,0 0-385,0 0-1249</inkml:trace>
  <inkml:trace contextRef="#ctx0" brushRef="#br0" timeOffset="432.02">21438 7849 7559,'-20'-20'608,"1"20"1,19 0-225,0-20 737,0 20 32,-20-20-448,20 20-449,0-20-192,0 0 0,0 1-64,20-21 96,-20 20 193,0-21 127,0 22-192,0-21-128,0 0-64,0 1 129,0 19 351,0 0 193,0 20-33,0-20-287,0 20-545,19 20 192,21-20 128,1 20 96,17 0-64,1-1-128,22 1-64,-22 1-32,20-2-416,2 2-929,-22-21-1891</inkml:trace>
  <inkml:trace contextRef="#ctx0" brushRef="#br0" timeOffset="1270.07">17210 5087 12812,'-20'0'800,"20"0"-31,0 0-288,20 0-129,0-20 192,19 0 1,2 0-161,17 0 97,22-19-1,0-1-192,19 0 449,1 1-320,-21-2-289,-20 22-192,1-2 0,-21 2-673,-19 19-544,0-20-833,-20 20-1250,-20 0-6181</inkml:trace>
  <inkml:trace contextRef="#ctx0" brushRef="#br0" timeOffset="1608.09">17429 4729 9352,'19'0'737,"-38"0"-1057,-1 0-225,0 39 65,-21 1 608,3 1 929,-23 18 256,22-19-192,-1 19 0,20-19-640,20 0-161,0-1 64,0-18-63,20-2 31,20 1 225,-20 1-65,19-2 33,22-19-193,-23 0-160,23 0-128,-2 0-96,-19-19-737,-1 19-800,1 0-1538</inkml:trace>
  <inkml:trace contextRef="#ctx0" brushRef="#br0" timeOffset="2495.14">18759 10134 13676,'0'0'1570,"0"0"-321,0 0-576,0 0 63,19 0 129,1 0-64,0 20-192,20 0-321,-1-1-32,-19 2-160,21-1-64,-3-1 257,3 1-193,-3 0 160,23 0-64,-2 0 96,-19 0-128,19-1-31,1-19-97,-21 21 0,2-21-32,-1 0-32,-22 19-64,3-19-97,-21 0 65,0 0 128,0 0-288,0-19-353,0 19-480,0 0-672,-21-21-994,3 21-2626</inkml:trace>
  <inkml:trace contextRef="#ctx0" brushRef="#br0" timeOffset="2870.16">18759 10511 7847,'-40'21'993,"20"-21"320,20 0 64,0 0 97,0 0-545,0-21-193,0 21 33,20-39-96,-20 19-97,20-20 97,-20 0 192,0 1 64,0-1-385,0 0-352,-20-20 1,0 21-161,0 0 160,20 18 32,-19 1 128,19 1-256,19 19-160,1 0 128,20 19 97,-1-19-65,41 20-96,-1-20 96,0 21-96,21-21 64,-21 0-513,-19 0-928,19 0-1858,-40 0-4388</inkml:trace>
  <inkml:trace contextRef="#ctx0" brushRef="#br0" timeOffset="20541.16">5319 5564 11178,'0'-20'64,"0"20"1057,0 0-865,0 0 65,0 0 255,0 0-63,0 0-161,0 0 129,0 0 191,19 20 33,-19-20 32,20 20-129,-20-20 1,20 19-321,0 1-96,0 0-96,19 21 193,-19-22-289,1 40 0,19-18 0,-1-2 192,-19 21-96,20-1 64,19 1-96,-19-1 160,-1 21-64,21-1-31,-1 1 95,0 19 32,22 0 32,-22 2 1,20 17-33,2-18-64,-2 19 64,20 19-64,-20-18 97,0 19-97,0 0 160,2-1-96,-2 22 65,20-21-97,-20 0 32,20 20-288,0-20 449,1 20-321,-1-20-32,-20-19 64,20 19-64,-18-20-64,-2 0-64,0 0 96,-19-19-64,-1-1 32,0-19-96,-39 0-96,21-1-225,-21-20-576,-2 1-833,-18-20-1953,0 0-7976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E31BA-E1C7-4518-8D01-4EDE8441E041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D6B2D-1E3B-4B2F-BCDF-75F47513FDD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60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2951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4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11.xml"/><Relationship Id="rId7" Type="http://schemas.openxmlformats.org/officeDocument/2006/relationships/image" Target="../media/image14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2.xml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15.xml"/><Relationship Id="rId7" Type="http://schemas.openxmlformats.org/officeDocument/2006/relationships/image" Target="../media/image2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9.png"/><Relationship Id="rId5" Type="http://schemas.openxmlformats.org/officeDocument/2006/relationships/tags" Target="../tags/tag17.xml"/><Relationship Id="rId10" Type="http://schemas.openxmlformats.org/officeDocument/2006/relationships/image" Target="../media/image18.png"/><Relationship Id="rId4" Type="http://schemas.openxmlformats.org/officeDocument/2006/relationships/tags" Target="../tags/tag16.xml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25.pn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24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23.png"/><Relationship Id="rId5" Type="http://schemas.openxmlformats.org/officeDocument/2006/relationships/tags" Target="../tags/tag22.xml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tags" Target="../tags/tag21.xml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30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tags" Target="../tags/tag30.xml"/><Relationship Id="rId7" Type="http://schemas.openxmlformats.org/officeDocument/2006/relationships/image" Target="../media/image34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38.png"/><Relationship Id="rId5" Type="http://schemas.openxmlformats.org/officeDocument/2006/relationships/tags" Target="../tags/tag32.xml"/><Relationship Id="rId10" Type="http://schemas.openxmlformats.org/officeDocument/2006/relationships/image" Target="../media/image37.png"/><Relationship Id="rId4" Type="http://schemas.openxmlformats.org/officeDocument/2006/relationships/tags" Target="../tags/tag31.xml"/><Relationship Id="rId9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35.xml"/><Relationship Id="rId7" Type="http://schemas.openxmlformats.org/officeDocument/2006/relationships/image" Target="../media/image40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39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36.xml"/><Relationship Id="rId9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image" Target="../media/image44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49.png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image" Target="../media/image48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image" Target="../media/image47.png"/><Relationship Id="rId5" Type="http://schemas.openxmlformats.org/officeDocument/2006/relationships/tags" Target="../tags/tag46.xml"/><Relationship Id="rId1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tags" Target="../tags/tag45.xml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tags" Target="../tags/tag51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55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54.png"/><Relationship Id="rId5" Type="http://schemas.openxmlformats.org/officeDocument/2006/relationships/tags" Target="../tags/tag53.xml"/><Relationship Id="rId10" Type="http://schemas.openxmlformats.org/officeDocument/2006/relationships/image" Target="../media/image53.png"/><Relationship Id="rId4" Type="http://schemas.openxmlformats.org/officeDocument/2006/relationships/tags" Target="../tags/tag52.xml"/><Relationship Id="rId9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0.png"/><Relationship Id="rId7" Type="http://schemas.openxmlformats.org/officeDocument/2006/relationships/image" Target="../media/image57.em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5.xml"/><Relationship Id="rId6" Type="http://schemas.openxmlformats.org/officeDocument/2006/relationships/oleObject" Target="../embeddings/oleObject2.bin"/><Relationship Id="rId5" Type="http://schemas.openxmlformats.org/officeDocument/2006/relationships/hyperlink" Target="http://www.wolframalpha.com/input/?i=D%5by*Log%5b1/(1+e%5e(a*x))%5d++++(1-y)*Log%5b1+-+1/(1+e%5e(a*x))%5d,a%5d" TargetMode="External"/><Relationship Id="rId4" Type="http://schemas.openxmlformats.org/officeDocument/2006/relationships/hyperlink" Target="http://www.wolframalpha.com" TargetMode="External"/><Relationship Id="rId9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54.png"/><Relationship Id="rId3" Type="http://schemas.openxmlformats.org/officeDocument/2006/relationships/tags" Target="../tags/tag5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53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56.png"/><Relationship Id="rId5" Type="http://schemas.openxmlformats.org/officeDocument/2006/relationships/tags" Target="../tags/tag60.xml"/><Relationship Id="rId10" Type="http://schemas.openxmlformats.org/officeDocument/2006/relationships/image" Target="../media/image52.png"/><Relationship Id="rId4" Type="http://schemas.openxmlformats.org/officeDocument/2006/relationships/tags" Target="../tags/tag59.xml"/><Relationship Id="rId9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image" Target="../media/image47.png"/><Relationship Id="rId18" Type="http://schemas.openxmlformats.org/officeDocument/2006/relationships/image" Target="../media/image55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image" Target="../media/image51.png"/><Relationship Id="rId17" Type="http://schemas.openxmlformats.org/officeDocument/2006/relationships/image" Target="../media/image54.png"/><Relationship Id="rId2" Type="http://schemas.openxmlformats.org/officeDocument/2006/relationships/tags" Target="../tags/tag63.xml"/><Relationship Id="rId16" Type="http://schemas.openxmlformats.org/officeDocument/2006/relationships/image" Target="../media/image53.png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62.png"/><Relationship Id="rId5" Type="http://schemas.openxmlformats.org/officeDocument/2006/relationships/tags" Target="../tags/tag66.xml"/><Relationship Id="rId15" Type="http://schemas.openxmlformats.org/officeDocument/2006/relationships/image" Target="../media/image64.png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tags" Target="../tags/tag73.xml"/><Relationship Id="rId7" Type="http://schemas.openxmlformats.org/officeDocument/2006/relationships/image" Target="../media/image62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47.png"/><Relationship Id="rId11" Type="http://schemas.openxmlformats.org/officeDocument/2006/relationships/hyperlink" Target="http://www.mathworks.com/help/optim/ug/fminunc.html" TargetMode="External"/><Relationship Id="rId5" Type="http://schemas.openxmlformats.org/officeDocument/2006/relationships/slideLayout" Target="../slideLayouts/slideLayout12.xml"/><Relationship Id="rId10" Type="http://schemas.openxmlformats.org/officeDocument/2006/relationships/hyperlink" Target="http://docs.scipy.org/doc/scipy/reference/tutorial/optimize.html" TargetMode="External"/><Relationship Id="rId4" Type="http://schemas.openxmlformats.org/officeDocument/2006/relationships/tags" Target="../tags/tag74.xml"/><Relationship Id="rId9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tags" Target="../tags/tag79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0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image" Target="../media/image49.png"/><Relationship Id="rId5" Type="http://schemas.openxmlformats.org/officeDocument/2006/relationships/tags" Target="../tags/tag81.xml"/><Relationship Id="rId10" Type="http://schemas.openxmlformats.org/officeDocument/2006/relationships/image" Target="../media/image69.png"/><Relationship Id="rId4" Type="http://schemas.openxmlformats.org/officeDocument/2006/relationships/tags" Target="../tags/tag80.xml"/><Relationship Id="rId9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130425"/>
            <a:ext cx="82296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Machine Learning - RIME-832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Classification with Logistic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81001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Classification (focus on binary classification)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203015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Email: Spam / Not Spam?</a:t>
            </a:r>
          </a:p>
          <a:p>
            <a:r>
              <a:rPr lang="en-US" sz="2400" dirty="0"/>
              <a:t>Online Transactions: Fraudulent (Yes / No)?</a:t>
            </a:r>
          </a:p>
          <a:p>
            <a:r>
              <a:rPr lang="en-US" sz="2400" dirty="0"/>
              <a:t>Tumor: Malignant / Benign ?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2" y="3516378"/>
            <a:ext cx="1492301" cy="4901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12681" y="3124201"/>
            <a:ext cx="56388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0: “Negative Class” (e.g., benign tumor)</a:t>
            </a:r>
          </a:p>
          <a:p>
            <a:r>
              <a:rPr lang="en-US" sz="300" dirty="0"/>
              <a:t> </a:t>
            </a:r>
            <a:endParaRPr lang="en-US" sz="2400" dirty="0"/>
          </a:p>
          <a:p>
            <a:r>
              <a:rPr lang="en-US" sz="2400" dirty="0"/>
              <a:t>1: “Positive Class” (e.g., malignant tumor)</a:t>
            </a:r>
          </a:p>
        </p:txBody>
      </p:sp>
    </p:spTree>
    <p:extLst>
      <p:ext uri="{BB962C8B-B14F-4D97-AF65-F5344CB8AC3E}">
        <p14:creationId xmlns:p14="http://schemas.microsoft.com/office/powerpoint/2010/main" val="405111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1457284" y="3530600"/>
            <a:ext cx="3495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Tumor Size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838200" y="4426783"/>
            <a:ext cx="5638800" cy="538722"/>
            <a:chOff x="2286000" y="2573982"/>
            <a:chExt cx="5638800" cy="404042"/>
          </a:xfrm>
        </p:grpSpPr>
        <p:sp>
          <p:nvSpPr>
            <p:cNvPr id="11" name="TextBox 10"/>
            <p:cNvSpPr txBox="1"/>
            <p:nvPr/>
          </p:nvSpPr>
          <p:spPr>
            <a:xfrm>
              <a:off x="2286000" y="2573982"/>
              <a:ext cx="56388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Threshold classifier output             at 0.5:</a:t>
              </a:r>
            </a:p>
          </p:txBody>
        </p:sp>
        <p:pic>
          <p:nvPicPr>
            <p:cNvPr id="3" name="Picture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1200" y="2671700"/>
              <a:ext cx="678942" cy="306324"/>
            </a:xfrm>
            <a:prstGeom prst="rect">
              <a:avLst/>
            </a:prstGeom>
          </p:spPr>
        </p:pic>
      </p:grpSp>
      <p:grpSp>
        <p:nvGrpSpPr>
          <p:cNvPr id="4" name="Group 13"/>
          <p:cNvGrpSpPr/>
          <p:nvPr/>
        </p:nvGrpSpPr>
        <p:grpSpPr>
          <a:xfrm>
            <a:off x="1676400" y="5167986"/>
            <a:ext cx="5638800" cy="538722"/>
            <a:chOff x="1219200" y="3311247"/>
            <a:chExt cx="5638800" cy="404042"/>
          </a:xfrm>
        </p:grpSpPr>
        <p:sp>
          <p:nvSpPr>
            <p:cNvPr id="18" name="TextBox 17"/>
            <p:cNvSpPr txBox="1"/>
            <p:nvPr/>
          </p:nvSpPr>
          <p:spPr>
            <a:xfrm>
              <a:off x="1219200" y="3311247"/>
              <a:ext cx="56388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If                        , predict “y = 1”</a:t>
              </a:r>
            </a:p>
          </p:txBody>
        </p:sp>
        <p:pic>
          <p:nvPicPr>
            <p:cNvPr id="7" name="Picture 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058" y="3408965"/>
              <a:ext cx="1483614" cy="306324"/>
            </a:xfrm>
            <a:prstGeom prst="rect">
              <a:avLst/>
            </a:prstGeom>
          </p:spPr>
        </p:pic>
      </p:grpSp>
      <p:grpSp>
        <p:nvGrpSpPr>
          <p:cNvPr id="5" name="Group 23"/>
          <p:cNvGrpSpPr/>
          <p:nvPr/>
        </p:nvGrpSpPr>
        <p:grpSpPr>
          <a:xfrm>
            <a:off x="1676400" y="5963044"/>
            <a:ext cx="5638800" cy="538722"/>
            <a:chOff x="1219200" y="3849379"/>
            <a:chExt cx="5638800" cy="404042"/>
          </a:xfrm>
        </p:grpSpPr>
        <p:sp>
          <p:nvSpPr>
            <p:cNvPr id="21" name="TextBox 20"/>
            <p:cNvSpPr txBox="1"/>
            <p:nvPr/>
          </p:nvSpPr>
          <p:spPr>
            <a:xfrm>
              <a:off x="1219200" y="3849379"/>
              <a:ext cx="56388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If                        , predict “y = 0”</a:t>
              </a:r>
            </a:p>
          </p:txBody>
        </p:sp>
        <p:pic>
          <p:nvPicPr>
            <p:cNvPr id="23" name="Picture 2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058" y="3947097"/>
              <a:ext cx="1483614" cy="306324"/>
            </a:xfrm>
            <a:prstGeom prst="rect">
              <a:avLst/>
            </a:prstGeom>
          </p:spPr>
        </p:pic>
      </p:grpSp>
      <p:cxnSp>
        <p:nvCxnSpPr>
          <p:cNvPr id="27" name="Straight Connector 26"/>
          <p:cNvCxnSpPr/>
          <p:nvPr/>
        </p:nvCxnSpPr>
        <p:spPr>
          <a:xfrm flipV="1">
            <a:off x="1457284" y="1397001"/>
            <a:ext cx="0" cy="259552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347850" y="3522657"/>
            <a:ext cx="3630468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ross 34"/>
          <p:cNvSpPr/>
          <p:nvPr/>
        </p:nvSpPr>
        <p:spPr>
          <a:xfrm rot="2734294">
            <a:off x="1559725" y="3401827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/>
          <p:cNvSpPr/>
          <p:nvPr/>
        </p:nvSpPr>
        <p:spPr>
          <a:xfrm rot="2734294">
            <a:off x="1864526" y="3401827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/>
          <p:cNvSpPr/>
          <p:nvPr/>
        </p:nvSpPr>
        <p:spPr>
          <a:xfrm rot="2734294">
            <a:off x="2186113" y="3401827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/>
          <p:cNvSpPr/>
          <p:nvPr/>
        </p:nvSpPr>
        <p:spPr>
          <a:xfrm rot="2734294">
            <a:off x="2567113" y="3401827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ross 38"/>
          <p:cNvSpPr/>
          <p:nvPr/>
        </p:nvSpPr>
        <p:spPr>
          <a:xfrm rot="2734294">
            <a:off x="3312326" y="1714236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/>
          <p:cNvSpPr/>
          <p:nvPr/>
        </p:nvSpPr>
        <p:spPr>
          <a:xfrm rot="2734294">
            <a:off x="3710113" y="1714236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/>
          <p:cNvSpPr/>
          <p:nvPr/>
        </p:nvSpPr>
        <p:spPr>
          <a:xfrm rot="2734294">
            <a:off x="4091113" y="1714236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ross 42"/>
          <p:cNvSpPr/>
          <p:nvPr/>
        </p:nvSpPr>
        <p:spPr>
          <a:xfrm rot="2734294">
            <a:off x="4531526" y="1714236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2450" y="2333023"/>
            <a:ext cx="141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Malignant ?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1347850" y="1843008"/>
            <a:ext cx="228600" cy="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4552" y="1584367"/>
            <a:ext cx="938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(Yes)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551" y="3257467"/>
            <a:ext cx="938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(No) 0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295400" y="1016000"/>
            <a:ext cx="3810000" cy="3124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76600" y="1498600"/>
            <a:ext cx="0" cy="2235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274640"/>
            <a:ext cx="7772400" cy="715961"/>
          </a:xfrm>
        </p:spPr>
        <p:txBody>
          <a:bodyPr>
            <a:normAutofit fontScale="90000"/>
          </a:bodyPr>
          <a:lstStyle/>
          <a:p>
            <a:r>
              <a:rPr lang="en-US" dirty="0"/>
              <a:t>Consider linear regression again</a:t>
            </a:r>
          </a:p>
        </p:txBody>
      </p:sp>
    </p:spTree>
    <p:extLst>
      <p:ext uri="{BB962C8B-B14F-4D97-AF65-F5344CB8AC3E}">
        <p14:creationId xmlns:p14="http://schemas.microsoft.com/office/powerpoint/2010/main" val="116443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1457284" y="3530600"/>
            <a:ext cx="6645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Tumor Size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347850" y="3522658"/>
            <a:ext cx="6754668" cy="7943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"/>
          <p:cNvGrpSpPr/>
          <p:nvPr/>
        </p:nvGrpSpPr>
        <p:grpSpPr>
          <a:xfrm>
            <a:off x="838200" y="4426783"/>
            <a:ext cx="5638800" cy="538722"/>
            <a:chOff x="2286000" y="2573982"/>
            <a:chExt cx="5638800" cy="404042"/>
          </a:xfrm>
        </p:grpSpPr>
        <p:sp>
          <p:nvSpPr>
            <p:cNvPr id="11" name="TextBox 10"/>
            <p:cNvSpPr txBox="1"/>
            <p:nvPr/>
          </p:nvSpPr>
          <p:spPr>
            <a:xfrm>
              <a:off x="2286000" y="2573982"/>
              <a:ext cx="56388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Threshold classifier output             at 0.5:</a:t>
              </a:r>
            </a:p>
          </p:txBody>
        </p:sp>
        <p:pic>
          <p:nvPicPr>
            <p:cNvPr id="3" name="Picture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1200" y="2671700"/>
              <a:ext cx="678942" cy="306324"/>
            </a:xfrm>
            <a:prstGeom prst="rect">
              <a:avLst/>
            </a:prstGeom>
          </p:spPr>
        </p:pic>
      </p:grpSp>
      <p:grpSp>
        <p:nvGrpSpPr>
          <p:cNvPr id="4" name="Group 13"/>
          <p:cNvGrpSpPr/>
          <p:nvPr/>
        </p:nvGrpSpPr>
        <p:grpSpPr>
          <a:xfrm>
            <a:off x="1676400" y="5167986"/>
            <a:ext cx="5638800" cy="538722"/>
            <a:chOff x="1219200" y="3311247"/>
            <a:chExt cx="5638800" cy="404042"/>
          </a:xfrm>
        </p:grpSpPr>
        <p:sp>
          <p:nvSpPr>
            <p:cNvPr id="18" name="TextBox 17"/>
            <p:cNvSpPr txBox="1"/>
            <p:nvPr/>
          </p:nvSpPr>
          <p:spPr>
            <a:xfrm>
              <a:off x="1219200" y="3311247"/>
              <a:ext cx="56388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If                        , predict “y = 1”</a:t>
              </a:r>
            </a:p>
          </p:txBody>
        </p:sp>
        <p:pic>
          <p:nvPicPr>
            <p:cNvPr id="7" name="Picture 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058" y="3408965"/>
              <a:ext cx="1483614" cy="306324"/>
            </a:xfrm>
            <a:prstGeom prst="rect">
              <a:avLst/>
            </a:prstGeom>
          </p:spPr>
        </p:pic>
      </p:grpSp>
      <p:grpSp>
        <p:nvGrpSpPr>
          <p:cNvPr id="5" name="Group 23"/>
          <p:cNvGrpSpPr/>
          <p:nvPr/>
        </p:nvGrpSpPr>
        <p:grpSpPr>
          <a:xfrm>
            <a:off x="1676400" y="5963044"/>
            <a:ext cx="5638800" cy="538722"/>
            <a:chOff x="1219200" y="3849379"/>
            <a:chExt cx="5638800" cy="404042"/>
          </a:xfrm>
        </p:grpSpPr>
        <p:sp>
          <p:nvSpPr>
            <p:cNvPr id="21" name="TextBox 20"/>
            <p:cNvSpPr txBox="1"/>
            <p:nvPr/>
          </p:nvSpPr>
          <p:spPr>
            <a:xfrm>
              <a:off x="1219200" y="3849379"/>
              <a:ext cx="56388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If                        , predict “y = 0”</a:t>
              </a:r>
            </a:p>
          </p:txBody>
        </p:sp>
        <p:pic>
          <p:nvPicPr>
            <p:cNvPr id="23" name="Picture 2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058" y="3947097"/>
              <a:ext cx="1483614" cy="306324"/>
            </a:xfrm>
            <a:prstGeom prst="rect">
              <a:avLst/>
            </a:prstGeom>
          </p:spPr>
        </p:pic>
      </p:grpSp>
      <p:cxnSp>
        <p:nvCxnSpPr>
          <p:cNvPr id="27" name="Straight Connector 26"/>
          <p:cNvCxnSpPr/>
          <p:nvPr/>
        </p:nvCxnSpPr>
        <p:spPr>
          <a:xfrm flipV="1">
            <a:off x="1457284" y="1397001"/>
            <a:ext cx="0" cy="259552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ross 34"/>
          <p:cNvSpPr/>
          <p:nvPr/>
        </p:nvSpPr>
        <p:spPr>
          <a:xfrm rot="2734294">
            <a:off x="1559725" y="3401827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/>
          <p:cNvSpPr/>
          <p:nvPr/>
        </p:nvSpPr>
        <p:spPr>
          <a:xfrm rot="2734294">
            <a:off x="1864526" y="3401827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/>
          <p:cNvSpPr/>
          <p:nvPr/>
        </p:nvSpPr>
        <p:spPr>
          <a:xfrm rot="2734294">
            <a:off x="2186113" y="3401827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/>
          <p:cNvSpPr/>
          <p:nvPr/>
        </p:nvSpPr>
        <p:spPr>
          <a:xfrm rot="2734294">
            <a:off x="2567113" y="3401827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ross 38"/>
          <p:cNvSpPr/>
          <p:nvPr/>
        </p:nvSpPr>
        <p:spPr>
          <a:xfrm rot="2734294">
            <a:off x="3312326" y="1714236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/>
          <p:cNvSpPr/>
          <p:nvPr/>
        </p:nvSpPr>
        <p:spPr>
          <a:xfrm rot="2734294">
            <a:off x="3710113" y="1714236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/>
          <p:cNvSpPr/>
          <p:nvPr/>
        </p:nvSpPr>
        <p:spPr>
          <a:xfrm rot="2734294">
            <a:off x="4091113" y="1714236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ross 42"/>
          <p:cNvSpPr/>
          <p:nvPr/>
        </p:nvSpPr>
        <p:spPr>
          <a:xfrm rot="2734294">
            <a:off x="4531526" y="1714236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2450" y="2333023"/>
            <a:ext cx="141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Malignant ?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1347850" y="1843008"/>
            <a:ext cx="228600" cy="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4552" y="1584367"/>
            <a:ext cx="938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(Yes)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551" y="3257467"/>
            <a:ext cx="938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(No) 0</a:t>
            </a:r>
          </a:p>
        </p:txBody>
      </p:sp>
      <p:sp>
        <p:nvSpPr>
          <p:cNvPr id="55" name="Cross 54"/>
          <p:cNvSpPr/>
          <p:nvPr/>
        </p:nvSpPr>
        <p:spPr>
          <a:xfrm rot="2734294">
            <a:off x="7325608" y="1714236"/>
            <a:ext cx="343399" cy="25754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1"/>
          <p:cNvGrpSpPr/>
          <p:nvPr/>
        </p:nvGrpSpPr>
        <p:grpSpPr>
          <a:xfrm>
            <a:off x="1295400" y="1016000"/>
            <a:ext cx="5791200" cy="3124200"/>
            <a:chOff x="1295400" y="762000"/>
            <a:chExt cx="5791200" cy="2343150"/>
          </a:xfrm>
        </p:grpSpPr>
        <p:cxnSp>
          <p:nvCxnSpPr>
            <p:cNvPr id="32" name="Straight Connector 31"/>
            <p:cNvCxnSpPr/>
            <p:nvPr/>
          </p:nvCxnSpPr>
          <p:spPr>
            <a:xfrm flipV="1">
              <a:off x="1295400" y="762000"/>
              <a:ext cx="5791200" cy="23431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4114800" y="1123950"/>
              <a:ext cx="0" cy="16764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itle 9"/>
          <p:cNvSpPr txBox="1">
            <a:spLocks/>
          </p:cNvSpPr>
          <p:nvPr/>
        </p:nvSpPr>
        <p:spPr>
          <a:xfrm>
            <a:off x="457200" y="274640"/>
            <a:ext cx="7772400" cy="715961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Consider linear regression again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94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easy 1D classification problem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-20681" r="-206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4632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 Order Linear Regression Fit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-20681" r="-206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5314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Order Fit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-20681" r="-206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7607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Order Fit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-20681" r="-206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58700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Order Fit + One More Point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-20681" r="-206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12655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same problem in 2D</a:t>
            </a:r>
          </a:p>
        </p:txBody>
      </p:sp>
      <p:pic>
        <p:nvPicPr>
          <p:cNvPr id="4" name="Picture 3" descr="Figure4.4a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77" y="1572150"/>
            <a:ext cx="3737912" cy="3794276"/>
          </a:xfrm>
          <a:prstGeom prst="rect">
            <a:avLst/>
          </a:prstGeom>
        </p:spPr>
      </p:pic>
      <p:pic>
        <p:nvPicPr>
          <p:cNvPr id="6" name="Picture 5" descr="Figure4.4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849" y="1572150"/>
            <a:ext cx="3737912" cy="379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6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Hypothesis Representation and Loss Function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linear regression loss function </a:t>
            </a:r>
            <a:r>
              <a:rPr lang="en-US" dirty="0"/>
              <a:t>leads to </a:t>
            </a:r>
            <a:r>
              <a:rPr lang="en-US" dirty="0">
                <a:solidFill>
                  <a:srgbClr val="FF0000"/>
                </a:solidFill>
              </a:rPr>
              <a:t>poor performance </a:t>
            </a:r>
            <a:r>
              <a:rPr lang="en-US" dirty="0"/>
              <a:t>for many classification problems</a:t>
            </a:r>
          </a:p>
          <a:p>
            <a:r>
              <a:rPr lang="en-US" dirty="0"/>
              <a:t>Logistic regression </a:t>
            </a:r>
          </a:p>
          <a:p>
            <a:pPr lvl="1"/>
            <a:r>
              <a:rPr lang="en-US" dirty="0"/>
              <a:t>Modify the hypothesis, replace the loss function</a:t>
            </a:r>
          </a:p>
          <a:p>
            <a:pPr lvl="1"/>
            <a:r>
              <a:rPr lang="en-US" dirty="0"/>
              <a:t>Keep everything else the same</a:t>
            </a:r>
          </a:p>
          <a:p>
            <a:pPr lvl="1"/>
            <a:r>
              <a:rPr lang="en-US" dirty="0"/>
              <a:t>Works much better in practice</a:t>
            </a:r>
          </a:p>
          <a:p>
            <a:r>
              <a:rPr lang="en-US" dirty="0"/>
              <a:t>Core idea: force hypotheses between 0 and 1</a:t>
            </a:r>
          </a:p>
          <a:p>
            <a:endParaRPr lang="en-US" dirty="0"/>
          </a:p>
        </p:txBody>
      </p:sp>
      <p:grpSp>
        <p:nvGrpSpPr>
          <p:cNvPr id="2" name="Group 15"/>
          <p:cNvGrpSpPr/>
          <p:nvPr/>
        </p:nvGrpSpPr>
        <p:grpSpPr>
          <a:xfrm>
            <a:off x="1219200" y="5969001"/>
            <a:ext cx="6311264" cy="679976"/>
            <a:chOff x="457200" y="2672775"/>
            <a:chExt cx="6311264" cy="509982"/>
          </a:xfrm>
        </p:grpSpPr>
        <p:sp>
          <p:nvSpPr>
            <p:cNvPr id="17" name="TextBox 16"/>
            <p:cNvSpPr txBox="1"/>
            <p:nvPr/>
          </p:nvSpPr>
          <p:spPr>
            <a:xfrm>
              <a:off x="457200" y="2672775"/>
              <a:ext cx="5638800" cy="438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Logistic Regression:</a:t>
              </a:r>
            </a:p>
          </p:txBody>
        </p:sp>
        <p:pic>
          <p:nvPicPr>
            <p:cNvPr id="18" name="Picture 17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9286" y="2747567"/>
              <a:ext cx="2559178" cy="4351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745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2" y="1958645"/>
            <a:ext cx="2361895" cy="5559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3375" y="3521732"/>
            <a:ext cx="563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Sigmoid function</a:t>
            </a:r>
          </a:p>
          <a:p>
            <a:r>
              <a:rPr lang="en-US" sz="3200" dirty="0"/>
              <a:t>Logistic function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62" y="2614705"/>
            <a:ext cx="2592324" cy="55595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49" y="4950023"/>
            <a:ext cx="2372868" cy="1024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000" y="3810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579" y="952981"/>
            <a:ext cx="1211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</a:t>
            </a:r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32" y="1092200"/>
            <a:ext cx="1801368" cy="408432"/>
          </a:xfrm>
          <a:prstGeom prst="rect">
            <a:avLst/>
          </a:prstGeom>
        </p:spPr>
      </p:pic>
      <p:grpSp>
        <p:nvGrpSpPr>
          <p:cNvPr id="4" name="Group 36"/>
          <p:cNvGrpSpPr/>
          <p:nvPr/>
        </p:nvGrpSpPr>
        <p:grpSpPr>
          <a:xfrm>
            <a:off x="4445166" y="2374457"/>
            <a:ext cx="3784434" cy="2458499"/>
            <a:chOff x="4445166" y="1337476"/>
            <a:chExt cx="3784434" cy="1843874"/>
          </a:xfrm>
        </p:grpSpPr>
        <p:cxnSp>
          <p:nvCxnSpPr>
            <p:cNvPr id="26" name="Straight Connector 25"/>
            <p:cNvCxnSpPr/>
            <p:nvPr/>
          </p:nvCxnSpPr>
          <p:spPr>
            <a:xfrm flipV="1">
              <a:off x="6248400" y="1337476"/>
              <a:ext cx="0" cy="1843874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445166" y="3181350"/>
              <a:ext cx="3784434" cy="0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143499" y="1698931"/>
              <a:ext cx="228600" cy="0"/>
            </a:xfrm>
            <a:prstGeom prst="line">
              <a:avLst/>
            </a:prstGeom>
            <a:ln w="317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5867400" y="1504743"/>
              <a:ext cx="381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6143499" y="2472806"/>
              <a:ext cx="228600" cy="0"/>
            </a:xfrm>
            <a:prstGeom prst="line">
              <a:avLst/>
            </a:prstGeom>
            <a:ln w="317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5715000" y="2278618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0.5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6096001" y="4765357"/>
            <a:ext cx="333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5873115"/>
            <a:ext cx="312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Try the following in </a:t>
            </a:r>
            <a:r>
              <a:rPr lang="en-US" sz="1400" dirty="0" err="1"/>
              <a:t>matlab</a:t>
            </a:r>
            <a:r>
              <a:rPr lang="en-US" sz="1400" dirty="0"/>
              <a:t>:</a:t>
            </a:r>
          </a:p>
          <a:p>
            <a:r>
              <a:rPr lang="en-US" sz="1400" dirty="0" err="1"/>
              <a:t>ezplot</a:t>
            </a:r>
            <a:r>
              <a:rPr lang="en-US" sz="1400" dirty="0"/>
              <a:t>(@(z) </a:t>
            </a:r>
            <a:r>
              <a:rPr lang="en-US" sz="1400" dirty="0" err="1"/>
              <a:t>exp</a:t>
            </a:r>
            <a:r>
              <a:rPr lang="en-US" sz="1400" dirty="0"/>
              <a:t>(-z))</a:t>
            </a:r>
          </a:p>
          <a:p>
            <a:r>
              <a:rPr lang="pl-PL" sz="1400" dirty="0" err="1"/>
              <a:t>ezplot</a:t>
            </a:r>
            <a:r>
              <a:rPr lang="pl-PL" sz="1400" dirty="0"/>
              <a:t>(@(z) 1./(1+exp(-z)), [-10 10])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95707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3810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Interpretation of Hypothesis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7801" y="1086248"/>
            <a:ext cx="6362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 estimated probability that y = 1 on input x 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85815"/>
            <a:ext cx="678942" cy="4084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1" y="3524648"/>
            <a:ext cx="7434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Tell patient that 70% chance of tumor being malignant 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650" y="1803400"/>
            <a:ext cx="3808476" cy="9753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833" y="2958236"/>
            <a:ext cx="1495044" cy="4084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2602" y="1937314"/>
            <a:ext cx="187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 If </a:t>
            </a:r>
          </a:p>
        </p:txBody>
      </p:sp>
      <p:grpSp>
        <p:nvGrpSpPr>
          <p:cNvPr id="4" name="Group 10"/>
          <p:cNvGrpSpPr/>
          <p:nvPr/>
        </p:nvGrpSpPr>
        <p:grpSpPr>
          <a:xfrm>
            <a:off x="3995402" y="4422934"/>
            <a:ext cx="4081799" cy="830997"/>
            <a:chOff x="2319001" y="3405483"/>
            <a:chExt cx="4081799" cy="623248"/>
          </a:xfrm>
        </p:grpSpPr>
        <p:sp>
          <p:nvSpPr>
            <p:cNvPr id="30" name="TextBox 29"/>
            <p:cNvSpPr txBox="1"/>
            <p:nvPr/>
          </p:nvSpPr>
          <p:spPr>
            <a:xfrm>
              <a:off x="2319001" y="3405483"/>
              <a:ext cx="4081799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“probability that y = 1, given x,</a:t>
              </a:r>
            </a:p>
            <a:p>
              <a:r>
                <a:rPr lang="en-US" sz="2400" dirty="0"/>
                <a:t>  parameterized by    ”</a:t>
              </a:r>
            </a:p>
          </p:txBody>
        </p:sp>
        <p:pic>
          <p:nvPicPr>
            <p:cNvPr id="9" name="Picture 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4984" y="3745883"/>
              <a:ext cx="128016" cy="217170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5664201"/>
            <a:ext cx="5108238" cy="104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Decision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false positives and false negatives are equally “costly”, then the decision boundary for any binary classifier is: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706120"/>
              </p:ext>
            </p:extLst>
          </p:nvPr>
        </p:nvGraphicFramePr>
        <p:xfrm>
          <a:off x="1600201" y="3733801"/>
          <a:ext cx="4992687" cy="2662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9560" imgH="420480" progId="Equation.3">
                  <p:embed/>
                </p:oleObj>
              </mc:Choice>
              <mc:Fallback>
                <p:oleObj name="Equation" r:id="rId3" imgW="1069560" imgH="420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1" y="3733801"/>
                        <a:ext cx="4992687" cy="26627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ight Brace 8"/>
          <p:cNvSpPr/>
          <p:nvPr/>
        </p:nvSpPr>
        <p:spPr>
          <a:xfrm>
            <a:off x="6553200" y="3937000"/>
            <a:ext cx="228600" cy="2133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858001" y="4546601"/>
            <a:ext cx="151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are the </a:t>
            </a:r>
            <a:br>
              <a:rPr lang="en-US" dirty="0"/>
            </a:br>
            <a:r>
              <a:rPr lang="en-US" dirty="0"/>
              <a:t>same surface.</a:t>
            </a:r>
          </a:p>
        </p:txBody>
      </p:sp>
    </p:spTree>
    <p:extLst>
      <p:ext uri="{BB962C8B-B14F-4D97-AF65-F5344CB8AC3E}">
        <p14:creationId xmlns:p14="http://schemas.microsoft.com/office/powerpoint/2010/main" val="1401121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381001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Logistic regression (activation and hypothesis)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77" y="1409700"/>
            <a:ext cx="2322957" cy="5120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1" y="2134264"/>
            <a:ext cx="1981581" cy="6116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" y="29210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  Suppose predict “          “ if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776" y="3135303"/>
            <a:ext cx="657225" cy="33883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51" y="3056817"/>
            <a:ext cx="1421797" cy="3914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4579" y="4743848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prstClr val="black"/>
                </a:solidFill>
                <a:latin typeface="Calibri"/>
              </a:rPr>
              <a:t>	    predict “          “  if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822" y="4932750"/>
            <a:ext cx="670370" cy="33883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498" y="4879663"/>
            <a:ext cx="1421797" cy="391415"/>
          </a:xfrm>
          <a:prstGeom prst="rect">
            <a:avLst/>
          </a:prstGeom>
        </p:spPr>
      </p:pic>
      <p:cxnSp>
        <p:nvCxnSpPr>
          <p:cNvPr id="33" name="Straight Arrow Connector 32"/>
          <p:cNvCxnSpPr/>
          <p:nvPr/>
        </p:nvCxnSpPr>
        <p:spPr>
          <a:xfrm>
            <a:off x="5715001" y="2311400"/>
            <a:ext cx="313149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3"/>
          <p:cNvGrpSpPr/>
          <p:nvPr/>
        </p:nvGrpSpPr>
        <p:grpSpPr>
          <a:xfrm>
            <a:off x="6895469" y="314347"/>
            <a:ext cx="1836643" cy="2458717"/>
            <a:chOff x="6695890" y="235759"/>
            <a:chExt cx="2036221" cy="2044420"/>
          </a:xfrm>
        </p:grpSpPr>
        <p:sp>
          <p:nvSpPr>
            <p:cNvPr id="30" name="TextBox 29"/>
            <p:cNvSpPr txBox="1"/>
            <p:nvPr/>
          </p:nvSpPr>
          <p:spPr>
            <a:xfrm>
              <a:off x="7123033" y="1896305"/>
              <a:ext cx="339799" cy="383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z</a:t>
              </a:r>
              <a:endParaRPr lang="en-US" sz="2400" baseline="-250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95890" y="378634"/>
              <a:ext cx="348686" cy="332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1</a:t>
              </a:r>
              <a:endParaRPr lang="en-US" sz="2000" baseline="-25000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V="1">
              <a:off x="7110155" y="235759"/>
              <a:ext cx="0" cy="182366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3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1581" y="508234"/>
              <a:ext cx="430530" cy="255270"/>
            </a:xfrm>
            <a:prstGeom prst="rect">
              <a:avLst/>
            </a:prstGeom>
          </p:spPr>
        </p:pic>
        <p:cxnSp>
          <p:nvCxnSpPr>
            <p:cNvPr id="37" name="Straight Arrow Connector 36"/>
            <p:cNvCxnSpPr/>
            <p:nvPr/>
          </p:nvCxnSpPr>
          <p:spPr>
            <a:xfrm>
              <a:off x="6992872" y="1277874"/>
              <a:ext cx="217553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6991853" y="600075"/>
              <a:ext cx="217553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392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740184" y="3387899"/>
            <a:ext cx="381836" cy="4001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738" y="996554"/>
            <a:ext cx="381836" cy="4001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000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041541" y="1193800"/>
            <a:ext cx="0" cy="226016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19398" y="3313377"/>
            <a:ext cx="174760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1000" y="3810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Linear Decision Boundary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986753" y="2797475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991976" y="3316852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93403" y="2282487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98625" y="2801864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93862" y="1763403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99085" y="2282780"/>
            <a:ext cx="98115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36"/>
          <p:cNvGrpSpPr/>
          <p:nvPr/>
        </p:nvGrpSpPr>
        <p:grpSpPr>
          <a:xfrm rot="16200000">
            <a:off x="1556546" y="2741746"/>
            <a:ext cx="140299" cy="1165087"/>
            <a:chOff x="1144375" y="1474952"/>
            <a:chExt cx="105224" cy="1165087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1144375" y="2640039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1151025" y="2253798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146261" y="1474952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151484" y="1864485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59"/>
          <p:cNvGrpSpPr/>
          <p:nvPr/>
        </p:nvGrpSpPr>
        <p:grpSpPr>
          <a:xfrm>
            <a:off x="1066800" y="1371600"/>
            <a:ext cx="1849684" cy="1900647"/>
            <a:chOff x="1122116" y="1015119"/>
            <a:chExt cx="1413976" cy="1425485"/>
          </a:xfrm>
        </p:grpSpPr>
        <p:sp>
          <p:nvSpPr>
            <p:cNvPr id="2" name="Oval 1"/>
            <p:cNvSpPr/>
            <p:nvPr/>
          </p:nvSpPr>
          <p:spPr>
            <a:xfrm>
              <a:off x="1122116" y="1795221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" name="Oval 2"/>
            <p:cNvSpPr/>
            <p:nvPr/>
          </p:nvSpPr>
          <p:spPr>
            <a:xfrm>
              <a:off x="1204609" y="202138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1127889" y="154276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384434" y="188883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1348695" y="221637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537873" y="2114448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123402" y="223185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Cross 8"/>
            <p:cNvSpPr/>
            <p:nvPr/>
          </p:nvSpPr>
          <p:spPr>
            <a:xfrm rot="2734294">
              <a:off x="1839342" y="1510425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Cross 9"/>
            <p:cNvSpPr/>
            <p:nvPr/>
          </p:nvSpPr>
          <p:spPr>
            <a:xfrm rot="2734294">
              <a:off x="1496419" y="1147713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Cross 10"/>
            <p:cNvSpPr/>
            <p:nvPr/>
          </p:nvSpPr>
          <p:spPr>
            <a:xfrm rot="2734294">
              <a:off x="1790032" y="128027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Cross 11"/>
            <p:cNvSpPr/>
            <p:nvPr/>
          </p:nvSpPr>
          <p:spPr>
            <a:xfrm rot="2734294">
              <a:off x="1718996" y="1030771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" name="Cross 16"/>
            <p:cNvSpPr/>
            <p:nvPr/>
          </p:nvSpPr>
          <p:spPr>
            <a:xfrm rot="2734294">
              <a:off x="2099755" y="1232768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1681443" y="228716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9" name="Cross 38"/>
            <p:cNvSpPr/>
            <p:nvPr/>
          </p:nvSpPr>
          <p:spPr>
            <a:xfrm rot="2734294">
              <a:off x="2184711" y="149792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" name="Cross 39"/>
            <p:cNvSpPr/>
            <p:nvPr/>
          </p:nvSpPr>
          <p:spPr>
            <a:xfrm rot="2734294">
              <a:off x="2066327" y="171826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1" name="Cross 40"/>
            <p:cNvSpPr/>
            <p:nvPr/>
          </p:nvSpPr>
          <p:spPr>
            <a:xfrm rot="2734294">
              <a:off x="2184616" y="196531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2" name="Cross 41"/>
            <p:cNvSpPr/>
            <p:nvPr/>
          </p:nvSpPr>
          <p:spPr>
            <a:xfrm rot="2734294">
              <a:off x="2382183" y="1703053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3" name="Cross 42"/>
            <p:cNvSpPr/>
            <p:nvPr/>
          </p:nvSpPr>
          <p:spPr>
            <a:xfrm rot="2734294">
              <a:off x="1948167" y="1015119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1304967" y="3394439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91313" y="3394554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099654" y="3394554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3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12480" y="2593562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3097" y="2019240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37722" y="1533236"/>
            <a:ext cx="2742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3</a:t>
            </a:r>
            <a:endParaRPr lang="en-US" sz="1600" baseline="-250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1" name="Picture 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131" y="1861589"/>
            <a:ext cx="4285869" cy="47650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18934" y="4153773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Predict “          “ if </a:t>
            </a:r>
          </a:p>
        </p:txBody>
      </p:sp>
      <p:pic>
        <p:nvPicPr>
          <p:cNvPr id="59" name="Picture 5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4327689"/>
            <a:ext cx="800100" cy="412496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002" y="4311407"/>
            <a:ext cx="2650998" cy="387604"/>
          </a:xfrm>
          <a:prstGeom prst="rect">
            <a:avLst/>
          </a:prstGeom>
        </p:spPr>
      </p:pic>
      <p:cxnSp>
        <p:nvCxnSpPr>
          <p:cNvPr id="53" name="Straight Arrow Connector 52"/>
          <p:cNvCxnSpPr/>
          <p:nvPr/>
        </p:nvCxnSpPr>
        <p:spPr>
          <a:xfrm flipH="1">
            <a:off x="5791200" y="2362200"/>
            <a:ext cx="7620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486400" y="2662535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-3</a:t>
            </a:r>
            <a:endParaRPr lang="en-US" b="1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6553200" y="2362200"/>
            <a:ext cx="7620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248400" y="2662535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1</a:t>
            </a:r>
            <a:endParaRPr lang="en-US" b="1" dirty="0"/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7620000" y="2362200"/>
            <a:ext cx="7620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315200" y="2662535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1</a:t>
            </a:r>
            <a:endParaRPr lang="en-US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2667000" y="504807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Y=1, when X</a:t>
            </a:r>
            <a:r>
              <a:rPr lang="en-US" sz="2400" b="1" baseline="-25000" dirty="0"/>
              <a:t>1</a:t>
            </a:r>
            <a:r>
              <a:rPr lang="en-US" sz="2400" b="1" dirty="0"/>
              <a:t> + X</a:t>
            </a:r>
            <a:r>
              <a:rPr lang="en-US" sz="2400" b="1" baseline="-25000" dirty="0"/>
              <a:t>2</a:t>
            </a:r>
            <a:r>
              <a:rPr lang="en-US" sz="2400" b="1" dirty="0"/>
              <a:t> ≥ 3</a:t>
            </a:r>
          </a:p>
          <a:p>
            <a:endParaRPr lang="en-US" sz="2400" b="1" dirty="0"/>
          </a:p>
          <a:p>
            <a:r>
              <a:rPr lang="en-US" sz="2400" b="1" dirty="0"/>
              <a:t>Y=0, when X</a:t>
            </a:r>
            <a:r>
              <a:rPr lang="en-US" sz="2400" b="1" baseline="-25000" dirty="0"/>
              <a:t>1</a:t>
            </a:r>
            <a:r>
              <a:rPr lang="en-US" sz="2400" b="1" dirty="0"/>
              <a:t> + X</a:t>
            </a:r>
            <a:r>
              <a:rPr lang="en-US" sz="2400" b="1" baseline="-25000" dirty="0"/>
              <a:t>2</a:t>
            </a:r>
            <a:r>
              <a:rPr lang="en-US" sz="2400" b="1" dirty="0"/>
              <a:t> &lt; 3</a:t>
            </a:r>
          </a:p>
        </p:txBody>
      </p:sp>
      <p:cxnSp>
        <p:nvCxnSpPr>
          <p:cNvPr id="63" name="Straight Connector 62"/>
          <p:cNvCxnSpPr>
            <a:stCxn id="49" idx="0"/>
          </p:cNvCxnSpPr>
          <p:nvPr/>
        </p:nvCxnSpPr>
        <p:spPr>
          <a:xfrm>
            <a:off x="874859" y="1533236"/>
            <a:ext cx="1563541" cy="2030595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20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4" grpId="0"/>
      <p:bldP spid="56" grpId="0"/>
      <p:bldP spid="60" grpId="0"/>
      <p:bldP spid="6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Non-linear decision boundaries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295399"/>
            <a:ext cx="2895600" cy="2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6200" y="1600200"/>
            <a:ext cx="439102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733800" y="32004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Let </a:t>
            </a:r>
            <a:r>
              <a:rPr lang="el-GR" sz="2400" b="1" dirty="0"/>
              <a:t>θ</a:t>
            </a:r>
            <a:r>
              <a:rPr lang="en-US" sz="2400" b="1" baseline="-25000" dirty="0"/>
              <a:t>0</a:t>
            </a:r>
            <a:r>
              <a:rPr lang="el-GR" sz="2400" b="1" dirty="0"/>
              <a:t> </a:t>
            </a:r>
            <a:r>
              <a:rPr lang="en-US" sz="2400" b="1" dirty="0"/>
              <a:t>= -1, </a:t>
            </a:r>
            <a:r>
              <a:rPr lang="el-GR" sz="2400" b="1" dirty="0"/>
              <a:t>θ</a:t>
            </a:r>
            <a:r>
              <a:rPr lang="en-US" sz="2400" b="1" baseline="-25000" dirty="0"/>
              <a:t>1</a:t>
            </a:r>
            <a:r>
              <a:rPr lang="el-GR" sz="2400" b="1" dirty="0"/>
              <a:t> </a:t>
            </a:r>
            <a:r>
              <a:rPr lang="en-US" sz="2400" b="1" dirty="0"/>
              <a:t>= 0, </a:t>
            </a:r>
            <a:r>
              <a:rPr lang="el-GR" sz="2400" b="1" dirty="0"/>
              <a:t>θ</a:t>
            </a:r>
            <a:r>
              <a:rPr lang="en-US" sz="2400" b="1" baseline="-25000" dirty="0"/>
              <a:t>2</a:t>
            </a:r>
            <a:r>
              <a:rPr lang="el-GR" sz="2400" b="1" dirty="0"/>
              <a:t> </a:t>
            </a:r>
            <a:r>
              <a:rPr lang="en-US" sz="2400" b="1" dirty="0"/>
              <a:t>= 0, </a:t>
            </a:r>
            <a:r>
              <a:rPr lang="el-GR" sz="2400" b="1" dirty="0"/>
              <a:t>θ</a:t>
            </a:r>
            <a:r>
              <a:rPr lang="en-US" sz="2400" b="1" baseline="-25000" dirty="0"/>
              <a:t>3</a:t>
            </a:r>
            <a:r>
              <a:rPr lang="el-GR" sz="2400" b="1" dirty="0"/>
              <a:t> </a:t>
            </a:r>
            <a:r>
              <a:rPr lang="en-US" sz="2400" b="1" dirty="0"/>
              <a:t>= 1, </a:t>
            </a:r>
            <a:r>
              <a:rPr lang="el-GR" sz="2400" b="1" dirty="0"/>
              <a:t>θ</a:t>
            </a:r>
            <a:r>
              <a:rPr lang="en-US" sz="2400" b="1" baseline="-25000" dirty="0"/>
              <a:t>4</a:t>
            </a:r>
            <a:r>
              <a:rPr lang="el-GR" sz="2400" b="1" dirty="0"/>
              <a:t> </a:t>
            </a:r>
            <a:r>
              <a:rPr lang="en-US" sz="2400" b="1" dirty="0"/>
              <a:t>= 1</a:t>
            </a:r>
            <a:r>
              <a:rPr lang="en-US" dirty="0"/>
              <a:t> </a:t>
            </a:r>
            <a:endParaRPr lang="en-US" baseline="-250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600" y="4181475"/>
            <a:ext cx="54959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/>
          <p:cNvSpPr/>
          <p:nvPr/>
        </p:nvSpPr>
        <p:spPr>
          <a:xfrm>
            <a:off x="1371600" y="2209800"/>
            <a:ext cx="1219200" cy="12192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86200" y="502920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r>
              <a:rPr lang="en-US" sz="2400" b="1" baseline="-25000" dirty="0"/>
              <a:t>1</a:t>
            </a:r>
            <a:r>
              <a:rPr lang="en-US" sz="2400" b="1" baseline="30000" dirty="0"/>
              <a:t>2 </a:t>
            </a:r>
            <a:r>
              <a:rPr lang="en-US" sz="2400" b="1" dirty="0"/>
              <a:t>+ X</a:t>
            </a:r>
            <a:r>
              <a:rPr lang="en-US" sz="2400" b="1" baseline="-25000" dirty="0"/>
              <a:t>1</a:t>
            </a:r>
            <a:r>
              <a:rPr lang="en-US" sz="2400" b="1" baseline="30000" dirty="0"/>
              <a:t>2 </a:t>
            </a:r>
            <a:r>
              <a:rPr lang="en-US" sz="2400" b="1" dirty="0"/>
              <a:t>≥ 1</a:t>
            </a:r>
            <a:endParaRPr 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for the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linear regression:</a:t>
            </a:r>
          </a:p>
          <a:p>
            <a:pPr lvl="1"/>
            <a:r>
              <a:rPr lang="en-US" dirty="0"/>
              <a:t>Define a cost function</a:t>
            </a:r>
          </a:p>
          <a:p>
            <a:pPr lvl="1"/>
            <a:r>
              <a:rPr lang="en-US" dirty="0"/>
              <a:t>Gather training data</a:t>
            </a:r>
          </a:p>
          <a:p>
            <a:pPr lvl="1"/>
            <a:r>
              <a:rPr lang="en-US" dirty="0"/>
              <a:t>Optimize parameters to fit the training data</a:t>
            </a:r>
          </a:p>
        </p:txBody>
      </p:sp>
    </p:spTree>
    <p:extLst>
      <p:ext uri="{BB962C8B-B14F-4D97-AF65-F5344CB8AC3E}">
        <p14:creationId xmlns:p14="http://schemas.microsoft.com/office/powerpoint/2010/main" val="2272880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57200" y="551219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Training set:</a:t>
            </a:r>
          </a:p>
        </p:txBody>
      </p:sp>
      <p:grpSp>
        <p:nvGrpSpPr>
          <p:cNvPr id="2" name="Group 19"/>
          <p:cNvGrpSpPr/>
          <p:nvPr/>
        </p:nvGrpSpPr>
        <p:grpSpPr>
          <a:xfrm>
            <a:off x="457200" y="5290903"/>
            <a:ext cx="5638800" cy="584775"/>
            <a:chOff x="457200" y="3182757"/>
            <a:chExt cx="5638800" cy="438581"/>
          </a:xfrm>
        </p:grpSpPr>
        <p:sp>
          <p:nvSpPr>
            <p:cNvPr id="21" name="TextBox 20"/>
            <p:cNvSpPr txBox="1"/>
            <p:nvPr/>
          </p:nvSpPr>
          <p:spPr>
            <a:xfrm>
              <a:off x="457200" y="3182757"/>
              <a:ext cx="5638800" cy="438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How to choose parameters    ?</a:t>
              </a:r>
            </a:p>
          </p:txBody>
        </p:sp>
        <p:pic>
          <p:nvPicPr>
            <p:cNvPr id="19" name="Picture 1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6035" y="3357500"/>
              <a:ext cx="153619" cy="260604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995" y="669967"/>
            <a:ext cx="5383530" cy="4846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868" y="2155701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 examples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84" y="1640840"/>
            <a:ext cx="1499616" cy="19415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2407412"/>
            <a:ext cx="2244852" cy="40843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3707384"/>
            <a:ext cx="2935224" cy="104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97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381001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Can we just use least squares cost function?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579" y="1016481"/>
            <a:ext cx="3533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Linear regression: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050" y="952500"/>
            <a:ext cx="4219956" cy="8686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39136"/>
            <a:ext cx="5298948" cy="59436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 flipV="1">
            <a:off x="1066800" y="3632200"/>
            <a:ext cx="0" cy="2891501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38201" y="6203188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1" y="6332728"/>
            <a:ext cx="153619" cy="34747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661" y="3937004"/>
            <a:ext cx="427939" cy="32674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52600" y="3530600"/>
            <a:ext cx="2110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“non-convex”</a:t>
            </a:r>
          </a:p>
        </p:txBody>
      </p:sp>
      <p:sp>
        <p:nvSpPr>
          <p:cNvPr id="2" name="Freeform 1"/>
          <p:cNvSpPr/>
          <p:nvPr/>
        </p:nvSpPr>
        <p:spPr>
          <a:xfrm>
            <a:off x="1155038" y="4199467"/>
            <a:ext cx="2794662" cy="1591733"/>
          </a:xfrm>
          <a:custGeom>
            <a:avLst/>
            <a:gdLst>
              <a:gd name="connsiteX0" fmla="*/ 13362 w 2794662"/>
              <a:gd name="connsiteY0" fmla="*/ 0 h 1193800"/>
              <a:gd name="connsiteX1" fmla="*/ 13362 w 2794662"/>
              <a:gd name="connsiteY1" fmla="*/ 139700 h 1193800"/>
              <a:gd name="connsiteX2" fmla="*/ 38762 w 2794662"/>
              <a:gd name="connsiteY2" fmla="*/ 177800 h 1193800"/>
              <a:gd name="connsiteX3" fmla="*/ 114962 w 2794662"/>
              <a:gd name="connsiteY3" fmla="*/ 203200 h 1193800"/>
              <a:gd name="connsiteX4" fmla="*/ 203862 w 2794662"/>
              <a:gd name="connsiteY4" fmla="*/ 190500 h 1193800"/>
              <a:gd name="connsiteX5" fmla="*/ 241962 w 2794662"/>
              <a:gd name="connsiteY5" fmla="*/ 177800 h 1193800"/>
              <a:gd name="connsiteX6" fmla="*/ 292762 w 2794662"/>
              <a:gd name="connsiteY6" fmla="*/ 127000 h 1193800"/>
              <a:gd name="connsiteX7" fmla="*/ 343562 w 2794662"/>
              <a:gd name="connsiteY7" fmla="*/ 88900 h 1193800"/>
              <a:gd name="connsiteX8" fmla="*/ 445162 w 2794662"/>
              <a:gd name="connsiteY8" fmla="*/ 152400 h 1193800"/>
              <a:gd name="connsiteX9" fmla="*/ 457862 w 2794662"/>
              <a:gd name="connsiteY9" fmla="*/ 190500 h 1193800"/>
              <a:gd name="connsiteX10" fmla="*/ 483262 w 2794662"/>
              <a:gd name="connsiteY10" fmla="*/ 241300 h 1193800"/>
              <a:gd name="connsiteX11" fmla="*/ 508662 w 2794662"/>
              <a:gd name="connsiteY11" fmla="*/ 584200 h 1193800"/>
              <a:gd name="connsiteX12" fmla="*/ 521362 w 2794662"/>
              <a:gd name="connsiteY12" fmla="*/ 622300 h 1193800"/>
              <a:gd name="connsiteX13" fmla="*/ 673762 w 2794662"/>
              <a:gd name="connsiteY13" fmla="*/ 558800 h 1193800"/>
              <a:gd name="connsiteX14" fmla="*/ 711862 w 2794662"/>
              <a:gd name="connsiteY14" fmla="*/ 533400 h 1193800"/>
              <a:gd name="connsiteX15" fmla="*/ 788062 w 2794662"/>
              <a:gd name="connsiteY15" fmla="*/ 508000 h 1193800"/>
              <a:gd name="connsiteX16" fmla="*/ 826162 w 2794662"/>
              <a:gd name="connsiteY16" fmla="*/ 546100 h 1193800"/>
              <a:gd name="connsiteX17" fmla="*/ 851562 w 2794662"/>
              <a:gd name="connsiteY17" fmla="*/ 635000 h 1193800"/>
              <a:gd name="connsiteX18" fmla="*/ 902362 w 2794662"/>
              <a:gd name="connsiteY18" fmla="*/ 774700 h 1193800"/>
              <a:gd name="connsiteX19" fmla="*/ 915062 w 2794662"/>
              <a:gd name="connsiteY19" fmla="*/ 850900 h 1193800"/>
              <a:gd name="connsiteX20" fmla="*/ 953162 w 2794662"/>
              <a:gd name="connsiteY20" fmla="*/ 977900 h 1193800"/>
              <a:gd name="connsiteX21" fmla="*/ 991262 w 2794662"/>
              <a:gd name="connsiteY21" fmla="*/ 990600 h 1193800"/>
              <a:gd name="connsiteX22" fmla="*/ 1067462 w 2794662"/>
              <a:gd name="connsiteY22" fmla="*/ 977900 h 1193800"/>
              <a:gd name="connsiteX23" fmla="*/ 1105562 w 2794662"/>
              <a:gd name="connsiteY23" fmla="*/ 914400 h 1193800"/>
              <a:gd name="connsiteX24" fmla="*/ 1194462 w 2794662"/>
              <a:gd name="connsiteY24" fmla="*/ 812800 h 1193800"/>
              <a:gd name="connsiteX25" fmla="*/ 1219862 w 2794662"/>
              <a:gd name="connsiteY25" fmla="*/ 774700 h 1193800"/>
              <a:gd name="connsiteX26" fmla="*/ 1296062 w 2794662"/>
              <a:gd name="connsiteY26" fmla="*/ 711200 h 1193800"/>
              <a:gd name="connsiteX27" fmla="*/ 1346862 w 2794662"/>
              <a:gd name="connsiteY27" fmla="*/ 723900 h 1193800"/>
              <a:gd name="connsiteX28" fmla="*/ 1372262 w 2794662"/>
              <a:gd name="connsiteY28" fmla="*/ 825500 h 1193800"/>
              <a:gd name="connsiteX29" fmla="*/ 1397662 w 2794662"/>
              <a:gd name="connsiteY29" fmla="*/ 990600 h 1193800"/>
              <a:gd name="connsiteX30" fmla="*/ 1486562 w 2794662"/>
              <a:gd name="connsiteY30" fmla="*/ 1104900 h 1193800"/>
              <a:gd name="connsiteX31" fmla="*/ 1511962 w 2794662"/>
              <a:gd name="connsiteY31" fmla="*/ 1143000 h 1193800"/>
              <a:gd name="connsiteX32" fmla="*/ 1550062 w 2794662"/>
              <a:gd name="connsiteY32" fmla="*/ 1155700 h 1193800"/>
              <a:gd name="connsiteX33" fmla="*/ 1626262 w 2794662"/>
              <a:gd name="connsiteY33" fmla="*/ 1193800 h 1193800"/>
              <a:gd name="connsiteX34" fmla="*/ 1715162 w 2794662"/>
              <a:gd name="connsiteY34" fmla="*/ 1181100 h 1193800"/>
              <a:gd name="connsiteX35" fmla="*/ 1753262 w 2794662"/>
              <a:gd name="connsiteY35" fmla="*/ 1130300 h 1193800"/>
              <a:gd name="connsiteX36" fmla="*/ 1791362 w 2794662"/>
              <a:gd name="connsiteY36" fmla="*/ 1092200 h 1193800"/>
              <a:gd name="connsiteX37" fmla="*/ 1804062 w 2794662"/>
              <a:gd name="connsiteY37" fmla="*/ 1054100 h 1193800"/>
              <a:gd name="connsiteX38" fmla="*/ 1829462 w 2794662"/>
              <a:gd name="connsiteY38" fmla="*/ 952500 h 1193800"/>
              <a:gd name="connsiteX39" fmla="*/ 1854862 w 2794662"/>
              <a:gd name="connsiteY39" fmla="*/ 876300 h 1193800"/>
              <a:gd name="connsiteX40" fmla="*/ 1892962 w 2794662"/>
              <a:gd name="connsiteY40" fmla="*/ 749300 h 1193800"/>
              <a:gd name="connsiteX41" fmla="*/ 1931062 w 2794662"/>
              <a:gd name="connsiteY41" fmla="*/ 723900 h 1193800"/>
              <a:gd name="connsiteX42" fmla="*/ 2019962 w 2794662"/>
              <a:gd name="connsiteY42" fmla="*/ 787400 h 1193800"/>
              <a:gd name="connsiteX43" fmla="*/ 2058062 w 2794662"/>
              <a:gd name="connsiteY43" fmla="*/ 800100 h 1193800"/>
              <a:gd name="connsiteX44" fmla="*/ 2172362 w 2794662"/>
              <a:gd name="connsiteY44" fmla="*/ 787400 h 1193800"/>
              <a:gd name="connsiteX45" fmla="*/ 2248562 w 2794662"/>
              <a:gd name="connsiteY45" fmla="*/ 711200 h 1193800"/>
              <a:gd name="connsiteX46" fmla="*/ 2261262 w 2794662"/>
              <a:gd name="connsiteY46" fmla="*/ 660400 h 1193800"/>
              <a:gd name="connsiteX47" fmla="*/ 2286662 w 2794662"/>
              <a:gd name="connsiteY47" fmla="*/ 584200 h 1193800"/>
              <a:gd name="connsiteX48" fmla="*/ 2312062 w 2794662"/>
              <a:gd name="connsiteY48" fmla="*/ 495300 h 1193800"/>
              <a:gd name="connsiteX49" fmla="*/ 2350162 w 2794662"/>
              <a:gd name="connsiteY49" fmla="*/ 355600 h 1193800"/>
              <a:gd name="connsiteX50" fmla="*/ 2400962 w 2794662"/>
              <a:gd name="connsiteY50" fmla="*/ 279400 h 1193800"/>
              <a:gd name="connsiteX51" fmla="*/ 2527962 w 2794662"/>
              <a:gd name="connsiteY51" fmla="*/ 304800 h 1193800"/>
              <a:gd name="connsiteX52" fmla="*/ 2604162 w 2794662"/>
              <a:gd name="connsiteY52" fmla="*/ 330200 h 1193800"/>
              <a:gd name="connsiteX53" fmla="*/ 2667662 w 2794662"/>
              <a:gd name="connsiteY53" fmla="*/ 317500 h 1193800"/>
              <a:gd name="connsiteX54" fmla="*/ 2705762 w 2794662"/>
              <a:gd name="connsiteY54" fmla="*/ 241300 h 1193800"/>
              <a:gd name="connsiteX55" fmla="*/ 2743862 w 2794662"/>
              <a:gd name="connsiteY55" fmla="*/ 190500 h 1193800"/>
              <a:gd name="connsiteX56" fmla="*/ 2781962 w 2794662"/>
              <a:gd name="connsiteY56" fmla="*/ 114300 h 1193800"/>
              <a:gd name="connsiteX57" fmla="*/ 2794662 w 2794662"/>
              <a:gd name="connsiteY57" fmla="*/ 76200 h 119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794662" h="1193800">
                <a:moveTo>
                  <a:pt x="13362" y="0"/>
                </a:moveTo>
                <a:cubicBezTo>
                  <a:pt x="720" y="63211"/>
                  <a:pt x="-8980" y="72674"/>
                  <a:pt x="13362" y="139700"/>
                </a:cubicBezTo>
                <a:cubicBezTo>
                  <a:pt x="18189" y="154180"/>
                  <a:pt x="25819" y="169710"/>
                  <a:pt x="38762" y="177800"/>
                </a:cubicBezTo>
                <a:cubicBezTo>
                  <a:pt x="61466" y="191990"/>
                  <a:pt x="114962" y="203200"/>
                  <a:pt x="114962" y="203200"/>
                </a:cubicBezTo>
                <a:cubicBezTo>
                  <a:pt x="144595" y="198967"/>
                  <a:pt x="174509" y="196371"/>
                  <a:pt x="203862" y="190500"/>
                </a:cubicBezTo>
                <a:cubicBezTo>
                  <a:pt x="216989" y="187875"/>
                  <a:pt x="232496" y="187266"/>
                  <a:pt x="241962" y="177800"/>
                </a:cubicBezTo>
                <a:cubicBezTo>
                  <a:pt x="309695" y="110067"/>
                  <a:pt x="191162" y="160867"/>
                  <a:pt x="292762" y="127000"/>
                </a:cubicBezTo>
                <a:cubicBezTo>
                  <a:pt x="309695" y="114300"/>
                  <a:pt x="322899" y="93492"/>
                  <a:pt x="343562" y="88900"/>
                </a:cubicBezTo>
                <a:cubicBezTo>
                  <a:pt x="404948" y="75259"/>
                  <a:pt x="416536" y="114232"/>
                  <a:pt x="445162" y="152400"/>
                </a:cubicBezTo>
                <a:cubicBezTo>
                  <a:pt x="449395" y="165100"/>
                  <a:pt x="452589" y="178195"/>
                  <a:pt x="457862" y="190500"/>
                </a:cubicBezTo>
                <a:cubicBezTo>
                  <a:pt x="465320" y="207901"/>
                  <a:pt x="479549" y="222736"/>
                  <a:pt x="483262" y="241300"/>
                </a:cubicBezTo>
                <a:cubicBezTo>
                  <a:pt x="492522" y="287602"/>
                  <a:pt x="506955" y="567985"/>
                  <a:pt x="508662" y="584200"/>
                </a:cubicBezTo>
                <a:cubicBezTo>
                  <a:pt x="510063" y="597513"/>
                  <a:pt x="517129" y="609600"/>
                  <a:pt x="521362" y="622300"/>
                </a:cubicBezTo>
                <a:cubicBezTo>
                  <a:pt x="739808" y="600455"/>
                  <a:pt x="597025" y="650884"/>
                  <a:pt x="673762" y="558800"/>
                </a:cubicBezTo>
                <a:cubicBezTo>
                  <a:pt x="683533" y="547074"/>
                  <a:pt x="697914" y="539599"/>
                  <a:pt x="711862" y="533400"/>
                </a:cubicBezTo>
                <a:cubicBezTo>
                  <a:pt x="736328" y="522526"/>
                  <a:pt x="788062" y="508000"/>
                  <a:pt x="788062" y="508000"/>
                </a:cubicBezTo>
                <a:cubicBezTo>
                  <a:pt x="800762" y="520700"/>
                  <a:pt x="816199" y="531156"/>
                  <a:pt x="826162" y="546100"/>
                </a:cubicBezTo>
                <a:cubicBezTo>
                  <a:pt x="834316" y="558331"/>
                  <a:pt x="848739" y="626532"/>
                  <a:pt x="851562" y="635000"/>
                </a:cubicBezTo>
                <a:cubicBezTo>
                  <a:pt x="865031" y="675406"/>
                  <a:pt x="895444" y="733191"/>
                  <a:pt x="902362" y="774700"/>
                </a:cubicBezTo>
                <a:cubicBezTo>
                  <a:pt x="906595" y="800100"/>
                  <a:pt x="911146" y="825449"/>
                  <a:pt x="915062" y="850900"/>
                </a:cubicBezTo>
                <a:cubicBezTo>
                  <a:pt x="921107" y="890195"/>
                  <a:pt x="915651" y="947891"/>
                  <a:pt x="953162" y="977900"/>
                </a:cubicBezTo>
                <a:cubicBezTo>
                  <a:pt x="963615" y="986263"/>
                  <a:pt x="978562" y="986367"/>
                  <a:pt x="991262" y="990600"/>
                </a:cubicBezTo>
                <a:cubicBezTo>
                  <a:pt x="1016662" y="986367"/>
                  <a:pt x="1046036" y="992184"/>
                  <a:pt x="1067462" y="977900"/>
                </a:cubicBezTo>
                <a:cubicBezTo>
                  <a:pt x="1088001" y="964208"/>
                  <a:pt x="1091406" y="934622"/>
                  <a:pt x="1105562" y="914400"/>
                </a:cubicBezTo>
                <a:cubicBezTo>
                  <a:pt x="1194755" y="786982"/>
                  <a:pt x="1119190" y="903126"/>
                  <a:pt x="1194462" y="812800"/>
                </a:cubicBezTo>
                <a:cubicBezTo>
                  <a:pt x="1204233" y="801074"/>
                  <a:pt x="1210091" y="786426"/>
                  <a:pt x="1219862" y="774700"/>
                </a:cubicBezTo>
                <a:cubicBezTo>
                  <a:pt x="1250420" y="738030"/>
                  <a:pt x="1258600" y="736175"/>
                  <a:pt x="1296062" y="711200"/>
                </a:cubicBezTo>
                <a:cubicBezTo>
                  <a:pt x="1312995" y="715433"/>
                  <a:pt x="1337180" y="709377"/>
                  <a:pt x="1346862" y="723900"/>
                </a:cubicBezTo>
                <a:cubicBezTo>
                  <a:pt x="1366226" y="752946"/>
                  <a:pt x="1367325" y="790942"/>
                  <a:pt x="1372262" y="825500"/>
                </a:cubicBezTo>
                <a:cubicBezTo>
                  <a:pt x="1376313" y="853858"/>
                  <a:pt x="1390614" y="958882"/>
                  <a:pt x="1397662" y="990600"/>
                </a:cubicBezTo>
                <a:cubicBezTo>
                  <a:pt x="1415013" y="1068678"/>
                  <a:pt x="1418897" y="1003403"/>
                  <a:pt x="1486562" y="1104900"/>
                </a:cubicBezTo>
                <a:cubicBezTo>
                  <a:pt x="1495029" y="1117600"/>
                  <a:pt x="1500043" y="1133465"/>
                  <a:pt x="1511962" y="1143000"/>
                </a:cubicBezTo>
                <a:cubicBezTo>
                  <a:pt x="1522415" y="1151363"/>
                  <a:pt x="1538088" y="1149713"/>
                  <a:pt x="1550062" y="1155700"/>
                </a:cubicBezTo>
                <a:cubicBezTo>
                  <a:pt x="1648539" y="1204939"/>
                  <a:pt x="1530497" y="1161878"/>
                  <a:pt x="1626262" y="1193800"/>
                </a:cubicBezTo>
                <a:cubicBezTo>
                  <a:pt x="1655895" y="1189567"/>
                  <a:pt x="1688388" y="1194487"/>
                  <a:pt x="1715162" y="1181100"/>
                </a:cubicBezTo>
                <a:cubicBezTo>
                  <a:pt x="1734094" y="1171634"/>
                  <a:pt x="1739487" y="1146371"/>
                  <a:pt x="1753262" y="1130300"/>
                </a:cubicBezTo>
                <a:cubicBezTo>
                  <a:pt x="1764951" y="1116663"/>
                  <a:pt x="1778662" y="1104900"/>
                  <a:pt x="1791362" y="1092200"/>
                </a:cubicBezTo>
                <a:cubicBezTo>
                  <a:pt x="1795595" y="1079500"/>
                  <a:pt x="1800540" y="1067015"/>
                  <a:pt x="1804062" y="1054100"/>
                </a:cubicBezTo>
                <a:cubicBezTo>
                  <a:pt x="1813247" y="1020421"/>
                  <a:pt x="1818423" y="985618"/>
                  <a:pt x="1829462" y="952500"/>
                </a:cubicBezTo>
                <a:cubicBezTo>
                  <a:pt x="1837929" y="927100"/>
                  <a:pt x="1848368" y="902275"/>
                  <a:pt x="1854862" y="876300"/>
                </a:cubicBezTo>
                <a:cubicBezTo>
                  <a:pt x="1859946" y="855965"/>
                  <a:pt x="1883686" y="755484"/>
                  <a:pt x="1892962" y="749300"/>
                </a:cubicBezTo>
                <a:lnTo>
                  <a:pt x="1931062" y="723900"/>
                </a:lnTo>
                <a:cubicBezTo>
                  <a:pt x="1942567" y="732529"/>
                  <a:pt x="2001391" y="778115"/>
                  <a:pt x="2019962" y="787400"/>
                </a:cubicBezTo>
                <a:cubicBezTo>
                  <a:pt x="2031936" y="793387"/>
                  <a:pt x="2045362" y="795867"/>
                  <a:pt x="2058062" y="800100"/>
                </a:cubicBezTo>
                <a:cubicBezTo>
                  <a:pt x="2096162" y="795867"/>
                  <a:pt x="2137624" y="803611"/>
                  <a:pt x="2172362" y="787400"/>
                </a:cubicBezTo>
                <a:cubicBezTo>
                  <a:pt x="2204913" y="772210"/>
                  <a:pt x="2248562" y="711200"/>
                  <a:pt x="2248562" y="711200"/>
                </a:cubicBezTo>
                <a:cubicBezTo>
                  <a:pt x="2252795" y="694267"/>
                  <a:pt x="2256246" y="677118"/>
                  <a:pt x="2261262" y="660400"/>
                </a:cubicBezTo>
                <a:cubicBezTo>
                  <a:pt x="2268955" y="634755"/>
                  <a:pt x="2280168" y="610175"/>
                  <a:pt x="2286662" y="584200"/>
                </a:cubicBezTo>
                <a:cubicBezTo>
                  <a:pt x="2302609" y="520413"/>
                  <a:pt x="2293842" y="549959"/>
                  <a:pt x="2312062" y="495300"/>
                </a:cubicBezTo>
                <a:cubicBezTo>
                  <a:pt x="2341233" y="261931"/>
                  <a:pt x="2299311" y="474253"/>
                  <a:pt x="2350162" y="355600"/>
                </a:cubicBezTo>
                <a:cubicBezTo>
                  <a:pt x="2382966" y="279058"/>
                  <a:pt x="2333996" y="324044"/>
                  <a:pt x="2400962" y="279400"/>
                </a:cubicBezTo>
                <a:cubicBezTo>
                  <a:pt x="2443295" y="287867"/>
                  <a:pt x="2487006" y="291148"/>
                  <a:pt x="2527962" y="304800"/>
                </a:cubicBezTo>
                <a:lnTo>
                  <a:pt x="2604162" y="330200"/>
                </a:lnTo>
                <a:cubicBezTo>
                  <a:pt x="2625329" y="325967"/>
                  <a:pt x="2648920" y="328210"/>
                  <a:pt x="2667662" y="317500"/>
                </a:cubicBezTo>
                <a:cubicBezTo>
                  <a:pt x="2695820" y="301410"/>
                  <a:pt x="2692329" y="264807"/>
                  <a:pt x="2705762" y="241300"/>
                </a:cubicBezTo>
                <a:cubicBezTo>
                  <a:pt x="2716264" y="222922"/>
                  <a:pt x="2731162" y="207433"/>
                  <a:pt x="2743862" y="190500"/>
                </a:cubicBezTo>
                <a:cubicBezTo>
                  <a:pt x="2775784" y="94735"/>
                  <a:pt x="2732723" y="212777"/>
                  <a:pt x="2781962" y="114300"/>
                </a:cubicBezTo>
                <a:cubicBezTo>
                  <a:pt x="2787949" y="102326"/>
                  <a:pt x="2794662" y="76200"/>
                  <a:pt x="2794662" y="76200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/>
          <p:cNvCxnSpPr>
            <a:endCxn id="6" idx="2"/>
          </p:cNvCxnSpPr>
          <p:nvPr/>
        </p:nvCxnSpPr>
        <p:spPr>
          <a:xfrm flipV="1">
            <a:off x="1524000" y="1821181"/>
            <a:ext cx="3895028" cy="998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3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4114800" y="2540000"/>
            <a:ext cx="5029200" cy="43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81000" y="3810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cost function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98600"/>
            <a:ext cx="6030468" cy="97536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 flipH="1" flipV="1">
            <a:off x="1066801" y="3632202"/>
            <a:ext cx="1979" cy="2701305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38201" y="6203188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291682"/>
            <a:ext cx="814730" cy="49011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14538" y="3219847"/>
            <a:ext cx="137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 = 1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657600" y="6070600"/>
            <a:ext cx="0" cy="30480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05200" y="6305467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57691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830" y="3147060"/>
            <a:ext cx="4560570" cy="2961640"/>
          </a:xfrm>
          <a:prstGeom prst="rect">
            <a:avLst/>
          </a:prstGeom>
        </p:spPr>
      </p:pic>
      <p:sp>
        <p:nvSpPr>
          <p:cNvPr id="2" name="Freeform 1"/>
          <p:cNvSpPr/>
          <p:nvPr/>
        </p:nvSpPr>
        <p:spPr>
          <a:xfrm>
            <a:off x="1295366" y="2946400"/>
            <a:ext cx="2324134" cy="3217333"/>
          </a:xfrm>
          <a:custGeom>
            <a:avLst/>
            <a:gdLst>
              <a:gd name="connsiteX0" fmla="*/ 2324134 w 2324134"/>
              <a:gd name="connsiteY0" fmla="*/ 2413000 h 2413000"/>
              <a:gd name="connsiteX1" fmla="*/ 2247934 w 2324134"/>
              <a:gd name="connsiteY1" fmla="*/ 2400300 h 2413000"/>
              <a:gd name="connsiteX2" fmla="*/ 2146334 w 2324134"/>
              <a:gd name="connsiteY2" fmla="*/ 2349500 h 2413000"/>
              <a:gd name="connsiteX3" fmla="*/ 1981234 w 2324134"/>
              <a:gd name="connsiteY3" fmla="*/ 2324100 h 2413000"/>
              <a:gd name="connsiteX4" fmla="*/ 1917734 w 2324134"/>
              <a:gd name="connsiteY4" fmla="*/ 2298700 h 2413000"/>
              <a:gd name="connsiteX5" fmla="*/ 1854234 w 2324134"/>
              <a:gd name="connsiteY5" fmla="*/ 2286000 h 2413000"/>
              <a:gd name="connsiteX6" fmla="*/ 1803434 w 2324134"/>
              <a:gd name="connsiteY6" fmla="*/ 2260600 h 2413000"/>
              <a:gd name="connsiteX7" fmla="*/ 1765334 w 2324134"/>
              <a:gd name="connsiteY7" fmla="*/ 2247900 h 2413000"/>
              <a:gd name="connsiteX8" fmla="*/ 1714534 w 2324134"/>
              <a:gd name="connsiteY8" fmla="*/ 2222500 h 2413000"/>
              <a:gd name="connsiteX9" fmla="*/ 1574834 w 2324134"/>
              <a:gd name="connsiteY9" fmla="*/ 2197100 h 2413000"/>
              <a:gd name="connsiteX10" fmla="*/ 1498634 w 2324134"/>
              <a:gd name="connsiteY10" fmla="*/ 2171700 h 2413000"/>
              <a:gd name="connsiteX11" fmla="*/ 1460534 w 2324134"/>
              <a:gd name="connsiteY11" fmla="*/ 2146300 h 2413000"/>
              <a:gd name="connsiteX12" fmla="*/ 1384334 w 2324134"/>
              <a:gd name="connsiteY12" fmla="*/ 2133600 h 2413000"/>
              <a:gd name="connsiteX13" fmla="*/ 1219234 w 2324134"/>
              <a:gd name="connsiteY13" fmla="*/ 2095500 h 2413000"/>
              <a:gd name="connsiteX14" fmla="*/ 1117634 w 2324134"/>
              <a:gd name="connsiteY14" fmla="*/ 2044700 h 2413000"/>
              <a:gd name="connsiteX15" fmla="*/ 1041434 w 2324134"/>
              <a:gd name="connsiteY15" fmla="*/ 1993900 h 2413000"/>
              <a:gd name="connsiteX16" fmla="*/ 1003334 w 2324134"/>
              <a:gd name="connsiteY16" fmla="*/ 1968500 h 2413000"/>
              <a:gd name="connsiteX17" fmla="*/ 927134 w 2324134"/>
              <a:gd name="connsiteY17" fmla="*/ 1930400 h 2413000"/>
              <a:gd name="connsiteX18" fmla="*/ 863634 w 2324134"/>
              <a:gd name="connsiteY18" fmla="*/ 1854200 h 2413000"/>
              <a:gd name="connsiteX19" fmla="*/ 800134 w 2324134"/>
              <a:gd name="connsiteY19" fmla="*/ 1778000 h 2413000"/>
              <a:gd name="connsiteX20" fmla="*/ 749334 w 2324134"/>
              <a:gd name="connsiteY20" fmla="*/ 1701800 h 2413000"/>
              <a:gd name="connsiteX21" fmla="*/ 685834 w 2324134"/>
              <a:gd name="connsiteY21" fmla="*/ 1625600 h 2413000"/>
              <a:gd name="connsiteX22" fmla="*/ 596934 w 2324134"/>
              <a:gd name="connsiteY22" fmla="*/ 1536700 h 2413000"/>
              <a:gd name="connsiteX23" fmla="*/ 482634 w 2324134"/>
              <a:gd name="connsiteY23" fmla="*/ 1397000 h 2413000"/>
              <a:gd name="connsiteX24" fmla="*/ 469934 w 2324134"/>
              <a:gd name="connsiteY24" fmla="*/ 1346200 h 2413000"/>
              <a:gd name="connsiteX25" fmla="*/ 457234 w 2324134"/>
              <a:gd name="connsiteY25" fmla="*/ 1308100 h 2413000"/>
              <a:gd name="connsiteX26" fmla="*/ 431834 w 2324134"/>
              <a:gd name="connsiteY26" fmla="*/ 1168400 h 2413000"/>
              <a:gd name="connsiteX27" fmla="*/ 406434 w 2324134"/>
              <a:gd name="connsiteY27" fmla="*/ 1079500 h 2413000"/>
              <a:gd name="connsiteX28" fmla="*/ 355634 w 2324134"/>
              <a:gd name="connsiteY28" fmla="*/ 1041400 h 2413000"/>
              <a:gd name="connsiteX29" fmla="*/ 317534 w 2324134"/>
              <a:gd name="connsiteY29" fmla="*/ 1003300 h 2413000"/>
              <a:gd name="connsiteX30" fmla="*/ 279434 w 2324134"/>
              <a:gd name="connsiteY30" fmla="*/ 990600 h 2413000"/>
              <a:gd name="connsiteX31" fmla="*/ 241334 w 2324134"/>
              <a:gd name="connsiteY31" fmla="*/ 965200 h 2413000"/>
              <a:gd name="connsiteX32" fmla="*/ 152434 w 2324134"/>
              <a:gd name="connsiteY32" fmla="*/ 698500 h 2413000"/>
              <a:gd name="connsiteX33" fmla="*/ 127034 w 2324134"/>
              <a:gd name="connsiteY33" fmla="*/ 622300 h 2413000"/>
              <a:gd name="connsiteX34" fmla="*/ 114334 w 2324134"/>
              <a:gd name="connsiteY34" fmla="*/ 584200 h 2413000"/>
              <a:gd name="connsiteX35" fmla="*/ 101634 w 2324134"/>
              <a:gd name="connsiteY35" fmla="*/ 520700 h 2413000"/>
              <a:gd name="connsiteX36" fmla="*/ 88934 w 2324134"/>
              <a:gd name="connsiteY36" fmla="*/ 469900 h 2413000"/>
              <a:gd name="connsiteX37" fmla="*/ 63534 w 2324134"/>
              <a:gd name="connsiteY37" fmla="*/ 292100 h 2413000"/>
              <a:gd name="connsiteX38" fmla="*/ 50834 w 2324134"/>
              <a:gd name="connsiteY38" fmla="*/ 241300 h 2413000"/>
              <a:gd name="connsiteX39" fmla="*/ 25434 w 2324134"/>
              <a:gd name="connsiteY39" fmla="*/ 101600 h 2413000"/>
              <a:gd name="connsiteX40" fmla="*/ 12734 w 2324134"/>
              <a:gd name="connsiteY40" fmla="*/ 50800 h 2413000"/>
              <a:gd name="connsiteX41" fmla="*/ 34 w 2324134"/>
              <a:gd name="connsiteY41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324134" h="2413000">
                <a:moveTo>
                  <a:pt x="2324134" y="2413000"/>
                </a:moveTo>
                <a:cubicBezTo>
                  <a:pt x="2298734" y="2408767"/>
                  <a:pt x="2272184" y="2408961"/>
                  <a:pt x="2247934" y="2400300"/>
                </a:cubicBezTo>
                <a:cubicBezTo>
                  <a:pt x="2212276" y="2387565"/>
                  <a:pt x="2183818" y="2354855"/>
                  <a:pt x="2146334" y="2349500"/>
                </a:cubicBezTo>
                <a:cubicBezTo>
                  <a:pt x="2031942" y="2333158"/>
                  <a:pt x="2086961" y="2341721"/>
                  <a:pt x="1981234" y="2324100"/>
                </a:cubicBezTo>
                <a:cubicBezTo>
                  <a:pt x="1960067" y="2315633"/>
                  <a:pt x="1939570" y="2305251"/>
                  <a:pt x="1917734" y="2298700"/>
                </a:cubicBezTo>
                <a:cubicBezTo>
                  <a:pt x="1897059" y="2292497"/>
                  <a:pt x="1874712" y="2292826"/>
                  <a:pt x="1854234" y="2286000"/>
                </a:cubicBezTo>
                <a:cubicBezTo>
                  <a:pt x="1836273" y="2280013"/>
                  <a:pt x="1820835" y="2268058"/>
                  <a:pt x="1803434" y="2260600"/>
                </a:cubicBezTo>
                <a:cubicBezTo>
                  <a:pt x="1791129" y="2255327"/>
                  <a:pt x="1777639" y="2253173"/>
                  <a:pt x="1765334" y="2247900"/>
                </a:cubicBezTo>
                <a:cubicBezTo>
                  <a:pt x="1747933" y="2240442"/>
                  <a:pt x="1732261" y="2229147"/>
                  <a:pt x="1714534" y="2222500"/>
                </a:cubicBezTo>
                <a:cubicBezTo>
                  <a:pt x="1677685" y="2208681"/>
                  <a:pt x="1607284" y="2201736"/>
                  <a:pt x="1574834" y="2197100"/>
                </a:cubicBezTo>
                <a:cubicBezTo>
                  <a:pt x="1549434" y="2188633"/>
                  <a:pt x="1520911" y="2186552"/>
                  <a:pt x="1498634" y="2171700"/>
                </a:cubicBezTo>
                <a:cubicBezTo>
                  <a:pt x="1485934" y="2163233"/>
                  <a:pt x="1475014" y="2151127"/>
                  <a:pt x="1460534" y="2146300"/>
                </a:cubicBezTo>
                <a:cubicBezTo>
                  <a:pt x="1436105" y="2138157"/>
                  <a:pt x="1409643" y="2138345"/>
                  <a:pt x="1384334" y="2133600"/>
                </a:cubicBezTo>
                <a:cubicBezTo>
                  <a:pt x="1366488" y="2130254"/>
                  <a:pt x="1260373" y="2114199"/>
                  <a:pt x="1219234" y="2095500"/>
                </a:cubicBezTo>
                <a:cubicBezTo>
                  <a:pt x="1184764" y="2079832"/>
                  <a:pt x="1149139" y="2065703"/>
                  <a:pt x="1117634" y="2044700"/>
                </a:cubicBezTo>
                <a:lnTo>
                  <a:pt x="1041434" y="1993900"/>
                </a:lnTo>
                <a:cubicBezTo>
                  <a:pt x="1028734" y="1985433"/>
                  <a:pt x="1017814" y="1973327"/>
                  <a:pt x="1003334" y="1968500"/>
                </a:cubicBezTo>
                <a:cubicBezTo>
                  <a:pt x="950754" y="1950973"/>
                  <a:pt x="976373" y="1963226"/>
                  <a:pt x="927134" y="1930400"/>
                </a:cubicBezTo>
                <a:cubicBezTo>
                  <a:pt x="864071" y="1835805"/>
                  <a:pt x="945122" y="1951986"/>
                  <a:pt x="863634" y="1854200"/>
                </a:cubicBezTo>
                <a:cubicBezTo>
                  <a:pt x="775227" y="1748112"/>
                  <a:pt x="911444" y="1889310"/>
                  <a:pt x="800134" y="1778000"/>
                </a:cubicBezTo>
                <a:cubicBezTo>
                  <a:pt x="777815" y="1711043"/>
                  <a:pt x="802185" y="1765221"/>
                  <a:pt x="749334" y="1701800"/>
                </a:cubicBezTo>
                <a:cubicBezTo>
                  <a:pt x="660927" y="1595712"/>
                  <a:pt x="797144" y="1736910"/>
                  <a:pt x="685834" y="1625600"/>
                </a:cubicBezTo>
                <a:cubicBezTo>
                  <a:pt x="651512" y="1522633"/>
                  <a:pt x="711566" y="1676806"/>
                  <a:pt x="596934" y="1536700"/>
                </a:cubicBezTo>
                <a:lnTo>
                  <a:pt x="482634" y="1397000"/>
                </a:lnTo>
                <a:cubicBezTo>
                  <a:pt x="478401" y="1380067"/>
                  <a:pt x="474729" y="1362983"/>
                  <a:pt x="469934" y="1346200"/>
                </a:cubicBezTo>
                <a:cubicBezTo>
                  <a:pt x="466256" y="1333328"/>
                  <a:pt x="459629" y="1321271"/>
                  <a:pt x="457234" y="1308100"/>
                </a:cubicBezTo>
                <a:cubicBezTo>
                  <a:pt x="417089" y="1087303"/>
                  <a:pt x="465440" y="1280421"/>
                  <a:pt x="431834" y="1168400"/>
                </a:cubicBezTo>
                <a:cubicBezTo>
                  <a:pt x="422978" y="1138881"/>
                  <a:pt x="422290" y="1105927"/>
                  <a:pt x="406434" y="1079500"/>
                </a:cubicBezTo>
                <a:cubicBezTo>
                  <a:pt x="395544" y="1061350"/>
                  <a:pt x="371705" y="1055175"/>
                  <a:pt x="355634" y="1041400"/>
                </a:cubicBezTo>
                <a:cubicBezTo>
                  <a:pt x="341997" y="1029711"/>
                  <a:pt x="332478" y="1013263"/>
                  <a:pt x="317534" y="1003300"/>
                </a:cubicBezTo>
                <a:cubicBezTo>
                  <a:pt x="306395" y="995874"/>
                  <a:pt x="291408" y="996587"/>
                  <a:pt x="279434" y="990600"/>
                </a:cubicBezTo>
                <a:cubicBezTo>
                  <a:pt x="265782" y="983774"/>
                  <a:pt x="254034" y="973667"/>
                  <a:pt x="241334" y="965200"/>
                </a:cubicBezTo>
                <a:lnTo>
                  <a:pt x="152434" y="698500"/>
                </a:lnTo>
                <a:lnTo>
                  <a:pt x="127034" y="622300"/>
                </a:lnTo>
                <a:cubicBezTo>
                  <a:pt x="122801" y="609600"/>
                  <a:pt x="116959" y="597327"/>
                  <a:pt x="114334" y="584200"/>
                </a:cubicBezTo>
                <a:cubicBezTo>
                  <a:pt x="110101" y="563033"/>
                  <a:pt x="106317" y="541772"/>
                  <a:pt x="101634" y="520700"/>
                </a:cubicBezTo>
                <a:cubicBezTo>
                  <a:pt x="97848" y="503661"/>
                  <a:pt x="91803" y="487117"/>
                  <a:pt x="88934" y="469900"/>
                </a:cubicBezTo>
                <a:cubicBezTo>
                  <a:pt x="79092" y="410846"/>
                  <a:pt x="78054" y="350181"/>
                  <a:pt x="63534" y="292100"/>
                </a:cubicBezTo>
                <a:cubicBezTo>
                  <a:pt x="59301" y="275167"/>
                  <a:pt x="54257" y="258416"/>
                  <a:pt x="50834" y="241300"/>
                </a:cubicBezTo>
                <a:cubicBezTo>
                  <a:pt x="23262" y="103442"/>
                  <a:pt x="52676" y="224188"/>
                  <a:pt x="25434" y="101600"/>
                </a:cubicBezTo>
                <a:cubicBezTo>
                  <a:pt x="21648" y="84561"/>
                  <a:pt x="17529" y="67583"/>
                  <a:pt x="12734" y="50800"/>
                </a:cubicBezTo>
                <a:cubicBezTo>
                  <a:pt x="-1305" y="1665"/>
                  <a:pt x="34" y="28307"/>
                  <a:pt x="34" y="0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8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3810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cost function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H="1" flipV="1">
            <a:off x="1068779" y="3022600"/>
            <a:ext cx="2" cy="3310909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38201" y="6203188"/>
            <a:ext cx="3200399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291682"/>
            <a:ext cx="814730" cy="49011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905038" y="2610248"/>
            <a:ext cx="137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 = 0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657600" y="6070600"/>
            <a:ext cx="0" cy="304800"/>
          </a:xfrm>
          <a:prstGeom prst="line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05200" y="6305467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57691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98600"/>
            <a:ext cx="6030468" cy="975360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 flipH="1">
            <a:off x="1104866" y="2946400"/>
            <a:ext cx="2324134" cy="3217333"/>
          </a:xfrm>
          <a:custGeom>
            <a:avLst/>
            <a:gdLst>
              <a:gd name="connsiteX0" fmla="*/ 2324134 w 2324134"/>
              <a:gd name="connsiteY0" fmla="*/ 2413000 h 2413000"/>
              <a:gd name="connsiteX1" fmla="*/ 2247934 w 2324134"/>
              <a:gd name="connsiteY1" fmla="*/ 2400300 h 2413000"/>
              <a:gd name="connsiteX2" fmla="*/ 2146334 w 2324134"/>
              <a:gd name="connsiteY2" fmla="*/ 2349500 h 2413000"/>
              <a:gd name="connsiteX3" fmla="*/ 1981234 w 2324134"/>
              <a:gd name="connsiteY3" fmla="*/ 2324100 h 2413000"/>
              <a:gd name="connsiteX4" fmla="*/ 1917734 w 2324134"/>
              <a:gd name="connsiteY4" fmla="*/ 2298700 h 2413000"/>
              <a:gd name="connsiteX5" fmla="*/ 1854234 w 2324134"/>
              <a:gd name="connsiteY5" fmla="*/ 2286000 h 2413000"/>
              <a:gd name="connsiteX6" fmla="*/ 1803434 w 2324134"/>
              <a:gd name="connsiteY6" fmla="*/ 2260600 h 2413000"/>
              <a:gd name="connsiteX7" fmla="*/ 1765334 w 2324134"/>
              <a:gd name="connsiteY7" fmla="*/ 2247900 h 2413000"/>
              <a:gd name="connsiteX8" fmla="*/ 1714534 w 2324134"/>
              <a:gd name="connsiteY8" fmla="*/ 2222500 h 2413000"/>
              <a:gd name="connsiteX9" fmla="*/ 1574834 w 2324134"/>
              <a:gd name="connsiteY9" fmla="*/ 2197100 h 2413000"/>
              <a:gd name="connsiteX10" fmla="*/ 1498634 w 2324134"/>
              <a:gd name="connsiteY10" fmla="*/ 2171700 h 2413000"/>
              <a:gd name="connsiteX11" fmla="*/ 1460534 w 2324134"/>
              <a:gd name="connsiteY11" fmla="*/ 2146300 h 2413000"/>
              <a:gd name="connsiteX12" fmla="*/ 1384334 w 2324134"/>
              <a:gd name="connsiteY12" fmla="*/ 2133600 h 2413000"/>
              <a:gd name="connsiteX13" fmla="*/ 1219234 w 2324134"/>
              <a:gd name="connsiteY13" fmla="*/ 2095500 h 2413000"/>
              <a:gd name="connsiteX14" fmla="*/ 1117634 w 2324134"/>
              <a:gd name="connsiteY14" fmla="*/ 2044700 h 2413000"/>
              <a:gd name="connsiteX15" fmla="*/ 1041434 w 2324134"/>
              <a:gd name="connsiteY15" fmla="*/ 1993900 h 2413000"/>
              <a:gd name="connsiteX16" fmla="*/ 1003334 w 2324134"/>
              <a:gd name="connsiteY16" fmla="*/ 1968500 h 2413000"/>
              <a:gd name="connsiteX17" fmla="*/ 927134 w 2324134"/>
              <a:gd name="connsiteY17" fmla="*/ 1930400 h 2413000"/>
              <a:gd name="connsiteX18" fmla="*/ 863634 w 2324134"/>
              <a:gd name="connsiteY18" fmla="*/ 1854200 h 2413000"/>
              <a:gd name="connsiteX19" fmla="*/ 800134 w 2324134"/>
              <a:gd name="connsiteY19" fmla="*/ 1778000 h 2413000"/>
              <a:gd name="connsiteX20" fmla="*/ 749334 w 2324134"/>
              <a:gd name="connsiteY20" fmla="*/ 1701800 h 2413000"/>
              <a:gd name="connsiteX21" fmla="*/ 685834 w 2324134"/>
              <a:gd name="connsiteY21" fmla="*/ 1625600 h 2413000"/>
              <a:gd name="connsiteX22" fmla="*/ 596934 w 2324134"/>
              <a:gd name="connsiteY22" fmla="*/ 1536700 h 2413000"/>
              <a:gd name="connsiteX23" fmla="*/ 482634 w 2324134"/>
              <a:gd name="connsiteY23" fmla="*/ 1397000 h 2413000"/>
              <a:gd name="connsiteX24" fmla="*/ 469934 w 2324134"/>
              <a:gd name="connsiteY24" fmla="*/ 1346200 h 2413000"/>
              <a:gd name="connsiteX25" fmla="*/ 457234 w 2324134"/>
              <a:gd name="connsiteY25" fmla="*/ 1308100 h 2413000"/>
              <a:gd name="connsiteX26" fmla="*/ 431834 w 2324134"/>
              <a:gd name="connsiteY26" fmla="*/ 1168400 h 2413000"/>
              <a:gd name="connsiteX27" fmla="*/ 406434 w 2324134"/>
              <a:gd name="connsiteY27" fmla="*/ 1079500 h 2413000"/>
              <a:gd name="connsiteX28" fmla="*/ 355634 w 2324134"/>
              <a:gd name="connsiteY28" fmla="*/ 1041400 h 2413000"/>
              <a:gd name="connsiteX29" fmla="*/ 317534 w 2324134"/>
              <a:gd name="connsiteY29" fmla="*/ 1003300 h 2413000"/>
              <a:gd name="connsiteX30" fmla="*/ 279434 w 2324134"/>
              <a:gd name="connsiteY30" fmla="*/ 990600 h 2413000"/>
              <a:gd name="connsiteX31" fmla="*/ 241334 w 2324134"/>
              <a:gd name="connsiteY31" fmla="*/ 965200 h 2413000"/>
              <a:gd name="connsiteX32" fmla="*/ 152434 w 2324134"/>
              <a:gd name="connsiteY32" fmla="*/ 698500 h 2413000"/>
              <a:gd name="connsiteX33" fmla="*/ 127034 w 2324134"/>
              <a:gd name="connsiteY33" fmla="*/ 622300 h 2413000"/>
              <a:gd name="connsiteX34" fmla="*/ 114334 w 2324134"/>
              <a:gd name="connsiteY34" fmla="*/ 584200 h 2413000"/>
              <a:gd name="connsiteX35" fmla="*/ 101634 w 2324134"/>
              <a:gd name="connsiteY35" fmla="*/ 520700 h 2413000"/>
              <a:gd name="connsiteX36" fmla="*/ 88934 w 2324134"/>
              <a:gd name="connsiteY36" fmla="*/ 469900 h 2413000"/>
              <a:gd name="connsiteX37" fmla="*/ 63534 w 2324134"/>
              <a:gd name="connsiteY37" fmla="*/ 292100 h 2413000"/>
              <a:gd name="connsiteX38" fmla="*/ 50834 w 2324134"/>
              <a:gd name="connsiteY38" fmla="*/ 241300 h 2413000"/>
              <a:gd name="connsiteX39" fmla="*/ 25434 w 2324134"/>
              <a:gd name="connsiteY39" fmla="*/ 101600 h 2413000"/>
              <a:gd name="connsiteX40" fmla="*/ 12734 w 2324134"/>
              <a:gd name="connsiteY40" fmla="*/ 50800 h 2413000"/>
              <a:gd name="connsiteX41" fmla="*/ 34 w 2324134"/>
              <a:gd name="connsiteY41" fmla="*/ 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324134" h="2413000">
                <a:moveTo>
                  <a:pt x="2324134" y="2413000"/>
                </a:moveTo>
                <a:cubicBezTo>
                  <a:pt x="2298734" y="2408767"/>
                  <a:pt x="2272184" y="2408961"/>
                  <a:pt x="2247934" y="2400300"/>
                </a:cubicBezTo>
                <a:cubicBezTo>
                  <a:pt x="2212276" y="2387565"/>
                  <a:pt x="2183818" y="2354855"/>
                  <a:pt x="2146334" y="2349500"/>
                </a:cubicBezTo>
                <a:cubicBezTo>
                  <a:pt x="2031942" y="2333158"/>
                  <a:pt x="2086961" y="2341721"/>
                  <a:pt x="1981234" y="2324100"/>
                </a:cubicBezTo>
                <a:cubicBezTo>
                  <a:pt x="1960067" y="2315633"/>
                  <a:pt x="1939570" y="2305251"/>
                  <a:pt x="1917734" y="2298700"/>
                </a:cubicBezTo>
                <a:cubicBezTo>
                  <a:pt x="1897059" y="2292497"/>
                  <a:pt x="1874712" y="2292826"/>
                  <a:pt x="1854234" y="2286000"/>
                </a:cubicBezTo>
                <a:cubicBezTo>
                  <a:pt x="1836273" y="2280013"/>
                  <a:pt x="1820835" y="2268058"/>
                  <a:pt x="1803434" y="2260600"/>
                </a:cubicBezTo>
                <a:cubicBezTo>
                  <a:pt x="1791129" y="2255327"/>
                  <a:pt x="1777639" y="2253173"/>
                  <a:pt x="1765334" y="2247900"/>
                </a:cubicBezTo>
                <a:cubicBezTo>
                  <a:pt x="1747933" y="2240442"/>
                  <a:pt x="1732261" y="2229147"/>
                  <a:pt x="1714534" y="2222500"/>
                </a:cubicBezTo>
                <a:cubicBezTo>
                  <a:pt x="1677685" y="2208681"/>
                  <a:pt x="1607284" y="2201736"/>
                  <a:pt x="1574834" y="2197100"/>
                </a:cubicBezTo>
                <a:cubicBezTo>
                  <a:pt x="1549434" y="2188633"/>
                  <a:pt x="1520911" y="2186552"/>
                  <a:pt x="1498634" y="2171700"/>
                </a:cubicBezTo>
                <a:cubicBezTo>
                  <a:pt x="1485934" y="2163233"/>
                  <a:pt x="1475014" y="2151127"/>
                  <a:pt x="1460534" y="2146300"/>
                </a:cubicBezTo>
                <a:cubicBezTo>
                  <a:pt x="1436105" y="2138157"/>
                  <a:pt x="1409643" y="2138345"/>
                  <a:pt x="1384334" y="2133600"/>
                </a:cubicBezTo>
                <a:cubicBezTo>
                  <a:pt x="1366488" y="2130254"/>
                  <a:pt x="1260373" y="2114199"/>
                  <a:pt x="1219234" y="2095500"/>
                </a:cubicBezTo>
                <a:cubicBezTo>
                  <a:pt x="1184764" y="2079832"/>
                  <a:pt x="1149139" y="2065703"/>
                  <a:pt x="1117634" y="2044700"/>
                </a:cubicBezTo>
                <a:lnTo>
                  <a:pt x="1041434" y="1993900"/>
                </a:lnTo>
                <a:cubicBezTo>
                  <a:pt x="1028734" y="1985433"/>
                  <a:pt x="1017814" y="1973327"/>
                  <a:pt x="1003334" y="1968500"/>
                </a:cubicBezTo>
                <a:cubicBezTo>
                  <a:pt x="950754" y="1950973"/>
                  <a:pt x="976373" y="1963226"/>
                  <a:pt x="927134" y="1930400"/>
                </a:cubicBezTo>
                <a:cubicBezTo>
                  <a:pt x="864071" y="1835805"/>
                  <a:pt x="945122" y="1951986"/>
                  <a:pt x="863634" y="1854200"/>
                </a:cubicBezTo>
                <a:cubicBezTo>
                  <a:pt x="775227" y="1748112"/>
                  <a:pt x="911444" y="1889310"/>
                  <a:pt x="800134" y="1778000"/>
                </a:cubicBezTo>
                <a:cubicBezTo>
                  <a:pt x="777815" y="1711043"/>
                  <a:pt x="802185" y="1765221"/>
                  <a:pt x="749334" y="1701800"/>
                </a:cubicBezTo>
                <a:cubicBezTo>
                  <a:pt x="660927" y="1595712"/>
                  <a:pt x="797144" y="1736910"/>
                  <a:pt x="685834" y="1625600"/>
                </a:cubicBezTo>
                <a:cubicBezTo>
                  <a:pt x="651512" y="1522633"/>
                  <a:pt x="711566" y="1676806"/>
                  <a:pt x="596934" y="1536700"/>
                </a:cubicBezTo>
                <a:lnTo>
                  <a:pt x="482634" y="1397000"/>
                </a:lnTo>
                <a:cubicBezTo>
                  <a:pt x="478401" y="1380067"/>
                  <a:pt x="474729" y="1362983"/>
                  <a:pt x="469934" y="1346200"/>
                </a:cubicBezTo>
                <a:cubicBezTo>
                  <a:pt x="466256" y="1333328"/>
                  <a:pt x="459629" y="1321271"/>
                  <a:pt x="457234" y="1308100"/>
                </a:cubicBezTo>
                <a:cubicBezTo>
                  <a:pt x="417089" y="1087303"/>
                  <a:pt x="465440" y="1280421"/>
                  <a:pt x="431834" y="1168400"/>
                </a:cubicBezTo>
                <a:cubicBezTo>
                  <a:pt x="422978" y="1138881"/>
                  <a:pt x="422290" y="1105927"/>
                  <a:pt x="406434" y="1079500"/>
                </a:cubicBezTo>
                <a:cubicBezTo>
                  <a:pt x="395544" y="1061350"/>
                  <a:pt x="371705" y="1055175"/>
                  <a:pt x="355634" y="1041400"/>
                </a:cubicBezTo>
                <a:cubicBezTo>
                  <a:pt x="341997" y="1029711"/>
                  <a:pt x="332478" y="1013263"/>
                  <a:pt x="317534" y="1003300"/>
                </a:cubicBezTo>
                <a:cubicBezTo>
                  <a:pt x="306395" y="995874"/>
                  <a:pt x="291408" y="996587"/>
                  <a:pt x="279434" y="990600"/>
                </a:cubicBezTo>
                <a:cubicBezTo>
                  <a:pt x="265782" y="983774"/>
                  <a:pt x="254034" y="973667"/>
                  <a:pt x="241334" y="965200"/>
                </a:cubicBezTo>
                <a:lnTo>
                  <a:pt x="152434" y="698500"/>
                </a:lnTo>
                <a:lnTo>
                  <a:pt x="127034" y="622300"/>
                </a:lnTo>
                <a:cubicBezTo>
                  <a:pt x="122801" y="609600"/>
                  <a:pt x="116959" y="597327"/>
                  <a:pt x="114334" y="584200"/>
                </a:cubicBezTo>
                <a:cubicBezTo>
                  <a:pt x="110101" y="563033"/>
                  <a:pt x="106317" y="541772"/>
                  <a:pt x="101634" y="520700"/>
                </a:cubicBezTo>
                <a:cubicBezTo>
                  <a:pt x="97848" y="503661"/>
                  <a:pt x="91803" y="487117"/>
                  <a:pt x="88934" y="469900"/>
                </a:cubicBezTo>
                <a:cubicBezTo>
                  <a:pt x="79092" y="410846"/>
                  <a:pt x="78054" y="350181"/>
                  <a:pt x="63534" y="292100"/>
                </a:cubicBezTo>
                <a:cubicBezTo>
                  <a:pt x="59301" y="275167"/>
                  <a:pt x="54257" y="258416"/>
                  <a:pt x="50834" y="241300"/>
                </a:cubicBezTo>
                <a:cubicBezTo>
                  <a:pt x="23262" y="103442"/>
                  <a:pt x="52676" y="224188"/>
                  <a:pt x="25434" y="101600"/>
                </a:cubicBezTo>
                <a:cubicBezTo>
                  <a:pt x="21648" y="84561"/>
                  <a:pt x="17529" y="67583"/>
                  <a:pt x="12734" y="50800"/>
                </a:cubicBezTo>
                <a:cubicBezTo>
                  <a:pt x="-1305" y="1665"/>
                  <a:pt x="34" y="28307"/>
                  <a:pt x="34" y="0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3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577" y="3352800"/>
            <a:ext cx="7214616" cy="868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8200" y="611064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3810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Logistic regression cost function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11608"/>
            <a:ext cx="4169664" cy="868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261" y="42418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fit parameters    : 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905" y="4343400"/>
            <a:ext cx="128016" cy="2926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957" y="4976563"/>
            <a:ext cx="1104138" cy="5730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3261" y="5447988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make a prediction given new   :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942" y="5608320"/>
            <a:ext cx="153162" cy="1828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561" y="6199919"/>
            <a:ext cx="2146554" cy="58521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332" y="1905000"/>
            <a:ext cx="6030468" cy="975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00200" y="2921000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y = 0 or 1, we can write cost function as:</a:t>
            </a:r>
          </a:p>
        </p:txBody>
      </p:sp>
    </p:spTree>
    <p:extLst>
      <p:ext uri="{BB962C8B-B14F-4D97-AF65-F5344CB8AC3E}">
        <p14:creationId xmlns:p14="http://schemas.microsoft.com/office/powerpoint/2010/main" val="123310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1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3810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Descent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21082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                    :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133600"/>
            <a:ext cx="1241298" cy="4084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11608"/>
            <a:ext cx="7879842" cy="8686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2417" y="2771848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34" name="Picture 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80" y="2846737"/>
            <a:ext cx="109728" cy="405384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17" y="4547616"/>
            <a:ext cx="109728" cy="4053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148" y="3503237"/>
            <a:ext cx="2587752" cy="58216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028917" y="4267344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(simultaneously update all     )</a:t>
            </a:r>
          </a:p>
        </p:txBody>
      </p:sp>
      <p:pic>
        <p:nvPicPr>
          <p:cNvPr id="50" name="Picture 4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310" y="4400463"/>
            <a:ext cx="186690" cy="3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34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10067"/>
            <a:ext cx="8229600" cy="897467"/>
          </a:xfrm>
        </p:spPr>
        <p:txBody>
          <a:bodyPr>
            <a:normAutofit/>
          </a:bodyPr>
          <a:lstStyle/>
          <a:p>
            <a:r>
              <a:rPr lang="en-US" dirty="0"/>
              <a:t>Gradient Computation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7874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the following useful facts: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723" y="616415"/>
            <a:ext cx="2146554" cy="585216"/>
          </a:xfrm>
          <a:prstGeom prst="rect">
            <a:avLst/>
          </a:prstGeom>
        </p:spPr>
      </p:pic>
      <p:sp>
        <p:nvSpPr>
          <p:cNvPr id="16" name="TextBox 15">
            <a:hlinkClick r:id="rId4"/>
          </p:cNvPr>
          <p:cNvSpPr txBox="1"/>
          <p:nvPr/>
        </p:nvSpPr>
        <p:spPr>
          <a:xfrm>
            <a:off x="4953000" y="5867400"/>
            <a:ext cx="4193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 invalidUrl="http://www.wolframalpha.com/input/?i=D[y*Log[1/(1+e^(a*x))]++++(1-y)*Log[1+-+1/(1+e^(a*x))],a]"/>
              </a:rPr>
              <a:t>Compute symbolically using </a:t>
            </a:r>
            <a:r>
              <a:rPr lang="en-US" dirty="0" err="1">
                <a:hlinkClick r:id="rId5" invalidUrl="http://www.wolframalpha.com/input/?i=D[y*Log[1/(1+e^(a*x))]++++(1-y)*Log[1+-+1/(1+e^(a*x))],a]"/>
              </a:rPr>
              <a:t>WolframAlpha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953000" y="6172201"/>
            <a:ext cx="4343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D[y*Log[1/(1+e^(a*x))]  + (1-y)*Log[1 - 1/(1+e^(a*x))],a]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7162800" y="685800"/>
          <a:ext cx="1371600" cy="83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49960" imgH="383760" progId="Equation.3">
                  <p:embed/>
                </p:oleObj>
              </mc:Choice>
              <mc:Fallback>
                <p:oleObj name="Equation" r:id="rId6" imgW="849960" imgH="3837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685800"/>
                        <a:ext cx="1371600" cy="83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00"/>
          <a:stretch/>
        </p:blipFill>
        <p:spPr>
          <a:xfrm>
            <a:off x="266700" y="2135063"/>
            <a:ext cx="6699504" cy="58521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39" b="54336"/>
          <a:stretch/>
        </p:blipFill>
        <p:spPr>
          <a:xfrm>
            <a:off x="266700" y="2903089"/>
            <a:ext cx="6699504" cy="10698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03" b="31266"/>
          <a:stretch/>
        </p:blipFill>
        <p:spPr>
          <a:xfrm>
            <a:off x="266700" y="3742834"/>
            <a:ext cx="6699504" cy="93598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80" b="16022"/>
          <a:stretch/>
        </p:blipFill>
        <p:spPr>
          <a:xfrm>
            <a:off x="266700" y="4504709"/>
            <a:ext cx="6699504" cy="70298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91" b="-1"/>
          <a:stretch/>
        </p:blipFill>
        <p:spPr>
          <a:xfrm>
            <a:off x="266700" y="5068751"/>
            <a:ext cx="6699504" cy="6750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335057" y="1372616"/>
                <a:ext cx="3235886" cy="527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latin typeface="Cambria Math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𝑥h</m:t>
                      </m:r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r>
                        <a:rPr lang="en-US" b="0" i="1" smtClean="0">
                          <a:latin typeface="Cambria Math" charset="0"/>
                        </a:rPr>
                        <m:t>𝑥</m:t>
                      </m:r>
                      <m:r>
                        <a:rPr lang="en-US" b="0" i="1" smtClean="0">
                          <a:latin typeface="Cambria Math" charset="0"/>
                        </a:rPr>
                        <m:t>,</m:t>
                      </m:r>
                      <m:r>
                        <a:rPr lang="en-US" b="0" i="1" smtClean="0">
                          <a:latin typeface="Cambria Math" charset="0"/>
                        </a:rPr>
                        <m:t>𝜃</m:t>
                      </m:r>
                      <m:r>
                        <a:rPr lang="en-US" b="0" i="1" smtClean="0">
                          <a:latin typeface="Cambria Math" charset="0"/>
                        </a:rPr>
                        <m:t>)(1−</m:t>
                      </m:r>
                      <m:r>
                        <a:rPr lang="en-US" b="0" i="1" smtClean="0">
                          <a:latin typeface="Cambria Math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057" y="1372616"/>
                <a:ext cx="3235886" cy="52764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2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22EF17-6EE9-F54D-5303-DD4BED5F0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95" y="342900"/>
            <a:ext cx="8356209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700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148" y="3362615"/>
            <a:ext cx="4528566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000" y="3810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Descent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21082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                    :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268" y="2239157"/>
            <a:ext cx="1241298" cy="4084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11608"/>
            <a:ext cx="7879842" cy="8686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028917" y="4267344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(simultaneously update all     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2417" y="2771848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310" y="4400463"/>
            <a:ext cx="186690" cy="34036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80" y="2846737"/>
            <a:ext cx="109728" cy="40538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17" y="4547616"/>
            <a:ext cx="109728" cy="4053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5830" y="5562601"/>
            <a:ext cx="7677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Algorithm looks identical to linear regression!</a:t>
            </a:r>
          </a:p>
        </p:txBody>
      </p:sp>
    </p:spTree>
    <p:extLst>
      <p:ext uri="{BB962C8B-B14F-4D97-AF65-F5344CB8AC3E}">
        <p14:creationId xmlns:p14="http://schemas.microsoft.com/office/powerpoint/2010/main" val="242770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810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Basic Optimization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86248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Cost function         . Want                    .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002" y="1220321"/>
            <a:ext cx="534924" cy="40843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833" y="1220321"/>
            <a:ext cx="1241298" cy="4084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1000" y="1774175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   , we have code that can compute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 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 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674" y="1935647"/>
            <a:ext cx="128016" cy="29260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23" y="2376660"/>
            <a:ext cx="534924" cy="40843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86" y="2846832"/>
            <a:ext cx="964692" cy="5821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938406" y="2803874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(for                             )</a:t>
            </a:r>
          </a:p>
        </p:txBody>
      </p:sp>
      <p:pic>
        <p:nvPicPr>
          <p:cNvPr id="24" name="Picture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362" y="2963632"/>
            <a:ext cx="1840230" cy="3535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9100" y="4439539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26" name="Picture 2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63" y="4514428"/>
            <a:ext cx="109728" cy="40538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970016"/>
            <a:ext cx="109728" cy="4053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" y="5170928"/>
            <a:ext cx="2587752" cy="582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1000" y="3830463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Gradient descent:</a:t>
            </a:r>
          </a:p>
        </p:txBody>
      </p:sp>
    </p:spTree>
    <p:extLst>
      <p:ext uri="{BB962C8B-B14F-4D97-AF65-F5344CB8AC3E}">
        <p14:creationId xmlns:p14="http://schemas.microsoft.com/office/powerpoint/2010/main" val="1631051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81001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But many choices for optimization algorithm…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984647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   , we have code that can compute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 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674" y="1146119"/>
            <a:ext cx="128016" cy="2926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23" y="1587132"/>
            <a:ext cx="534924" cy="4084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86" y="2057304"/>
            <a:ext cx="964692" cy="582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38406" y="2014346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(for                             )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362" y="2174104"/>
            <a:ext cx="1840230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4426" y="3016647"/>
            <a:ext cx="3806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Optimization algorithms: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Gradient descent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426" y="3497117"/>
            <a:ext cx="3806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400" dirty="0"/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Conjugate gradient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BFGS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L-BFGS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4187462" y="3016648"/>
            <a:ext cx="3538" cy="28507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43400" y="3016645"/>
            <a:ext cx="4648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Advantages: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Often faster than gradient descent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No need to choose learning rate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Disadvantages:</a:t>
            </a:r>
          </a:p>
          <a:p>
            <a:pPr marL="800100" lvl="1" indent="-342900"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More complex (but you don’t have to implement them!)</a:t>
            </a: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" y="6135469"/>
            <a:ext cx="6271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10"/>
              </a:rPr>
              <a:t>http://docs.scipy.org/doc/scipy/reference/tutorial/optimize.html</a:t>
            </a:r>
            <a:endParaRPr lang="en-US" dirty="0"/>
          </a:p>
          <a:p>
            <a:r>
              <a:rPr lang="en-US" dirty="0">
                <a:hlinkClick r:id="rId11"/>
              </a:rPr>
              <a:t>http://www.mathworks.com/help/optim/ug/fminunc.html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19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873514"/>
            <a:ext cx="617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Multi-Class Classification</a:t>
            </a:r>
            <a:endParaRPr lang="en-US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810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Multiclass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86248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Email </a:t>
            </a:r>
            <a:r>
              <a:rPr lang="en-US" sz="2400" dirty="0" err="1"/>
              <a:t>foldering</a:t>
            </a:r>
            <a:r>
              <a:rPr lang="en-US" sz="2400" dirty="0"/>
              <a:t>/tagging: Work, Friends, Family, Hobby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2819401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Medical diagrams: Not ill, Cold, Flu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569" y="4648201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Weather: Sunny, Cloudy, Rain, Snow</a:t>
            </a:r>
          </a:p>
        </p:txBody>
      </p:sp>
    </p:spTree>
    <p:extLst>
      <p:ext uri="{BB962C8B-B14F-4D97-AF65-F5344CB8AC3E}">
        <p14:creationId xmlns:p14="http://schemas.microsoft.com/office/powerpoint/2010/main" val="2800475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564840" y="1862308"/>
            <a:ext cx="3521936" cy="4112483"/>
            <a:chOff x="2057400" y="971550"/>
            <a:chExt cx="4386544" cy="3841550"/>
          </a:xfrm>
        </p:grpSpPr>
        <p:sp>
          <p:nvSpPr>
            <p:cNvPr id="2" name="Oval 1"/>
            <p:cNvSpPr/>
            <p:nvPr/>
          </p:nvSpPr>
          <p:spPr>
            <a:xfrm>
              <a:off x="3184422" y="2992642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3868950" y="2944403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571498" y="3379718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3484306" y="2640410"/>
              <a:ext cx="297789" cy="297789"/>
            </a:xfrm>
            <a:prstGeom prst="ellipse">
              <a:avLst/>
            </a:prstGeom>
            <a:noFill/>
            <a:ln w="444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ross 5"/>
            <p:cNvSpPr/>
            <p:nvPr/>
          </p:nvSpPr>
          <p:spPr>
            <a:xfrm rot="2734294">
              <a:off x="5002286" y="2205198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ross 6"/>
            <p:cNvSpPr/>
            <p:nvPr/>
          </p:nvSpPr>
          <p:spPr>
            <a:xfrm rot="2734294">
              <a:off x="5127933" y="1396215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/>
            <p:cNvSpPr/>
            <p:nvPr/>
          </p:nvSpPr>
          <p:spPr>
            <a:xfrm rot="2734294">
              <a:off x="5680417" y="1894197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ross 8"/>
            <p:cNvSpPr/>
            <p:nvPr/>
          </p:nvSpPr>
          <p:spPr>
            <a:xfrm rot="2734294">
              <a:off x="5110632" y="1867799"/>
              <a:ext cx="390684" cy="390684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59400" y="4324350"/>
              <a:ext cx="575400" cy="4887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x</a:t>
              </a:r>
              <a:r>
                <a:rPr lang="en-US" sz="2800" baseline="-25000" dirty="0"/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57400" y="2153803"/>
              <a:ext cx="575400" cy="4887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x</a:t>
              </a:r>
              <a:r>
                <a:rPr lang="en-US" sz="2800" baseline="-25000" dirty="0"/>
                <a:t>2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2733804" y="971550"/>
              <a:ext cx="0" cy="348766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2543696" y="4191562"/>
              <a:ext cx="3900248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Cross 19"/>
          <p:cNvSpPr/>
          <p:nvPr/>
        </p:nvSpPr>
        <p:spPr>
          <a:xfrm rot="2734294">
            <a:off x="6697734" y="3780161"/>
            <a:ext cx="418237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/>
          <p:cNvSpPr/>
          <p:nvPr/>
        </p:nvSpPr>
        <p:spPr>
          <a:xfrm rot="2734294">
            <a:off x="6668320" y="2863856"/>
            <a:ext cx="418237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/>
          <p:cNvSpPr/>
          <p:nvPr/>
        </p:nvSpPr>
        <p:spPr>
          <a:xfrm rot="2734294">
            <a:off x="7011158" y="3227997"/>
            <a:ext cx="418237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7121946" y="2546074"/>
            <a:ext cx="418237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424355" y="5451572"/>
            <a:ext cx="461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  <a:r>
              <a:rPr lang="en-US" sz="2800" baseline="-250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800" y="3127942"/>
            <a:ext cx="461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  <a:r>
              <a:rPr lang="en-US" sz="2800" baseline="-25000" dirty="0"/>
              <a:t>2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5038882" y="1862308"/>
            <a:ext cx="0" cy="373363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886246" y="5309417"/>
            <a:ext cx="313149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ross 27"/>
          <p:cNvSpPr/>
          <p:nvPr/>
        </p:nvSpPr>
        <p:spPr>
          <a:xfrm rot="2734294">
            <a:off x="7454744" y="3105861"/>
            <a:ext cx="418237" cy="31367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034919" y="4115045"/>
            <a:ext cx="234734" cy="3560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079585" y="4618363"/>
            <a:ext cx="234734" cy="3560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424355" y="4440317"/>
            <a:ext cx="234734" cy="3560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694870" y="4421667"/>
            <a:ext cx="234734" cy="3560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5784418" y="2358646"/>
            <a:ext cx="355600" cy="423761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469769" y="2844040"/>
            <a:ext cx="355600" cy="423761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5901785" y="2966176"/>
            <a:ext cx="355600" cy="423761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750304" y="996554"/>
            <a:ext cx="3256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Binary classification: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4636" y="996553"/>
            <a:ext cx="3256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Multi-class classification: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/>
              <p14:cNvContentPartPr/>
              <p14:nvPr/>
            </p14:nvContentPartPr>
            <p14:xfrm>
              <a:off x="1914840" y="1702440"/>
              <a:ext cx="6010920" cy="208944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905840" y="2257920"/>
                <a:ext cx="6029280" cy="280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255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/>
      <p:bldP spid="25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ross 19"/>
          <p:cNvSpPr/>
          <p:nvPr/>
        </p:nvSpPr>
        <p:spPr>
          <a:xfrm rot="2734294">
            <a:off x="2392838" y="2680608"/>
            <a:ext cx="324236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/>
          <p:cNvSpPr/>
          <p:nvPr/>
        </p:nvSpPr>
        <p:spPr>
          <a:xfrm rot="2734294">
            <a:off x="2370035" y="1970246"/>
            <a:ext cx="324236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/>
          <p:cNvSpPr/>
          <p:nvPr/>
        </p:nvSpPr>
        <p:spPr>
          <a:xfrm rot="2734294">
            <a:off x="2635819" y="2252545"/>
            <a:ext cx="324236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2721706" y="1723888"/>
            <a:ext cx="324236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180902" y="3976360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174976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1106822" y="1193800"/>
            <a:ext cx="0" cy="289448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88491" y="3866155"/>
            <a:ext cx="242767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ross 27"/>
          <p:cNvSpPr/>
          <p:nvPr/>
        </p:nvSpPr>
        <p:spPr>
          <a:xfrm rot="2734294">
            <a:off x="2979706" y="2157860"/>
            <a:ext cx="324236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878994" y="2940225"/>
            <a:ext cx="181976" cy="27605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913621" y="3330420"/>
            <a:ext cx="181976" cy="27605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180902" y="3192390"/>
            <a:ext cx="181976" cy="27605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615373" y="3177932"/>
            <a:ext cx="181976" cy="27605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1684796" y="1578583"/>
            <a:ext cx="275677" cy="32851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1440866" y="1954882"/>
            <a:ext cx="275677" cy="32851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1775783" y="2049567"/>
            <a:ext cx="275677" cy="32851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381001" y="381001"/>
            <a:ext cx="3256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One-</a:t>
            </a:r>
            <a:r>
              <a:rPr lang="en-US" sz="2400" b="1" dirty="0" err="1"/>
              <a:t>vs</a:t>
            </a:r>
            <a:r>
              <a:rPr lang="en-US" sz="2400" b="1" dirty="0"/>
              <a:t>-all (one-</a:t>
            </a:r>
            <a:r>
              <a:rPr lang="en-US" sz="2400" b="1" dirty="0" err="1"/>
              <a:t>vs</a:t>
            </a:r>
            <a:r>
              <a:rPr lang="en-US" sz="2400" b="1" dirty="0"/>
              <a:t>-rest):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037" y="4477473"/>
            <a:ext cx="2416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Class 1:</a:t>
            </a:r>
          </a:p>
          <a:p>
            <a:r>
              <a:rPr lang="en-US" sz="2400" dirty="0"/>
              <a:t>Class 2:</a:t>
            </a:r>
          </a:p>
          <a:p>
            <a:r>
              <a:rPr lang="en-US" sz="2400" dirty="0"/>
              <a:t>Class 3:</a:t>
            </a:r>
          </a:p>
        </p:txBody>
      </p:sp>
      <p:sp>
        <p:nvSpPr>
          <p:cNvPr id="40" name="Isosceles Triangle 39"/>
          <p:cNvSpPr/>
          <p:nvPr/>
        </p:nvSpPr>
        <p:spPr>
          <a:xfrm>
            <a:off x="2029731" y="4495800"/>
            <a:ext cx="275677" cy="328519"/>
          </a:xfrm>
          <a:prstGeom prst="triangl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/>
          <p:cNvSpPr/>
          <p:nvPr/>
        </p:nvSpPr>
        <p:spPr>
          <a:xfrm rot="2734294">
            <a:off x="2000356" y="5413299"/>
            <a:ext cx="324236" cy="243177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077948" y="4981743"/>
            <a:ext cx="181976" cy="27605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55" y="6079320"/>
            <a:ext cx="2631510" cy="49928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904" y="6244604"/>
            <a:ext cx="1107896" cy="320297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490159" y="1722844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38690" y="212178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152" name="Straight Arrow Connector 151"/>
          <p:cNvCxnSpPr/>
          <p:nvPr/>
        </p:nvCxnSpPr>
        <p:spPr>
          <a:xfrm flipV="1">
            <a:off x="6021434" y="222338"/>
            <a:ext cx="0" cy="183194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5946542" y="1913699"/>
            <a:ext cx="153649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Isosceles Triangle 153"/>
          <p:cNvSpPr/>
          <p:nvPr/>
        </p:nvSpPr>
        <p:spPr>
          <a:xfrm>
            <a:off x="6387240" y="465871"/>
            <a:ext cx="174479" cy="207923"/>
          </a:xfrm>
          <a:prstGeom prst="triangl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Isosceles Triangle 154"/>
          <p:cNvSpPr/>
          <p:nvPr/>
        </p:nvSpPr>
        <p:spPr>
          <a:xfrm>
            <a:off x="6232855" y="704033"/>
            <a:ext cx="174479" cy="207923"/>
          </a:xfrm>
          <a:prstGeom prst="triangl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Isosceles Triangle 155"/>
          <p:cNvSpPr/>
          <p:nvPr/>
        </p:nvSpPr>
        <p:spPr>
          <a:xfrm>
            <a:off x="6444828" y="763961"/>
            <a:ext cx="174479" cy="207923"/>
          </a:xfrm>
          <a:prstGeom prst="triangl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6835815" y="690388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/>
          <p:cNvSpPr/>
          <p:nvPr/>
        </p:nvSpPr>
        <p:spPr>
          <a:xfrm>
            <a:off x="7067961" y="532497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7013603" y="867089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/>
          <p:cNvSpPr/>
          <p:nvPr/>
        </p:nvSpPr>
        <p:spPr>
          <a:xfrm>
            <a:off x="6867574" y="1138312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/>
          <p:cNvSpPr/>
          <p:nvPr/>
        </p:nvSpPr>
        <p:spPr>
          <a:xfrm>
            <a:off x="7234414" y="809664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/>
          <p:cNvSpPr/>
          <p:nvPr/>
        </p:nvSpPr>
        <p:spPr>
          <a:xfrm>
            <a:off x="6493802" y="1287585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6317696" y="1463182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/>
          <p:cNvSpPr/>
          <p:nvPr/>
        </p:nvSpPr>
        <p:spPr>
          <a:xfrm>
            <a:off x="6508575" y="1563673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6699796" y="1468581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Arrow Connector 166"/>
          <p:cNvCxnSpPr/>
          <p:nvPr/>
        </p:nvCxnSpPr>
        <p:spPr>
          <a:xfrm flipV="1">
            <a:off x="3751780" y="1340874"/>
            <a:ext cx="1571420" cy="7086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7519211" y="3827669"/>
            <a:ext cx="381836" cy="4001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583366" y="2152271"/>
            <a:ext cx="381836" cy="4001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170" name="Straight Arrow Connector 169"/>
          <p:cNvCxnSpPr/>
          <p:nvPr/>
        </p:nvCxnSpPr>
        <p:spPr>
          <a:xfrm flipV="1">
            <a:off x="6027755" y="2244645"/>
            <a:ext cx="0" cy="183194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/>
          <p:nvPr/>
        </p:nvCxnSpPr>
        <p:spPr>
          <a:xfrm>
            <a:off x="5952863" y="3936005"/>
            <a:ext cx="153649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171"/>
          <p:cNvSpPr/>
          <p:nvPr/>
        </p:nvSpPr>
        <p:spPr>
          <a:xfrm>
            <a:off x="6516472" y="3349975"/>
            <a:ext cx="115175" cy="17472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/>
          <p:cNvSpPr/>
          <p:nvPr/>
        </p:nvSpPr>
        <p:spPr>
          <a:xfrm>
            <a:off x="6538388" y="3596932"/>
            <a:ext cx="115175" cy="17472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/>
          <p:cNvSpPr/>
          <p:nvPr/>
        </p:nvSpPr>
        <p:spPr>
          <a:xfrm>
            <a:off x="6707553" y="3509572"/>
            <a:ext cx="115175" cy="17472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/>
          <p:cNvSpPr/>
          <p:nvPr/>
        </p:nvSpPr>
        <p:spPr>
          <a:xfrm>
            <a:off x="6349623" y="3500421"/>
            <a:ext cx="115175" cy="17472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/>
          <p:cNvSpPr/>
          <p:nvPr/>
        </p:nvSpPr>
        <p:spPr>
          <a:xfrm>
            <a:off x="6241456" y="2742682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/>
          <p:cNvSpPr/>
          <p:nvPr/>
        </p:nvSpPr>
        <p:spPr>
          <a:xfrm>
            <a:off x="6472301" y="2818540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/>
          <p:cNvSpPr/>
          <p:nvPr/>
        </p:nvSpPr>
        <p:spPr>
          <a:xfrm>
            <a:off x="6413018" y="2513773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/>
          <p:cNvSpPr/>
          <p:nvPr/>
        </p:nvSpPr>
        <p:spPr>
          <a:xfrm>
            <a:off x="6851074" y="2716246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/>
          <p:cNvSpPr/>
          <p:nvPr/>
        </p:nvSpPr>
        <p:spPr>
          <a:xfrm>
            <a:off x="7083221" y="2558356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/>
          <p:cNvSpPr/>
          <p:nvPr/>
        </p:nvSpPr>
        <p:spPr>
          <a:xfrm>
            <a:off x="7028862" y="2892948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/>
          <p:cNvSpPr/>
          <p:nvPr/>
        </p:nvSpPr>
        <p:spPr>
          <a:xfrm>
            <a:off x="6882833" y="3164170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/>
          <p:cNvSpPr/>
          <p:nvPr/>
        </p:nvSpPr>
        <p:spPr>
          <a:xfrm>
            <a:off x="7249673" y="2835522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Arrow Connector 184"/>
          <p:cNvCxnSpPr/>
          <p:nvPr/>
        </p:nvCxnSpPr>
        <p:spPr>
          <a:xfrm>
            <a:off x="3751780" y="3135840"/>
            <a:ext cx="15714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6233952" y="4893152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/>
          <p:cNvSpPr/>
          <p:nvPr/>
        </p:nvSpPr>
        <p:spPr>
          <a:xfrm>
            <a:off x="6464798" y="4969009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/>
          <p:cNvSpPr/>
          <p:nvPr/>
        </p:nvSpPr>
        <p:spPr>
          <a:xfrm>
            <a:off x="6405515" y="4664242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/>
          <p:cNvSpPr/>
          <p:nvPr/>
        </p:nvSpPr>
        <p:spPr>
          <a:xfrm>
            <a:off x="6501558" y="5463913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/>
          <p:cNvSpPr/>
          <p:nvPr/>
        </p:nvSpPr>
        <p:spPr>
          <a:xfrm>
            <a:off x="6325452" y="5639510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/>
          <p:cNvSpPr/>
          <p:nvPr/>
        </p:nvSpPr>
        <p:spPr>
          <a:xfrm>
            <a:off x="6516331" y="5740001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6694852" y="5611042"/>
            <a:ext cx="153439" cy="20458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Cross 192"/>
          <p:cNvSpPr/>
          <p:nvPr/>
        </p:nvSpPr>
        <p:spPr>
          <a:xfrm rot="2734294">
            <a:off x="6846632" y="5293860"/>
            <a:ext cx="205212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Cross 193"/>
          <p:cNvSpPr/>
          <p:nvPr/>
        </p:nvSpPr>
        <p:spPr>
          <a:xfrm rot="2734294">
            <a:off x="6819499" y="4869666"/>
            <a:ext cx="205212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Cross 194"/>
          <p:cNvSpPr/>
          <p:nvPr/>
        </p:nvSpPr>
        <p:spPr>
          <a:xfrm rot="2734294">
            <a:off x="6987717" y="5048335"/>
            <a:ext cx="205212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Cross 195"/>
          <p:cNvSpPr/>
          <p:nvPr/>
        </p:nvSpPr>
        <p:spPr>
          <a:xfrm rot="2734294">
            <a:off x="7042076" y="4713743"/>
            <a:ext cx="205212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/>
          <p:cNvSpPr txBox="1"/>
          <p:nvPr/>
        </p:nvSpPr>
        <p:spPr>
          <a:xfrm>
            <a:off x="7467448" y="5991315"/>
            <a:ext cx="381836" cy="4001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613168" y="4341018"/>
            <a:ext cx="381836" cy="4001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</a:p>
        </p:txBody>
      </p:sp>
      <p:cxnSp>
        <p:nvCxnSpPr>
          <p:cNvPr id="199" name="Straight Arrow Connector 198"/>
          <p:cNvCxnSpPr/>
          <p:nvPr/>
        </p:nvCxnSpPr>
        <p:spPr>
          <a:xfrm flipV="1">
            <a:off x="6019998" y="4378245"/>
            <a:ext cx="0" cy="183194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/>
          <p:cNvCxnSpPr/>
          <p:nvPr/>
        </p:nvCxnSpPr>
        <p:spPr>
          <a:xfrm>
            <a:off x="5945106" y="6069605"/>
            <a:ext cx="153649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Cross 200"/>
          <p:cNvSpPr/>
          <p:nvPr/>
        </p:nvSpPr>
        <p:spPr>
          <a:xfrm rot="2734294">
            <a:off x="7205366" y="4988408"/>
            <a:ext cx="205212" cy="153909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traight Arrow Connector 202"/>
          <p:cNvCxnSpPr/>
          <p:nvPr/>
        </p:nvCxnSpPr>
        <p:spPr>
          <a:xfrm>
            <a:off x="3733800" y="4232953"/>
            <a:ext cx="1589400" cy="7283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H="1">
            <a:off x="6019800" y="457200"/>
            <a:ext cx="1066800" cy="12192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5943600" y="2971800"/>
            <a:ext cx="1371600" cy="6096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6705600" y="4600135"/>
            <a:ext cx="482991" cy="1209822"/>
          </a:xfrm>
          <a:custGeom>
            <a:avLst/>
            <a:gdLst>
              <a:gd name="connsiteX0" fmla="*/ 117231 w 482991"/>
              <a:gd name="connsiteY0" fmla="*/ 0 h 1209822"/>
              <a:gd name="connsiteX1" fmla="*/ 60960 w 482991"/>
              <a:gd name="connsiteY1" fmla="*/ 703385 h 1209822"/>
              <a:gd name="connsiteX2" fmla="*/ 482991 w 482991"/>
              <a:gd name="connsiteY2" fmla="*/ 1209822 h 1209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2991" h="1209822">
                <a:moveTo>
                  <a:pt x="117231" y="0"/>
                </a:moveTo>
                <a:cubicBezTo>
                  <a:pt x="58615" y="250874"/>
                  <a:pt x="0" y="501748"/>
                  <a:pt x="60960" y="703385"/>
                </a:cubicBezTo>
                <a:cubicBezTo>
                  <a:pt x="121920" y="905022"/>
                  <a:pt x="302455" y="1057422"/>
                  <a:pt x="482991" y="1209822"/>
                </a:cubicBezTo>
              </a:path>
            </a:pathLst>
          </a:cu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/>
      <p:bldP spid="151" grpId="0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8" grpId="0"/>
      <p:bldP spid="169" grpId="0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/>
      <p:bldP spid="198" grpId="0"/>
      <p:bldP spid="201" grpId="0" animBg="1"/>
      <p:bldP spid="8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8100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One-</a:t>
            </a:r>
            <a:r>
              <a:rPr lang="en-US" sz="2800" b="1" dirty="0" err="1"/>
              <a:t>vs</a:t>
            </a:r>
            <a:r>
              <a:rPr lang="en-US" sz="2800" b="1" dirty="0"/>
              <a:t>-all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397001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 a logistic regression classifier               for each class    to predict the probability that          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3130154"/>
            <a:ext cx="7315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On a new input    , to make a prediction, pick the class    that maximizes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212" y="1219200"/>
            <a:ext cx="970788" cy="6471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022" y="1905000"/>
            <a:ext cx="96012" cy="3200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1" y="1828800"/>
            <a:ext cx="754761" cy="4124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1" y="3291840"/>
            <a:ext cx="178689" cy="2133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32" y="3642360"/>
            <a:ext cx="96012" cy="3200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63" y="4532120"/>
            <a:ext cx="1696212" cy="80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8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  <a:p>
            <a:pPr lvl="1"/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classification </a:t>
            </a:r>
            <a:r>
              <a:rPr lang="en-US" dirty="0"/>
              <a:t>problems</a:t>
            </a:r>
          </a:p>
          <a:p>
            <a:pPr lvl="1"/>
            <a:r>
              <a:rPr lang="en-US" dirty="0"/>
              <a:t>simple optimization (similar to linear regression)</a:t>
            </a:r>
          </a:p>
          <a:p>
            <a:pPr lvl="1"/>
            <a:r>
              <a:rPr lang="en-US" dirty="0"/>
              <a:t>probabilistic output</a:t>
            </a:r>
          </a:p>
          <a:p>
            <a:pPr lvl="1"/>
            <a:r>
              <a:rPr lang="en-US" dirty="0"/>
              <a:t>non-linear decision boundaries </a:t>
            </a:r>
          </a:p>
        </p:txBody>
      </p:sp>
    </p:spTree>
    <p:extLst>
      <p:ext uri="{BB962C8B-B14F-4D97-AF65-F5344CB8AC3E}">
        <p14:creationId xmlns:p14="http://schemas.microsoft.com/office/powerpoint/2010/main" val="31757226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y \in \{0,1\}&#10;$&#10;&#10;\end{document}"/>
  <p:tag name="IGUANATEXSIZE" val="3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lt; 0.5&#10;$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\ge 0.5&#10;$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lt; 0.5&#10;$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\ge 0.5&#10;$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0 \le h_\theta(x) \le 1&#10;$&#10;&#10;\end{document}"/>
  <p:tag name="IGUANATEXSIZE" val="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 \quad\,\theta^Tx&#10;$&#10;&#10;\end{document}"/>
  <p:tag name="IGUANATEXSIZE" val="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 g(\;\theta^Tx\;)&#10;$&#10;&#10;\end{document}"/>
  <p:tag name="IGUANATEXSIZE" val="3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g(z) = \frac{1}{1+e^{-z}}&#10;$&#10;&#10;\end{document}"/>
  <p:tag name="IGUANATEXSIZE" val="3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0 \le h_\theta(x) \le 1&#10;$&#10;&#10;\end{document}"/>
  <p:tag name="IGUANATEXSIZE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displaystyle&#10;x = \left[ &#10;\begin{array}{c}&#10;x_0 \\&#10;x_1 &#10;\end{array}&#10;\right]&#10;$&#10;$&#10;= \left[ &#10;\begin{array}{c}&#10;1 \\&#10;\mathrm{tumorSize}&#10;\end{array}&#10;\right]&#10;$&#10;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0.7&#10;$&#10;&#10;\end{document}"/>
  <p:tag name="IGUANATEXSIZE" val="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 \displaystyle&#10;P(y=0 |x;\theta) + P(y=1 |x;\theta) = 1&#10;$&#10;&#10;&#10;$ \displaystyle&#10;P(y=0 |x;\theta) = 1 - P(y=1 |x;\theta) &#10;$&#10;&#10;&#10;\end{document}"/>
  <p:tag name="IGUANATEXSIZE" val="3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^Tx)&#10;$&#10;&#10;\end{document}"/>
  <p:tag name="IGUANATEXSIZE" val="2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z) = \frac{1}{1+e^{-z}}&#10;$&#10;&#10;\end{document}"/>
  <p:tag name="IGUANATEXSIZE" val="2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\geq 0.5&#10;$&#10;&#10;\end{document}"/>
  <p:tag name="IGUANATEXSIZE" val="2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0&#10;$&#10;&#10;\end{document}"/>
  <p:tag name="IGUANATEXSIZE" val="2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&lt; 0.5&#10;$&#10;&#10;\end{document}"/>
  <p:tag name="IGUANATEXSIZE" val="2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z) &#10;$&#10;&#10;\end{document}"/>
  <p:tag name="IGUANATEXSIZE" val="2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)&#10;$&#10;&#10;\end{document}"/>
  <p:tag name="IGUANATEXSIZE" val="2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-3 + x_1 + x_2 \geq 0&#10;$&#10;&#10;\end{document}"/>
  <p:tag name="IGUANATEXSIZE" val="2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{ (x^{(1)},y^{(1)}), (x^{(2)},y^{(2)}), \cdots, (x^{(m)},y^{(m)})\}&#10;$&#10;&#10;\end{document}"/>
  <p:tag name="IGUANATEXSIZE" val="3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displaystyle&#10;x \in \left[ &#10;\begin{array}{c}&#10;x_0 \\&#10;x_1 \\&#10;\cdots \\&#10;x_n&#10;\end{array}&#10;\right]&#10;$&#10;&#10;&#10;\end{document}"/>
  <p:tag name="IGUANATEXSIZE" val="3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x_0 = 1, y\in\{0,1\}&#10;$&#10;&#10;&#10;\end{document}"/>
  <p:tag name="IGUANATEXSIZE" val="3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 = \frac{1}{1+e^{-\theta^Tx}}&#10;$&#10;&#10;\end{document}"/>
  <p:tag name="IGUANATEXSIZE" val="3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frac{1}{2} \left( h_\theta(x^{(i)}) - y^{(i)} \right)^2&#10;$&#10;% \delta_i^{(l)} = \left(\sum_j W_{ji}^{(l)} \delta_j^{(l+1)}\right) f'(z_i^{(l)})&#10;&#10;&#10;&#10;\end{document}"/>
  <p:tag name="IGUANATEXSIZE" val="2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^{(i)}),y^{(i)}) = \frac{1}{2} \left( h_\theta(x^{(i)}) - y^{(i)} \right)^2&#10;$&#10;% \delta_i^{(l)} = \left(\sum_j W_{ji}^{(l)} \delta_j^{(l+1)}\right) f'(z_i^{(l)})&#10;&#10;&#10;&#10;\end{document}"/>
  <p:tag name="IGUANATEXSIZE" val="2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\theta&#10;$&#10;&#10;\end{document}"/>
  <p:tag name="IGUANATEXSIZE" val="3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J(\theta)&#10;$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Cost = 0 if &#10;$ \displaystyle&#10;y = 1, h_\theta(x) = 1&#10;$&#10;&#10;\begin{tabular}{ll}&#10;But as &amp; &#10;$ \displaystyle&#10;h_\theta(x) \rightarrow 0&#10;$&#10;\\&#10;&amp;&#10;$ \displaystyle&#10;Cost \rightarrow \infty&#10;$&#10;\end{tabular}&#10;&#10;\hspace{3mm}&#10;&#10;Captures intuition that if $h_\theta(x) = 0$,&#10;&#10;(predict $P(y=1|x;\theta) = 0)$, but $y=1$, &#10;&#10;we'll penalize learning algorithm by a very &#10;&#10;large cost.&#10;&#10;\end{document}"/>
  <p:tag name="IGUANATEXSIZE" val="2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isplaystyle&#10;h_\theta(x)&#10;$&#10;&#10;\end{document}"/>
  <p:tag name="IGUANATEXSIZE" val="3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 = -\frac{1}{m}[ \sum\limits^{m}_{i=1} y^{(i)} \log {h_\theta(x^{(i)})}+ (1-y^{(i)}) \log {(1 - h_\theta(x^{(i)})})]&#10;$&#10;% \delta_i^{(l)} = \left(\sum_j W_{ji}^{(l)} \delta_j^{(l+1)}\right) f'(z_i^{(l)})&#10;&#10;&#10;&#10;\end{document}"/>
  <p:tag name="IGUANATEXSIZE" val="2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\frac{1}{m} \sum\limits^{m}_{i=1} \mathrm{Cost}(h_\theta(x^{(i)}),y^{(i)}) &#10;$&#10;% \delta_i^{(l)} = \left(\sum_j W_{ji}^{(l)} \delta_j^{(l+1)}\right) f'(z_i^{(l)})&#10;&#10;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&#10;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\[&#10;\min_\theta J(\theta)&#10;\]&#10;&#10;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&#10;$&#10;&#10;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frac{1}{1 + e^{- \theta^Tx}}&#10;$&#10;&#10;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athrm{Cost}(h_\theta(x),y) = &#10;\left\{ \begin{array}{rl}&#10;- \mathrm{log}(h_\theta(x)) &amp;\mbox{if $y = 1$} \\&#10;- \mathrm{log}(1-h_\theta(x)) &amp;\mbox{if $y = 0$} &#10;\end{array} \right.&#10;$&#10;% \delta_i^{(l)} = \left(\sum_j W_{ji}^{(l)} \delta_j^{(l+1)}\right) f'(z_i^{(l)})&#10;&#10;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in_\theta J(\theta)&#10;$&#10;&#10;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-\frac{1}{m}[ \sum\limits^{m}_{i=1} y^{(i)} \log {h_\theta(x^{(i)})}+ (1-y^{(i)}) \log {(1 - h_\theta(x^{(i)})})]&#10;$&#10;% \delta_i^{(l)} = \left(\sum_j W_{ji}^{(l)} \delta_j^{(l+1)}\right) f'(z_i^{(l)})&#10;&#10;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theta_j := \theta_j - \alpha &#10;\frac{\partial}{\partial \theta_j} J(\theta)&#10;$&#10;&#10;\end{document}"/>
  <p:tag name="IGUANATEXSIZE" val="2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j$&#10;\end{document}"/>
  <p:tag name="IGUANATEXSIZE" val="2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frac{1}{1 + e^{- \theta^Tx}}&#10;$&#10;&#10;&#10;&#10;\end{document}"/>
  <p:tag name="IGUANATEXSIZE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&#10;\theta_j := \theta_j - \alpha \sum\limits^{m}_{i=1} (h_\theta (x^{(i)}) - y^{(i)}) x_j^{(i)}&#10;$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in_\theta J(\theta)&#10;$&#10;&#10;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 = -\frac{1}{m}[ \sum\limits^{m}_{i=1} y^{(i)} \log {h_\theta(x^{(i)})}+ (1-y^{(i)}) \log {(1 - h_\theta(x^{(i)})})]&#10;$&#10;% \delta_i^{(l)} = \left(\sum_j W_{ji}^{(l)} \delta_j^{(l+1)}\right) f'(z_i^{(l)})&#10;&#10;&#10;&#10;\end{document}"/>
  <p:tag name="IGUANATEXSIZE" val="2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j$&#10;\end{document}"/>
  <p:tag name="IGUANATEXSIZE" val="2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&#10;&#10;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min_\theta J(\theta)&#10;$&#10;&#10;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&#10;&#10;&#10;\end{document}"/>
  <p:tag name="IGUANATEXSIZE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&#10;&#10;&#10;&#10;\end{document}"/>
  <p:tag name="IGUANATEXSIZE" val="2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j}J(\theta)&#10;$&#10;&#10;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 = 0, 1, \dots, n&#10;$&#10;&#10;&#10;&#10;\end{document}"/>
  <p:tag name="IGUANATEXSIZE" val="2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theta_j := \theta_j - \alpha &#10;\frac{\partial}{\partial \theta_j} J(\theta)&#10;$&#10;&#10;\end{document}"/>
  <p:tag name="IGUANATEXSIZE" val="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&#10;$&#10;&#10;&#10;&#10;\end{document}"/>
  <p:tag name="IGUANATEXSIZE" val="2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)&#10;$&#10;&#10;&#10;&#10;\end{document}"/>
  <p:tag name="IGUANATEXSIZE" val="2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frac{\partial}{\partial\theta_j}J(\theta)&#10;$&#10;&#10;&#10;&#10;\end{document}"/>
  <p:tag name="IGUANATEXSIZE" val="2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 = 0, 1, \dots, n&#10;$&#10;&#10;&#10;&#10;\end{document}"/>
  <p:tag name="IGUANATEXSIZE" val="2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^{(i)}(x) = P(y=i|x;\theta)&#10;$&#10;&#10;&#10;\end{document}"/>
  <p:tag name="IGUANATEXSIZE" val="2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  (i=1,2,3)$&#10;&#10;&#10;\end{document}"/>
  <p:tag name="IGUANATEXSIZE" val="2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^{(i)}(x)&#10;$&#10;\end{document}"/>
  <p:tag name="IGUANATEXSIZE" val="2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\end{document}"/>
  <p:tag name="IGUANATEXSIZE" val="2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i&#10;$&#10;\end{document}"/>
  <p:tag name="IGUANATEXSIZE" val="2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&#10;$&#10;\end{document}"/>
  <p:tag name="IGUANATEXSIZE" val="2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\end{document}"/>
  <p:tag name="IGUANATEXSIZE" val="2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displaystyle&#10;\max_i h_\theta^{(i)}(x)&#10;$&#10;\end{document}"/>
  <p:tag name="IGUANATEXSIZE" val="2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3" ma:contentTypeDescription="Create a new document." ma:contentTypeScope="" ma:versionID="c56093a13bcf6bf1569280f252a463a7">
  <xsd:schema xmlns:xsd="http://www.w3.org/2001/XMLSchema" xmlns:xs="http://www.w3.org/2001/XMLSchema" xmlns:p="http://schemas.microsoft.com/office/2006/metadata/properties" xmlns:ns2="82062c1e-dd8f-4268-9e54-b0572c0891a6" targetNamespace="http://schemas.microsoft.com/office/2006/metadata/properties" ma:root="true" ma:fieldsID="66ec99b637a5ba745fffa7bcfec8d45f" ns2:_="">
    <xsd:import namespace="82062c1e-dd8f-4268-9e54-b0572c0891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62c1e-dd8f-4268-9e54-b0572c0891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9739B40-D288-40CA-89C9-B08AFC5BF42F}"/>
</file>

<file path=customXml/itemProps2.xml><?xml version="1.0" encoding="utf-8"?>
<ds:datastoreItem xmlns:ds="http://schemas.openxmlformats.org/officeDocument/2006/customXml" ds:itemID="{8C4812CE-C3D4-41E1-9E5B-BDAC30BE3CAB}"/>
</file>

<file path=customXml/itemProps3.xml><?xml version="1.0" encoding="utf-8"?>
<ds:datastoreItem xmlns:ds="http://schemas.openxmlformats.org/officeDocument/2006/customXml" ds:itemID="{54293219-C14B-4420-9CEC-F8DE5C5F46C2}"/>
</file>

<file path=docProps/app.xml><?xml version="1.0" encoding="utf-8"?>
<Properties xmlns="http://schemas.openxmlformats.org/officeDocument/2006/extended-properties" xmlns:vt="http://schemas.openxmlformats.org/officeDocument/2006/docPropsVTypes">
  <TotalTime>1020</TotalTime>
  <Words>848</Words>
  <Application>Microsoft Office PowerPoint</Application>
  <PresentationFormat>On-screen Show (4:3)</PresentationFormat>
  <Paragraphs>179</Paragraphs>
  <Slides>35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 Math</vt:lpstr>
      <vt:lpstr>Office Theme</vt:lpstr>
      <vt:lpstr>Equation</vt:lpstr>
      <vt:lpstr>Machine Learning - RIME-832 Classification with Logistic Regression</vt:lpstr>
      <vt:lpstr>PowerPoint Presentation</vt:lpstr>
      <vt:lpstr>Consider linear regression again</vt:lpstr>
      <vt:lpstr>PowerPoint Presentation</vt:lpstr>
      <vt:lpstr>An easy 1D classification problem</vt:lpstr>
      <vt:lpstr>First Order Linear Regression Fit</vt:lpstr>
      <vt:lpstr>Second Order Fit</vt:lpstr>
      <vt:lpstr>Third Order Fit</vt:lpstr>
      <vt:lpstr>Third Order Fit + One More Point</vt:lpstr>
      <vt:lpstr>The same problem in 2D</vt:lpstr>
      <vt:lpstr>Hypothesis Representation and Loss Function</vt:lpstr>
      <vt:lpstr>PowerPoint Presentation</vt:lpstr>
      <vt:lpstr>PowerPoint Presentation</vt:lpstr>
      <vt:lpstr>Decision boundary</vt:lpstr>
      <vt:lpstr>PowerPoint Presentation</vt:lpstr>
      <vt:lpstr>PowerPoint Presentation</vt:lpstr>
      <vt:lpstr>PowerPoint Presentation</vt:lpstr>
      <vt:lpstr>Solving for the 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Computation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RIME-832</dc:title>
  <dc:creator>Hasan</dc:creator>
  <cp:lastModifiedBy>Jawad Khan</cp:lastModifiedBy>
  <cp:revision>25</cp:revision>
  <dcterms:created xsi:type="dcterms:W3CDTF">2006-08-16T00:00:00Z</dcterms:created>
  <dcterms:modified xsi:type="dcterms:W3CDTF">2025-10-06T14:09:32Z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0x0101002419A45FDF435D4CA9F3A585DD4ABEB3</vt:lpwstr>
  </property>
</Properties>
</file>