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552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7083" y="2739643"/>
            <a:ext cx="7444233" cy="1122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rgbClr val="854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854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854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854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45720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F9FA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39" y="378968"/>
            <a:ext cx="8696960" cy="694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rgbClr val="854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39" y="1532635"/>
            <a:ext cx="4446270" cy="3806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28.png"/><Relationship Id="rId12" Type="http://schemas.openxmlformats.org/officeDocument/2006/relationships/image" Target="../media/image26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307083" y="2739643"/>
            <a:ext cx="744423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1330" marR="5080" indent="-1739264" algn="ctr">
              <a:lnSpc>
                <a:spcPct val="100000"/>
              </a:lnSpc>
              <a:spcBef>
                <a:spcPts val="100"/>
              </a:spcBef>
            </a:pPr>
            <a:r>
              <a:rPr lang="en-US" sz="3600" dirty="0"/>
              <a:t>Discriminant Analysis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Representation</a:t>
            </a:r>
            <a:r>
              <a:rPr spc="-50" dirty="0"/>
              <a:t> </a:t>
            </a:r>
            <a:r>
              <a:rPr dirty="0"/>
              <a:t>vs.</a:t>
            </a:r>
            <a:r>
              <a:rPr spc="-50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Classification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0668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599" y="0"/>
                </a:lnTo>
              </a:path>
            </a:pathLst>
          </a:custGeom>
          <a:ln w="28955">
            <a:solidFill>
              <a:srgbClr val="854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371600" y="3368039"/>
            <a:ext cx="2514600" cy="2056130"/>
            <a:chOff x="1371600" y="3368039"/>
            <a:chExt cx="2514600" cy="2056130"/>
          </a:xfrm>
        </p:grpSpPr>
        <p:sp>
          <p:nvSpPr>
            <p:cNvPr id="5" name="object 5"/>
            <p:cNvSpPr/>
            <p:nvPr/>
          </p:nvSpPr>
          <p:spPr>
            <a:xfrm>
              <a:off x="1524000" y="3486911"/>
              <a:ext cx="0" cy="1937385"/>
            </a:xfrm>
            <a:custGeom>
              <a:avLst/>
              <a:gdLst/>
              <a:ahLst/>
              <a:cxnLst/>
              <a:rect l="l" t="t" r="r" b="b"/>
              <a:pathLst>
                <a:path h="1937385">
                  <a:moveTo>
                    <a:pt x="0" y="1937003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63039" y="3368039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443" y="123443"/>
                  </a:moveTo>
                  <a:lnTo>
                    <a:pt x="60959" y="0"/>
                  </a:lnTo>
                  <a:lnTo>
                    <a:pt x="0" y="123443"/>
                  </a:lnTo>
                  <a:lnTo>
                    <a:pt x="123443" y="1234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71600" y="5271515"/>
              <a:ext cx="2394585" cy="0"/>
            </a:xfrm>
            <a:custGeom>
              <a:avLst/>
              <a:gdLst/>
              <a:ahLst/>
              <a:cxnLst/>
              <a:rect l="l" t="t" r="r" b="b"/>
              <a:pathLst>
                <a:path w="2394585">
                  <a:moveTo>
                    <a:pt x="0" y="0"/>
                  </a:moveTo>
                  <a:lnTo>
                    <a:pt x="2394203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2755" y="521055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443" y="62483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123443" y="624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76400" y="3899915"/>
              <a:ext cx="609600" cy="1295400"/>
            </a:xfrm>
            <a:custGeom>
              <a:avLst/>
              <a:gdLst/>
              <a:ahLst/>
              <a:cxnLst/>
              <a:rect l="l" t="t" r="r" b="b"/>
              <a:pathLst>
                <a:path w="609600" h="1295400">
                  <a:moveTo>
                    <a:pt x="228600" y="609600"/>
                  </a:moveTo>
                  <a:lnTo>
                    <a:pt x="0" y="609600"/>
                  </a:lnTo>
                  <a:lnTo>
                    <a:pt x="0" y="838200"/>
                  </a:lnTo>
                  <a:lnTo>
                    <a:pt x="228600" y="838200"/>
                  </a:lnTo>
                  <a:lnTo>
                    <a:pt x="228600" y="609600"/>
                  </a:lnTo>
                  <a:close/>
                </a:path>
                <a:path w="609600" h="1295400">
                  <a:moveTo>
                    <a:pt x="228600" y="152400"/>
                  </a:moveTo>
                  <a:lnTo>
                    <a:pt x="0" y="152400"/>
                  </a:lnTo>
                  <a:lnTo>
                    <a:pt x="0" y="381000"/>
                  </a:lnTo>
                  <a:lnTo>
                    <a:pt x="228600" y="381000"/>
                  </a:lnTo>
                  <a:lnTo>
                    <a:pt x="228600" y="152400"/>
                  </a:lnTo>
                  <a:close/>
                </a:path>
                <a:path w="609600" h="1295400">
                  <a:moveTo>
                    <a:pt x="304800" y="990600"/>
                  </a:moveTo>
                  <a:lnTo>
                    <a:pt x="76200" y="990600"/>
                  </a:lnTo>
                  <a:lnTo>
                    <a:pt x="76200" y="1219200"/>
                  </a:lnTo>
                  <a:lnTo>
                    <a:pt x="304800" y="1219200"/>
                  </a:lnTo>
                  <a:lnTo>
                    <a:pt x="304800" y="990600"/>
                  </a:lnTo>
                  <a:close/>
                </a:path>
                <a:path w="609600" h="1295400">
                  <a:moveTo>
                    <a:pt x="533400" y="533400"/>
                  </a:moveTo>
                  <a:lnTo>
                    <a:pt x="304800" y="533400"/>
                  </a:lnTo>
                  <a:lnTo>
                    <a:pt x="304800" y="762000"/>
                  </a:lnTo>
                  <a:lnTo>
                    <a:pt x="533400" y="762000"/>
                  </a:lnTo>
                  <a:lnTo>
                    <a:pt x="533400" y="533400"/>
                  </a:lnTo>
                  <a:close/>
                </a:path>
                <a:path w="609600" h="1295400">
                  <a:moveTo>
                    <a:pt x="533400" y="0"/>
                  </a:moveTo>
                  <a:lnTo>
                    <a:pt x="304800" y="0"/>
                  </a:lnTo>
                  <a:lnTo>
                    <a:pt x="304800" y="228600"/>
                  </a:lnTo>
                  <a:lnTo>
                    <a:pt x="533400" y="228600"/>
                  </a:lnTo>
                  <a:lnTo>
                    <a:pt x="533400" y="0"/>
                  </a:lnTo>
                  <a:close/>
                </a:path>
                <a:path w="609600" h="1295400">
                  <a:moveTo>
                    <a:pt x="609600" y="1066800"/>
                  </a:moveTo>
                  <a:lnTo>
                    <a:pt x="381000" y="1066800"/>
                  </a:lnTo>
                  <a:lnTo>
                    <a:pt x="381000" y="1295400"/>
                  </a:lnTo>
                  <a:lnTo>
                    <a:pt x="609600" y="1295400"/>
                  </a:lnTo>
                  <a:lnTo>
                    <a:pt x="609600" y="1066800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1675" y="4888991"/>
              <a:ext cx="228599" cy="2285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6475" y="4812791"/>
              <a:ext cx="228599" cy="2285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7875" y="4507991"/>
              <a:ext cx="228599" cy="2285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2675" y="4279391"/>
              <a:ext cx="228599" cy="2285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7875" y="3974591"/>
              <a:ext cx="228599" cy="2285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2675" y="3822191"/>
              <a:ext cx="228599" cy="228599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4302251" y="4280915"/>
            <a:ext cx="1981200" cy="381000"/>
          </a:xfrm>
          <a:custGeom>
            <a:avLst/>
            <a:gdLst/>
            <a:ahLst/>
            <a:cxnLst/>
            <a:rect l="l" t="t" r="r" b="b"/>
            <a:pathLst>
              <a:path w="1981200" h="381000">
                <a:moveTo>
                  <a:pt x="1485899" y="0"/>
                </a:moveTo>
                <a:lnTo>
                  <a:pt x="1485899" y="96011"/>
                </a:lnTo>
                <a:lnTo>
                  <a:pt x="0" y="96011"/>
                </a:lnTo>
                <a:lnTo>
                  <a:pt x="0" y="286511"/>
                </a:lnTo>
                <a:lnTo>
                  <a:pt x="1485899" y="286511"/>
                </a:lnTo>
                <a:lnTo>
                  <a:pt x="1485899" y="380999"/>
                </a:lnTo>
                <a:lnTo>
                  <a:pt x="1981199" y="190499"/>
                </a:lnTo>
                <a:lnTo>
                  <a:pt x="1485899" y="0"/>
                </a:lnTo>
                <a:close/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76062" y="3885690"/>
            <a:ext cx="1548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apply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5" dirty="0">
                <a:solidFill>
                  <a:srgbClr val="643100"/>
                </a:solidFill>
                <a:latin typeface="Arial"/>
                <a:cs typeface="Arial"/>
              </a:rPr>
              <a:t>PCA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8339" y="4630926"/>
            <a:ext cx="8297545" cy="191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5225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to</a:t>
            </a:r>
            <a:r>
              <a:rPr sz="2400" b="1" i="1" spc="-3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each</a:t>
            </a:r>
            <a:r>
              <a:rPr sz="2400" b="1" i="1" spc="-3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65"/>
              </a:spcBef>
            </a:pPr>
            <a:endParaRPr sz="2400">
              <a:latin typeface="Arial"/>
              <a:cs typeface="Arial"/>
            </a:endParaRPr>
          </a:p>
          <a:p>
            <a:pPr marL="622300" marR="5080" indent="-609600">
              <a:lnSpc>
                <a:spcPct val="100400"/>
              </a:lnSpc>
              <a:buClr>
                <a:srgbClr val="854300"/>
              </a:buClr>
              <a:buFont typeface="Microsoft Sans Serif"/>
              <a:buChar char="▪"/>
              <a:tabLst>
                <a:tab pos="622300" algn="l"/>
              </a:tabLst>
            </a:pPr>
            <a:r>
              <a:rPr sz="2800" dirty="0">
                <a:latin typeface="Arial MT"/>
                <a:cs typeface="Arial MT"/>
              </a:rPr>
              <a:t>Fisher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Linear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Discriminant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which </a:t>
            </a:r>
            <a:r>
              <a:rPr sz="2800" dirty="0">
                <a:latin typeface="Arial MT"/>
                <a:cs typeface="Arial MT"/>
              </a:rPr>
              <a:t>preserves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direction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useful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6400"/>
                </a:solidFill>
                <a:latin typeface="Arial"/>
                <a:cs typeface="Arial"/>
              </a:rPr>
              <a:t>data</a:t>
            </a:r>
            <a:r>
              <a:rPr sz="2800" i="1" spc="-55" dirty="0">
                <a:solidFill>
                  <a:srgbClr val="0064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006400"/>
                </a:solidFill>
                <a:latin typeface="Arial"/>
                <a:cs typeface="Arial"/>
              </a:rPr>
              <a:t>classification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81800" y="4355591"/>
            <a:ext cx="2514600" cy="230504"/>
            <a:chOff x="6781800" y="4355591"/>
            <a:chExt cx="2514600" cy="230504"/>
          </a:xfrm>
        </p:grpSpPr>
        <p:sp>
          <p:nvSpPr>
            <p:cNvPr id="20" name="object 20"/>
            <p:cNvSpPr/>
            <p:nvPr/>
          </p:nvSpPr>
          <p:spPr>
            <a:xfrm>
              <a:off x="6781800" y="4509515"/>
              <a:ext cx="2394585" cy="0"/>
            </a:xfrm>
            <a:custGeom>
              <a:avLst/>
              <a:gdLst/>
              <a:ahLst/>
              <a:cxnLst/>
              <a:rect l="l" t="t" r="r" b="b"/>
              <a:pathLst>
                <a:path w="2394584">
                  <a:moveTo>
                    <a:pt x="0" y="0"/>
                  </a:moveTo>
                  <a:lnTo>
                    <a:pt x="251459" y="0"/>
                  </a:lnTo>
                </a:path>
                <a:path w="2394584">
                  <a:moveTo>
                    <a:pt x="480059" y="0"/>
                  </a:moveTo>
                  <a:lnTo>
                    <a:pt x="597407" y="0"/>
                  </a:lnTo>
                </a:path>
                <a:path w="2394584">
                  <a:moveTo>
                    <a:pt x="826007" y="0"/>
                  </a:moveTo>
                  <a:lnTo>
                    <a:pt x="943355" y="0"/>
                  </a:lnTo>
                </a:path>
                <a:path w="2394584">
                  <a:moveTo>
                    <a:pt x="1344167" y="0"/>
                  </a:moveTo>
                  <a:lnTo>
                    <a:pt x="1635251" y="0"/>
                  </a:lnTo>
                </a:path>
                <a:path w="2394584">
                  <a:moveTo>
                    <a:pt x="1863851" y="0"/>
                  </a:moveTo>
                  <a:lnTo>
                    <a:pt x="1981199" y="0"/>
                  </a:lnTo>
                </a:path>
                <a:path w="2394584">
                  <a:moveTo>
                    <a:pt x="2209799" y="0"/>
                  </a:moveTo>
                  <a:lnTo>
                    <a:pt x="2394203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72955" y="444855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443" y="62483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123443" y="624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33260" y="4357115"/>
              <a:ext cx="1958339" cy="228600"/>
            </a:xfrm>
            <a:custGeom>
              <a:avLst/>
              <a:gdLst/>
              <a:ahLst/>
              <a:cxnLst/>
              <a:rect l="l" t="t" r="r" b="b"/>
              <a:pathLst>
                <a:path w="195834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  <a:path w="1958340" h="228600">
                  <a:moveTo>
                    <a:pt x="574548" y="0"/>
                  </a:moveTo>
                  <a:lnTo>
                    <a:pt x="345948" y="0"/>
                  </a:lnTo>
                  <a:lnTo>
                    <a:pt x="345948" y="228600"/>
                  </a:lnTo>
                  <a:lnTo>
                    <a:pt x="574548" y="228600"/>
                  </a:lnTo>
                  <a:lnTo>
                    <a:pt x="574548" y="0"/>
                  </a:lnTo>
                  <a:close/>
                </a:path>
                <a:path w="1958340" h="228600">
                  <a:moveTo>
                    <a:pt x="1092708" y="0"/>
                  </a:moveTo>
                  <a:lnTo>
                    <a:pt x="920496" y="0"/>
                  </a:lnTo>
                  <a:lnTo>
                    <a:pt x="864108" y="0"/>
                  </a:lnTo>
                  <a:lnTo>
                    <a:pt x="691896" y="0"/>
                  </a:lnTo>
                  <a:lnTo>
                    <a:pt x="691896" y="228600"/>
                  </a:lnTo>
                  <a:lnTo>
                    <a:pt x="864108" y="228600"/>
                  </a:lnTo>
                  <a:lnTo>
                    <a:pt x="920496" y="228600"/>
                  </a:lnTo>
                  <a:lnTo>
                    <a:pt x="1092708" y="228600"/>
                  </a:lnTo>
                  <a:lnTo>
                    <a:pt x="1092708" y="0"/>
                  </a:lnTo>
                  <a:close/>
                </a:path>
                <a:path w="1958340" h="228600">
                  <a:moveTo>
                    <a:pt x="1612392" y="0"/>
                  </a:moveTo>
                  <a:lnTo>
                    <a:pt x="1383792" y="0"/>
                  </a:lnTo>
                  <a:lnTo>
                    <a:pt x="1383792" y="228600"/>
                  </a:lnTo>
                  <a:lnTo>
                    <a:pt x="1612392" y="228600"/>
                  </a:lnTo>
                  <a:lnTo>
                    <a:pt x="1612392" y="0"/>
                  </a:lnTo>
                  <a:close/>
                </a:path>
                <a:path w="1958340" h="228600">
                  <a:moveTo>
                    <a:pt x="1958340" y="0"/>
                  </a:moveTo>
                  <a:lnTo>
                    <a:pt x="1729740" y="0"/>
                  </a:lnTo>
                  <a:lnTo>
                    <a:pt x="1729740" y="228600"/>
                  </a:lnTo>
                  <a:lnTo>
                    <a:pt x="1958340" y="228600"/>
                  </a:lnTo>
                  <a:lnTo>
                    <a:pt x="1958340" y="0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56476" y="4355591"/>
              <a:ext cx="1960245" cy="228600"/>
            </a:xfrm>
            <a:custGeom>
              <a:avLst/>
              <a:gdLst/>
              <a:ahLst/>
              <a:cxnLst/>
              <a:rect l="l" t="t" r="r" b="b"/>
              <a:pathLst>
                <a:path w="1960245" h="228600">
                  <a:moveTo>
                    <a:pt x="228600" y="114300"/>
                  </a:moveTo>
                  <a:lnTo>
                    <a:pt x="219519" y="70091"/>
                  </a:lnTo>
                  <a:lnTo>
                    <a:pt x="194881" y="33718"/>
                  </a:lnTo>
                  <a:lnTo>
                    <a:pt x="158508" y="9080"/>
                  </a:lnTo>
                  <a:lnTo>
                    <a:pt x="114300" y="0"/>
                  </a:lnTo>
                  <a:lnTo>
                    <a:pt x="70078" y="9080"/>
                  </a:lnTo>
                  <a:lnTo>
                    <a:pt x="33718" y="33718"/>
                  </a:lnTo>
                  <a:lnTo>
                    <a:pt x="9067" y="70091"/>
                  </a:lnTo>
                  <a:lnTo>
                    <a:pt x="0" y="114300"/>
                  </a:lnTo>
                  <a:lnTo>
                    <a:pt x="9067" y="158521"/>
                  </a:lnTo>
                  <a:lnTo>
                    <a:pt x="33718" y="194881"/>
                  </a:lnTo>
                  <a:lnTo>
                    <a:pt x="70078" y="219532"/>
                  </a:lnTo>
                  <a:lnTo>
                    <a:pt x="114300" y="228600"/>
                  </a:lnTo>
                  <a:lnTo>
                    <a:pt x="158508" y="219532"/>
                  </a:lnTo>
                  <a:lnTo>
                    <a:pt x="194881" y="194881"/>
                  </a:lnTo>
                  <a:lnTo>
                    <a:pt x="219519" y="158521"/>
                  </a:lnTo>
                  <a:lnTo>
                    <a:pt x="228600" y="114300"/>
                  </a:lnTo>
                  <a:close/>
                </a:path>
                <a:path w="1960245" h="228600">
                  <a:moveTo>
                    <a:pt x="576072" y="114300"/>
                  </a:moveTo>
                  <a:lnTo>
                    <a:pt x="566991" y="70091"/>
                  </a:lnTo>
                  <a:lnTo>
                    <a:pt x="542353" y="33718"/>
                  </a:lnTo>
                  <a:lnTo>
                    <a:pt x="505980" y="9080"/>
                  </a:lnTo>
                  <a:lnTo>
                    <a:pt x="461772" y="0"/>
                  </a:lnTo>
                  <a:lnTo>
                    <a:pt x="417550" y="9080"/>
                  </a:lnTo>
                  <a:lnTo>
                    <a:pt x="381190" y="33718"/>
                  </a:lnTo>
                  <a:lnTo>
                    <a:pt x="356539" y="70091"/>
                  </a:lnTo>
                  <a:lnTo>
                    <a:pt x="347472" y="114300"/>
                  </a:lnTo>
                  <a:lnTo>
                    <a:pt x="356539" y="158521"/>
                  </a:lnTo>
                  <a:lnTo>
                    <a:pt x="381190" y="194881"/>
                  </a:lnTo>
                  <a:lnTo>
                    <a:pt x="417550" y="219532"/>
                  </a:lnTo>
                  <a:lnTo>
                    <a:pt x="461772" y="228600"/>
                  </a:lnTo>
                  <a:lnTo>
                    <a:pt x="505980" y="219532"/>
                  </a:lnTo>
                  <a:lnTo>
                    <a:pt x="542353" y="194881"/>
                  </a:lnTo>
                  <a:lnTo>
                    <a:pt x="566991" y="158521"/>
                  </a:lnTo>
                  <a:lnTo>
                    <a:pt x="576072" y="114300"/>
                  </a:lnTo>
                  <a:close/>
                </a:path>
                <a:path w="1960245" h="228600">
                  <a:moveTo>
                    <a:pt x="922020" y="114300"/>
                  </a:moveTo>
                  <a:lnTo>
                    <a:pt x="912939" y="70091"/>
                  </a:lnTo>
                  <a:lnTo>
                    <a:pt x="888301" y="33718"/>
                  </a:lnTo>
                  <a:lnTo>
                    <a:pt x="851928" y="9080"/>
                  </a:lnTo>
                  <a:lnTo>
                    <a:pt x="807720" y="0"/>
                  </a:lnTo>
                  <a:lnTo>
                    <a:pt x="763498" y="9080"/>
                  </a:lnTo>
                  <a:lnTo>
                    <a:pt x="727138" y="33718"/>
                  </a:lnTo>
                  <a:lnTo>
                    <a:pt x="702487" y="70091"/>
                  </a:lnTo>
                  <a:lnTo>
                    <a:pt x="693420" y="114300"/>
                  </a:lnTo>
                  <a:lnTo>
                    <a:pt x="702487" y="158521"/>
                  </a:lnTo>
                  <a:lnTo>
                    <a:pt x="727138" y="194881"/>
                  </a:lnTo>
                  <a:lnTo>
                    <a:pt x="763498" y="219532"/>
                  </a:lnTo>
                  <a:lnTo>
                    <a:pt x="807720" y="228600"/>
                  </a:lnTo>
                  <a:lnTo>
                    <a:pt x="851928" y="219532"/>
                  </a:lnTo>
                  <a:lnTo>
                    <a:pt x="888301" y="194881"/>
                  </a:lnTo>
                  <a:lnTo>
                    <a:pt x="912939" y="158521"/>
                  </a:lnTo>
                  <a:lnTo>
                    <a:pt x="922020" y="114300"/>
                  </a:lnTo>
                  <a:close/>
                </a:path>
                <a:path w="1960245" h="228600">
                  <a:moveTo>
                    <a:pt x="1613916" y="114300"/>
                  </a:moveTo>
                  <a:lnTo>
                    <a:pt x="1604835" y="70091"/>
                  </a:lnTo>
                  <a:lnTo>
                    <a:pt x="1580197" y="33718"/>
                  </a:lnTo>
                  <a:lnTo>
                    <a:pt x="1543824" y="9080"/>
                  </a:lnTo>
                  <a:lnTo>
                    <a:pt x="1499616" y="0"/>
                  </a:lnTo>
                  <a:lnTo>
                    <a:pt x="1455394" y="9080"/>
                  </a:lnTo>
                  <a:lnTo>
                    <a:pt x="1419034" y="33718"/>
                  </a:lnTo>
                  <a:lnTo>
                    <a:pt x="1413497" y="41884"/>
                  </a:lnTo>
                  <a:lnTo>
                    <a:pt x="1407985" y="33718"/>
                  </a:lnTo>
                  <a:lnTo>
                    <a:pt x="1371612" y="9080"/>
                  </a:lnTo>
                  <a:lnTo>
                    <a:pt x="1327404" y="0"/>
                  </a:lnTo>
                  <a:lnTo>
                    <a:pt x="1283182" y="9080"/>
                  </a:lnTo>
                  <a:lnTo>
                    <a:pt x="1246822" y="33718"/>
                  </a:lnTo>
                  <a:lnTo>
                    <a:pt x="1222171" y="70091"/>
                  </a:lnTo>
                  <a:lnTo>
                    <a:pt x="1213104" y="114300"/>
                  </a:lnTo>
                  <a:lnTo>
                    <a:pt x="1222171" y="158521"/>
                  </a:lnTo>
                  <a:lnTo>
                    <a:pt x="1246822" y="194881"/>
                  </a:lnTo>
                  <a:lnTo>
                    <a:pt x="1283182" y="219532"/>
                  </a:lnTo>
                  <a:lnTo>
                    <a:pt x="1327404" y="228600"/>
                  </a:lnTo>
                  <a:lnTo>
                    <a:pt x="1371612" y="219532"/>
                  </a:lnTo>
                  <a:lnTo>
                    <a:pt x="1407985" y="194881"/>
                  </a:lnTo>
                  <a:lnTo>
                    <a:pt x="1413497" y="186740"/>
                  </a:lnTo>
                  <a:lnTo>
                    <a:pt x="1419034" y="194881"/>
                  </a:lnTo>
                  <a:lnTo>
                    <a:pt x="1455394" y="219532"/>
                  </a:lnTo>
                  <a:lnTo>
                    <a:pt x="1499616" y="228600"/>
                  </a:lnTo>
                  <a:lnTo>
                    <a:pt x="1543824" y="219532"/>
                  </a:lnTo>
                  <a:lnTo>
                    <a:pt x="1580197" y="194881"/>
                  </a:lnTo>
                  <a:lnTo>
                    <a:pt x="1604835" y="158521"/>
                  </a:lnTo>
                  <a:lnTo>
                    <a:pt x="1613916" y="114300"/>
                  </a:lnTo>
                  <a:close/>
                </a:path>
                <a:path w="1960245" h="228600">
                  <a:moveTo>
                    <a:pt x="1959864" y="114300"/>
                  </a:moveTo>
                  <a:lnTo>
                    <a:pt x="1950783" y="70091"/>
                  </a:lnTo>
                  <a:lnTo>
                    <a:pt x="1926145" y="33718"/>
                  </a:lnTo>
                  <a:lnTo>
                    <a:pt x="1889772" y="9080"/>
                  </a:lnTo>
                  <a:lnTo>
                    <a:pt x="1845564" y="0"/>
                  </a:lnTo>
                  <a:lnTo>
                    <a:pt x="1801342" y="9080"/>
                  </a:lnTo>
                  <a:lnTo>
                    <a:pt x="1764982" y="33718"/>
                  </a:lnTo>
                  <a:lnTo>
                    <a:pt x="1740331" y="70091"/>
                  </a:lnTo>
                  <a:lnTo>
                    <a:pt x="1731264" y="114300"/>
                  </a:lnTo>
                  <a:lnTo>
                    <a:pt x="1740331" y="158521"/>
                  </a:lnTo>
                  <a:lnTo>
                    <a:pt x="1764982" y="194881"/>
                  </a:lnTo>
                  <a:lnTo>
                    <a:pt x="1801342" y="219532"/>
                  </a:lnTo>
                  <a:lnTo>
                    <a:pt x="1845564" y="228600"/>
                  </a:lnTo>
                  <a:lnTo>
                    <a:pt x="1889772" y="219532"/>
                  </a:lnTo>
                  <a:lnTo>
                    <a:pt x="1926145" y="194881"/>
                  </a:lnTo>
                  <a:lnTo>
                    <a:pt x="1950783" y="158521"/>
                  </a:lnTo>
                  <a:lnTo>
                    <a:pt x="1959864" y="114300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88339" y="1166875"/>
            <a:ext cx="8609330" cy="2546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PCA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finds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most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accurate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6400"/>
                </a:solidFill>
                <a:latin typeface="Arial"/>
                <a:cs typeface="Arial"/>
              </a:rPr>
              <a:t>data</a:t>
            </a:r>
            <a:r>
              <a:rPr sz="2800" i="1" spc="-40" dirty="0">
                <a:solidFill>
                  <a:srgbClr val="0064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006400"/>
                </a:solidFill>
                <a:latin typeface="Arial"/>
                <a:cs typeface="Arial"/>
              </a:rPr>
              <a:t>representation</a:t>
            </a:r>
            <a:endParaRPr sz="2800">
              <a:latin typeface="Arial"/>
              <a:cs typeface="Arial"/>
            </a:endParaRPr>
          </a:p>
          <a:p>
            <a:pPr marL="621665">
              <a:lnSpc>
                <a:spcPct val="100000"/>
              </a:lnSpc>
              <a:spcBef>
                <a:spcPts val="10"/>
              </a:spcBef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lower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dimensional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space</a:t>
            </a:r>
            <a:endParaRPr sz="2800">
              <a:latin typeface="Arial MT"/>
              <a:cs typeface="Arial MT"/>
            </a:endParaRPr>
          </a:p>
          <a:p>
            <a:pPr marL="1002665" lvl="1" indent="-533400">
              <a:lnSpc>
                <a:spcPct val="100000"/>
              </a:lnSpc>
              <a:spcBef>
                <a:spcPts val="570"/>
              </a:spcBef>
              <a:buClr>
                <a:srgbClr val="854300"/>
              </a:buClr>
              <a:buFont typeface="Microsoft Sans Serif"/>
              <a:buChar char="▪"/>
              <a:tabLst>
                <a:tab pos="1002665" algn="l"/>
              </a:tabLst>
            </a:pP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directions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maximum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variance</a:t>
            </a:r>
            <a:endParaRPr sz="2400">
              <a:latin typeface="Arial MT"/>
              <a:cs typeface="Arial MT"/>
            </a:endParaRPr>
          </a:p>
          <a:p>
            <a:pPr marL="622300" marR="5080" indent="-610235">
              <a:lnSpc>
                <a:spcPct val="100000"/>
              </a:lnSpc>
              <a:spcBef>
                <a:spcPts val="140"/>
              </a:spcBef>
              <a:buClr>
                <a:srgbClr val="854300"/>
              </a:buClr>
              <a:buFont typeface="Microsoft Sans Serif"/>
              <a:buChar char="▪"/>
              <a:tabLst>
                <a:tab pos="622300" algn="l"/>
                <a:tab pos="1216025" algn="l"/>
                <a:tab pos="2225040" algn="l"/>
              </a:tabLst>
            </a:pPr>
            <a:r>
              <a:rPr sz="2800" spc="-10" dirty="0">
                <a:latin typeface="Arial MT"/>
                <a:cs typeface="Arial MT"/>
              </a:rPr>
              <a:t>However</a:t>
            </a:r>
            <a:r>
              <a:rPr sz="2800" dirty="0">
                <a:latin typeface="Arial MT"/>
                <a:cs typeface="Arial MT"/>
              </a:rPr>
              <a:t>	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directions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maximum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variance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may be</a:t>
            </a:r>
            <a:r>
              <a:rPr sz="2800" dirty="0">
                <a:latin typeface="Arial MT"/>
                <a:cs typeface="Arial MT"/>
              </a:rPr>
              <a:t>	useless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classification</a:t>
            </a:r>
            <a:endParaRPr sz="2800">
              <a:latin typeface="Arial MT"/>
              <a:cs typeface="Arial MT"/>
            </a:endParaRPr>
          </a:p>
          <a:p>
            <a:pPr marL="1383665">
              <a:lnSpc>
                <a:spcPct val="100000"/>
              </a:lnSpc>
              <a:spcBef>
                <a:spcPts val="415"/>
              </a:spcBef>
            </a:pPr>
            <a:r>
              <a:rPr sz="2000" b="1" i="1" spc="-10" dirty="0">
                <a:solidFill>
                  <a:srgbClr val="643100"/>
                </a:solidFill>
                <a:latin typeface="Arial"/>
                <a:cs typeface="Arial"/>
              </a:rPr>
              <a:t>separable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32400" y="3839971"/>
            <a:ext cx="1677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643100"/>
                </a:solidFill>
                <a:latin typeface="Arial"/>
                <a:cs typeface="Arial"/>
              </a:rPr>
              <a:t>not</a:t>
            </a:r>
            <a:r>
              <a:rPr sz="2000" b="1" i="1" spc="-3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643100"/>
                </a:solidFill>
                <a:latin typeface="Arial"/>
                <a:cs typeface="Arial"/>
              </a:rPr>
              <a:t>separable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/>
              <a:t>Fisher</a:t>
            </a:r>
            <a:r>
              <a:rPr spc="-75" dirty="0"/>
              <a:t> </a:t>
            </a:r>
            <a:r>
              <a:rPr dirty="0"/>
              <a:t>Linear</a:t>
            </a:r>
            <a:r>
              <a:rPr spc="-60" dirty="0"/>
              <a:t> </a:t>
            </a:r>
            <a:r>
              <a:rPr spc="-10" dirty="0"/>
              <a:t>Discriminant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0668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599" y="0"/>
                </a:lnTo>
              </a:path>
            </a:pathLst>
          </a:custGeom>
          <a:ln w="28955">
            <a:solidFill>
              <a:srgbClr val="854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12113" y="3198113"/>
            <a:ext cx="2821940" cy="2519680"/>
            <a:chOff x="912113" y="3198113"/>
            <a:chExt cx="2821940" cy="2519680"/>
          </a:xfrm>
        </p:grpSpPr>
        <p:sp>
          <p:nvSpPr>
            <p:cNvPr id="5" name="object 5"/>
            <p:cNvSpPr/>
            <p:nvPr/>
          </p:nvSpPr>
          <p:spPr>
            <a:xfrm>
              <a:off x="1274063" y="3212591"/>
              <a:ext cx="958850" cy="2490470"/>
            </a:xfrm>
            <a:custGeom>
              <a:avLst/>
              <a:gdLst/>
              <a:ahLst/>
              <a:cxnLst/>
              <a:rect l="l" t="t" r="r" b="b"/>
              <a:pathLst>
                <a:path w="958850" h="2490470">
                  <a:moveTo>
                    <a:pt x="0" y="2490215"/>
                  </a:moveTo>
                  <a:lnTo>
                    <a:pt x="958595" y="0"/>
                  </a:lnTo>
                </a:path>
              </a:pathLst>
            </a:custGeom>
            <a:ln w="28955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62200" y="3701795"/>
              <a:ext cx="0" cy="1937385"/>
            </a:xfrm>
            <a:custGeom>
              <a:avLst/>
              <a:gdLst/>
              <a:ahLst/>
              <a:cxnLst/>
              <a:rect l="l" t="t" r="r" b="b"/>
              <a:pathLst>
                <a:path h="1937385">
                  <a:moveTo>
                    <a:pt x="0" y="1937003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1239" y="3581399"/>
              <a:ext cx="123825" cy="125095"/>
            </a:xfrm>
            <a:custGeom>
              <a:avLst/>
              <a:gdLst/>
              <a:ahLst/>
              <a:cxnLst/>
              <a:rect l="l" t="t" r="r" b="b"/>
              <a:pathLst>
                <a:path w="123825" h="125095">
                  <a:moveTo>
                    <a:pt x="123443" y="124967"/>
                  </a:moveTo>
                  <a:lnTo>
                    <a:pt x="60959" y="0"/>
                  </a:lnTo>
                  <a:lnTo>
                    <a:pt x="0" y="124967"/>
                  </a:lnTo>
                  <a:lnTo>
                    <a:pt x="123443" y="1249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9200" y="5486399"/>
              <a:ext cx="2394585" cy="0"/>
            </a:xfrm>
            <a:custGeom>
              <a:avLst/>
              <a:gdLst/>
              <a:ahLst/>
              <a:cxnLst/>
              <a:rect l="l" t="t" r="r" b="b"/>
              <a:pathLst>
                <a:path w="2394585">
                  <a:moveTo>
                    <a:pt x="0" y="0"/>
                  </a:moveTo>
                  <a:lnTo>
                    <a:pt x="2394203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10355" y="5425439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443" y="60959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123443" y="6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8972" y="3538727"/>
              <a:ext cx="805180" cy="1243965"/>
            </a:xfrm>
            <a:custGeom>
              <a:avLst/>
              <a:gdLst/>
              <a:ahLst/>
              <a:cxnLst/>
              <a:rect l="l" t="t" r="r" b="b"/>
              <a:pathLst>
                <a:path w="805180" h="1243964">
                  <a:moveTo>
                    <a:pt x="175260" y="1114044"/>
                  </a:moveTo>
                  <a:lnTo>
                    <a:pt x="47244" y="1068324"/>
                  </a:lnTo>
                  <a:lnTo>
                    <a:pt x="0" y="1196340"/>
                  </a:lnTo>
                  <a:lnTo>
                    <a:pt x="128016" y="1243584"/>
                  </a:lnTo>
                  <a:lnTo>
                    <a:pt x="175260" y="1114044"/>
                  </a:lnTo>
                  <a:close/>
                </a:path>
                <a:path w="805180" h="1243964">
                  <a:moveTo>
                    <a:pt x="233172" y="729996"/>
                  </a:moveTo>
                  <a:lnTo>
                    <a:pt x="105156" y="684276"/>
                  </a:lnTo>
                  <a:lnTo>
                    <a:pt x="59436" y="812292"/>
                  </a:lnTo>
                  <a:lnTo>
                    <a:pt x="187452" y="858012"/>
                  </a:lnTo>
                  <a:lnTo>
                    <a:pt x="233172" y="729996"/>
                  </a:lnTo>
                  <a:close/>
                </a:path>
                <a:path w="805180" h="1243964">
                  <a:moveTo>
                    <a:pt x="388620" y="301752"/>
                  </a:moveTo>
                  <a:lnTo>
                    <a:pt x="260604" y="256032"/>
                  </a:lnTo>
                  <a:lnTo>
                    <a:pt x="214884" y="384048"/>
                  </a:lnTo>
                  <a:lnTo>
                    <a:pt x="342900" y="429768"/>
                  </a:lnTo>
                  <a:lnTo>
                    <a:pt x="388620" y="301752"/>
                  </a:lnTo>
                  <a:close/>
                </a:path>
                <a:path w="805180" h="1243964">
                  <a:moveTo>
                    <a:pt x="804672" y="45720"/>
                  </a:moveTo>
                  <a:lnTo>
                    <a:pt x="676656" y="0"/>
                  </a:lnTo>
                  <a:lnTo>
                    <a:pt x="630936" y="128016"/>
                  </a:lnTo>
                  <a:lnTo>
                    <a:pt x="758952" y="175260"/>
                  </a:lnTo>
                  <a:lnTo>
                    <a:pt x="804672" y="45720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0019" y="4964596"/>
              <a:ext cx="136159" cy="1361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3296" y="4995743"/>
              <a:ext cx="136159" cy="1361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2044" y="4630840"/>
              <a:ext cx="136159" cy="13618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6947" y="4519588"/>
              <a:ext cx="136159" cy="13682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52543" y="4129444"/>
              <a:ext cx="136159" cy="1361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0871" y="4089820"/>
              <a:ext cx="136159" cy="13615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23188" y="4256531"/>
              <a:ext cx="342900" cy="859790"/>
            </a:xfrm>
            <a:custGeom>
              <a:avLst/>
              <a:gdLst/>
              <a:ahLst/>
              <a:cxnLst/>
              <a:rect l="l" t="t" r="r" b="b"/>
              <a:pathLst>
                <a:path w="342900" h="859789">
                  <a:moveTo>
                    <a:pt x="175260" y="731520"/>
                  </a:moveTo>
                  <a:lnTo>
                    <a:pt x="47244" y="685800"/>
                  </a:lnTo>
                  <a:lnTo>
                    <a:pt x="0" y="813816"/>
                  </a:lnTo>
                  <a:lnTo>
                    <a:pt x="129540" y="859536"/>
                  </a:lnTo>
                  <a:lnTo>
                    <a:pt x="175260" y="731520"/>
                  </a:lnTo>
                  <a:close/>
                </a:path>
                <a:path w="342900" h="859789">
                  <a:moveTo>
                    <a:pt x="342900" y="45720"/>
                  </a:moveTo>
                  <a:lnTo>
                    <a:pt x="213360" y="0"/>
                  </a:lnTo>
                  <a:lnTo>
                    <a:pt x="167640" y="128016"/>
                  </a:lnTo>
                  <a:lnTo>
                    <a:pt x="295656" y="173736"/>
                  </a:lnTo>
                  <a:lnTo>
                    <a:pt x="342900" y="45720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26591" y="3636263"/>
              <a:ext cx="1061085" cy="1498600"/>
            </a:xfrm>
            <a:custGeom>
              <a:avLst/>
              <a:gdLst/>
              <a:ahLst/>
              <a:cxnLst/>
              <a:rect l="l" t="t" r="r" b="b"/>
              <a:pathLst>
                <a:path w="1061085" h="1498600">
                  <a:moveTo>
                    <a:pt x="702563" y="0"/>
                  </a:moveTo>
                  <a:lnTo>
                    <a:pt x="1060703" y="129539"/>
                  </a:lnTo>
                </a:path>
                <a:path w="1061085" h="1498600">
                  <a:moveTo>
                    <a:pt x="286511" y="254507"/>
                  </a:moveTo>
                  <a:lnTo>
                    <a:pt x="931163" y="487679"/>
                  </a:lnTo>
                </a:path>
                <a:path w="1061085" h="1498600">
                  <a:moveTo>
                    <a:pt x="143255" y="684275"/>
                  </a:moveTo>
                  <a:lnTo>
                    <a:pt x="787907" y="917447"/>
                  </a:lnTo>
                </a:path>
                <a:path w="1061085" h="1498600">
                  <a:moveTo>
                    <a:pt x="0" y="1042415"/>
                  </a:moveTo>
                  <a:lnTo>
                    <a:pt x="644651" y="1275587"/>
                  </a:lnTo>
                </a:path>
                <a:path w="1061085" h="1498600">
                  <a:moveTo>
                    <a:pt x="207263" y="1368551"/>
                  </a:moveTo>
                  <a:lnTo>
                    <a:pt x="565403" y="1498091"/>
                  </a:lnTo>
                </a:path>
                <a:path w="1061085" h="1498600">
                  <a:moveTo>
                    <a:pt x="455675" y="716279"/>
                  </a:moveTo>
                  <a:lnTo>
                    <a:pt x="815339" y="845819"/>
                  </a:lnTo>
                </a:path>
              </a:pathLst>
            </a:custGeom>
            <a:ln w="28955">
              <a:solidFill>
                <a:srgbClr val="0064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26464" y="4818887"/>
              <a:ext cx="201295" cy="349250"/>
            </a:xfrm>
            <a:custGeom>
              <a:avLst/>
              <a:gdLst/>
              <a:ahLst/>
              <a:cxnLst/>
              <a:rect l="l" t="t" r="r" b="b"/>
              <a:pathLst>
                <a:path w="201294" h="349250">
                  <a:moveTo>
                    <a:pt x="118872" y="262128"/>
                  </a:moveTo>
                  <a:lnTo>
                    <a:pt x="32004" y="230124"/>
                  </a:lnTo>
                  <a:lnTo>
                    <a:pt x="0" y="316992"/>
                  </a:lnTo>
                  <a:lnTo>
                    <a:pt x="86868" y="348996"/>
                  </a:lnTo>
                  <a:lnTo>
                    <a:pt x="118872" y="262128"/>
                  </a:lnTo>
                  <a:close/>
                </a:path>
                <a:path w="201294" h="349250">
                  <a:moveTo>
                    <a:pt x="201168" y="32004"/>
                  </a:moveTo>
                  <a:lnTo>
                    <a:pt x="114300" y="0"/>
                  </a:lnTo>
                  <a:lnTo>
                    <a:pt x="82296" y="86868"/>
                  </a:lnTo>
                  <a:lnTo>
                    <a:pt x="169164" y="118872"/>
                  </a:lnTo>
                  <a:lnTo>
                    <a:pt x="201168" y="32004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26107" y="4389119"/>
              <a:ext cx="156971" cy="2285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95272" y="3672839"/>
              <a:ext cx="247015" cy="477520"/>
            </a:xfrm>
            <a:custGeom>
              <a:avLst/>
              <a:gdLst/>
              <a:ahLst/>
              <a:cxnLst/>
              <a:rect l="l" t="t" r="r" b="b"/>
              <a:pathLst>
                <a:path w="247014" h="477520">
                  <a:moveTo>
                    <a:pt x="117348" y="390144"/>
                  </a:moveTo>
                  <a:lnTo>
                    <a:pt x="32004" y="359664"/>
                  </a:lnTo>
                  <a:lnTo>
                    <a:pt x="0" y="446532"/>
                  </a:lnTo>
                  <a:lnTo>
                    <a:pt x="86868" y="477012"/>
                  </a:lnTo>
                  <a:lnTo>
                    <a:pt x="117348" y="390144"/>
                  </a:lnTo>
                  <a:close/>
                </a:path>
                <a:path w="247014" h="477520">
                  <a:moveTo>
                    <a:pt x="246888" y="32004"/>
                  </a:moveTo>
                  <a:lnTo>
                    <a:pt x="160020" y="0"/>
                  </a:lnTo>
                  <a:lnTo>
                    <a:pt x="128016" y="86868"/>
                  </a:lnTo>
                  <a:lnTo>
                    <a:pt x="214884" y="118872"/>
                  </a:lnTo>
                  <a:lnTo>
                    <a:pt x="246888" y="32004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84959" y="3909059"/>
              <a:ext cx="1080770" cy="1190625"/>
            </a:xfrm>
            <a:custGeom>
              <a:avLst/>
              <a:gdLst/>
              <a:ahLst/>
              <a:cxnLst/>
              <a:rect l="l" t="t" r="r" b="b"/>
              <a:pathLst>
                <a:path w="1080770" h="1190625">
                  <a:moveTo>
                    <a:pt x="726947" y="292607"/>
                  </a:moveTo>
                  <a:lnTo>
                    <a:pt x="341375" y="153923"/>
                  </a:lnTo>
                </a:path>
                <a:path w="1080770" h="1190625">
                  <a:moveTo>
                    <a:pt x="513587" y="784859"/>
                  </a:moveTo>
                  <a:lnTo>
                    <a:pt x="129539" y="646175"/>
                  </a:lnTo>
                </a:path>
                <a:path w="1080770" h="1190625">
                  <a:moveTo>
                    <a:pt x="385571" y="1141475"/>
                  </a:moveTo>
                  <a:lnTo>
                    <a:pt x="0" y="1002791"/>
                  </a:lnTo>
                </a:path>
                <a:path w="1080770" h="1190625">
                  <a:moveTo>
                    <a:pt x="925067" y="688847"/>
                  </a:moveTo>
                  <a:lnTo>
                    <a:pt x="207263" y="429767"/>
                  </a:lnTo>
                </a:path>
                <a:path w="1080770" h="1190625">
                  <a:moveTo>
                    <a:pt x="1080515" y="259079"/>
                  </a:moveTo>
                  <a:lnTo>
                    <a:pt x="362711" y="0"/>
                  </a:lnTo>
                </a:path>
                <a:path w="1080770" h="1190625">
                  <a:moveTo>
                    <a:pt x="743711" y="1190243"/>
                  </a:moveTo>
                  <a:lnTo>
                    <a:pt x="27431" y="931163"/>
                  </a:lnTo>
                </a:path>
              </a:pathLst>
            </a:custGeom>
            <a:ln w="28955">
              <a:solidFill>
                <a:srgbClr val="CD31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4716" y="4777120"/>
              <a:ext cx="119229" cy="1634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74923" y="4491275"/>
              <a:ext cx="91987" cy="913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56279" y="3989879"/>
              <a:ext cx="91344" cy="913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2647" y="4274867"/>
              <a:ext cx="91987" cy="9201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08095" y="3846623"/>
              <a:ext cx="92011" cy="9198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993139" y="6007097"/>
            <a:ext cx="3103880" cy="70548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8415" marR="5080" indent="-6350">
              <a:lnSpc>
                <a:spcPts val="2470"/>
              </a:lnSpc>
              <a:spcBef>
                <a:spcPts val="520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bad</a:t>
            </a:r>
            <a:r>
              <a:rPr sz="2400" b="1" i="1" spc="-3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line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to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project</a:t>
            </a:r>
            <a:r>
              <a:rPr sz="2400" b="1" i="1" spc="-25" dirty="0">
                <a:solidFill>
                  <a:srgbClr val="643100"/>
                </a:solidFill>
                <a:latin typeface="Arial"/>
                <a:cs typeface="Arial"/>
              </a:rPr>
              <a:t> to,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classes</a:t>
            </a:r>
            <a:r>
              <a:rPr sz="2400" b="1" i="1" spc="-6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are</a:t>
            </a:r>
            <a:r>
              <a:rPr sz="2400" b="1" i="1" spc="-6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mixed</a:t>
            </a:r>
            <a:r>
              <a:rPr sz="2400" b="1" i="1" spc="-6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5" dirty="0">
                <a:solidFill>
                  <a:srgbClr val="643100"/>
                </a:solidFill>
                <a:latin typeface="Arial"/>
                <a:cs typeface="Arial"/>
              </a:rPr>
              <a:t>up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8339" y="1243075"/>
            <a:ext cx="8037830" cy="15951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21665" marR="5080" indent="-609600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  <a:tab pos="2464435" algn="l"/>
              </a:tabLst>
            </a:pPr>
            <a:r>
              <a:rPr sz="2800" dirty="0">
                <a:solidFill>
                  <a:srgbClr val="006400"/>
                </a:solidFill>
                <a:latin typeface="Arial MT"/>
                <a:cs typeface="Arial MT"/>
              </a:rPr>
              <a:t>Main</a:t>
            </a:r>
            <a:r>
              <a:rPr sz="2800" spc="-60" dirty="0">
                <a:solidFill>
                  <a:srgbClr val="006400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6400"/>
                </a:solidFill>
                <a:latin typeface="Arial MT"/>
                <a:cs typeface="Arial MT"/>
              </a:rPr>
              <a:t>idea</a:t>
            </a:r>
            <a:r>
              <a:rPr sz="2800" spc="-20" dirty="0">
                <a:latin typeface="Arial MT"/>
                <a:cs typeface="Arial MT"/>
              </a:rPr>
              <a:t>:</a:t>
            </a:r>
            <a:r>
              <a:rPr sz="2800" dirty="0">
                <a:latin typeface="Arial MT"/>
                <a:cs typeface="Arial MT"/>
              </a:rPr>
              <a:t>	find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projection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s.t.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samples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different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well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separated</a:t>
            </a:r>
            <a:endParaRPr sz="2800">
              <a:latin typeface="Arial MT"/>
              <a:cs typeface="Arial MT"/>
            </a:endParaRPr>
          </a:p>
          <a:p>
            <a:pPr marL="490220" algn="ctr">
              <a:lnSpc>
                <a:spcPct val="100000"/>
              </a:lnSpc>
              <a:spcBef>
                <a:spcPts val="2270"/>
              </a:spcBef>
            </a:pPr>
            <a:r>
              <a:rPr sz="2800" b="1" i="1" dirty="0">
                <a:solidFill>
                  <a:srgbClr val="643100"/>
                </a:solidFill>
                <a:latin typeface="Arial"/>
                <a:cs typeface="Arial"/>
              </a:rPr>
              <a:t>Example</a:t>
            </a:r>
            <a:r>
              <a:rPr sz="28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643100"/>
                </a:solidFill>
                <a:latin typeface="Arial"/>
                <a:cs typeface="Arial"/>
              </a:rPr>
              <a:t>in</a:t>
            </a:r>
            <a:r>
              <a:rPr sz="2800" b="1" i="1" spc="-5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800" b="1" i="1" spc="-25" dirty="0">
                <a:solidFill>
                  <a:srgbClr val="643100"/>
                </a:solidFill>
                <a:latin typeface="Arial"/>
                <a:cs typeface="Arial"/>
              </a:rPr>
              <a:t>2D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7200" y="2362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208521" y="6007097"/>
            <a:ext cx="385572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275590">
              <a:lnSpc>
                <a:spcPts val="2590"/>
              </a:lnSpc>
              <a:spcBef>
                <a:spcPts val="425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good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line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to</a:t>
            </a:r>
            <a:r>
              <a:rPr sz="2400" b="1" i="1" spc="-3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project</a:t>
            </a:r>
            <a:r>
              <a:rPr sz="2400" b="1" i="1" spc="-25" dirty="0">
                <a:solidFill>
                  <a:srgbClr val="643100"/>
                </a:solidFill>
                <a:latin typeface="Arial"/>
                <a:cs typeface="Arial"/>
              </a:rPr>
              <a:t> to,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classes</a:t>
            </a:r>
            <a:r>
              <a:rPr sz="2400" b="1" i="1" spc="-5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are</a:t>
            </a:r>
            <a:r>
              <a:rPr sz="2400" b="1" i="1" spc="-5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well</a:t>
            </a:r>
            <a:r>
              <a:rPr sz="2400" b="1" i="1" spc="-5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separated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205477" y="3386327"/>
            <a:ext cx="3743960" cy="2296160"/>
            <a:chOff x="4205477" y="3386327"/>
            <a:chExt cx="3743960" cy="2296160"/>
          </a:xfrm>
        </p:grpSpPr>
        <p:sp>
          <p:nvSpPr>
            <p:cNvPr id="33" name="object 33"/>
            <p:cNvSpPr/>
            <p:nvPr/>
          </p:nvSpPr>
          <p:spPr>
            <a:xfrm>
              <a:off x="4219955" y="4544567"/>
              <a:ext cx="2889885" cy="1123315"/>
            </a:xfrm>
            <a:custGeom>
              <a:avLst/>
              <a:gdLst/>
              <a:ahLst/>
              <a:cxnLst/>
              <a:rect l="l" t="t" r="r" b="b"/>
              <a:pathLst>
                <a:path w="2889884" h="1123314">
                  <a:moveTo>
                    <a:pt x="0" y="0"/>
                  </a:moveTo>
                  <a:lnTo>
                    <a:pt x="2889503" y="1123187"/>
                  </a:lnTo>
                </a:path>
              </a:pathLst>
            </a:custGeom>
            <a:ln w="28955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675119" y="3659123"/>
              <a:ext cx="0" cy="1937385"/>
            </a:xfrm>
            <a:custGeom>
              <a:avLst/>
              <a:gdLst/>
              <a:ahLst/>
              <a:cxnLst/>
              <a:rect l="l" t="t" r="r" b="b"/>
              <a:pathLst>
                <a:path h="1937385">
                  <a:moveTo>
                    <a:pt x="0" y="1937003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14159" y="3538727"/>
              <a:ext cx="123825" cy="125095"/>
            </a:xfrm>
            <a:custGeom>
              <a:avLst/>
              <a:gdLst/>
              <a:ahLst/>
              <a:cxnLst/>
              <a:rect l="l" t="t" r="r" b="b"/>
              <a:pathLst>
                <a:path w="123825" h="125095">
                  <a:moveTo>
                    <a:pt x="123443" y="124967"/>
                  </a:moveTo>
                  <a:lnTo>
                    <a:pt x="60959" y="0"/>
                  </a:lnTo>
                  <a:lnTo>
                    <a:pt x="0" y="124967"/>
                  </a:lnTo>
                  <a:lnTo>
                    <a:pt x="123443" y="1249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34583" y="5486399"/>
              <a:ext cx="2394585" cy="0"/>
            </a:xfrm>
            <a:custGeom>
              <a:avLst/>
              <a:gdLst/>
              <a:ahLst/>
              <a:cxnLst/>
              <a:rect l="l" t="t" r="r" b="b"/>
              <a:pathLst>
                <a:path w="2394584">
                  <a:moveTo>
                    <a:pt x="0" y="0"/>
                  </a:moveTo>
                  <a:lnTo>
                    <a:pt x="2394203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825739" y="5425439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443" y="60959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123443" y="6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22748" y="3386327"/>
              <a:ext cx="826135" cy="1572895"/>
            </a:xfrm>
            <a:custGeom>
              <a:avLst/>
              <a:gdLst/>
              <a:ahLst/>
              <a:cxnLst/>
              <a:rect l="l" t="t" r="r" b="b"/>
              <a:pathLst>
                <a:path w="826135" h="1572895">
                  <a:moveTo>
                    <a:pt x="175260" y="1106424"/>
                  </a:moveTo>
                  <a:lnTo>
                    <a:pt x="48768" y="1057656"/>
                  </a:lnTo>
                  <a:lnTo>
                    <a:pt x="0" y="1185672"/>
                  </a:lnTo>
                  <a:lnTo>
                    <a:pt x="126492" y="1234440"/>
                  </a:lnTo>
                  <a:lnTo>
                    <a:pt x="175260" y="1106424"/>
                  </a:lnTo>
                  <a:close/>
                </a:path>
                <a:path w="826135" h="1572895">
                  <a:moveTo>
                    <a:pt x="240792" y="723900"/>
                  </a:moveTo>
                  <a:lnTo>
                    <a:pt x="112776" y="675132"/>
                  </a:lnTo>
                  <a:lnTo>
                    <a:pt x="64008" y="803148"/>
                  </a:lnTo>
                  <a:lnTo>
                    <a:pt x="192024" y="851916"/>
                  </a:lnTo>
                  <a:lnTo>
                    <a:pt x="240792" y="723900"/>
                  </a:lnTo>
                  <a:close/>
                </a:path>
                <a:path w="826135" h="1572895">
                  <a:moveTo>
                    <a:pt x="373380" y="1444752"/>
                  </a:moveTo>
                  <a:lnTo>
                    <a:pt x="246888" y="1395984"/>
                  </a:lnTo>
                  <a:lnTo>
                    <a:pt x="198120" y="1524000"/>
                  </a:lnTo>
                  <a:lnTo>
                    <a:pt x="324612" y="1572768"/>
                  </a:lnTo>
                  <a:lnTo>
                    <a:pt x="373380" y="1444752"/>
                  </a:lnTo>
                  <a:close/>
                </a:path>
                <a:path w="826135" h="1572895">
                  <a:moveTo>
                    <a:pt x="405384" y="297180"/>
                  </a:moveTo>
                  <a:lnTo>
                    <a:pt x="278892" y="248412"/>
                  </a:lnTo>
                  <a:lnTo>
                    <a:pt x="230124" y="374904"/>
                  </a:lnTo>
                  <a:lnTo>
                    <a:pt x="356616" y="425196"/>
                  </a:lnTo>
                  <a:lnTo>
                    <a:pt x="405384" y="297180"/>
                  </a:lnTo>
                  <a:close/>
                </a:path>
                <a:path w="826135" h="1572895">
                  <a:moveTo>
                    <a:pt x="553212" y="762000"/>
                  </a:moveTo>
                  <a:lnTo>
                    <a:pt x="426720" y="713232"/>
                  </a:lnTo>
                  <a:lnTo>
                    <a:pt x="376428" y="841248"/>
                  </a:lnTo>
                  <a:lnTo>
                    <a:pt x="504444" y="890016"/>
                  </a:lnTo>
                  <a:lnTo>
                    <a:pt x="553212" y="762000"/>
                  </a:lnTo>
                  <a:close/>
                </a:path>
                <a:path w="826135" h="1572895">
                  <a:moveTo>
                    <a:pt x="826008" y="48768"/>
                  </a:moveTo>
                  <a:lnTo>
                    <a:pt x="699516" y="0"/>
                  </a:lnTo>
                  <a:lnTo>
                    <a:pt x="650748" y="128016"/>
                  </a:lnTo>
                  <a:lnTo>
                    <a:pt x="777240" y="176784"/>
                  </a:lnTo>
                  <a:lnTo>
                    <a:pt x="826008" y="48768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67675" y="4818054"/>
              <a:ext cx="135778" cy="13642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78571" y="4856154"/>
              <a:ext cx="137064" cy="13642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74939" y="4489537"/>
              <a:ext cx="137064" cy="13599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42223" y="4386119"/>
              <a:ext cx="136421" cy="1370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65439" y="3992713"/>
              <a:ext cx="137064" cy="13599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05291" y="3959399"/>
              <a:ext cx="137064" cy="13642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163311" y="4219955"/>
              <a:ext cx="495300" cy="753110"/>
            </a:xfrm>
            <a:custGeom>
              <a:avLst/>
              <a:gdLst/>
              <a:ahLst/>
              <a:cxnLst/>
              <a:rect l="l" t="t" r="r" b="b"/>
              <a:pathLst>
                <a:path w="495300" h="753110">
                  <a:moveTo>
                    <a:pt x="131063" y="332231"/>
                  </a:moveTo>
                  <a:lnTo>
                    <a:pt x="0" y="673607"/>
                  </a:lnTo>
                </a:path>
                <a:path w="495300" h="753110">
                  <a:moveTo>
                    <a:pt x="495299" y="0"/>
                  </a:moveTo>
                  <a:lnTo>
                    <a:pt x="207263" y="752855"/>
                  </a:lnTo>
                </a:path>
              </a:pathLst>
            </a:custGeom>
            <a:ln w="28955">
              <a:solidFill>
                <a:srgbClr val="0064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333999" y="4939283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79">
                  <a:moveTo>
                    <a:pt x="118871" y="33527"/>
                  </a:moveTo>
                  <a:lnTo>
                    <a:pt x="32003" y="0"/>
                  </a:lnTo>
                  <a:lnTo>
                    <a:pt x="0" y="86867"/>
                  </a:lnTo>
                  <a:lnTo>
                    <a:pt x="85343" y="118871"/>
                  </a:lnTo>
                  <a:lnTo>
                    <a:pt x="118871" y="33527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29551" y="5253251"/>
              <a:ext cx="91392" cy="9139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091427" y="4024883"/>
              <a:ext cx="887094" cy="1363980"/>
            </a:xfrm>
            <a:custGeom>
              <a:avLst/>
              <a:gdLst/>
              <a:ahLst/>
              <a:cxnLst/>
              <a:rect l="l" t="t" r="r" b="b"/>
              <a:pathLst>
                <a:path w="887095" h="1363979">
                  <a:moveTo>
                    <a:pt x="135635" y="867155"/>
                  </a:moveTo>
                  <a:lnTo>
                    <a:pt x="0" y="1223771"/>
                  </a:lnTo>
                </a:path>
                <a:path w="887095" h="1363979">
                  <a:moveTo>
                    <a:pt x="449579" y="906779"/>
                  </a:moveTo>
                  <a:lnTo>
                    <a:pt x="286511" y="1333499"/>
                  </a:lnTo>
                </a:path>
                <a:path w="887095" h="1363979">
                  <a:moveTo>
                    <a:pt x="367283" y="486155"/>
                  </a:moveTo>
                  <a:lnTo>
                    <a:pt x="68579" y="1249679"/>
                  </a:lnTo>
                </a:path>
                <a:path w="887095" h="1363979">
                  <a:moveTo>
                    <a:pt x="550163" y="0"/>
                  </a:moveTo>
                  <a:lnTo>
                    <a:pt x="67055" y="1249679"/>
                  </a:lnTo>
                </a:path>
                <a:path w="887095" h="1363979">
                  <a:moveTo>
                    <a:pt x="886967" y="12191"/>
                  </a:moveTo>
                  <a:lnTo>
                    <a:pt x="368807" y="1363979"/>
                  </a:lnTo>
                </a:path>
                <a:path w="887095" h="1363979">
                  <a:moveTo>
                    <a:pt x="701039" y="431291"/>
                  </a:moveTo>
                  <a:lnTo>
                    <a:pt x="345947" y="1356359"/>
                  </a:lnTo>
                </a:path>
              </a:pathLst>
            </a:custGeom>
            <a:ln w="28955">
              <a:solidFill>
                <a:srgbClr val="CD31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85587" y="3477767"/>
              <a:ext cx="856615" cy="1521460"/>
            </a:xfrm>
            <a:custGeom>
              <a:avLst/>
              <a:gdLst/>
              <a:ahLst/>
              <a:cxnLst/>
              <a:rect l="l" t="t" r="r" b="b"/>
              <a:pathLst>
                <a:path w="856614" h="1521460">
                  <a:moveTo>
                    <a:pt x="432815" y="1321307"/>
                  </a:moveTo>
                  <a:lnTo>
                    <a:pt x="356615" y="1520951"/>
                  </a:lnTo>
                </a:path>
                <a:path w="856614" h="1521460">
                  <a:moveTo>
                    <a:pt x="284987" y="678179"/>
                  </a:moveTo>
                  <a:lnTo>
                    <a:pt x="12191" y="1389887"/>
                  </a:lnTo>
                </a:path>
                <a:path w="856614" h="1521460">
                  <a:moveTo>
                    <a:pt x="435863" y="245363"/>
                  </a:moveTo>
                  <a:lnTo>
                    <a:pt x="0" y="1383791"/>
                  </a:lnTo>
                </a:path>
                <a:path w="856614" h="1521460">
                  <a:moveTo>
                    <a:pt x="856487" y="0"/>
                  </a:moveTo>
                  <a:lnTo>
                    <a:pt x="284987" y="1493519"/>
                  </a:lnTo>
                </a:path>
              </a:pathLst>
            </a:custGeom>
            <a:ln w="28955">
              <a:solidFill>
                <a:srgbClr val="0064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047488" y="4829555"/>
              <a:ext cx="474345" cy="256540"/>
            </a:xfrm>
            <a:custGeom>
              <a:avLst/>
              <a:gdLst/>
              <a:ahLst/>
              <a:cxnLst/>
              <a:rect l="l" t="t" r="r" b="b"/>
              <a:pathLst>
                <a:path w="474345" h="256539">
                  <a:moveTo>
                    <a:pt x="190500" y="60960"/>
                  </a:moveTo>
                  <a:lnTo>
                    <a:pt x="105156" y="27432"/>
                  </a:lnTo>
                  <a:lnTo>
                    <a:pt x="104914" y="28054"/>
                  </a:lnTo>
                  <a:lnTo>
                    <a:pt x="33528" y="0"/>
                  </a:lnTo>
                  <a:lnTo>
                    <a:pt x="0" y="86868"/>
                  </a:lnTo>
                  <a:lnTo>
                    <a:pt x="85344" y="118872"/>
                  </a:lnTo>
                  <a:lnTo>
                    <a:pt x="85572" y="118275"/>
                  </a:lnTo>
                  <a:lnTo>
                    <a:pt x="156972" y="146304"/>
                  </a:lnTo>
                  <a:lnTo>
                    <a:pt x="190500" y="60960"/>
                  </a:lnTo>
                  <a:close/>
                </a:path>
                <a:path w="474345" h="256539">
                  <a:moveTo>
                    <a:pt x="473964" y="170688"/>
                  </a:moveTo>
                  <a:lnTo>
                    <a:pt x="405206" y="143687"/>
                  </a:lnTo>
                  <a:lnTo>
                    <a:pt x="405384" y="143256"/>
                  </a:lnTo>
                  <a:lnTo>
                    <a:pt x="318516" y="109728"/>
                  </a:lnTo>
                  <a:lnTo>
                    <a:pt x="286512" y="196596"/>
                  </a:lnTo>
                  <a:lnTo>
                    <a:pt x="355155" y="222338"/>
                  </a:lnTo>
                  <a:lnTo>
                    <a:pt x="355092" y="222504"/>
                  </a:lnTo>
                  <a:lnTo>
                    <a:pt x="441960" y="256032"/>
                  </a:lnTo>
                  <a:lnTo>
                    <a:pt x="473964" y="170688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057923" y="5225843"/>
              <a:ext cx="91606" cy="9286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41411" y="5334023"/>
              <a:ext cx="164496" cy="1203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1194" y="4481195"/>
            <a:ext cx="2543810" cy="2086610"/>
            <a:chOff x="671194" y="4481195"/>
            <a:chExt cx="2543810" cy="2086610"/>
          </a:xfrm>
        </p:grpSpPr>
        <p:sp>
          <p:nvSpPr>
            <p:cNvPr id="3" name="object 3"/>
            <p:cNvSpPr/>
            <p:nvPr/>
          </p:nvSpPr>
          <p:spPr>
            <a:xfrm>
              <a:off x="685799" y="4495800"/>
              <a:ext cx="2514600" cy="2057400"/>
            </a:xfrm>
            <a:custGeom>
              <a:avLst/>
              <a:gdLst/>
              <a:ahLst/>
              <a:cxnLst/>
              <a:rect l="l" t="t" r="r" b="b"/>
              <a:pathLst>
                <a:path w="2514600" h="2057400">
                  <a:moveTo>
                    <a:pt x="0" y="2057399"/>
                  </a:moveTo>
                  <a:lnTo>
                    <a:pt x="2514599" y="0"/>
                  </a:lnTo>
                </a:path>
              </a:pathLst>
            </a:custGeom>
            <a:ln w="28955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7799" y="5625084"/>
              <a:ext cx="370840" cy="318770"/>
            </a:xfrm>
            <a:custGeom>
              <a:avLst/>
              <a:gdLst/>
              <a:ahLst/>
              <a:cxnLst/>
              <a:rect l="l" t="t" r="r" b="b"/>
              <a:pathLst>
                <a:path w="370839" h="318770">
                  <a:moveTo>
                    <a:pt x="0" y="318515"/>
                  </a:moveTo>
                  <a:lnTo>
                    <a:pt x="370331" y="0"/>
                  </a:lnTo>
                </a:path>
              </a:pathLst>
            </a:custGeom>
            <a:ln w="56387">
              <a:solidFill>
                <a:srgbClr val="CD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43455" y="5486400"/>
              <a:ext cx="238125" cy="226060"/>
            </a:xfrm>
            <a:custGeom>
              <a:avLst/>
              <a:gdLst/>
              <a:ahLst/>
              <a:cxnLst/>
              <a:rect l="l" t="t" r="r" b="b"/>
              <a:pathLst>
                <a:path w="238125" h="226060">
                  <a:moveTo>
                    <a:pt x="237743" y="0"/>
                  </a:moveTo>
                  <a:lnTo>
                    <a:pt x="0" y="59435"/>
                  </a:lnTo>
                  <a:lnTo>
                    <a:pt x="143255" y="225551"/>
                  </a:lnTo>
                  <a:lnTo>
                    <a:pt x="237743" y="0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900" y="455167"/>
            <a:ext cx="8636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2665" algn="l"/>
              </a:tabLst>
            </a:pPr>
            <a:r>
              <a:rPr u="heavy" spc="-21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Fisher</a:t>
            </a:r>
            <a:r>
              <a:rPr u="heavy" spc="-5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Linear</a:t>
            </a:r>
            <a:r>
              <a:rPr u="heavy" spc="-4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854300"/>
                  </a:solidFill>
                </a:uFill>
              </a:rPr>
              <a:t>Discriminant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	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7539" y="1014475"/>
            <a:ext cx="8195309" cy="27381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72465" marR="68580" indent="-609600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72465" algn="l"/>
                <a:tab pos="3525520" algn="l"/>
              </a:tabLst>
            </a:pPr>
            <a:r>
              <a:rPr sz="2800" dirty="0">
                <a:latin typeface="Arial MT"/>
                <a:cs typeface="Arial MT"/>
              </a:rPr>
              <a:t>Suppose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b="1" i="1" spc="-25" dirty="0">
                <a:latin typeface="Arial"/>
                <a:cs typeface="Arial"/>
              </a:rPr>
              <a:t>d</a:t>
            </a:r>
            <a:r>
              <a:rPr sz="2800" spc="-25" dirty="0">
                <a:latin typeface="Arial MT"/>
                <a:cs typeface="Arial MT"/>
              </a:rPr>
              <a:t>-</a:t>
            </a:r>
            <a:r>
              <a:rPr sz="2800" spc="-10" dirty="0">
                <a:latin typeface="Arial MT"/>
                <a:cs typeface="Arial MT"/>
              </a:rPr>
              <a:t>dimensional </a:t>
            </a:r>
            <a:r>
              <a:rPr sz="2800" dirty="0">
                <a:latin typeface="Arial MT"/>
                <a:cs typeface="Arial MT"/>
              </a:rPr>
              <a:t>samples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b="1" i="1" spc="-10" dirty="0">
                <a:latin typeface="Arial"/>
                <a:cs typeface="Arial"/>
              </a:rPr>
              <a:t>x</a:t>
            </a:r>
            <a:r>
              <a:rPr sz="2850" b="1" i="1" spc="-15" baseline="-20467" dirty="0">
                <a:latin typeface="Arial"/>
                <a:cs typeface="Arial"/>
              </a:rPr>
              <a:t>1</a:t>
            </a:r>
            <a:r>
              <a:rPr sz="2800" spc="-10" dirty="0">
                <a:latin typeface="Arial MT"/>
                <a:cs typeface="Arial MT"/>
              </a:rPr>
              <a:t>,…,</a:t>
            </a:r>
            <a:r>
              <a:rPr sz="2800" b="1" i="1" spc="-10" dirty="0">
                <a:latin typeface="Arial"/>
                <a:cs typeface="Arial"/>
              </a:rPr>
              <a:t>x</a:t>
            </a:r>
            <a:r>
              <a:rPr sz="2850" b="1" i="1" spc="-15" baseline="-20467" dirty="0">
                <a:latin typeface="Arial"/>
                <a:cs typeface="Arial"/>
              </a:rPr>
              <a:t>n</a:t>
            </a:r>
            <a:r>
              <a:rPr sz="2850" b="1" i="1" baseline="-20467" dirty="0">
                <a:latin typeface="Arial"/>
                <a:cs typeface="Arial"/>
              </a:rPr>
              <a:t>	</a:t>
            </a:r>
            <a:r>
              <a:rPr sz="2800" spc="-10" dirty="0">
                <a:latin typeface="Arial MT"/>
                <a:cs typeface="Arial MT"/>
              </a:rPr>
              <a:t>where</a:t>
            </a:r>
            <a:endParaRPr sz="2800">
              <a:latin typeface="Arial MT"/>
              <a:cs typeface="Arial MT"/>
            </a:endParaRPr>
          </a:p>
          <a:p>
            <a:pPr marL="1053465" lvl="1" indent="-533400">
              <a:lnSpc>
                <a:spcPts val="2920"/>
              </a:lnSpc>
              <a:buClr>
                <a:srgbClr val="854300"/>
              </a:buClr>
              <a:buFont typeface="Microsoft Sans Serif"/>
              <a:buChar char="▪"/>
              <a:tabLst>
                <a:tab pos="1053465" algn="l"/>
                <a:tab pos="1570355" algn="l"/>
              </a:tabLst>
            </a:pPr>
            <a:r>
              <a:rPr sz="2800" b="1" i="1" spc="-25" dirty="0">
                <a:latin typeface="Arial"/>
                <a:cs typeface="Arial"/>
              </a:rPr>
              <a:t>n</a:t>
            </a:r>
            <a:r>
              <a:rPr sz="2850" b="1" i="1" spc="-37" baseline="-20467" dirty="0">
                <a:latin typeface="Arial"/>
                <a:cs typeface="Arial"/>
              </a:rPr>
              <a:t>1</a:t>
            </a:r>
            <a:r>
              <a:rPr sz="2850" b="1" i="1" baseline="-20467" dirty="0">
                <a:latin typeface="Arial"/>
                <a:cs typeface="Arial"/>
              </a:rPr>
              <a:t>	</a:t>
            </a:r>
            <a:r>
              <a:rPr sz="2800" dirty="0">
                <a:latin typeface="Arial MT"/>
                <a:cs typeface="Arial MT"/>
              </a:rPr>
              <a:t>samples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first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</a:t>
            </a:r>
            <a:endParaRPr sz="2800">
              <a:latin typeface="Arial MT"/>
              <a:cs typeface="Arial MT"/>
            </a:endParaRPr>
          </a:p>
          <a:p>
            <a:pPr marL="1053465" lvl="1" indent="-533400">
              <a:lnSpc>
                <a:spcPts val="3055"/>
              </a:lnSpc>
              <a:buClr>
                <a:srgbClr val="854300"/>
              </a:buClr>
              <a:buFont typeface="Microsoft Sans Serif"/>
              <a:buChar char="▪"/>
              <a:tabLst>
                <a:tab pos="1053465" algn="l"/>
                <a:tab pos="1570355" algn="l"/>
              </a:tabLst>
            </a:pPr>
            <a:r>
              <a:rPr sz="2800" b="1" i="1" spc="-25" dirty="0">
                <a:latin typeface="Arial"/>
                <a:cs typeface="Arial"/>
              </a:rPr>
              <a:t>n</a:t>
            </a:r>
            <a:r>
              <a:rPr sz="2850" b="1" i="1" spc="-37" baseline="-20467" dirty="0">
                <a:latin typeface="Arial"/>
                <a:cs typeface="Arial"/>
              </a:rPr>
              <a:t>2</a:t>
            </a:r>
            <a:r>
              <a:rPr sz="2850" b="1" i="1" baseline="-20467" dirty="0">
                <a:latin typeface="Arial"/>
                <a:cs typeface="Arial"/>
              </a:rPr>
              <a:t>	</a:t>
            </a:r>
            <a:r>
              <a:rPr sz="2800" dirty="0">
                <a:latin typeface="Arial MT"/>
                <a:cs typeface="Arial MT"/>
              </a:rPr>
              <a:t>samples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second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</a:t>
            </a:r>
            <a:endParaRPr sz="2800">
              <a:latin typeface="Arial MT"/>
              <a:cs typeface="Arial MT"/>
            </a:endParaRPr>
          </a:p>
          <a:p>
            <a:pPr marL="672465" indent="-608965">
              <a:lnSpc>
                <a:spcPct val="100000"/>
              </a:lnSpc>
              <a:spcBef>
                <a:spcPts val="1095"/>
              </a:spcBef>
              <a:buClr>
                <a:srgbClr val="854300"/>
              </a:buClr>
              <a:buFont typeface="Microsoft Sans Serif"/>
              <a:buChar char="▪"/>
              <a:tabLst>
                <a:tab pos="672465" algn="l"/>
              </a:tabLst>
            </a:pPr>
            <a:r>
              <a:rPr sz="2800" dirty="0">
                <a:latin typeface="Arial MT"/>
                <a:cs typeface="Arial MT"/>
              </a:rPr>
              <a:t>consider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projection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line</a:t>
            </a:r>
            <a:endParaRPr sz="2800">
              <a:latin typeface="Arial MT"/>
              <a:cs typeface="Arial MT"/>
            </a:endParaRPr>
          </a:p>
          <a:p>
            <a:pPr marL="672465" indent="-608965">
              <a:lnSpc>
                <a:spcPct val="100000"/>
              </a:lnSpc>
              <a:spcBef>
                <a:spcPts val="840"/>
              </a:spcBef>
              <a:buClr>
                <a:srgbClr val="854300"/>
              </a:buClr>
              <a:buFont typeface="Microsoft Sans Serif"/>
              <a:buChar char="▪"/>
              <a:tabLst>
                <a:tab pos="672465" algn="l"/>
              </a:tabLst>
            </a:pPr>
            <a:r>
              <a:rPr sz="2800" dirty="0">
                <a:latin typeface="Arial MT"/>
                <a:cs typeface="Arial MT"/>
              </a:rPr>
              <a:t>Let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direction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given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unit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vector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b="1" i="1" spc="-50" dirty="0">
                <a:latin typeface="Arial"/>
                <a:cs typeface="Arial"/>
              </a:rPr>
              <a:t>v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9627" y="556666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0" dirty="0">
                <a:solidFill>
                  <a:srgbClr val="CD3100"/>
                </a:solidFill>
                <a:latin typeface="Arial"/>
                <a:cs typeface="Arial"/>
              </a:rPr>
              <a:t>v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33792" y="4114800"/>
            <a:ext cx="2524125" cy="2066925"/>
            <a:chOff x="1133792" y="4114800"/>
            <a:chExt cx="2524125" cy="2066925"/>
          </a:xfrm>
        </p:grpSpPr>
        <p:sp>
          <p:nvSpPr>
            <p:cNvPr id="10" name="object 10"/>
            <p:cNvSpPr/>
            <p:nvPr/>
          </p:nvSpPr>
          <p:spPr>
            <a:xfrm>
              <a:off x="1447800" y="4235195"/>
              <a:ext cx="0" cy="1937385"/>
            </a:xfrm>
            <a:custGeom>
              <a:avLst/>
              <a:gdLst/>
              <a:ahLst/>
              <a:cxnLst/>
              <a:rect l="l" t="t" r="r" b="b"/>
              <a:pathLst>
                <a:path h="1937385">
                  <a:moveTo>
                    <a:pt x="0" y="1937003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86840" y="4114800"/>
              <a:ext cx="123825" cy="125095"/>
            </a:xfrm>
            <a:custGeom>
              <a:avLst/>
              <a:gdLst/>
              <a:ahLst/>
              <a:cxnLst/>
              <a:rect l="l" t="t" r="r" b="b"/>
              <a:pathLst>
                <a:path w="123825" h="125095">
                  <a:moveTo>
                    <a:pt x="123443" y="124967"/>
                  </a:moveTo>
                  <a:lnTo>
                    <a:pt x="60959" y="0"/>
                  </a:lnTo>
                  <a:lnTo>
                    <a:pt x="0" y="124967"/>
                  </a:lnTo>
                  <a:lnTo>
                    <a:pt x="123443" y="1249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43000" y="5943600"/>
              <a:ext cx="2394585" cy="0"/>
            </a:xfrm>
            <a:custGeom>
              <a:avLst/>
              <a:gdLst/>
              <a:ahLst/>
              <a:cxnLst/>
              <a:rect l="l" t="t" r="r" b="b"/>
              <a:pathLst>
                <a:path w="2394585">
                  <a:moveTo>
                    <a:pt x="0" y="0"/>
                  </a:moveTo>
                  <a:lnTo>
                    <a:pt x="2394203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34155" y="5882639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443" y="60959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123443" y="6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5475" y="5398008"/>
              <a:ext cx="152399" cy="17373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846830" y="5247968"/>
            <a:ext cx="339090" cy="424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600" b="1" i="1" spc="70" dirty="0">
                <a:latin typeface="Arial"/>
                <a:cs typeface="Arial"/>
              </a:rPr>
              <a:t>x</a:t>
            </a:r>
            <a:r>
              <a:rPr sz="2250" b="1" i="1" spc="104" baseline="-24074" dirty="0">
                <a:latin typeface="Arial"/>
                <a:cs typeface="Arial"/>
              </a:rPr>
              <a:t>i</a:t>
            </a:r>
            <a:endParaRPr sz="2250" baseline="-24074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71600" y="4980051"/>
            <a:ext cx="995680" cy="942340"/>
          </a:xfrm>
          <a:custGeom>
            <a:avLst/>
            <a:gdLst/>
            <a:ahLst/>
            <a:cxnLst/>
            <a:rect l="l" t="t" r="r" b="b"/>
            <a:pathLst>
              <a:path w="995680" h="942339">
                <a:moveTo>
                  <a:pt x="995171" y="53720"/>
                </a:moveTo>
                <a:lnTo>
                  <a:pt x="949285" y="17859"/>
                </a:lnTo>
                <a:lnTo>
                  <a:pt x="900112" y="0"/>
                </a:lnTo>
                <a:lnTo>
                  <a:pt x="853511" y="1000"/>
                </a:lnTo>
                <a:lnTo>
                  <a:pt x="815339" y="21716"/>
                </a:lnTo>
                <a:lnTo>
                  <a:pt x="499871" y="317372"/>
                </a:lnTo>
                <a:lnTo>
                  <a:pt x="461057" y="337851"/>
                </a:lnTo>
                <a:lnTo>
                  <a:pt x="414527" y="338327"/>
                </a:lnTo>
                <a:lnTo>
                  <a:pt x="365712" y="319944"/>
                </a:lnTo>
                <a:lnTo>
                  <a:pt x="320039" y="283844"/>
                </a:lnTo>
                <a:lnTo>
                  <a:pt x="353377" y="331469"/>
                </a:lnTo>
                <a:lnTo>
                  <a:pt x="368426" y="381380"/>
                </a:lnTo>
                <a:lnTo>
                  <a:pt x="364616" y="427862"/>
                </a:lnTo>
                <a:lnTo>
                  <a:pt x="341375" y="465200"/>
                </a:lnTo>
                <a:lnTo>
                  <a:pt x="25907" y="760856"/>
                </a:lnTo>
                <a:lnTo>
                  <a:pt x="3524" y="798409"/>
                </a:lnTo>
                <a:lnTo>
                  <a:pt x="0" y="845248"/>
                </a:lnTo>
                <a:lnTo>
                  <a:pt x="14763" y="895230"/>
                </a:lnTo>
                <a:lnTo>
                  <a:pt x="47243" y="942212"/>
                </a:lnTo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 rot="19080000">
            <a:off x="1191182" y="5100208"/>
            <a:ext cx="496152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0"/>
              </a:lnSpc>
            </a:pPr>
            <a:r>
              <a:rPr sz="2800" b="1" i="1" spc="-50" dirty="0">
                <a:solidFill>
                  <a:srgbClr val="643100"/>
                </a:solidFill>
                <a:latin typeface="Arial"/>
                <a:cs typeface="Arial"/>
              </a:rPr>
              <a:t>v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19080000">
            <a:off x="1337394" y="5025387"/>
            <a:ext cx="317237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5"/>
              </a:lnSpc>
            </a:pPr>
            <a:r>
              <a:rPr sz="1900" b="1" i="1" spc="-50" dirty="0">
                <a:solidFill>
                  <a:srgbClr val="643100"/>
                </a:solidFill>
                <a:latin typeface="Arial"/>
                <a:cs typeface="Arial"/>
              </a:rPr>
              <a:t>t</a:t>
            </a:r>
            <a:endParaRPr sz="1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9080000">
            <a:off x="1395398" y="4911232"/>
            <a:ext cx="496152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0"/>
              </a:lnSpc>
            </a:pPr>
            <a:r>
              <a:rPr sz="2800" b="1" i="1" spc="-50" dirty="0">
                <a:solidFill>
                  <a:srgbClr val="643100"/>
                </a:solidFill>
                <a:latin typeface="Arial"/>
                <a:cs typeface="Arial"/>
              </a:rPr>
              <a:t>x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9080000">
            <a:off x="1667930" y="4978202"/>
            <a:ext cx="313896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5"/>
              </a:lnSpc>
            </a:pPr>
            <a:r>
              <a:rPr sz="1900" b="1" i="1" spc="-50" dirty="0">
                <a:solidFill>
                  <a:srgbClr val="643100"/>
                </a:solidFill>
                <a:latin typeface="Arial"/>
                <a:cs typeface="Arial"/>
              </a:rPr>
              <a:t>i</a:t>
            </a:r>
            <a:endParaRPr sz="1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50638" y="4214874"/>
            <a:ext cx="5524500" cy="237363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60400" marR="207010" indent="-610235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60400" algn="l"/>
              </a:tabLst>
            </a:pPr>
            <a:r>
              <a:rPr sz="2800" dirty="0">
                <a:latin typeface="Arial MT"/>
                <a:cs typeface="Arial MT"/>
              </a:rPr>
              <a:t>Scalar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50" b="1" i="1" baseline="23391" dirty="0">
                <a:latin typeface="Arial"/>
                <a:cs typeface="Arial"/>
              </a:rPr>
              <a:t>t</a:t>
            </a:r>
            <a:r>
              <a:rPr sz="2800" b="1" i="1" dirty="0">
                <a:latin typeface="Arial"/>
                <a:cs typeface="Arial"/>
              </a:rPr>
              <a:t>x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315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distance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projection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x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-60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origin</a:t>
            </a:r>
            <a:endParaRPr sz="2800">
              <a:latin typeface="Arial MT"/>
              <a:cs typeface="Arial MT"/>
            </a:endParaRPr>
          </a:p>
          <a:p>
            <a:pPr marL="660400" marR="55880" indent="-609600">
              <a:lnSpc>
                <a:spcPct val="100200"/>
              </a:lnSpc>
              <a:spcBef>
                <a:spcPts val="1660"/>
              </a:spcBef>
              <a:buClr>
                <a:srgbClr val="854300"/>
              </a:buClr>
              <a:buFont typeface="Microsoft Sans Serif"/>
              <a:buChar char="▪"/>
              <a:tabLst>
                <a:tab pos="660400" algn="l"/>
                <a:tab pos="1926589" algn="l"/>
              </a:tabLst>
            </a:pPr>
            <a:r>
              <a:rPr sz="2800" dirty="0">
                <a:latin typeface="Arial MT"/>
                <a:cs typeface="Arial MT"/>
              </a:rPr>
              <a:t>Thus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it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50" b="1" i="1" baseline="23391" dirty="0">
                <a:latin typeface="Arial"/>
                <a:cs typeface="Arial"/>
              </a:rPr>
              <a:t>t</a:t>
            </a:r>
            <a:r>
              <a:rPr sz="2800" b="1" i="1" dirty="0">
                <a:latin typeface="Arial"/>
                <a:cs typeface="Arial"/>
              </a:rPr>
              <a:t>x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307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projection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of </a:t>
            </a:r>
            <a:r>
              <a:rPr sz="2800" b="1" i="1" dirty="0">
                <a:latin typeface="Arial"/>
                <a:cs typeface="Arial"/>
              </a:rPr>
              <a:t>x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-37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into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dimensional subspace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60675" y="5027676"/>
            <a:ext cx="397510" cy="473709"/>
            <a:chOff x="2360675" y="5027676"/>
            <a:chExt cx="397510" cy="473709"/>
          </a:xfrm>
        </p:grpSpPr>
        <p:sp>
          <p:nvSpPr>
            <p:cNvPr id="23" name="object 23"/>
            <p:cNvSpPr/>
            <p:nvPr/>
          </p:nvSpPr>
          <p:spPr>
            <a:xfrm>
              <a:off x="2438399" y="51054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304799" y="380999"/>
                  </a:moveTo>
                  <a:lnTo>
                    <a:pt x="0" y="0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0675" y="5027676"/>
              <a:ext cx="152399" cy="1752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00"/>
              </a:spcBef>
              <a:tabLst>
                <a:tab pos="8683625" algn="l"/>
              </a:tabLst>
            </a:pPr>
            <a:r>
              <a:rPr u="heavy" spc="-21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Fisher</a:t>
            </a:r>
            <a:r>
              <a:rPr u="heavy" spc="-5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Linear</a:t>
            </a:r>
            <a:r>
              <a:rPr u="heavy" spc="-4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854300"/>
                  </a:solidFill>
                </a:uFill>
              </a:rPr>
              <a:t>Discriminant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39" y="1166875"/>
            <a:ext cx="8747760" cy="17945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60400" marR="923290" indent="-609600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60400" algn="l"/>
              </a:tabLst>
            </a:pPr>
            <a:r>
              <a:rPr sz="2800" dirty="0">
                <a:latin typeface="Arial MT"/>
                <a:cs typeface="Arial MT"/>
              </a:rPr>
              <a:t>Thus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projection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sample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x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315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onto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in </a:t>
            </a:r>
            <a:r>
              <a:rPr sz="2800" dirty="0">
                <a:latin typeface="Arial MT"/>
                <a:cs typeface="Arial MT"/>
              </a:rPr>
              <a:t>direction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00" b="1" i="1" spc="-3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given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spc="-20" dirty="0">
                <a:latin typeface="Arial"/>
                <a:cs typeface="Arial"/>
              </a:rPr>
              <a:t>v</a:t>
            </a:r>
            <a:r>
              <a:rPr sz="2850" b="1" i="1" spc="-30" baseline="23391" dirty="0">
                <a:latin typeface="Arial"/>
                <a:cs typeface="Arial"/>
              </a:rPr>
              <a:t>t</a:t>
            </a:r>
            <a:r>
              <a:rPr sz="2800" b="1" i="1" spc="-20" dirty="0">
                <a:latin typeface="Arial"/>
                <a:cs typeface="Arial"/>
              </a:rPr>
              <a:t>x</a:t>
            </a:r>
            <a:r>
              <a:rPr sz="2850" b="1" i="1" spc="-30" baseline="-20467" dirty="0">
                <a:latin typeface="Arial"/>
                <a:cs typeface="Arial"/>
              </a:rPr>
              <a:t>i</a:t>
            </a:r>
            <a:endParaRPr sz="2850" baseline="-20467">
              <a:latin typeface="Arial"/>
              <a:cs typeface="Arial"/>
            </a:endParaRPr>
          </a:p>
          <a:p>
            <a:pPr marL="659765" marR="55880" indent="-609600">
              <a:lnSpc>
                <a:spcPct val="100400"/>
              </a:lnSpc>
              <a:spcBef>
                <a:spcPts val="455"/>
              </a:spcBef>
              <a:buClr>
                <a:srgbClr val="854300"/>
              </a:buClr>
              <a:buFont typeface="Microsoft Sans Serif"/>
              <a:buChar char="▪"/>
              <a:tabLst>
                <a:tab pos="659765" algn="l"/>
              </a:tabLst>
            </a:pP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measure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separation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between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projections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different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classes?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31353" y="5477662"/>
            <a:ext cx="15367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spc="-50" dirty="0">
                <a:latin typeface="Yu Gothic"/>
                <a:cs typeface="Yu Gothic"/>
              </a:rPr>
              <a:t>|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8306" y="5271922"/>
            <a:ext cx="15367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spc="-50" dirty="0">
                <a:latin typeface="Yu Gothic"/>
                <a:cs typeface="Yu Gothic"/>
              </a:rPr>
              <a:t>|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8306" y="5687974"/>
            <a:ext cx="15367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spc="-1664" dirty="0">
                <a:latin typeface="Yu Gothic"/>
                <a:cs typeface="Yu Gothic"/>
              </a:rPr>
              <a:t>⎠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8306" y="5058563"/>
            <a:ext cx="15367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spc="-1664" dirty="0">
                <a:latin typeface="Yu Gothic"/>
                <a:cs typeface="Yu Gothic"/>
              </a:rPr>
              <a:t>⎞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78978" y="5477662"/>
            <a:ext cx="15367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spc="-50" dirty="0">
                <a:latin typeface="Yu Gothic"/>
                <a:cs typeface="Yu Gothic"/>
              </a:rPr>
              <a:t>|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75931" y="5271922"/>
            <a:ext cx="15367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spc="-50" dirty="0">
                <a:latin typeface="Yu Gothic"/>
                <a:cs typeface="Yu Gothic"/>
              </a:rPr>
              <a:t>|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5931" y="5687974"/>
            <a:ext cx="15367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spc="-1664" dirty="0">
                <a:latin typeface="Yu Gothic"/>
                <a:cs typeface="Yu Gothic"/>
              </a:rPr>
              <a:t>⎝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35679" y="5543194"/>
            <a:ext cx="13335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70654" y="5797702"/>
            <a:ext cx="13335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44336" y="5543194"/>
            <a:ext cx="13335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6595" y="5107330"/>
            <a:ext cx="37338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u="sng" spc="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60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2600" b="1" u="sng" spc="6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2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79744" y="5212486"/>
            <a:ext cx="220345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spc="-50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35454" y="5311548"/>
            <a:ext cx="9017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80662" y="5092091"/>
            <a:ext cx="281686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2572385" algn="l"/>
              </a:tabLst>
            </a:pPr>
            <a:r>
              <a:rPr sz="1500" b="1" i="1" spc="-25" dirty="0">
                <a:latin typeface="Arial"/>
                <a:cs typeface="Arial"/>
              </a:rPr>
              <a:t>n</a:t>
            </a:r>
            <a:r>
              <a:rPr sz="1650" b="1" spc="-37" baseline="-20202" dirty="0">
                <a:latin typeface="Arial"/>
                <a:cs typeface="Arial"/>
              </a:rPr>
              <a:t>1</a:t>
            </a:r>
            <a:r>
              <a:rPr sz="1650" b="1" baseline="-20202" dirty="0">
                <a:latin typeface="Arial"/>
                <a:cs typeface="Arial"/>
              </a:rPr>
              <a:t>	</a:t>
            </a:r>
            <a:r>
              <a:rPr sz="1500" b="1" i="1" spc="-25" dirty="0">
                <a:latin typeface="Arial"/>
                <a:cs typeface="Arial"/>
              </a:rPr>
              <a:t>n</a:t>
            </a:r>
            <a:r>
              <a:rPr sz="1650" b="1" spc="-37" baseline="-20202" dirty="0">
                <a:latin typeface="Arial"/>
                <a:cs typeface="Arial"/>
              </a:rPr>
              <a:t>1</a:t>
            </a:r>
            <a:endParaRPr sz="1650" baseline="-20202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74876" y="5776368"/>
            <a:ext cx="59372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i="1" dirty="0">
                <a:latin typeface="Arial"/>
                <a:cs typeface="Arial"/>
              </a:rPr>
              <a:t>x</a:t>
            </a:r>
            <a:r>
              <a:rPr sz="1500" b="1" i="1" spc="200" dirty="0">
                <a:latin typeface="Arial"/>
                <a:cs typeface="Arial"/>
              </a:rPr>
              <a:t> </a:t>
            </a:r>
            <a:r>
              <a:rPr sz="1500" spc="-25" dirty="0">
                <a:latin typeface="Symbol"/>
                <a:cs typeface="Symbol"/>
              </a:rPr>
              <a:t></a:t>
            </a:r>
            <a:r>
              <a:rPr sz="1500" b="1" i="1" spc="-25" dirty="0">
                <a:latin typeface="Arial"/>
                <a:cs typeface="Arial"/>
              </a:rPr>
              <a:t>C</a:t>
            </a:r>
            <a:r>
              <a:rPr sz="1500" b="1" spc="-25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58689" y="5238091"/>
            <a:ext cx="713740" cy="624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46430" algn="l"/>
              </a:tabLst>
            </a:pPr>
            <a:r>
              <a:rPr sz="3900" spc="-1185" dirty="0">
                <a:latin typeface="Yu Gothic"/>
                <a:cs typeface="Yu Gothic"/>
              </a:rPr>
              <a:t>Σ</a:t>
            </a:r>
            <a:r>
              <a:rPr sz="3900" dirty="0">
                <a:latin typeface="Times New Roman"/>
                <a:cs typeface="Times New Roman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33194" y="5107330"/>
            <a:ext cx="72390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250" b="1" i="1" baseline="-18518" dirty="0">
                <a:latin typeface="Arial"/>
                <a:cs typeface="Arial"/>
              </a:rPr>
              <a:t>t</a:t>
            </a:r>
            <a:r>
              <a:rPr sz="2250" b="1" i="1" spc="-37" baseline="-18518" dirty="0">
                <a:latin typeface="Arial"/>
                <a:cs typeface="Arial"/>
              </a:rPr>
              <a:t> </a:t>
            </a:r>
            <a:r>
              <a:rPr sz="3900" b="1" spc="-15" baseline="8547" dirty="0">
                <a:latin typeface="Yu Gothic"/>
                <a:cs typeface="Yu Gothic"/>
              </a:rPr>
              <a:t>(</a:t>
            </a:r>
            <a:r>
              <a:rPr sz="3900" spc="-330" baseline="8547" dirty="0">
                <a:latin typeface="Times New Roman"/>
                <a:cs typeface="Times New Roman"/>
              </a:rPr>
              <a:t> </a:t>
            </a:r>
            <a:r>
              <a:rPr sz="2600" b="1" u="sng" spc="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60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2600" b="1" u="sng" spc="6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2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36466" y="5238091"/>
            <a:ext cx="1120775" cy="624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53465" algn="l"/>
              </a:tabLst>
            </a:pPr>
            <a:r>
              <a:rPr sz="3900" spc="-1185" dirty="0">
                <a:latin typeface="Yu Gothic"/>
                <a:cs typeface="Yu Gothic"/>
              </a:rPr>
              <a:t>Σ</a:t>
            </a:r>
            <a:r>
              <a:rPr sz="3900" dirty="0">
                <a:latin typeface="Times New Roman"/>
                <a:cs typeface="Times New Roman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51226" y="5311548"/>
            <a:ext cx="9017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76090" y="5880605"/>
            <a:ext cx="6413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i="1" spc="-50" dirty="0"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98307" y="5880605"/>
            <a:ext cx="6413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i="1" spc="-50" dirty="0"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83879" y="5322214"/>
            <a:ext cx="21082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i="1" spc="-50" dirty="0">
                <a:latin typeface="Arial"/>
                <a:cs typeface="Arial"/>
              </a:rPr>
              <a:t>x</a:t>
            </a:r>
            <a:endParaRPr sz="2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75575" y="5576723"/>
            <a:ext cx="229235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i="1" spc="-50" dirty="0">
                <a:latin typeface="Arial"/>
                <a:cs typeface="Arial"/>
              </a:rPr>
              <a:t>n</a:t>
            </a:r>
            <a:endParaRPr sz="2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24140" y="5322214"/>
            <a:ext cx="121793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56870" algn="l"/>
                <a:tab pos="758825" algn="l"/>
              </a:tabLst>
            </a:pP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x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27952" y="5637684"/>
            <a:ext cx="104394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900" b="1" i="1" baseline="10683" dirty="0">
                <a:latin typeface="Arial"/>
                <a:cs typeface="Arial"/>
              </a:rPr>
              <a:t>n</a:t>
            </a:r>
            <a:r>
              <a:rPr sz="2250" b="1" baseline="-5555" dirty="0">
                <a:latin typeface="Arial"/>
                <a:cs typeface="Arial"/>
              </a:rPr>
              <a:t>1</a:t>
            </a:r>
            <a:r>
              <a:rPr sz="2250" b="1" spc="450" baseline="-5555" dirty="0">
                <a:latin typeface="Arial"/>
                <a:cs typeface="Arial"/>
              </a:rPr>
              <a:t> </a:t>
            </a:r>
            <a:r>
              <a:rPr sz="1500" b="1" i="1" dirty="0">
                <a:latin typeface="Arial"/>
                <a:cs typeface="Arial"/>
              </a:rPr>
              <a:t>x</a:t>
            </a:r>
            <a:r>
              <a:rPr sz="1500" b="1" i="1" spc="170" dirty="0">
                <a:latin typeface="Arial"/>
                <a:cs typeface="Arial"/>
              </a:rPr>
              <a:t> </a:t>
            </a:r>
            <a:r>
              <a:rPr sz="1500" spc="-25" dirty="0">
                <a:latin typeface="Symbol"/>
                <a:cs typeface="Symbol"/>
              </a:rPr>
              <a:t></a:t>
            </a:r>
            <a:r>
              <a:rPr sz="1500" b="1" i="1" spc="-25" dirty="0">
                <a:latin typeface="Arial"/>
                <a:cs typeface="Arial"/>
              </a:rPr>
              <a:t>C</a:t>
            </a:r>
            <a:r>
              <a:rPr sz="1500" b="1" spc="-25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47761" y="5303287"/>
            <a:ext cx="811530" cy="447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06425" algn="l"/>
              </a:tabLst>
            </a:pPr>
            <a:r>
              <a:rPr sz="2600" dirty="0">
                <a:latin typeface="Symbol"/>
                <a:cs typeface="Symbol"/>
              </a:rPr>
              <a:t>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750" spc="-50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49291" y="5303287"/>
            <a:ext cx="608965" cy="447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3384" algn="l"/>
              </a:tabLst>
            </a:pP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33091" y="3224815"/>
            <a:ext cx="140017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278890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6739" y="2995674"/>
            <a:ext cx="7938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0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47065" algn="l"/>
                <a:tab pos="1363345" algn="l"/>
                <a:tab pos="1833245" algn="l"/>
                <a:tab pos="2623820" algn="l"/>
                <a:tab pos="3115945" algn="l"/>
              </a:tabLst>
            </a:pPr>
            <a:r>
              <a:rPr sz="2800" spc="-25" dirty="0">
                <a:latin typeface="Arial MT"/>
                <a:cs typeface="Arial MT"/>
              </a:rPr>
              <a:t>Let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4125" spc="-1042" baseline="2020" dirty="0">
                <a:latin typeface="Symbol"/>
                <a:cs typeface="Symbol"/>
              </a:rPr>
              <a:t></a:t>
            </a:r>
            <a:r>
              <a:rPr sz="3900" b="1" spc="-1042" baseline="21367" dirty="0">
                <a:latin typeface="Arial"/>
                <a:cs typeface="Arial"/>
              </a:rPr>
              <a:t>~</a:t>
            </a:r>
            <a:r>
              <a:rPr sz="3900" b="1" baseline="21367" dirty="0">
                <a:latin typeface="Arial"/>
                <a:cs typeface="Arial"/>
              </a:rPr>
              <a:t>	</a:t>
            </a:r>
            <a:r>
              <a:rPr sz="2800" spc="-2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4125" spc="-1042" baseline="2020" dirty="0">
                <a:latin typeface="Symbol"/>
                <a:cs typeface="Symbol"/>
              </a:rPr>
              <a:t></a:t>
            </a:r>
            <a:r>
              <a:rPr sz="3900" b="1" spc="-1042" baseline="21367" dirty="0">
                <a:latin typeface="Arial"/>
                <a:cs typeface="Arial"/>
              </a:rPr>
              <a:t>~</a:t>
            </a:r>
            <a:r>
              <a:rPr sz="3900" b="1" baseline="21367" dirty="0">
                <a:latin typeface="Arial"/>
                <a:cs typeface="Arial"/>
              </a:rPr>
              <a:t>	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means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projections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of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96868" y="6263641"/>
            <a:ext cx="1517650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i="1" dirty="0">
                <a:latin typeface="Arial"/>
                <a:cs typeface="Arial"/>
              </a:rPr>
              <a:t>similarly</a:t>
            </a:r>
            <a:r>
              <a:rPr sz="2600" b="1" i="1" spc="-375" dirty="0">
                <a:latin typeface="Arial"/>
                <a:cs typeface="Arial"/>
              </a:rPr>
              <a:t> </a:t>
            </a:r>
            <a:r>
              <a:rPr sz="2600" b="1" spc="-50" dirty="0">
                <a:latin typeface="Arial"/>
                <a:cs typeface="Arial"/>
              </a:rPr>
              <a:t>,</a:t>
            </a:r>
            <a:endParaRPr sz="2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10811" y="6244690"/>
            <a:ext cx="148907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750" spc="-670" dirty="0">
                <a:latin typeface="Symbol"/>
                <a:cs typeface="Symbol"/>
              </a:rPr>
              <a:t></a:t>
            </a:r>
            <a:r>
              <a:rPr sz="3900" b="1" spc="-1005" baseline="18162" dirty="0">
                <a:latin typeface="Arial"/>
                <a:cs typeface="Arial"/>
              </a:rPr>
              <a:t>~</a:t>
            </a:r>
            <a:r>
              <a:rPr sz="3900" b="1" spc="-247" baseline="18162" dirty="0">
                <a:latin typeface="Arial"/>
                <a:cs typeface="Arial"/>
              </a:rPr>
              <a:t> </a:t>
            </a:r>
            <a:r>
              <a:rPr sz="2250" b="1" baseline="-24074" dirty="0">
                <a:latin typeface="Arial"/>
                <a:cs typeface="Arial"/>
              </a:rPr>
              <a:t>2</a:t>
            </a:r>
            <a:r>
              <a:rPr sz="2250" b="1" spc="-412" baseline="-24074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39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142" baseline="44444" dirty="0">
                <a:latin typeface="Arial"/>
                <a:cs typeface="Arial"/>
              </a:rPr>
              <a:t> </a:t>
            </a:r>
            <a:r>
              <a:rPr sz="2750" dirty="0">
                <a:latin typeface="Symbol"/>
                <a:cs typeface="Symbol"/>
              </a:rPr>
              <a:t></a:t>
            </a:r>
            <a:r>
              <a:rPr sz="2750" spc="55" dirty="0">
                <a:latin typeface="Times New Roman"/>
                <a:cs typeface="Times New Roman"/>
              </a:rPr>
              <a:t> </a:t>
            </a:r>
            <a:r>
              <a:rPr sz="2250" b="1" spc="-75" baseline="-24074" dirty="0">
                <a:latin typeface="Arial"/>
                <a:cs typeface="Arial"/>
              </a:rPr>
              <a:t>2</a:t>
            </a:r>
            <a:endParaRPr sz="2250" baseline="-24074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6739" y="3423918"/>
            <a:ext cx="7957184" cy="1471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065">
              <a:lnSpc>
                <a:spcPts val="3235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classes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2</a:t>
            </a:r>
            <a:endParaRPr sz="2800">
              <a:latin typeface="Arial MT"/>
              <a:cs typeface="Arial MT"/>
            </a:endParaRPr>
          </a:p>
          <a:p>
            <a:pPr marL="647065" indent="-608965">
              <a:lnSpc>
                <a:spcPts val="3415"/>
              </a:lnSpc>
              <a:buClr>
                <a:srgbClr val="854300"/>
              </a:buClr>
              <a:buFont typeface="Microsoft Sans Serif"/>
              <a:buChar char="▪"/>
              <a:tabLst>
                <a:tab pos="647065" algn="l"/>
              </a:tabLst>
            </a:pPr>
            <a:r>
              <a:rPr sz="2800" dirty="0">
                <a:latin typeface="Arial MT"/>
                <a:cs typeface="Arial MT"/>
              </a:rPr>
              <a:t>Let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950" dirty="0">
                <a:latin typeface="Symbol"/>
                <a:cs typeface="Symbol"/>
              </a:rPr>
              <a:t></a:t>
            </a:r>
            <a:r>
              <a:rPr sz="2850" b="1" i="1" baseline="-20467" dirty="0">
                <a:latin typeface="Arial"/>
                <a:cs typeface="Arial"/>
              </a:rPr>
              <a:t>1</a:t>
            </a:r>
            <a:r>
              <a:rPr sz="2850" b="1" i="1" spc="300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950" spc="-10" dirty="0">
                <a:latin typeface="Symbol"/>
                <a:cs typeface="Symbol"/>
              </a:rPr>
              <a:t></a:t>
            </a:r>
            <a:r>
              <a:rPr sz="2850" b="1" i="1" spc="-15" baseline="-20467" dirty="0">
                <a:latin typeface="Arial"/>
                <a:cs typeface="Arial"/>
              </a:rPr>
              <a:t>2</a:t>
            </a:r>
            <a:r>
              <a:rPr sz="2850" b="1" i="1" spc="-37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means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0" dirty="0">
                <a:latin typeface="Arial MT"/>
                <a:cs typeface="Arial MT"/>
              </a:rPr>
              <a:t> 2</a:t>
            </a:r>
            <a:endParaRPr sz="2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sz="2800" spc="235" dirty="0">
                <a:solidFill>
                  <a:srgbClr val="854300"/>
                </a:solidFill>
                <a:latin typeface="Microsoft Sans Serif"/>
                <a:cs typeface="Microsoft Sans Serif"/>
              </a:rPr>
              <a:t>▪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00958" y="4443474"/>
            <a:ext cx="4378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seems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like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good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measure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357883" y="4497325"/>
            <a:ext cx="0" cy="401320"/>
          </a:xfrm>
          <a:custGeom>
            <a:avLst/>
            <a:gdLst/>
            <a:ahLst/>
            <a:cxnLst/>
            <a:rect l="l" t="t" r="r" b="b"/>
            <a:pathLst>
              <a:path h="401320">
                <a:moveTo>
                  <a:pt x="0" y="0"/>
                </a:moveTo>
                <a:lnTo>
                  <a:pt x="0" y="400800"/>
                </a:lnTo>
              </a:path>
            </a:pathLst>
          </a:custGeom>
          <a:ln w="13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06397" y="4497325"/>
            <a:ext cx="0" cy="401320"/>
          </a:xfrm>
          <a:custGeom>
            <a:avLst/>
            <a:gdLst/>
            <a:ahLst/>
            <a:cxnLst/>
            <a:rect l="l" t="t" r="r" b="b"/>
            <a:pathLst>
              <a:path h="401320">
                <a:moveTo>
                  <a:pt x="0" y="0"/>
                </a:moveTo>
                <a:lnTo>
                  <a:pt x="0" y="400800"/>
                </a:lnTo>
              </a:path>
            </a:pathLst>
          </a:custGeom>
          <a:ln w="13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346709" y="4419671"/>
            <a:ext cx="1042035" cy="501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2605"/>
              </a:lnSpc>
              <a:spcBef>
                <a:spcPts val="130"/>
              </a:spcBef>
              <a:tabLst>
                <a:tab pos="429895" algn="l"/>
              </a:tabLst>
            </a:pPr>
            <a:r>
              <a:rPr sz="2750" spc="-695" dirty="0">
                <a:latin typeface="Symbol"/>
                <a:cs typeface="Symbol"/>
              </a:rPr>
              <a:t></a:t>
            </a:r>
            <a:r>
              <a:rPr sz="3900" b="1" spc="-1042" baseline="18162" dirty="0">
                <a:latin typeface="Arial"/>
                <a:cs typeface="Arial"/>
              </a:rPr>
              <a:t>~</a:t>
            </a:r>
            <a:r>
              <a:rPr sz="3900" b="1" baseline="18162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750" spc="-705" dirty="0">
                <a:latin typeface="Symbol"/>
                <a:cs typeface="Symbol"/>
              </a:rPr>
              <a:t></a:t>
            </a:r>
            <a:r>
              <a:rPr sz="3900" b="1" spc="-1057" baseline="18162" dirty="0">
                <a:latin typeface="Arial"/>
                <a:cs typeface="Arial"/>
              </a:rPr>
              <a:t>~</a:t>
            </a:r>
            <a:endParaRPr sz="3900" baseline="18162">
              <a:latin typeface="Arial"/>
              <a:cs typeface="Arial"/>
            </a:endParaRPr>
          </a:p>
          <a:p>
            <a:pPr marL="245745">
              <a:lnSpc>
                <a:spcPts val="1105"/>
              </a:lnSpc>
              <a:tabLst>
                <a:tab pos="894715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00"/>
              </a:spcBef>
              <a:tabLst>
                <a:tab pos="8683625" algn="l"/>
              </a:tabLst>
            </a:pPr>
            <a:r>
              <a:rPr u="heavy" spc="-21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Fisher</a:t>
            </a:r>
            <a:r>
              <a:rPr u="heavy" spc="-5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Linear</a:t>
            </a:r>
            <a:r>
              <a:rPr u="heavy" spc="-4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854300"/>
                  </a:solidFill>
                </a:uFill>
              </a:rPr>
              <a:t>Discriminant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39" y="1166875"/>
            <a:ext cx="2595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good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9882" y="1166875"/>
            <a:ext cx="45389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as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measure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separation?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41194" y="122529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0817"/>
                </a:lnTo>
              </a:path>
            </a:pathLst>
          </a:custGeom>
          <a:ln w="13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89704" y="122529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0817"/>
                </a:lnTo>
              </a:path>
            </a:pathLst>
          </a:custGeom>
          <a:ln w="13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30016" y="1147644"/>
            <a:ext cx="1042035" cy="501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2605"/>
              </a:lnSpc>
              <a:spcBef>
                <a:spcPts val="130"/>
              </a:spcBef>
              <a:tabLst>
                <a:tab pos="429895" algn="l"/>
              </a:tabLst>
            </a:pPr>
            <a:r>
              <a:rPr sz="2750" spc="-695" dirty="0">
                <a:latin typeface="Symbol"/>
                <a:cs typeface="Symbol"/>
              </a:rPr>
              <a:t></a:t>
            </a:r>
            <a:r>
              <a:rPr sz="3900" b="1" spc="-1042" baseline="18162" dirty="0">
                <a:latin typeface="Arial"/>
                <a:cs typeface="Arial"/>
              </a:rPr>
              <a:t>~</a:t>
            </a:r>
            <a:r>
              <a:rPr sz="3900" b="1" baseline="18162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750" spc="-705" dirty="0">
                <a:latin typeface="Symbol"/>
                <a:cs typeface="Symbol"/>
              </a:rPr>
              <a:t></a:t>
            </a:r>
            <a:r>
              <a:rPr sz="3900" b="1" spc="-1057" baseline="18162" dirty="0">
                <a:latin typeface="Arial"/>
                <a:cs typeface="Arial"/>
              </a:rPr>
              <a:t>~</a:t>
            </a:r>
            <a:endParaRPr sz="3900" baseline="18162">
              <a:latin typeface="Arial"/>
              <a:cs typeface="Arial"/>
            </a:endParaRPr>
          </a:p>
          <a:p>
            <a:pPr marL="245745">
              <a:lnSpc>
                <a:spcPts val="1105"/>
              </a:lnSpc>
              <a:tabLst>
                <a:tab pos="894715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39" y="5205474"/>
            <a:ext cx="8553450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22300" marR="5080" indent="-610235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22300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vertical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axes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better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horizontal </a:t>
            </a:r>
            <a:r>
              <a:rPr sz="2800" dirty="0">
                <a:latin typeface="Arial MT"/>
                <a:cs typeface="Arial MT"/>
              </a:rPr>
              <a:t>axes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separability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339" y="6145781"/>
            <a:ext cx="198056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spc="-10" dirty="0">
                <a:latin typeface="Arial MT"/>
                <a:cs typeface="Arial MT"/>
              </a:rPr>
              <a:t>however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23027" y="624535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20">
                <a:moveTo>
                  <a:pt x="0" y="0"/>
                </a:moveTo>
                <a:lnTo>
                  <a:pt x="0" y="400805"/>
                </a:lnTo>
              </a:path>
            </a:pathLst>
          </a:custGeom>
          <a:ln w="1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90426" y="624535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20">
                <a:moveTo>
                  <a:pt x="0" y="0"/>
                </a:moveTo>
                <a:lnTo>
                  <a:pt x="0" y="400805"/>
                </a:lnTo>
              </a:path>
            </a:pathLst>
          </a:custGeom>
          <a:ln w="1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36959" y="624535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20">
                <a:moveTo>
                  <a:pt x="0" y="0"/>
                </a:moveTo>
                <a:lnTo>
                  <a:pt x="0" y="400805"/>
                </a:lnTo>
              </a:path>
            </a:pathLst>
          </a:custGeom>
          <a:ln w="1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05865" y="624535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20">
                <a:moveTo>
                  <a:pt x="0" y="0"/>
                </a:moveTo>
                <a:lnTo>
                  <a:pt x="0" y="400805"/>
                </a:lnTo>
              </a:path>
            </a:pathLst>
          </a:custGeom>
          <a:ln w="1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70935" y="6409677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25875" y="6167698"/>
            <a:ext cx="2343785" cy="501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3500">
              <a:lnSpc>
                <a:spcPts val="2605"/>
              </a:lnSpc>
              <a:spcBef>
                <a:spcPts val="130"/>
              </a:spcBef>
              <a:tabLst>
                <a:tab pos="884555" algn="l"/>
                <a:tab pos="1256665" algn="l"/>
                <a:tab pos="1678305" algn="l"/>
              </a:tabLst>
            </a:pPr>
            <a:r>
              <a:rPr sz="2600" dirty="0">
                <a:latin typeface="Symbol"/>
                <a:cs typeface="Symbol"/>
              </a:rPr>
              <a:t>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750" spc="-565" dirty="0">
                <a:latin typeface="Symbol"/>
                <a:cs typeface="Symbol"/>
              </a:rPr>
              <a:t></a:t>
            </a:r>
            <a:r>
              <a:rPr sz="3900" spc="-847" baseline="32051" dirty="0">
                <a:latin typeface="Segoe UI Symbol"/>
                <a:cs typeface="Segoe UI Symbol"/>
              </a:rPr>
              <a:t>_</a:t>
            </a:r>
            <a:r>
              <a:rPr sz="3900" baseline="32051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Symbol"/>
                <a:cs typeface="Symbol"/>
              </a:rPr>
              <a:t>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750" spc="-685" dirty="0">
                <a:latin typeface="Symbol"/>
                <a:cs typeface="Symbol"/>
              </a:rPr>
              <a:t></a:t>
            </a:r>
            <a:r>
              <a:rPr sz="3900" b="1" spc="-1027" baseline="18162" dirty="0">
                <a:latin typeface="Arial"/>
                <a:cs typeface="Arial"/>
              </a:rPr>
              <a:t>~</a:t>
            </a:r>
            <a:r>
              <a:rPr sz="3900" b="1" baseline="18162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750" spc="-685" dirty="0">
                <a:latin typeface="Symbol"/>
                <a:cs typeface="Symbol"/>
              </a:rPr>
              <a:t></a:t>
            </a:r>
            <a:r>
              <a:rPr sz="3900" b="1" spc="-1027" baseline="18162" dirty="0">
                <a:latin typeface="Arial"/>
                <a:cs typeface="Arial"/>
              </a:rPr>
              <a:t>~</a:t>
            </a:r>
            <a:endParaRPr sz="3900" baseline="18162">
              <a:latin typeface="Arial"/>
              <a:cs typeface="Arial"/>
            </a:endParaRPr>
          </a:p>
          <a:p>
            <a:pPr marL="582930">
              <a:lnSpc>
                <a:spcPts val="1105"/>
              </a:lnSpc>
              <a:tabLst>
                <a:tab pos="1472565" algn="l"/>
                <a:tab pos="2196465" algn="l"/>
              </a:tabLst>
            </a:pPr>
            <a:r>
              <a:rPr sz="1500" b="1" spc="-50" dirty="0">
                <a:latin typeface="Arial"/>
                <a:cs typeface="Arial"/>
              </a:rPr>
              <a:t>2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9129" y="5975674"/>
            <a:ext cx="2787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125" spc="-847" baseline="-30303" dirty="0">
                <a:latin typeface="Symbol"/>
                <a:cs typeface="Symbol"/>
              </a:rPr>
              <a:t></a:t>
            </a:r>
            <a:r>
              <a:rPr sz="2600" spc="-565" dirty="0">
                <a:latin typeface="Segoe UI Symbol"/>
                <a:cs typeface="Segoe UI Symbol"/>
              </a:rPr>
              <a:t>_</a:t>
            </a:r>
            <a:endParaRPr sz="26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08961" y="1708410"/>
            <a:ext cx="0" cy="332740"/>
          </a:xfrm>
          <a:custGeom>
            <a:avLst/>
            <a:gdLst/>
            <a:ahLst/>
            <a:cxnLst/>
            <a:rect l="l" t="t" r="r" b="b"/>
            <a:pathLst>
              <a:path h="332739">
                <a:moveTo>
                  <a:pt x="0" y="0"/>
                </a:moveTo>
                <a:lnTo>
                  <a:pt x="0" y="332235"/>
                </a:lnTo>
              </a:path>
            </a:pathLst>
          </a:custGeom>
          <a:ln w="11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58419" y="1708410"/>
            <a:ext cx="0" cy="332740"/>
          </a:xfrm>
          <a:custGeom>
            <a:avLst/>
            <a:gdLst/>
            <a:ahLst/>
            <a:cxnLst/>
            <a:rect l="l" t="t" r="r" b="b"/>
            <a:pathLst>
              <a:path h="332739">
                <a:moveTo>
                  <a:pt x="0" y="0"/>
                </a:moveTo>
                <a:lnTo>
                  <a:pt x="0" y="332235"/>
                </a:lnTo>
              </a:path>
            </a:pathLst>
          </a:custGeom>
          <a:ln w="11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10074" y="1843376"/>
            <a:ext cx="11557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-50" dirty="0"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89808" y="1843376"/>
            <a:ext cx="11557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-50" dirty="0"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3939" y="1666747"/>
            <a:ext cx="286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0865" indent="-532765">
              <a:lnSpc>
                <a:spcPct val="100000"/>
              </a:lnSpc>
              <a:spcBef>
                <a:spcPts val="100"/>
              </a:spcBef>
              <a:buClr>
                <a:srgbClr val="854300"/>
              </a:buClr>
              <a:buFont typeface="Microsoft Sans Serif"/>
              <a:buChar char="▪"/>
              <a:tabLst>
                <a:tab pos="570865" algn="l"/>
                <a:tab pos="2098040" algn="l"/>
                <a:tab pos="24123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larger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3450" spc="-907" baseline="7246" dirty="0">
                <a:latin typeface="Symbol"/>
                <a:cs typeface="Symbol"/>
              </a:rPr>
              <a:t></a:t>
            </a:r>
            <a:r>
              <a:rPr sz="3225" b="1" spc="-907" baseline="25839" dirty="0">
                <a:latin typeface="Arial"/>
                <a:cs typeface="Arial"/>
              </a:rPr>
              <a:t>~</a:t>
            </a:r>
            <a:r>
              <a:rPr sz="3225" b="1" baseline="25839" dirty="0">
                <a:latin typeface="Arial"/>
                <a:cs typeface="Arial"/>
              </a:rPr>
              <a:t>	</a:t>
            </a:r>
            <a:r>
              <a:rPr sz="3225" baseline="7751" dirty="0">
                <a:latin typeface="Symbol"/>
                <a:cs typeface="Symbol"/>
              </a:rPr>
              <a:t></a:t>
            </a:r>
            <a:r>
              <a:rPr sz="3225" baseline="7751" dirty="0">
                <a:latin typeface="Times New Roman"/>
                <a:cs typeface="Times New Roman"/>
              </a:rPr>
              <a:t> </a:t>
            </a:r>
            <a:r>
              <a:rPr sz="3450" spc="-892" baseline="7246" dirty="0">
                <a:latin typeface="Symbol"/>
                <a:cs typeface="Symbol"/>
              </a:rPr>
              <a:t></a:t>
            </a:r>
            <a:r>
              <a:rPr sz="3225" b="1" spc="-892" baseline="25839" dirty="0">
                <a:latin typeface="Arial"/>
                <a:cs typeface="Arial"/>
              </a:rPr>
              <a:t>~</a:t>
            </a:r>
            <a:endParaRPr sz="3225" baseline="25839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774884" y="2209800"/>
            <a:ext cx="3083560" cy="2066925"/>
            <a:chOff x="3774884" y="2209800"/>
            <a:chExt cx="3083560" cy="2066925"/>
          </a:xfrm>
        </p:grpSpPr>
        <p:sp>
          <p:nvSpPr>
            <p:cNvPr id="23" name="object 23"/>
            <p:cNvSpPr/>
            <p:nvPr/>
          </p:nvSpPr>
          <p:spPr>
            <a:xfrm>
              <a:off x="4088891" y="2330195"/>
              <a:ext cx="0" cy="1937385"/>
            </a:xfrm>
            <a:custGeom>
              <a:avLst/>
              <a:gdLst/>
              <a:ahLst/>
              <a:cxnLst/>
              <a:rect l="l" t="t" r="r" b="b"/>
              <a:pathLst>
                <a:path h="1937385">
                  <a:moveTo>
                    <a:pt x="0" y="1937003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27931" y="2209800"/>
              <a:ext cx="123825" cy="125095"/>
            </a:xfrm>
            <a:custGeom>
              <a:avLst/>
              <a:gdLst/>
              <a:ahLst/>
              <a:cxnLst/>
              <a:rect l="l" t="t" r="r" b="b"/>
              <a:pathLst>
                <a:path w="123825" h="125094">
                  <a:moveTo>
                    <a:pt x="123443" y="124967"/>
                  </a:moveTo>
                  <a:lnTo>
                    <a:pt x="62483" y="0"/>
                  </a:lnTo>
                  <a:lnTo>
                    <a:pt x="0" y="124967"/>
                  </a:lnTo>
                  <a:lnTo>
                    <a:pt x="123443" y="1249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84091" y="4191000"/>
              <a:ext cx="2954020" cy="0"/>
            </a:xfrm>
            <a:custGeom>
              <a:avLst/>
              <a:gdLst/>
              <a:ahLst/>
              <a:cxnLst/>
              <a:rect l="l" t="t" r="r" b="b"/>
              <a:pathLst>
                <a:path w="2954020">
                  <a:moveTo>
                    <a:pt x="0" y="0"/>
                  </a:moveTo>
                  <a:lnTo>
                    <a:pt x="2953511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34555" y="4130039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443" y="60959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123443" y="6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4167" y="2697479"/>
              <a:ext cx="137159" cy="13563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061458" y="1666747"/>
            <a:ext cx="5177790" cy="110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expected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separation</a:t>
            </a:r>
            <a:endParaRPr sz="2400">
              <a:latin typeface="Arial MT"/>
              <a:cs typeface="Arial MT"/>
            </a:endParaRPr>
          </a:p>
          <a:p>
            <a:pPr marL="897255">
              <a:lnSpc>
                <a:spcPct val="100000"/>
              </a:lnSpc>
              <a:spcBef>
                <a:spcPts val="2310"/>
              </a:spcBef>
            </a:pPr>
            <a:r>
              <a:rPr sz="2750" spc="-25" dirty="0">
                <a:latin typeface="Symbol"/>
                <a:cs typeface="Symbol"/>
              </a:rPr>
              <a:t></a:t>
            </a:r>
            <a:r>
              <a:rPr sz="2250" b="1" spc="-37" baseline="-24074" dirty="0">
                <a:latin typeface="Arial"/>
                <a:cs typeface="Arial"/>
              </a:rPr>
              <a:t>1</a:t>
            </a:r>
            <a:endParaRPr sz="2250" baseline="-24074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44567" y="2375916"/>
            <a:ext cx="2028825" cy="992505"/>
            <a:chOff x="4544567" y="2375916"/>
            <a:chExt cx="2028825" cy="992505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4567" y="2589276"/>
              <a:ext cx="137159" cy="137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3731" y="2513076"/>
              <a:ext cx="135635" cy="137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9367" y="2697480"/>
              <a:ext cx="137159" cy="13563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1767" y="2375916"/>
              <a:ext cx="137159" cy="1371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47131" y="2436876"/>
              <a:ext cx="440435" cy="30479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224272" y="2910839"/>
              <a:ext cx="1348740" cy="457200"/>
            </a:xfrm>
            <a:custGeom>
              <a:avLst/>
              <a:gdLst/>
              <a:ahLst/>
              <a:cxnLst/>
              <a:rect l="l" t="t" r="r" b="b"/>
              <a:pathLst>
                <a:path w="1348740" h="457200">
                  <a:moveTo>
                    <a:pt x="246875" y="321564"/>
                  </a:moveTo>
                  <a:lnTo>
                    <a:pt x="137147" y="321564"/>
                  </a:lnTo>
                  <a:lnTo>
                    <a:pt x="137147" y="198120"/>
                  </a:lnTo>
                  <a:lnTo>
                    <a:pt x="0" y="198120"/>
                  </a:lnTo>
                  <a:lnTo>
                    <a:pt x="0" y="333756"/>
                  </a:lnTo>
                  <a:lnTo>
                    <a:pt x="109728" y="333756"/>
                  </a:lnTo>
                  <a:lnTo>
                    <a:pt x="109728" y="457200"/>
                  </a:lnTo>
                  <a:lnTo>
                    <a:pt x="246875" y="457200"/>
                  </a:lnTo>
                  <a:lnTo>
                    <a:pt x="246875" y="321564"/>
                  </a:lnTo>
                  <a:close/>
                </a:path>
                <a:path w="1348740" h="457200">
                  <a:moveTo>
                    <a:pt x="457187" y="225552"/>
                  </a:moveTo>
                  <a:lnTo>
                    <a:pt x="321564" y="225552"/>
                  </a:lnTo>
                  <a:lnTo>
                    <a:pt x="321564" y="362712"/>
                  </a:lnTo>
                  <a:lnTo>
                    <a:pt x="457187" y="362712"/>
                  </a:lnTo>
                  <a:lnTo>
                    <a:pt x="457187" y="225552"/>
                  </a:lnTo>
                  <a:close/>
                </a:path>
                <a:path w="1348740" h="457200">
                  <a:moveTo>
                    <a:pt x="761987" y="0"/>
                  </a:moveTo>
                  <a:lnTo>
                    <a:pt x="626364" y="0"/>
                  </a:lnTo>
                  <a:lnTo>
                    <a:pt x="626364" y="137160"/>
                  </a:lnTo>
                  <a:lnTo>
                    <a:pt x="761987" y="137160"/>
                  </a:lnTo>
                  <a:lnTo>
                    <a:pt x="761987" y="0"/>
                  </a:lnTo>
                  <a:close/>
                </a:path>
                <a:path w="1348740" h="457200">
                  <a:moveTo>
                    <a:pt x="1074407" y="294132"/>
                  </a:moveTo>
                  <a:lnTo>
                    <a:pt x="938784" y="294132"/>
                  </a:lnTo>
                  <a:lnTo>
                    <a:pt x="938784" y="431292"/>
                  </a:lnTo>
                  <a:lnTo>
                    <a:pt x="1074407" y="431292"/>
                  </a:lnTo>
                  <a:lnTo>
                    <a:pt x="1074407" y="294132"/>
                  </a:lnTo>
                  <a:close/>
                </a:path>
                <a:path w="1348740" h="457200">
                  <a:moveTo>
                    <a:pt x="1074407" y="36576"/>
                  </a:moveTo>
                  <a:lnTo>
                    <a:pt x="938784" y="36576"/>
                  </a:lnTo>
                  <a:lnTo>
                    <a:pt x="938784" y="173736"/>
                  </a:lnTo>
                  <a:lnTo>
                    <a:pt x="1074407" y="173736"/>
                  </a:lnTo>
                  <a:lnTo>
                    <a:pt x="1074407" y="36576"/>
                  </a:lnTo>
                  <a:close/>
                </a:path>
                <a:path w="1348740" h="457200">
                  <a:moveTo>
                    <a:pt x="1348727" y="225552"/>
                  </a:moveTo>
                  <a:lnTo>
                    <a:pt x="1211580" y="225552"/>
                  </a:lnTo>
                  <a:lnTo>
                    <a:pt x="1211580" y="362712"/>
                  </a:lnTo>
                  <a:lnTo>
                    <a:pt x="1348727" y="362712"/>
                  </a:lnTo>
                  <a:lnTo>
                    <a:pt x="1348727" y="225552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849110" y="2837161"/>
            <a:ext cx="38481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750" spc="-25" dirty="0">
                <a:latin typeface="Symbol"/>
                <a:cs typeface="Symbol"/>
              </a:rPr>
              <a:t></a:t>
            </a:r>
            <a:r>
              <a:rPr sz="2250" b="1" spc="-37" baseline="-24074" dirty="0">
                <a:latin typeface="Arial"/>
                <a:cs typeface="Arial"/>
              </a:rPr>
              <a:t>2</a:t>
            </a:r>
            <a:endParaRPr sz="2250" baseline="-24074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76798" y="3944436"/>
            <a:ext cx="379730" cy="7162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4125" spc="-885" baseline="-30303" dirty="0">
                <a:latin typeface="Symbol"/>
                <a:cs typeface="Symbol"/>
              </a:rPr>
              <a:t></a:t>
            </a:r>
            <a:r>
              <a:rPr sz="2600" spc="-590" dirty="0">
                <a:latin typeface="Segoe UI Symbol"/>
                <a:cs typeface="Segoe UI Symbol"/>
              </a:rPr>
              <a:t>_</a:t>
            </a:r>
            <a:endParaRPr sz="2600">
              <a:latin typeface="Segoe UI Symbol"/>
              <a:cs typeface="Segoe UI Symbol"/>
            </a:endParaRPr>
          </a:p>
          <a:p>
            <a:pPr marL="233045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49110" y="4005396"/>
            <a:ext cx="384175" cy="7162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4125" spc="-892" baseline="-30303" dirty="0">
                <a:latin typeface="Symbol"/>
                <a:cs typeface="Symbol"/>
              </a:rPr>
              <a:t></a:t>
            </a:r>
            <a:r>
              <a:rPr sz="2600" spc="-595" dirty="0">
                <a:latin typeface="Segoe UI Symbol"/>
                <a:cs typeface="Segoe UI Symbol"/>
              </a:rPr>
              <a:t>_</a:t>
            </a:r>
            <a:endParaRPr sz="2600">
              <a:latin typeface="Segoe UI Symbol"/>
              <a:cs typeface="Segoe UI Symbol"/>
            </a:endParaRPr>
          </a:p>
          <a:p>
            <a:pPr marL="23749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988051" y="2713354"/>
            <a:ext cx="1102360" cy="1553845"/>
            <a:chOff x="4988051" y="2713354"/>
            <a:chExt cx="1102360" cy="1553845"/>
          </a:xfrm>
        </p:grpSpPr>
        <p:sp>
          <p:nvSpPr>
            <p:cNvPr id="40" name="object 40"/>
            <p:cNvSpPr/>
            <p:nvPr/>
          </p:nvSpPr>
          <p:spPr>
            <a:xfrm>
              <a:off x="4988051" y="41147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152399"/>
                  </a:moveTo>
                  <a:lnTo>
                    <a:pt x="76199" y="0"/>
                  </a:lnTo>
                  <a:lnTo>
                    <a:pt x="0" y="152399"/>
                  </a:lnTo>
                  <a:lnTo>
                    <a:pt x="152399" y="152399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37503" y="409955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152399"/>
                  </a:moveTo>
                  <a:lnTo>
                    <a:pt x="76199" y="0"/>
                  </a:lnTo>
                  <a:lnTo>
                    <a:pt x="0" y="152399"/>
                  </a:lnTo>
                  <a:lnTo>
                    <a:pt x="152399" y="152399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55107" y="2727959"/>
              <a:ext cx="957580" cy="1463040"/>
            </a:xfrm>
            <a:custGeom>
              <a:avLst/>
              <a:gdLst/>
              <a:ahLst/>
              <a:cxnLst/>
              <a:rect l="l" t="t" r="r" b="b"/>
              <a:pathLst>
                <a:path w="957579" h="1463039">
                  <a:moveTo>
                    <a:pt x="0" y="0"/>
                  </a:moveTo>
                  <a:lnTo>
                    <a:pt x="0" y="1463039"/>
                  </a:lnTo>
                </a:path>
                <a:path w="957579" h="1463039">
                  <a:moveTo>
                    <a:pt x="957071" y="545591"/>
                  </a:moveTo>
                  <a:lnTo>
                    <a:pt x="957071" y="1463039"/>
                  </a:lnTo>
                </a:path>
              </a:pathLst>
            </a:custGeom>
            <a:ln w="2895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870450" y="2572246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49978" y="2221332"/>
            <a:ext cx="30162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25" spc="-1042" baseline="-17171" dirty="0">
                <a:latin typeface="Symbol"/>
                <a:cs typeface="Symbol"/>
              </a:rPr>
              <a:t></a:t>
            </a:r>
            <a:r>
              <a:rPr sz="2600" b="1" spc="-695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012691" y="2575560"/>
            <a:ext cx="1852930" cy="624840"/>
            <a:chOff x="4012691" y="2575560"/>
            <a:chExt cx="1852930" cy="624840"/>
          </a:xfrm>
        </p:grpSpPr>
        <p:sp>
          <p:nvSpPr>
            <p:cNvPr id="46" name="object 46"/>
            <p:cNvSpPr/>
            <p:nvPr/>
          </p:nvSpPr>
          <p:spPr>
            <a:xfrm>
              <a:off x="4012691" y="257556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152399"/>
                  </a:moveTo>
                  <a:lnTo>
                    <a:pt x="76199" y="0"/>
                  </a:lnTo>
                  <a:lnTo>
                    <a:pt x="0" y="152399"/>
                  </a:lnTo>
                  <a:lnTo>
                    <a:pt x="152399" y="152399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88891" y="2651760"/>
              <a:ext cx="899160" cy="1905"/>
            </a:xfrm>
            <a:custGeom>
              <a:avLst/>
              <a:gdLst/>
              <a:ahLst/>
              <a:cxnLst/>
              <a:rect l="l" t="t" r="r" b="b"/>
              <a:pathLst>
                <a:path w="899160" h="1905">
                  <a:moveTo>
                    <a:pt x="0" y="1523"/>
                  </a:moveTo>
                  <a:lnTo>
                    <a:pt x="899159" y="0"/>
                  </a:lnTo>
                </a:path>
              </a:pathLst>
            </a:custGeom>
            <a:ln w="2895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27931" y="3048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152399"/>
                  </a:moveTo>
                  <a:lnTo>
                    <a:pt x="76199" y="0"/>
                  </a:lnTo>
                  <a:lnTo>
                    <a:pt x="0" y="152399"/>
                  </a:lnTo>
                  <a:lnTo>
                    <a:pt x="152399" y="152399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14799" y="3136392"/>
              <a:ext cx="1736089" cy="5080"/>
            </a:xfrm>
            <a:custGeom>
              <a:avLst/>
              <a:gdLst/>
              <a:ahLst/>
              <a:cxnLst/>
              <a:rect l="l" t="t" r="r" b="b"/>
              <a:pathLst>
                <a:path w="1736089" h="5080">
                  <a:moveTo>
                    <a:pt x="0" y="4571"/>
                  </a:moveTo>
                  <a:lnTo>
                    <a:pt x="1735835" y="0"/>
                  </a:lnTo>
                </a:path>
              </a:pathLst>
            </a:custGeom>
            <a:ln w="2895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838446" y="3181846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13403" y="2830932"/>
            <a:ext cx="30162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25" spc="-1042" baseline="-17171" dirty="0">
                <a:latin typeface="Symbol"/>
                <a:cs typeface="Symbol"/>
              </a:rPr>
              <a:t></a:t>
            </a:r>
            <a:r>
              <a:rPr sz="2600" b="1" spc="-695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665475" y="2529839"/>
            <a:ext cx="139065" cy="2057400"/>
            <a:chOff x="2665475" y="2529839"/>
            <a:chExt cx="139065" cy="2057400"/>
          </a:xfrm>
        </p:grpSpPr>
        <p:sp>
          <p:nvSpPr>
            <p:cNvPr id="53" name="object 53"/>
            <p:cNvSpPr/>
            <p:nvPr/>
          </p:nvSpPr>
          <p:spPr>
            <a:xfrm>
              <a:off x="2731007" y="2650235"/>
              <a:ext cx="0" cy="1937385"/>
            </a:xfrm>
            <a:custGeom>
              <a:avLst/>
              <a:gdLst/>
              <a:ahLst/>
              <a:cxnLst/>
              <a:rect l="l" t="t" r="r" b="b"/>
              <a:pathLst>
                <a:path h="1937385">
                  <a:moveTo>
                    <a:pt x="0" y="1191767"/>
                  </a:moveTo>
                  <a:lnTo>
                    <a:pt x="0" y="1937003"/>
                  </a:lnTo>
                </a:path>
                <a:path h="1937385">
                  <a:moveTo>
                    <a:pt x="0" y="906779"/>
                  </a:moveTo>
                  <a:lnTo>
                    <a:pt x="0" y="931163"/>
                  </a:lnTo>
                </a:path>
                <a:path h="1937385">
                  <a:moveTo>
                    <a:pt x="0" y="0"/>
                  </a:moveTo>
                  <a:lnTo>
                    <a:pt x="0" y="73456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70047" y="2529839"/>
              <a:ext cx="123825" cy="125095"/>
            </a:xfrm>
            <a:custGeom>
              <a:avLst/>
              <a:gdLst/>
              <a:ahLst/>
              <a:cxnLst/>
              <a:rect l="l" t="t" r="r" b="b"/>
              <a:pathLst>
                <a:path w="123825" h="125094">
                  <a:moveTo>
                    <a:pt x="123443" y="124967"/>
                  </a:moveTo>
                  <a:lnTo>
                    <a:pt x="60959" y="0"/>
                  </a:lnTo>
                  <a:lnTo>
                    <a:pt x="0" y="124967"/>
                  </a:lnTo>
                  <a:lnTo>
                    <a:pt x="123443" y="1249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65475" y="2849879"/>
              <a:ext cx="137159" cy="45719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667000" y="3384803"/>
              <a:ext cx="137160" cy="457200"/>
            </a:xfrm>
            <a:custGeom>
              <a:avLst/>
              <a:gdLst/>
              <a:ahLst/>
              <a:cxnLst/>
              <a:rect l="l" t="t" r="r" b="b"/>
              <a:pathLst>
                <a:path w="137160" h="457200">
                  <a:moveTo>
                    <a:pt x="137147" y="196596"/>
                  </a:moveTo>
                  <a:lnTo>
                    <a:pt x="0" y="196596"/>
                  </a:lnTo>
                  <a:lnTo>
                    <a:pt x="0" y="225552"/>
                  </a:lnTo>
                  <a:lnTo>
                    <a:pt x="0" y="294132"/>
                  </a:lnTo>
                  <a:lnTo>
                    <a:pt x="0" y="457200"/>
                  </a:lnTo>
                  <a:lnTo>
                    <a:pt x="137147" y="457200"/>
                  </a:lnTo>
                  <a:lnTo>
                    <a:pt x="137147" y="225552"/>
                  </a:lnTo>
                  <a:lnTo>
                    <a:pt x="137147" y="196596"/>
                  </a:lnTo>
                  <a:close/>
                </a:path>
                <a:path w="137160" h="457200">
                  <a:moveTo>
                    <a:pt x="137147" y="0"/>
                  </a:moveTo>
                  <a:lnTo>
                    <a:pt x="0" y="0"/>
                  </a:lnTo>
                  <a:lnTo>
                    <a:pt x="0" y="36576"/>
                  </a:lnTo>
                  <a:lnTo>
                    <a:pt x="0" y="135636"/>
                  </a:lnTo>
                  <a:lnTo>
                    <a:pt x="0" y="172212"/>
                  </a:lnTo>
                  <a:lnTo>
                    <a:pt x="137147" y="172212"/>
                  </a:lnTo>
                  <a:lnTo>
                    <a:pt x="137147" y="135636"/>
                  </a:lnTo>
                  <a:lnTo>
                    <a:pt x="137147" y="36576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3555491" y="4663439"/>
            <a:ext cx="3074035" cy="152400"/>
            <a:chOff x="3555491" y="4663439"/>
            <a:chExt cx="3074035" cy="152400"/>
          </a:xfrm>
        </p:grpSpPr>
        <p:sp>
          <p:nvSpPr>
            <p:cNvPr id="58" name="object 58"/>
            <p:cNvSpPr/>
            <p:nvPr/>
          </p:nvSpPr>
          <p:spPr>
            <a:xfrm>
              <a:off x="5266943" y="4680203"/>
              <a:ext cx="137160" cy="135890"/>
            </a:xfrm>
            <a:custGeom>
              <a:avLst/>
              <a:gdLst/>
              <a:ahLst/>
              <a:cxnLst/>
              <a:rect l="l" t="t" r="r" b="b"/>
              <a:pathLst>
                <a:path w="137160" h="135889">
                  <a:moveTo>
                    <a:pt x="137159" y="135635"/>
                  </a:moveTo>
                  <a:lnTo>
                    <a:pt x="137159" y="0"/>
                  </a:lnTo>
                  <a:lnTo>
                    <a:pt x="0" y="0"/>
                  </a:lnTo>
                  <a:lnTo>
                    <a:pt x="0" y="135635"/>
                  </a:lnTo>
                  <a:lnTo>
                    <a:pt x="137159" y="135635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555491" y="4724399"/>
              <a:ext cx="2954020" cy="0"/>
            </a:xfrm>
            <a:custGeom>
              <a:avLst/>
              <a:gdLst/>
              <a:ahLst/>
              <a:cxnLst/>
              <a:rect l="l" t="t" r="r" b="b"/>
              <a:pathLst>
                <a:path w="2954020">
                  <a:moveTo>
                    <a:pt x="0" y="0"/>
                  </a:moveTo>
                  <a:lnTo>
                    <a:pt x="2066543" y="0"/>
                  </a:lnTo>
                </a:path>
                <a:path w="2954020">
                  <a:moveTo>
                    <a:pt x="2202179" y="0"/>
                  </a:moveTo>
                  <a:lnTo>
                    <a:pt x="2378963" y="0"/>
                  </a:lnTo>
                </a:path>
                <a:path w="2954020">
                  <a:moveTo>
                    <a:pt x="2788919" y="0"/>
                  </a:moveTo>
                  <a:lnTo>
                    <a:pt x="2953511" y="0"/>
                  </a:lnTo>
                </a:path>
                <a:path w="2954020">
                  <a:moveTo>
                    <a:pt x="2514599" y="0"/>
                  </a:moveTo>
                  <a:lnTo>
                    <a:pt x="265175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505955" y="4663439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443" y="60959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123443" y="6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925567" y="4678679"/>
              <a:ext cx="137160" cy="135890"/>
            </a:xfrm>
            <a:custGeom>
              <a:avLst/>
              <a:gdLst/>
              <a:ahLst/>
              <a:cxnLst/>
              <a:rect l="l" t="t" r="r" b="b"/>
              <a:pathLst>
                <a:path w="137160" h="135889">
                  <a:moveTo>
                    <a:pt x="137159" y="68579"/>
                  </a:moveTo>
                  <a:lnTo>
                    <a:pt x="131802" y="41790"/>
                  </a:lnTo>
                  <a:lnTo>
                    <a:pt x="117157" y="20002"/>
                  </a:lnTo>
                  <a:lnTo>
                    <a:pt x="95369" y="5357"/>
                  </a:lnTo>
                  <a:lnTo>
                    <a:pt x="68579" y="0"/>
                  </a:lnTo>
                  <a:lnTo>
                    <a:pt x="41790" y="5357"/>
                  </a:lnTo>
                  <a:lnTo>
                    <a:pt x="20002" y="20002"/>
                  </a:lnTo>
                  <a:lnTo>
                    <a:pt x="5357" y="41790"/>
                  </a:lnTo>
                  <a:lnTo>
                    <a:pt x="0" y="68579"/>
                  </a:lnTo>
                  <a:lnTo>
                    <a:pt x="5357" y="94487"/>
                  </a:lnTo>
                  <a:lnTo>
                    <a:pt x="20002" y="115823"/>
                  </a:lnTo>
                  <a:lnTo>
                    <a:pt x="41790" y="130301"/>
                  </a:lnTo>
                  <a:lnTo>
                    <a:pt x="68579" y="135635"/>
                  </a:lnTo>
                  <a:lnTo>
                    <a:pt x="95369" y="130301"/>
                  </a:lnTo>
                  <a:lnTo>
                    <a:pt x="117157" y="115823"/>
                  </a:lnTo>
                  <a:lnTo>
                    <a:pt x="131802" y="94487"/>
                  </a:lnTo>
                  <a:lnTo>
                    <a:pt x="137159" y="68579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5967" y="4678679"/>
              <a:ext cx="137159" cy="135635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485132" y="4678679"/>
              <a:ext cx="821690" cy="135890"/>
            </a:xfrm>
            <a:custGeom>
              <a:avLst/>
              <a:gdLst/>
              <a:ahLst/>
              <a:cxnLst/>
              <a:rect l="l" t="t" r="r" b="b"/>
              <a:pathLst>
                <a:path w="821689" h="135889">
                  <a:moveTo>
                    <a:pt x="135636" y="68580"/>
                  </a:moveTo>
                  <a:lnTo>
                    <a:pt x="130302" y="41795"/>
                  </a:lnTo>
                  <a:lnTo>
                    <a:pt x="115824" y="20002"/>
                  </a:lnTo>
                  <a:lnTo>
                    <a:pt x="94488" y="5359"/>
                  </a:lnTo>
                  <a:lnTo>
                    <a:pt x="68580" y="0"/>
                  </a:lnTo>
                  <a:lnTo>
                    <a:pt x="41783" y="5359"/>
                  </a:lnTo>
                  <a:lnTo>
                    <a:pt x="20002" y="20002"/>
                  </a:lnTo>
                  <a:lnTo>
                    <a:pt x="5346" y="41795"/>
                  </a:lnTo>
                  <a:lnTo>
                    <a:pt x="0" y="68580"/>
                  </a:lnTo>
                  <a:lnTo>
                    <a:pt x="5346" y="94488"/>
                  </a:lnTo>
                  <a:lnTo>
                    <a:pt x="20002" y="115824"/>
                  </a:lnTo>
                  <a:lnTo>
                    <a:pt x="41783" y="130302"/>
                  </a:lnTo>
                  <a:lnTo>
                    <a:pt x="68580" y="135636"/>
                  </a:lnTo>
                  <a:lnTo>
                    <a:pt x="94488" y="130302"/>
                  </a:lnTo>
                  <a:lnTo>
                    <a:pt x="115824" y="115824"/>
                  </a:lnTo>
                  <a:lnTo>
                    <a:pt x="130302" y="94488"/>
                  </a:lnTo>
                  <a:lnTo>
                    <a:pt x="135636" y="68580"/>
                  </a:lnTo>
                  <a:close/>
                </a:path>
                <a:path w="821689" h="135889">
                  <a:moveTo>
                    <a:pt x="272796" y="68580"/>
                  </a:moveTo>
                  <a:lnTo>
                    <a:pt x="267436" y="41795"/>
                  </a:lnTo>
                  <a:lnTo>
                    <a:pt x="252793" y="20002"/>
                  </a:lnTo>
                  <a:lnTo>
                    <a:pt x="231000" y="5359"/>
                  </a:lnTo>
                  <a:lnTo>
                    <a:pt x="204216" y="0"/>
                  </a:lnTo>
                  <a:lnTo>
                    <a:pt x="177419" y="5359"/>
                  </a:lnTo>
                  <a:lnTo>
                    <a:pt x="155638" y="20002"/>
                  </a:lnTo>
                  <a:lnTo>
                    <a:pt x="140982" y="41795"/>
                  </a:lnTo>
                  <a:lnTo>
                    <a:pt x="135636" y="68580"/>
                  </a:lnTo>
                  <a:lnTo>
                    <a:pt x="140982" y="94488"/>
                  </a:lnTo>
                  <a:lnTo>
                    <a:pt x="155638" y="115824"/>
                  </a:lnTo>
                  <a:lnTo>
                    <a:pt x="177419" y="130302"/>
                  </a:lnTo>
                  <a:lnTo>
                    <a:pt x="204216" y="135636"/>
                  </a:lnTo>
                  <a:lnTo>
                    <a:pt x="231000" y="130302"/>
                  </a:lnTo>
                  <a:lnTo>
                    <a:pt x="252793" y="115824"/>
                  </a:lnTo>
                  <a:lnTo>
                    <a:pt x="267436" y="94488"/>
                  </a:lnTo>
                  <a:lnTo>
                    <a:pt x="272796" y="68580"/>
                  </a:lnTo>
                  <a:close/>
                </a:path>
                <a:path w="821689" h="135889">
                  <a:moveTo>
                    <a:pt x="425196" y="68580"/>
                  </a:moveTo>
                  <a:lnTo>
                    <a:pt x="419836" y="41795"/>
                  </a:lnTo>
                  <a:lnTo>
                    <a:pt x="405193" y="20002"/>
                  </a:lnTo>
                  <a:lnTo>
                    <a:pt x="383400" y="5359"/>
                  </a:lnTo>
                  <a:lnTo>
                    <a:pt x="356616" y="0"/>
                  </a:lnTo>
                  <a:lnTo>
                    <a:pt x="329819" y="5359"/>
                  </a:lnTo>
                  <a:lnTo>
                    <a:pt x="308038" y="20002"/>
                  </a:lnTo>
                  <a:lnTo>
                    <a:pt x="293382" y="41795"/>
                  </a:lnTo>
                  <a:lnTo>
                    <a:pt x="288036" y="68580"/>
                  </a:lnTo>
                  <a:lnTo>
                    <a:pt x="293382" y="94488"/>
                  </a:lnTo>
                  <a:lnTo>
                    <a:pt x="308038" y="115824"/>
                  </a:lnTo>
                  <a:lnTo>
                    <a:pt x="329819" y="130302"/>
                  </a:lnTo>
                  <a:lnTo>
                    <a:pt x="356616" y="135636"/>
                  </a:lnTo>
                  <a:lnTo>
                    <a:pt x="383400" y="130302"/>
                  </a:lnTo>
                  <a:lnTo>
                    <a:pt x="405193" y="115824"/>
                  </a:lnTo>
                  <a:lnTo>
                    <a:pt x="419836" y="94488"/>
                  </a:lnTo>
                  <a:lnTo>
                    <a:pt x="425196" y="68580"/>
                  </a:lnTo>
                  <a:close/>
                </a:path>
                <a:path w="821689" h="135889">
                  <a:moveTo>
                    <a:pt x="669036" y="68580"/>
                  </a:moveTo>
                  <a:lnTo>
                    <a:pt x="663702" y="41795"/>
                  </a:lnTo>
                  <a:lnTo>
                    <a:pt x="649224" y="20002"/>
                  </a:lnTo>
                  <a:lnTo>
                    <a:pt x="627888" y="5359"/>
                  </a:lnTo>
                  <a:lnTo>
                    <a:pt x="601980" y="0"/>
                  </a:lnTo>
                  <a:lnTo>
                    <a:pt x="575183" y="5359"/>
                  </a:lnTo>
                  <a:lnTo>
                    <a:pt x="553402" y="20002"/>
                  </a:lnTo>
                  <a:lnTo>
                    <a:pt x="538746" y="41795"/>
                  </a:lnTo>
                  <a:lnTo>
                    <a:pt x="533400" y="68580"/>
                  </a:lnTo>
                  <a:lnTo>
                    <a:pt x="538746" y="94488"/>
                  </a:lnTo>
                  <a:lnTo>
                    <a:pt x="553402" y="115824"/>
                  </a:lnTo>
                  <a:lnTo>
                    <a:pt x="575183" y="130302"/>
                  </a:lnTo>
                  <a:lnTo>
                    <a:pt x="601980" y="135636"/>
                  </a:lnTo>
                  <a:lnTo>
                    <a:pt x="627888" y="130302"/>
                  </a:lnTo>
                  <a:lnTo>
                    <a:pt x="649224" y="115824"/>
                  </a:lnTo>
                  <a:lnTo>
                    <a:pt x="663702" y="94488"/>
                  </a:lnTo>
                  <a:lnTo>
                    <a:pt x="669036" y="68580"/>
                  </a:lnTo>
                  <a:close/>
                </a:path>
                <a:path w="821689" h="135889">
                  <a:moveTo>
                    <a:pt x="821436" y="68580"/>
                  </a:moveTo>
                  <a:lnTo>
                    <a:pt x="816102" y="41795"/>
                  </a:lnTo>
                  <a:lnTo>
                    <a:pt x="801624" y="20002"/>
                  </a:lnTo>
                  <a:lnTo>
                    <a:pt x="780288" y="5359"/>
                  </a:lnTo>
                  <a:lnTo>
                    <a:pt x="754380" y="0"/>
                  </a:lnTo>
                  <a:lnTo>
                    <a:pt x="727583" y="5359"/>
                  </a:lnTo>
                  <a:lnTo>
                    <a:pt x="705802" y="20002"/>
                  </a:lnTo>
                  <a:lnTo>
                    <a:pt x="691146" y="41795"/>
                  </a:lnTo>
                  <a:lnTo>
                    <a:pt x="685800" y="68580"/>
                  </a:lnTo>
                  <a:lnTo>
                    <a:pt x="691146" y="94488"/>
                  </a:lnTo>
                  <a:lnTo>
                    <a:pt x="705802" y="115824"/>
                  </a:lnTo>
                  <a:lnTo>
                    <a:pt x="727583" y="130302"/>
                  </a:lnTo>
                  <a:lnTo>
                    <a:pt x="754380" y="135636"/>
                  </a:lnTo>
                  <a:lnTo>
                    <a:pt x="780288" y="130302"/>
                  </a:lnTo>
                  <a:lnTo>
                    <a:pt x="801624" y="115824"/>
                  </a:lnTo>
                  <a:lnTo>
                    <a:pt x="816102" y="94488"/>
                  </a:lnTo>
                  <a:lnTo>
                    <a:pt x="821436" y="68580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02579" y="4678679"/>
              <a:ext cx="135635" cy="13563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885944" y="4680203"/>
              <a:ext cx="1458595" cy="135890"/>
            </a:xfrm>
            <a:custGeom>
              <a:avLst/>
              <a:gdLst/>
              <a:ahLst/>
              <a:cxnLst/>
              <a:rect l="l" t="t" r="r" b="b"/>
              <a:pathLst>
                <a:path w="1458595" h="135889">
                  <a:moveTo>
                    <a:pt x="137147" y="0"/>
                  </a:moveTo>
                  <a:lnTo>
                    <a:pt x="0" y="0"/>
                  </a:lnTo>
                  <a:lnTo>
                    <a:pt x="0" y="135636"/>
                  </a:lnTo>
                  <a:lnTo>
                    <a:pt x="137147" y="135636"/>
                  </a:lnTo>
                  <a:lnTo>
                    <a:pt x="137147" y="0"/>
                  </a:lnTo>
                  <a:close/>
                </a:path>
                <a:path w="1458595" h="135889">
                  <a:moveTo>
                    <a:pt x="871715" y="0"/>
                  </a:moveTo>
                  <a:lnTo>
                    <a:pt x="736092" y="0"/>
                  </a:lnTo>
                  <a:lnTo>
                    <a:pt x="736092" y="135636"/>
                  </a:lnTo>
                  <a:lnTo>
                    <a:pt x="871715" y="135636"/>
                  </a:lnTo>
                  <a:lnTo>
                    <a:pt x="871715" y="0"/>
                  </a:lnTo>
                  <a:close/>
                </a:path>
                <a:path w="1458595" h="135889">
                  <a:moveTo>
                    <a:pt x="1184135" y="0"/>
                  </a:moveTo>
                  <a:lnTo>
                    <a:pt x="1048512" y="0"/>
                  </a:lnTo>
                  <a:lnTo>
                    <a:pt x="1048512" y="135636"/>
                  </a:lnTo>
                  <a:lnTo>
                    <a:pt x="1184135" y="135636"/>
                  </a:lnTo>
                  <a:lnTo>
                    <a:pt x="1184135" y="0"/>
                  </a:lnTo>
                  <a:close/>
                </a:path>
                <a:path w="1458595" h="135889">
                  <a:moveTo>
                    <a:pt x="1458455" y="0"/>
                  </a:moveTo>
                  <a:lnTo>
                    <a:pt x="1321308" y="0"/>
                  </a:lnTo>
                  <a:lnTo>
                    <a:pt x="1321308" y="135636"/>
                  </a:lnTo>
                  <a:lnTo>
                    <a:pt x="1458455" y="135636"/>
                  </a:lnTo>
                  <a:lnTo>
                    <a:pt x="1458455" y="0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/>
              <a:t>Fisher</a:t>
            </a:r>
            <a:r>
              <a:rPr spc="-75" dirty="0"/>
              <a:t> </a:t>
            </a:r>
            <a:r>
              <a:rPr dirty="0"/>
              <a:t>Linear</a:t>
            </a:r>
            <a:r>
              <a:rPr spc="-60" dirty="0"/>
              <a:t> </a:t>
            </a:r>
            <a:r>
              <a:rPr spc="-10" dirty="0"/>
              <a:t>Discriminant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0668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599" y="0"/>
                </a:lnTo>
              </a:path>
            </a:pathLst>
          </a:custGeom>
          <a:ln w="28955">
            <a:solidFill>
              <a:srgbClr val="854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2139" y="1166875"/>
            <a:ext cx="33674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problem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with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3134" y="1166875"/>
            <a:ext cx="2713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does</a:t>
            </a:r>
            <a:r>
              <a:rPr sz="2800" spc="-25" dirty="0">
                <a:latin typeface="Arial MT"/>
                <a:cs typeface="Arial MT"/>
              </a:rPr>
              <a:t> not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1756" y="1595119"/>
            <a:ext cx="5688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consider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variance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00146" y="122529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0817"/>
                </a:lnTo>
              </a:path>
            </a:pathLst>
          </a:custGeom>
          <a:ln w="13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48657" y="122529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0817"/>
                </a:lnTo>
              </a:path>
            </a:pathLst>
          </a:custGeom>
          <a:ln w="13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22138" y="1389623"/>
            <a:ext cx="78295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670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1668" y="1147644"/>
            <a:ext cx="94678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417195" algn="l"/>
              </a:tabLst>
            </a:pPr>
            <a:r>
              <a:rPr sz="2750" spc="-695" dirty="0">
                <a:latin typeface="Symbol"/>
                <a:cs typeface="Symbol"/>
              </a:rPr>
              <a:t></a:t>
            </a:r>
            <a:r>
              <a:rPr sz="3900" b="1" spc="-1042" baseline="18162" dirty="0">
                <a:latin typeface="Arial"/>
                <a:cs typeface="Arial"/>
              </a:rPr>
              <a:t>~</a:t>
            </a:r>
            <a:r>
              <a:rPr sz="3900" b="1" baseline="18162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750" spc="-705" dirty="0">
                <a:latin typeface="Symbol"/>
                <a:cs typeface="Symbol"/>
              </a:rPr>
              <a:t></a:t>
            </a:r>
            <a:r>
              <a:rPr sz="3900" b="1" spc="-1057" baseline="18162" dirty="0">
                <a:latin typeface="Arial"/>
                <a:cs typeface="Arial"/>
              </a:rPr>
              <a:t>~</a:t>
            </a:r>
            <a:endParaRPr sz="3900" baseline="18162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17684" y="2499360"/>
            <a:ext cx="3083560" cy="2066925"/>
            <a:chOff x="3317684" y="2499360"/>
            <a:chExt cx="3083560" cy="2066925"/>
          </a:xfrm>
        </p:grpSpPr>
        <p:sp>
          <p:nvSpPr>
            <p:cNvPr id="12" name="object 12"/>
            <p:cNvSpPr/>
            <p:nvPr/>
          </p:nvSpPr>
          <p:spPr>
            <a:xfrm>
              <a:off x="3631691" y="2619756"/>
              <a:ext cx="0" cy="1937385"/>
            </a:xfrm>
            <a:custGeom>
              <a:avLst/>
              <a:gdLst/>
              <a:ahLst/>
              <a:cxnLst/>
              <a:rect l="l" t="t" r="r" b="b"/>
              <a:pathLst>
                <a:path h="1937385">
                  <a:moveTo>
                    <a:pt x="0" y="1937003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70731" y="2499360"/>
              <a:ext cx="123825" cy="125095"/>
            </a:xfrm>
            <a:custGeom>
              <a:avLst/>
              <a:gdLst/>
              <a:ahLst/>
              <a:cxnLst/>
              <a:rect l="l" t="t" r="r" b="b"/>
              <a:pathLst>
                <a:path w="123825" h="125094">
                  <a:moveTo>
                    <a:pt x="123443" y="124967"/>
                  </a:moveTo>
                  <a:lnTo>
                    <a:pt x="62483" y="0"/>
                  </a:lnTo>
                  <a:lnTo>
                    <a:pt x="0" y="124967"/>
                  </a:lnTo>
                  <a:lnTo>
                    <a:pt x="123443" y="1249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26891" y="4480560"/>
              <a:ext cx="2954020" cy="0"/>
            </a:xfrm>
            <a:custGeom>
              <a:avLst/>
              <a:gdLst/>
              <a:ahLst/>
              <a:cxnLst/>
              <a:rect l="l" t="t" r="r" b="b"/>
              <a:pathLst>
                <a:path w="2954020">
                  <a:moveTo>
                    <a:pt x="0" y="0"/>
                  </a:moveTo>
                  <a:lnTo>
                    <a:pt x="2953511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77355" y="441960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443" y="60959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123443" y="6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6531" y="2802636"/>
              <a:ext cx="135635" cy="1356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7367" y="2878836"/>
              <a:ext cx="137159" cy="13563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2167" y="2985516"/>
              <a:ext cx="137159" cy="13715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44567" y="2665476"/>
              <a:ext cx="137159" cy="1371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6967" y="2985516"/>
              <a:ext cx="137159" cy="137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9931" y="2726436"/>
              <a:ext cx="440435" cy="3047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767072" y="3200399"/>
              <a:ext cx="1348740" cy="457200"/>
            </a:xfrm>
            <a:custGeom>
              <a:avLst/>
              <a:gdLst/>
              <a:ahLst/>
              <a:cxnLst/>
              <a:rect l="l" t="t" r="r" b="b"/>
              <a:pathLst>
                <a:path w="1348739" h="457200">
                  <a:moveTo>
                    <a:pt x="246875" y="320040"/>
                  </a:moveTo>
                  <a:lnTo>
                    <a:pt x="137147" y="320040"/>
                  </a:lnTo>
                  <a:lnTo>
                    <a:pt x="137147" y="196596"/>
                  </a:lnTo>
                  <a:lnTo>
                    <a:pt x="0" y="196596"/>
                  </a:lnTo>
                  <a:lnTo>
                    <a:pt x="0" y="333756"/>
                  </a:lnTo>
                  <a:lnTo>
                    <a:pt x="109728" y="333756"/>
                  </a:lnTo>
                  <a:lnTo>
                    <a:pt x="109728" y="457200"/>
                  </a:lnTo>
                  <a:lnTo>
                    <a:pt x="246875" y="457200"/>
                  </a:lnTo>
                  <a:lnTo>
                    <a:pt x="246875" y="320040"/>
                  </a:lnTo>
                  <a:close/>
                </a:path>
                <a:path w="1348739" h="457200">
                  <a:moveTo>
                    <a:pt x="457187" y="225552"/>
                  </a:moveTo>
                  <a:lnTo>
                    <a:pt x="321564" y="225552"/>
                  </a:lnTo>
                  <a:lnTo>
                    <a:pt x="321564" y="362712"/>
                  </a:lnTo>
                  <a:lnTo>
                    <a:pt x="457187" y="362712"/>
                  </a:lnTo>
                  <a:lnTo>
                    <a:pt x="457187" y="225552"/>
                  </a:lnTo>
                  <a:close/>
                </a:path>
                <a:path w="1348739" h="457200">
                  <a:moveTo>
                    <a:pt x="761987" y="0"/>
                  </a:moveTo>
                  <a:lnTo>
                    <a:pt x="626364" y="0"/>
                  </a:lnTo>
                  <a:lnTo>
                    <a:pt x="626364" y="137160"/>
                  </a:lnTo>
                  <a:lnTo>
                    <a:pt x="761987" y="137160"/>
                  </a:lnTo>
                  <a:lnTo>
                    <a:pt x="761987" y="0"/>
                  </a:lnTo>
                  <a:close/>
                </a:path>
                <a:path w="1348739" h="457200">
                  <a:moveTo>
                    <a:pt x="1074407" y="294132"/>
                  </a:moveTo>
                  <a:lnTo>
                    <a:pt x="938784" y="294132"/>
                  </a:lnTo>
                  <a:lnTo>
                    <a:pt x="938784" y="429768"/>
                  </a:lnTo>
                  <a:lnTo>
                    <a:pt x="1074407" y="429768"/>
                  </a:lnTo>
                  <a:lnTo>
                    <a:pt x="1074407" y="294132"/>
                  </a:lnTo>
                  <a:close/>
                </a:path>
                <a:path w="1348739" h="457200">
                  <a:moveTo>
                    <a:pt x="1074407" y="36576"/>
                  </a:moveTo>
                  <a:lnTo>
                    <a:pt x="938784" y="36576"/>
                  </a:lnTo>
                  <a:lnTo>
                    <a:pt x="938784" y="173736"/>
                  </a:lnTo>
                  <a:lnTo>
                    <a:pt x="1074407" y="173736"/>
                  </a:lnTo>
                  <a:lnTo>
                    <a:pt x="1074407" y="36576"/>
                  </a:lnTo>
                  <a:close/>
                </a:path>
                <a:path w="1348739" h="457200">
                  <a:moveTo>
                    <a:pt x="1348727" y="225552"/>
                  </a:moveTo>
                  <a:lnTo>
                    <a:pt x="1211580" y="225552"/>
                  </a:lnTo>
                  <a:lnTo>
                    <a:pt x="1211580" y="362712"/>
                  </a:lnTo>
                  <a:lnTo>
                    <a:pt x="1348727" y="362712"/>
                  </a:lnTo>
                  <a:lnTo>
                    <a:pt x="1348727" y="225552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19598" y="4233996"/>
            <a:ext cx="379730" cy="7162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4125" spc="-885" baseline="-30303" dirty="0">
                <a:latin typeface="Symbol"/>
                <a:cs typeface="Symbol"/>
              </a:rPr>
              <a:t></a:t>
            </a:r>
            <a:r>
              <a:rPr sz="2600" spc="-590" dirty="0">
                <a:latin typeface="Segoe UI Symbol"/>
                <a:cs typeface="Segoe UI Symbol"/>
              </a:rPr>
              <a:t>_</a:t>
            </a:r>
            <a:endParaRPr sz="2600">
              <a:latin typeface="Segoe UI Symbol"/>
              <a:cs typeface="Segoe UI Symbol"/>
            </a:endParaRPr>
          </a:p>
          <a:p>
            <a:pPr marL="233045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1910" y="4315440"/>
            <a:ext cx="38481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4125" spc="-900" baseline="-30303" dirty="0">
                <a:latin typeface="Symbol"/>
                <a:cs typeface="Symbol"/>
              </a:rPr>
              <a:t></a:t>
            </a:r>
            <a:r>
              <a:rPr sz="2600" spc="-600" dirty="0">
                <a:latin typeface="Segoe UI Symbol"/>
                <a:cs typeface="Segoe UI Symbol"/>
              </a:rPr>
              <a:t>_</a:t>
            </a:r>
            <a:endParaRPr sz="2600">
              <a:latin typeface="Segoe UI Symbol"/>
              <a:cs typeface="Segoe UI Symbol"/>
            </a:endParaRPr>
          </a:p>
          <a:p>
            <a:pPr marL="237490">
              <a:lnSpc>
                <a:spcPct val="100000"/>
              </a:lnSpc>
              <a:spcBef>
                <a:spcPts val="120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13250" y="2861806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92779" y="2510892"/>
            <a:ext cx="30162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25" spc="-1042" baseline="-17171" dirty="0">
                <a:latin typeface="Symbol"/>
                <a:cs typeface="Symbol"/>
              </a:rPr>
              <a:t></a:t>
            </a:r>
            <a:r>
              <a:rPr sz="2600" b="1" spc="-695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81246" y="3471406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56203" y="3120491"/>
            <a:ext cx="30162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25" spc="-1042" baseline="-17171" dirty="0">
                <a:latin typeface="Symbol"/>
                <a:cs typeface="Symbol"/>
              </a:rPr>
              <a:t></a:t>
            </a:r>
            <a:r>
              <a:rPr sz="2600" b="1" spc="-695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55491" y="2863595"/>
            <a:ext cx="2077720" cy="1693545"/>
            <a:chOff x="3555491" y="2863595"/>
            <a:chExt cx="2077720" cy="1693545"/>
          </a:xfrm>
        </p:grpSpPr>
        <p:sp>
          <p:nvSpPr>
            <p:cNvPr id="30" name="object 30"/>
            <p:cNvSpPr/>
            <p:nvPr/>
          </p:nvSpPr>
          <p:spPr>
            <a:xfrm>
              <a:off x="3555491" y="286359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152399"/>
                  </a:moveTo>
                  <a:lnTo>
                    <a:pt x="76199" y="0"/>
                  </a:lnTo>
                  <a:lnTo>
                    <a:pt x="0" y="152399"/>
                  </a:lnTo>
                  <a:lnTo>
                    <a:pt x="152399" y="152399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70731" y="333755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152399"/>
                  </a:moveTo>
                  <a:lnTo>
                    <a:pt x="76199" y="0"/>
                  </a:lnTo>
                  <a:lnTo>
                    <a:pt x="0" y="152399"/>
                  </a:lnTo>
                  <a:lnTo>
                    <a:pt x="152399" y="152399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30851" y="440435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152399"/>
                  </a:moveTo>
                  <a:lnTo>
                    <a:pt x="76199" y="0"/>
                  </a:lnTo>
                  <a:lnTo>
                    <a:pt x="0" y="152399"/>
                  </a:lnTo>
                  <a:lnTo>
                    <a:pt x="152399" y="152399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80303" y="438759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152399"/>
                  </a:moveTo>
                  <a:lnTo>
                    <a:pt x="76199" y="0"/>
                  </a:lnTo>
                  <a:lnTo>
                    <a:pt x="0" y="152399"/>
                  </a:lnTo>
                  <a:lnTo>
                    <a:pt x="152399" y="152399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3174491" y="5489447"/>
            <a:ext cx="3226435" cy="147955"/>
            <a:chOff x="3174491" y="5489447"/>
            <a:chExt cx="3226435" cy="147955"/>
          </a:xfrm>
        </p:grpSpPr>
        <p:sp>
          <p:nvSpPr>
            <p:cNvPr id="35" name="object 35"/>
            <p:cNvSpPr/>
            <p:nvPr/>
          </p:nvSpPr>
          <p:spPr>
            <a:xfrm>
              <a:off x="3174491" y="5562599"/>
              <a:ext cx="3083560" cy="0"/>
            </a:xfrm>
            <a:custGeom>
              <a:avLst/>
              <a:gdLst/>
              <a:ahLst/>
              <a:cxnLst/>
              <a:rect l="l" t="t" r="r" b="b"/>
              <a:pathLst>
                <a:path w="3083560">
                  <a:moveTo>
                    <a:pt x="0" y="0"/>
                  </a:moveTo>
                  <a:lnTo>
                    <a:pt x="3083051" y="0"/>
                  </a:lnTo>
                </a:path>
              </a:pathLst>
            </a:custGeom>
            <a:ln w="28955">
              <a:solidFill>
                <a:srgbClr val="64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54495" y="5489447"/>
              <a:ext cx="146685" cy="147955"/>
            </a:xfrm>
            <a:custGeom>
              <a:avLst/>
              <a:gdLst/>
              <a:ahLst/>
              <a:cxnLst/>
              <a:rect l="l" t="t" r="r" b="b"/>
              <a:pathLst>
                <a:path w="146685" h="147954">
                  <a:moveTo>
                    <a:pt x="146303" y="73151"/>
                  </a:moveTo>
                  <a:lnTo>
                    <a:pt x="0" y="0"/>
                  </a:lnTo>
                  <a:lnTo>
                    <a:pt x="0" y="147827"/>
                  </a:lnTo>
                  <a:lnTo>
                    <a:pt x="146303" y="73151"/>
                  </a:lnTo>
                  <a:close/>
                </a:path>
              </a:pathLst>
            </a:custGeom>
            <a:solidFill>
              <a:srgbClr val="64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788154" y="5555993"/>
            <a:ext cx="20758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large</a:t>
            </a:r>
            <a:r>
              <a:rPr sz="2400" b="1" i="1" spc="-5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441447" y="2286000"/>
            <a:ext cx="147955" cy="3226435"/>
            <a:chOff x="2441447" y="2286000"/>
            <a:chExt cx="147955" cy="3226435"/>
          </a:xfrm>
        </p:grpSpPr>
        <p:sp>
          <p:nvSpPr>
            <p:cNvPr id="39" name="object 39"/>
            <p:cNvSpPr/>
            <p:nvPr/>
          </p:nvSpPr>
          <p:spPr>
            <a:xfrm>
              <a:off x="2514599" y="2429255"/>
              <a:ext cx="0" cy="3083560"/>
            </a:xfrm>
            <a:custGeom>
              <a:avLst/>
              <a:gdLst/>
              <a:ahLst/>
              <a:cxnLst/>
              <a:rect l="l" t="t" r="r" b="b"/>
              <a:pathLst>
                <a:path h="3083560">
                  <a:moveTo>
                    <a:pt x="0" y="3083051"/>
                  </a:moveTo>
                  <a:lnTo>
                    <a:pt x="0" y="0"/>
                  </a:lnTo>
                </a:path>
              </a:pathLst>
            </a:custGeom>
            <a:ln w="28955">
              <a:solidFill>
                <a:srgbClr val="64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41447" y="2286000"/>
              <a:ext cx="147955" cy="147955"/>
            </a:xfrm>
            <a:custGeom>
              <a:avLst/>
              <a:gdLst/>
              <a:ahLst/>
              <a:cxnLst/>
              <a:rect l="l" t="t" r="r" b="b"/>
              <a:pathLst>
                <a:path w="147955" h="147955">
                  <a:moveTo>
                    <a:pt x="147827" y="147827"/>
                  </a:moveTo>
                  <a:lnTo>
                    <a:pt x="73151" y="0"/>
                  </a:lnTo>
                  <a:lnTo>
                    <a:pt x="0" y="147827"/>
                  </a:lnTo>
                  <a:lnTo>
                    <a:pt x="147827" y="147827"/>
                  </a:lnTo>
                  <a:close/>
                </a:path>
              </a:pathLst>
            </a:custGeom>
            <a:solidFill>
              <a:srgbClr val="64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065120" y="2746958"/>
            <a:ext cx="410209" cy="21259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small</a:t>
            </a:r>
            <a:r>
              <a:rPr sz="2400" b="1" i="1" spc="-5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63794" y="2611609"/>
            <a:ext cx="380365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750" spc="-25" dirty="0">
                <a:latin typeface="Symbol"/>
                <a:cs typeface="Symbol"/>
              </a:rPr>
              <a:t></a:t>
            </a:r>
            <a:r>
              <a:rPr sz="2250" b="1" spc="-37" baseline="-24074" dirty="0">
                <a:latin typeface="Arial"/>
                <a:cs typeface="Arial"/>
              </a:rPr>
              <a:t>1</a:t>
            </a:r>
            <a:endParaRPr sz="2250" baseline="-24074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91910" y="3126588"/>
            <a:ext cx="38417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750" spc="-25" dirty="0">
                <a:latin typeface="Symbol"/>
                <a:cs typeface="Symbol"/>
              </a:rPr>
              <a:t></a:t>
            </a:r>
            <a:r>
              <a:rPr sz="2250" b="1" spc="-37" baseline="-24074" dirty="0">
                <a:latin typeface="Arial"/>
                <a:cs typeface="Arial"/>
              </a:rPr>
              <a:t>2</a:t>
            </a:r>
            <a:endParaRPr sz="2250" baseline="-24074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631691" y="2939795"/>
            <a:ext cx="1923414" cy="1541145"/>
          </a:xfrm>
          <a:custGeom>
            <a:avLst/>
            <a:gdLst/>
            <a:ahLst/>
            <a:cxnLst/>
            <a:rect l="l" t="t" r="r" b="b"/>
            <a:pathLst>
              <a:path w="1923414" h="1541145">
                <a:moveTo>
                  <a:pt x="966215" y="76199"/>
                </a:moveTo>
                <a:lnTo>
                  <a:pt x="966215" y="1540763"/>
                </a:lnTo>
              </a:path>
              <a:path w="1923414" h="1541145">
                <a:moveTo>
                  <a:pt x="1923287" y="621791"/>
                </a:moveTo>
                <a:lnTo>
                  <a:pt x="1923287" y="1540763"/>
                </a:lnTo>
              </a:path>
              <a:path w="1923414" h="1541145">
                <a:moveTo>
                  <a:pt x="0" y="1523"/>
                </a:moveTo>
                <a:lnTo>
                  <a:pt x="899159" y="0"/>
                </a:lnTo>
              </a:path>
              <a:path w="1923414" h="1541145">
                <a:moveTo>
                  <a:pt x="25907" y="490727"/>
                </a:moveTo>
                <a:lnTo>
                  <a:pt x="1761743" y="486155"/>
                </a:lnTo>
              </a:path>
            </a:pathLst>
          </a:custGeom>
          <a:ln w="2895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39" y="455167"/>
            <a:ext cx="51460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dirty="0">
                <a:solidFill>
                  <a:srgbClr val="854300"/>
                </a:solidFill>
                <a:latin typeface="Arial"/>
                <a:cs typeface="Arial"/>
              </a:rPr>
              <a:t>Fisher</a:t>
            </a:r>
            <a:r>
              <a:rPr sz="3200" b="1" i="1" spc="-75" dirty="0">
                <a:solidFill>
                  <a:srgbClr val="854300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solidFill>
                  <a:srgbClr val="854300"/>
                </a:solidFill>
                <a:latin typeface="Arial"/>
                <a:cs typeface="Arial"/>
              </a:rPr>
              <a:t>Linear</a:t>
            </a:r>
            <a:r>
              <a:rPr sz="3200" b="1" i="1" spc="-60" dirty="0">
                <a:solidFill>
                  <a:srgbClr val="854300"/>
                </a:solidFill>
                <a:latin typeface="Arial"/>
                <a:cs typeface="Arial"/>
              </a:rPr>
              <a:t> </a:t>
            </a:r>
            <a:r>
              <a:rPr sz="3200" b="1" i="1" spc="-10" dirty="0">
                <a:solidFill>
                  <a:srgbClr val="854300"/>
                </a:solidFill>
                <a:latin typeface="Arial"/>
                <a:cs typeface="Arial"/>
              </a:rPr>
              <a:t>Discriminant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" y="10668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599" y="0"/>
                </a:lnTo>
              </a:path>
            </a:pathLst>
          </a:custGeom>
          <a:ln w="28955">
            <a:solidFill>
              <a:srgbClr val="854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63129" y="1166875"/>
            <a:ext cx="3051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by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factor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39" y="1166875"/>
            <a:ext cx="4360545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22300" marR="5080" indent="-610235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22300" algn="l"/>
              </a:tabLst>
            </a:pPr>
            <a:r>
              <a:rPr sz="2800" dirty="0">
                <a:latin typeface="Arial MT"/>
                <a:cs typeface="Arial MT"/>
              </a:rPr>
              <a:t>We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normalize </a:t>
            </a:r>
            <a:r>
              <a:rPr sz="2800" dirty="0">
                <a:latin typeface="Arial MT"/>
                <a:cs typeface="Arial MT"/>
              </a:rPr>
              <a:t>proportional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variance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41394" y="122529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0817"/>
                </a:lnTo>
              </a:path>
            </a:pathLst>
          </a:custGeom>
          <a:ln w="13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9904" y="122529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0817"/>
                </a:lnTo>
              </a:path>
            </a:pathLst>
          </a:custGeom>
          <a:ln w="13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30215" y="1147644"/>
            <a:ext cx="1042035" cy="501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2605"/>
              </a:lnSpc>
              <a:spcBef>
                <a:spcPts val="130"/>
              </a:spcBef>
              <a:tabLst>
                <a:tab pos="429895" algn="l"/>
              </a:tabLst>
            </a:pPr>
            <a:r>
              <a:rPr sz="2750" spc="-695" dirty="0">
                <a:latin typeface="Symbol"/>
                <a:cs typeface="Symbol"/>
              </a:rPr>
              <a:t></a:t>
            </a:r>
            <a:r>
              <a:rPr sz="3900" b="1" spc="-1042" baseline="18162" dirty="0">
                <a:latin typeface="Arial"/>
                <a:cs typeface="Arial"/>
              </a:rPr>
              <a:t>~</a:t>
            </a:r>
            <a:r>
              <a:rPr sz="3900" b="1" baseline="18162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750" spc="-705" dirty="0">
                <a:latin typeface="Symbol"/>
                <a:cs typeface="Symbol"/>
              </a:rPr>
              <a:t></a:t>
            </a:r>
            <a:r>
              <a:rPr sz="3900" b="1" spc="-1057" baseline="18162" dirty="0">
                <a:latin typeface="Arial"/>
                <a:cs typeface="Arial"/>
              </a:rPr>
              <a:t>~</a:t>
            </a:r>
            <a:endParaRPr sz="3900" baseline="18162">
              <a:latin typeface="Arial"/>
              <a:cs typeface="Arial"/>
            </a:endParaRPr>
          </a:p>
          <a:p>
            <a:pPr marL="245745">
              <a:lnSpc>
                <a:spcPts val="1105"/>
              </a:lnSpc>
              <a:tabLst>
                <a:tab pos="894715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3215" y="3330245"/>
            <a:ext cx="139700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50" spc="-365" dirty="0">
                <a:latin typeface="Symbol"/>
                <a:cs typeface="Symbol"/>
              </a:rPr>
              <a:t>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69479" y="3674979"/>
            <a:ext cx="850265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739140" algn="l"/>
              </a:tabLst>
            </a:pPr>
            <a:r>
              <a:rPr sz="1500" b="1" i="1" spc="-50" dirty="0">
                <a:latin typeface="Arial"/>
                <a:cs typeface="Arial"/>
              </a:rPr>
              <a:t>i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z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9486" y="3911197"/>
            <a:ext cx="352425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b="1" i="1" dirty="0">
                <a:latin typeface="Arial"/>
                <a:cs typeface="Arial"/>
              </a:rPr>
              <a:t>i</a:t>
            </a:r>
            <a:r>
              <a:rPr sz="1500" b="1" i="1" spc="-110" dirty="0">
                <a:latin typeface="Arial"/>
                <a:cs typeface="Arial"/>
              </a:rPr>
              <a:t> </a:t>
            </a:r>
            <a:r>
              <a:rPr sz="1500" dirty="0">
                <a:latin typeface="Symbol"/>
                <a:cs typeface="Symbol"/>
              </a:rPr>
              <a:t></a:t>
            </a:r>
            <a:r>
              <a:rPr sz="1500" spc="-215" dirty="0">
                <a:latin typeface="Times New Roman"/>
                <a:cs typeface="Times New Roman"/>
              </a:rPr>
              <a:t> </a:t>
            </a: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5985" y="3420472"/>
            <a:ext cx="134620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5585" y="3285508"/>
            <a:ext cx="219202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687705" algn="l"/>
                <a:tab pos="1661160" algn="l"/>
              </a:tabLst>
            </a:pPr>
            <a:r>
              <a:rPr sz="2600" b="1" i="1" dirty="0">
                <a:latin typeface="Arial"/>
                <a:cs typeface="Arial"/>
              </a:rPr>
              <a:t>s</a:t>
            </a:r>
            <a:r>
              <a:rPr sz="2600" b="1" i="1" spc="360" dirty="0">
                <a:latin typeface="Arial"/>
                <a:cs typeface="Arial"/>
              </a:rPr>
              <a:t> 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352" baseline="-8438" dirty="0">
                <a:latin typeface="Times New Roman"/>
                <a:cs typeface="Times New Roman"/>
              </a:rPr>
              <a:t> </a:t>
            </a:r>
            <a:r>
              <a:rPr sz="3550" spc="-25" dirty="0">
                <a:latin typeface="Symbol"/>
                <a:cs typeface="Symbol"/>
              </a:rPr>
              <a:t></a:t>
            </a:r>
            <a:r>
              <a:rPr sz="2600" b="1" i="1" spc="-25" dirty="0">
                <a:latin typeface="Arial"/>
                <a:cs typeface="Arial"/>
              </a:rPr>
              <a:t>z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2139" y="2843274"/>
            <a:ext cx="4200525" cy="659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ts val="327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Define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their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b="1" i="1" dirty="0">
                <a:solidFill>
                  <a:srgbClr val="006400"/>
                </a:solidFill>
                <a:latin typeface="Arial"/>
                <a:cs typeface="Arial"/>
              </a:rPr>
              <a:t>scatter</a:t>
            </a:r>
            <a:r>
              <a:rPr sz="2800" b="1" i="1" spc="-50" dirty="0">
                <a:solidFill>
                  <a:srgbClr val="0064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latin typeface="Arial MT"/>
                <a:cs typeface="Arial MT"/>
              </a:rPr>
              <a:t>as</a:t>
            </a:r>
            <a:endParaRPr sz="2800">
              <a:latin typeface="Arial MT"/>
              <a:cs typeface="Arial MT"/>
            </a:endParaRPr>
          </a:p>
          <a:p>
            <a:pPr marR="47625" algn="r">
              <a:lnSpc>
                <a:spcPts val="1710"/>
              </a:lnSpc>
            </a:pPr>
            <a:r>
              <a:rPr sz="1500" b="1" i="1" spc="-50" dirty="0">
                <a:latin typeface="Arial"/>
                <a:cs typeface="Arial"/>
              </a:rPr>
              <a:t>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43132" y="2306875"/>
            <a:ext cx="6985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i="1" spc="-50" dirty="0"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64496" y="2306875"/>
            <a:ext cx="10477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i="1" spc="-50" dirty="0">
                <a:latin typeface="Arial"/>
                <a:cs typeface="Arial"/>
              </a:rPr>
              <a:t>z</a:t>
            </a:r>
            <a:endParaRPr sz="1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81588" y="2125114"/>
            <a:ext cx="16129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i="1" spc="-50" dirty="0">
                <a:latin typeface="Arial"/>
                <a:cs typeface="Arial"/>
              </a:rPr>
              <a:t>z</a:t>
            </a:r>
            <a:endParaRPr sz="2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52175" y="2333902"/>
            <a:ext cx="19177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i="1" spc="-50" dirty="0"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46308" y="2497375"/>
            <a:ext cx="29083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i="1" spc="-10" dirty="0">
                <a:latin typeface="Arial"/>
                <a:cs typeface="Arial"/>
              </a:rPr>
              <a:t>i</a:t>
            </a:r>
            <a:r>
              <a:rPr sz="1250" b="1" i="1" spc="-105" dirty="0">
                <a:latin typeface="Arial"/>
                <a:cs typeface="Arial"/>
              </a:rPr>
              <a:t> </a:t>
            </a:r>
            <a:r>
              <a:rPr sz="1250" spc="-10" dirty="0">
                <a:latin typeface="Symbol"/>
                <a:cs typeface="Symbol"/>
              </a:rPr>
              <a:t></a:t>
            </a:r>
            <a:r>
              <a:rPr sz="1250" spc="-195" dirty="0">
                <a:latin typeface="Times New Roman"/>
                <a:cs typeface="Times New Roman"/>
              </a:rPr>
              <a:t> </a:t>
            </a:r>
            <a:r>
              <a:rPr sz="1250" b="1" spc="-50" dirty="0"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49409" y="1814039"/>
            <a:ext cx="8147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150" baseline="-37037" dirty="0">
                <a:latin typeface="Symbol"/>
                <a:cs typeface="Symbol"/>
              </a:rPr>
              <a:t></a:t>
            </a:r>
            <a:r>
              <a:rPr sz="3150" spc="555" baseline="-37037" dirty="0">
                <a:latin typeface="Times New Roman"/>
                <a:cs typeface="Times New Roman"/>
              </a:rPr>
              <a:t> </a:t>
            </a:r>
            <a:r>
              <a:rPr sz="2100" b="1" u="sng" spc="-20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2100" b="1" spc="75" dirty="0">
                <a:latin typeface="Arial"/>
                <a:cs typeface="Arial"/>
              </a:rPr>
              <a:t> </a:t>
            </a:r>
            <a:r>
              <a:rPr sz="4800" b="1" spc="-3345" baseline="-32118" dirty="0">
                <a:latin typeface="Yu Gothic"/>
                <a:cs typeface="Yu Gothic"/>
              </a:rPr>
              <a:t>Σ</a:t>
            </a:r>
            <a:r>
              <a:rPr sz="1875" b="1" i="1" spc="-300" baseline="37777" dirty="0">
                <a:latin typeface="Arial"/>
                <a:cs typeface="Arial"/>
              </a:rPr>
              <a:t>n</a:t>
            </a:r>
            <a:endParaRPr sz="1875" baseline="37777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6739" y="2081275"/>
            <a:ext cx="7521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0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47065" algn="l"/>
                <a:tab pos="4556125" algn="l"/>
                <a:tab pos="7301230" algn="l"/>
              </a:tabLst>
            </a:pP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samples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z</a:t>
            </a:r>
            <a:r>
              <a:rPr sz="2850" b="1" i="1" baseline="-20467" dirty="0">
                <a:latin typeface="Arial"/>
                <a:cs typeface="Arial"/>
              </a:rPr>
              <a:t>1</a:t>
            </a:r>
            <a:r>
              <a:rPr sz="2800" dirty="0">
                <a:latin typeface="Arial MT"/>
                <a:cs typeface="Arial MT"/>
              </a:rPr>
              <a:t>,…,</a:t>
            </a:r>
            <a:r>
              <a:rPr sz="2800" b="1" i="1" dirty="0">
                <a:latin typeface="Arial"/>
                <a:cs typeface="Arial"/>
              </a:rPr>
              <a:t>z</a:t>
            </a:r>
            <a:r>
              <a:rPr sz="2850" b="1" i="1" baseline="-20467" dirty="0">
                <a:latin typeface="Arial"/>
                <a:cs typeface="Arial"/>
              </a:rPr>
              <a:t>n</a:t>
            </a:r>
            <a:r>
              <a:rPr sz="2850" b="1" i="1" spc="-75" baseline="-20467" dirty="0">
                <a:latin typeface="Arial"/>
                <a:cs typeface="Arial"/>
              </a:rPr>
              <a:t> </a:t>
            </a:r>
            <a:r>
              <a:rPr sz="2800" spc="-50" dirty="0">
                <a:latin typeface="Arial MT"/>
                <a:cs typeface="Arial MT"/>
              </a:rPr>
              <a:t>.</a:t>
            </a:r>
            <a:r>
              <a:rPr sz="2800" dirty="0">
                <a:latin typeface="Arial MT"/>
                <a:cs typeface="Arial MT"/>
              </a:rPr>
              <a:t>	Sample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3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3375" spc="-75" baseline="7407" dirty="0">
                <a:latin typeface="Symbol"/>
                <a:cs typeface="Symbol"/>
              </a:rPr>
              <a:t></a:t>
            </a:r>
            <a:endParaRPr sz="3375" baseline="7407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2139" y="4128942"/>
            <a:ext cx="8693150" cy="18427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770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Thus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scatter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just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sample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variance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multiplied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b="1" i="1" spc="-50" dirty="0"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  <a:p>
            <a:pPr marL="1002665" marR="5080" lvl="1" indent="-533400">
              <a:lnSpc>
                <a:spcPct val="113700"/>
              </a:lnSpc>
              <a:spcBef>
                <a:spcPts val="185"/>
              </a:spcBef>
              <a:buClr>
                <a:srgbClr val="854300"/>
              </a:buClr>
              <a:buFont typeface="Microsoft Sans Serif"/>
              <a:buChar char="▪"/>
              <a:tabLst>
                <a:tab pos="1002665" algn="l"/>
              </a:tabLst>
            </a:pPr>
            <a:r>
              <a:rPr sz="2400" dirty="0">
                <a:latin typeface="Arial MT"/>
                <a:cs typeface="Arial MT"/>
              </a:rPr>
              <a:t>scatter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measures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variance,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spread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around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mean</a:t>
            </a:r>
            <a:endParaRPr sz="2400">
              <a:latin typeface="Arial MT"/>
              <a:cs typeface="Arial MT"/>
            </a:endParaRPr>
          </a:p>
          <a:p>
            <a:pPr marL="1002665" lvl="1" indent="-533400">
              <a:lnSpc>
                <a:spcPct val="100000"/>
              </a:lnSpc>
              <a:spcBef>
                <a:spcPts val="660"/>
              </a:spcBef>
              <a:buClr>
                <a:srgbClr val="854300"/>
              </a:buClr>
              <a:buFont typeface="Microsoft Sans Serif"/>
              <a:buChar char="▪"/>
              <a:tabLst>
                <a:tab pos="1002665" algn="l"/>
              </a:tabLst>
            </a:pPr>
            <a:r>
              <a:rPr sz="2400" dirty="0">
                <a:latin typeface="Arial MT"/>
                <a:cs typeface="Arial MT"/>
              </a:rPr>
              <a:t>scatter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scale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variance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8875" y="6627876"/>
            <a:ext cx="289559" cy="21335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7455" y="6932676"/>
            <a:ext cx="135635" cy="13715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9915" y="6460235"/>
            <a:ext cx="137159" cy="13563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9895" y="7008876"/>
            <a:ext cx="137159" cy="13715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23232" y="6583679"/>
            <a:ext cx="135635" cy="135635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503676" y="6239255"/>
            <a:ext cx="220979" cy="297180"/>
            <a:chOff x="3503676" y="6239255"/>
            <a:chExt cx="220979" cy="29718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3676" y="6399275"/>
              <a:ext cx="137159" cy="137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7496" y="6239255"/>
              <a:ext cx="137159" cy="135635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8875" y="6323075"/>
            <a:ext cx="137159" cy="13715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99915" y="6170675"/>
            <a:ext cx="137159" cy="13715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6071" y="6307835"/>
            <a:ext cx="137159" cy="13563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50435" y="6940295"/>
            <a:ext cx="135635" cy="13715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13276" y="6719316"/>
            <a:ext cx="137159" cy="13715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993139" y="6371333"/>
            <a:ext cx="20599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006400"/>
                </a:solidFill>
                <a:latin typeface="Arial"/>
                <a:cs typeface="Arial"/>
              </a:rPr>
              <a:t>larger</a:t>
            </a:r>
            <a:r>
              <a:rPr sz="2400" b="1" i="1" spc="-60" dirty="0">
                <a:solidFill>
                  <a:srgbClr val="0064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006400"/>
                </a:solidFill>
                <a:latin typeface="Arial"/>
                <a:cs typeface="Arial"/>
              </a:rPr>
              <a:t>scatter: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014716" y="6399276"/>
            <a:ext cx="594360" cy="533400"/>
          </a:xfrm>
          <a:custGeom>
            <a:avLst/>
            <a:gdLst/>
            <a:ahLst/>
            <a:cxnLst/>
            <a:rect l="l" t="t" r="r" b="b"/>
            <a:pathLst>
              <a:path w="594359" h="533400">
                <a:moveTo>
                  <a:pt x="137160" y="68580"/>
                </a:moveTo>
                <a:lnTo>
                  <a:pt x="131800" y="41795"/>
                </a:lnTo>
                <a:lnTo>
                  <a:pt x="117157" y="20002"/>
                </a:lnTo>
                <a:lnTo>
                  <a:pt x="95364" y="5359"/>
                </a:lnTo>
                <a:lnTo>
                  <a:pt x="68580" y="0"/>
                </a:lnTo>
                <a:lnTo>
                  <a:pt x="41783" y="5359"/>
                </a:lnTo>
                <a:lnTo>
                  <a:pt x="20002" y="20002"/>
                </a:lnTo>
                <a:lnTo>
                  <a:pt x="5346" y="41795"/>
                </a:lnTo>
                <a:lnTo>
                  <a:pt x="0" y="68580"/>
                </a:lnTo>
                <a:lnTo>
                  <a:pt x="5346" y="95377"/>
                </a:lnTo>
                <a:lnTo>
                  <a:pt x="20002" y="117157"/>
                </a:lnTo>
                <a:lnTo>
                  <a:pt x="33870" y="126504"/>
                </a:lnTo>
                <a:lnTo>
                  <a:pt x="20002" y="135826"/>
                </a:lnTo>
                <a:lnTo>
                  <a:pt x="5346" y="157619"/>
                </a:lnTo>
                <a:lnTo>
                  <a:pt x="0" y="184404"/>
                </a:lnTo>
                <a:lnTo>
                  <a:pt x="5346" y="211201"/>
                </a:lnTo>
                <a:lnTo>
                  <a:pt x="20002" y="232981"/>
                </a:lnTo>
                <a:lnTo>
                  <a:pt x="41783" y="247637"/>
                </a:lnTo>
                <a:lnTo>
                  <a:pt x="68580" y="252984"/>
                </a:lnTo>
                <a:lnTo>
                  <a:pt x="95364" y="247637"/>
                </a:lnTo>
                <a:lnTo>
                  <a:pt x="117157" y="232981"/>
                </a:lnTo>
                <a:lnTo>
                  <a:pt x="131800" y="211201"/>
                </a:lnTo>
                <a:lnTo>
                  <a:pt x="137160" y="184404"/>
                </a:lnTo>
                <a:lnTo>
                  <a:pt x="131800" y="157619"/>
                </a:lnTo>
                <a:lnTo>
                  <a:pt x="117157" y="135826"/>
                </a:lnTo>
                <a:lnTo>
                  <a:pt x="103263" y="126504"/>
                </a:lnTo>
                <a:lnTo>
                  <a:pt x="117157" y="117157"/>
                </a:lnTo>
                <a:lnTo>
                  <a:pt x="131800" y="95377"/>
                </a:lnTo>
                <a:lnTo>
                  <a:pt x="137160" y="68580"/>
                </a:lnTo>
                <a:close/>
              </a:path>
              <a:path w="594359" h="533400">
                <a:moveTo>
                  <a:pt x="289560" y="297180"/>
                </a:moveTo>
                <a:lnTo>
                  <a:pt x="284200" y="270395"/>
                </a:lnTo>
                <a:lnTo>
                  <a:pt x="269557" y="248602"/>
                </a:lnTo>
                <a:lnTo>
                  <a:pt x="247764" y="233959"/>
                </a:lnTo>
                <a:lnTo>
                  <a:pt x="220980" y="228600"/>
                </a:lnTo>
                <a:lnTo>
                  <a:pt x="194183" y="233959"/>
                </a:lnTo>
                <a:lnTo>
                  <a:pt x="172402" y="248602"/>
                </a:lnTo>
                <a:lnTo>
                  <a:pt x="157746" y="270395"/>
                </a:lnTo>
                <a:lnTo>
                  <a:pt x="152400" y="297180"/>
                </a:lnTo>
                <a:lnTo>
                  <a:pt x="154787" y="309206"/>
                </a:lnTo>
                <a:lnTo>
                  <a:pt x="149987" y="310159"/>
                </a:lnTo>
                <a:lnTo>
                  <a:pt x="128206" y="324802"/>
                </a:lnTo>
                <a:lnTo>
                  <a:pt x="113550" y="346595"/>
                </a:lnTo>
                <a:lnTo>
                  <a:pt x="108204" y="373380"/>
                </a:lnTo>
                <a:lnTo>
                  <a:pt x="113182" y="398335"/>
                </a:lnTo>
                <a:lnTo>
                  <a:pt x="95364" y="386359"/>
                </a:lnTo>
                <a:lnTo>
                  <a:pt x="68580" y="381000"/>
                </a:lnTo>
                <a:lnTo>
                  <a:pt x="41783" y="386359"/>
                </a:lnTo>
                <a:lnTo>
                  <a:pt x="20002" y="401002"/>
                </a:lnTo>
                <a:lnTo>
                  <a:pt x="5346" y="422795"/>
                </a:lnTo>
                <a:lnTo>
                  <a:pt x="0" y="449580"/>
                </a:lnTo>
                <a:lnTo>
                  <a:pt x="5346" y="476377"/>
                </a:lnTo>
                <a:lnTo>
                  <a:pt x="20002" y="498157"/>
                </a:lnTo>
                <a:lnTo>
                  <a:pt x="41783" y="512813"/>
                </a:lnTo>
                <a:lnTo>
                  <a:pt x="68580" y="518160"/>
                </a:lnTo>
                <a:lnTo>
                  <a:pt x="95364" y="512813"/>
                </a:lnTo>
                <a:lnTo>
                  <a:pt x="117157" y="498157"/>
                </a:lnTo>
                <a:lnTo>
                  <a:pt x="131800" y="476377"/>
                </a:lnTo>
                <a:lnTo>
                  <a:pt x="137160" y="449580"/>
                </a:lnTo>
                <a:lnTo>
                  <a:pt x="132156" y="424624"/>
                </a:lnTo>
                <a:lnTo>
                  <a:pt x="149987" y="436613"/>
                </a:lnTo>
                <a:lnTo>
                  <a:pt x="150406" y="436702"/>
                </a:lnTo>
                <a:lnTo>
                  <a:pt x="157162" y="446532"/>
                </a:lnTo>
                <a:lnTo>
                  <a:pt x="178943" y="461010"/>
                </a:lnTo>
                <a:lnTo>
                  <a:pt x="205740" y="466344"/>
                </a:lnTo>
                <a:lnTo>
                  <a:pt x="232524" y="461010"/>
                </a:lnTo>
                <a:lnTo>
                  <a:pt x="254317" y="446532"/>
                </a:lnTo>
                <a:lnTo>
                  <a:pt x="268960" y="425196"/>
                </a:lnTo>
                <a:lnTo>
                  <a:pt x="274320" y="399288"/>
                </a:lnTo>
                <a:lnTo>
                  <a:pt x="268960" y="372503"/>
                </a:lnTo>
                <a:lnTo>
                  <a:pt x="256755" y="354368"/>
                </a:lnTo>
                <a:lnTo>
                  <a:pt x="269557" y="345757"/>
                </a:lnTo>
                <a:lnTo>
                  <a:pt x="284200" y="323977"/>
                </a:lnTo>
                <a:lnTo>
                  <a:pt x="289560" y="297180"/>
                </a:lnTo>
                <a:close/>
              </a:path>
              <a:path w="594359" h="533400">
                <a:moveTo>
                  <a:pt x="381000" y="68580"/>
                </a:moveTo>
                <a:lnTo>
                  <a:pt x="375666" y="41795"/>
                </a:lnTo>
                <a:lnTo>
                  <a:pt x="361188" y="20002"/>
                </a:lnTo>
                <a:lnTo>
                  <a:pt x="339852" y="5359"/>
                </a:lnTo>
                <a:lnTo>
                  <a:pt x="313944" y="0"/>
                </a:lnTo>
                <a:lnTo>
                  <a:pt x="287147" y="5359"/>
                </a:lnTo>
                <a:lnTo>
                  <a:pt x="265366" y="20002"/>
                </a:lnTo>
                <a:lnTo>
                  <a:pt x="250710" y="41795"/>
                </a:lnTo>
                <a:lnTo>
                  <a:pt x="245364" y="68580"/>
                </a:lnTo>
                <a:lnTo>
                  <a:pt x="250710" y="95377"/>
                </a:lnTo>
                <a:lnTo>
                  <a:pt x="254889" y="101587"/>
                </a:lnTo>
                <a:lnTo>
                  <a:pt x="247764" y="96799"/>
                </a:lnTo>
                <a:lnTo>
                  <a:pt x="220980" y="91440"/>
                </a:lnTo>
                <a:lnTo>
                  <a:pt x="194183" y="96799"/>
                </a:lnTo>
                <a:lnTo>
                  <a:pt x="172402" y="111442"/>
                </a:lnTo>
                <a:lnTo>
                  <a:pt x="157746" y="133235"/>
                </a:lnTo>
                <a:lnTo>
                  <a:pt x="152400" y="160020"/>
                </a:lnTo>
                <a:lnTo>
                  <a:pt x="157746" y="186817"/>
                </a:lnTo>
                <a:lnTo>
                  <a:pt x="172402" y="208597"/>
                </a:lnTo>
                <a:lnTo>
                  <a:pt x="194183" y="223253"/>
                </a:lnTo>
                <a:lnTo>
                  <a:pt x="220980" y="228600"/>
                </a:lnTo>
                <a:lnTo>
                  <a:pt x="247764" y="223253"/>
                </a:lnTo>
                <a:lnTo>
                  <a:pt x="269557" y="208597"/>
                </a:lnTo>
                <a:lnTo>
                  <a:pt x="284200" y="186817"/>
                </a:lnTo>
                <a:lnTo>
                  <a:pt x="289560" y="160020"/>
                </a:lnTo>
                <a:lnTo>
                  <a:pt x="284200" y="133235"/>
                </a:lnTo>
                <a:lnTo>
                  <a:pt x="280022" y="127025"/>
                </a:lnTo>
                <a:lnTo>
                  <a:pt x="287147" y="131813"/>
                </a:lnTo>
                <a:lnTo>
                  <a:pt x="313944" y="137160"/>
                </a:lnTo>
                <a:lnTo>
                  <a:pt x="339852" y="131813"/>
                </a:lnTo>
                <a:lnTo>
                  <a:pt x="361188" y="117157"/>
                </a:lnTo>
                <a:lnTo>
                  <a:pt x="375666" y="95377"/>
                </a:lnTo>
                <a:lnTo>
                  <a:pt x="381000" y="68580"/>
                </a:lnTo>
                <a:close/>
              </a:path>
              <a:path w="594359" h="533400">
                <a:moveTo>
                  <a:pt x="441960" y="464820"/>
                </a:moveTo>
                <a:lnTo>
                  <a:pt x="436600" y="438035"/>
                </a:lnTo>
                <a:lnTo>
                  <a:pt x="421957" y="416242"/>
                </a:lnTo>
                <a:lnTo>
                  <a:pt x="400164" y="401599"/>
                </a:lnTo>
                <a:lnTo>
                  <a:pt x="373380" y="396240"/>
                </a:lnTo>
                <a:lnTo>
                  <a:pt x="346583" y="401599"/>
                </a:lnTo>
                <a:lnTo>
                  <a:pt x="324802" y="416242"/>
                </a:lnTo>
                <a:lnTo>
                  <a:pt x="310146" y="438035"/>
                </a:lnTo>
                <a:lnTo>
                  <a:pt x="304800" y="464820"/>
                </a:lnTo>
                <a:lnTo>
                  <a:pt x="310146" y="491617"/>
                </a:lnTo>
                <a:lnTo>
                  <a:pt x="324802" y="513397"/>
                </a:lnTo>
                <a:lnTo>
                  <a:pt x="346583" y="528053"/>
                </a:lnTo>
                <a:lnTo>
                  <a:pt x="373380" y="533400"/>
                </a:lnTo>
                <a:lnTo>
                  <a:pt x="400164" y="528053"/>
                </a:lnTo>
                <a:lnTo>
                  <a:pt x="421957" y="513397"/>
                </a:lnTo>
                <a:lnTo>
                  <a:pt x="436600" y="491617"/>
                </a:lnTo>
                <a:lnTo>
                  <a:pt x="441960" y="464820"/>
                </a:lnTo>
                <a:close/>
              </a:path>
              <a:path w="594359" h="533400">
                <a:moveTo>
                  <a:pt x="533400" y="352044"/>
                </a:moveTo>
                <a:lnTo>
                  <a:pt x="528066" y="325259"/>
                </a:lnTo>
                <a:lnTo>
                  <a:pt x="513588" y="303466"/>
                </a:lnTo>
                <a:lnTo>
                  <a:pt x="492252" y="288823"/>
                </a:lnTo>
                <a:lnTo>
                  <a:pt x="466344" y="283464"/>
                </a:lnTo>
                <a:lnTo>
                  <a:pt x="439547" y="288823"/>
                </a:lnTo>
                <a:lnTo>
                  <a:pt x="417766" y="303466"/>
                </a:lnTo>
                <a:lnTo>
                  <a:pt x="403110" y="325259"/>
                </a:lnTo>
                <a:lnTo>
                  <a:pt x="397764" y="352044"/>
                </a:lnTo>
                <a:lnTo>
                  <a:pt x="403110" y="378841"/>
                </a:lnTo>
                <a:lnTo>
                  <a:pt x="417766" y="400621"/>
                </a:lnTo>
                <a:lnTo>
                  <a:pt x="439547" y="415277"/>
                </a:lnTo>
                <a:lnTo>
                  <a:pt x="466344" y="420624"/>
                </a:lnTo>
                <a:lnTo>
                  <a:pt x="492252" y="415277"/>
                </a:lnTo>
                <a:lnTo>
                  <a:pt x="513588" y="400621"/>
                </a:lnTo>
                <a:lnTo>
                  <a:pt x="528066" y="378841"/>
                </a:lnTo>
                <a:lnTo>
                  <a:pt x="533400" y="352044"/>
                </a:lnTo>
                <a:close/>
              </a:path>
              <a:path w="594359" h="533400">
                <a:moveTo>
                  <a:pt x="594360" y="220980"/>
                </a:moveTo>
                <a:lnTo>
                  <a:pt x="589000" y="194195"/>
                </a:lnTo>
                <a:lnTo>
                  <a:pt x="574357" y="172402"/>
                </a:lnTo>
                <a:lnTo>
                  <a:pt x="552564" y="157759"/>
                </a:lnTo>
                <a:lnTo>
                  <a:pt x="533107" y="153873"/>
                </a:lnTo>
                <a:lnTo>
                  <a:pt x="533400" y="152400"/>
                </a:lnTo>
                <a:lnTo>
                  <a:pt x="528066" y="125615"/>
                </a:lnTo>
                <a:lnTo>
                  <a:pt x="513588" y="103822"/>
                </a:lnTo>
                <a:lnTo>
                  <a:pt x="492252" y="89179"/>
                </a:lnTo>
                <a:lnTo>
                  <a:pt x="466344" y="83820"/>
                </a:lnTo>
                <a:lnTo>
                  <a:pt x="439547" y="89179"/>
                </a:lnTo>
                <a:lnTo>
                  <a:pt x="417766" y="103822"/>
                </a:lnTo>
                <a:lnTo>
                  <a:pt x="403110" y="125615"/>
                </a:lnTo>
                <a:lnTo>
                  <a:pt x="397764" y="152400"/>
                </a:lnTo>
                <a:lnTo>
                  <a:pt x="399669" y="162001"/>
                </a:lnTo>
                <a:lnTo>
                  <a:pt x="390144" y="160020"/>
                </a:lnTo>
                <a:lnTo>
                  <a:pt x="363347" y="165379"/>
                </a:lnTo>
                <a:lnTo>
                  <a:pt x="341566" y="180022"/>
                </a:lnTo>
                <a:lnTo>
                  <a:pt x="326910" y="201815"/>
                </a:lnTo>
                <a:lnTo>
                  <a:pt x="321564" y="228600"/>
                </a:lnTo>
                <a:lnTo>
                  <a:pt x="326910" y="255397"/>
                </a:lnTo>
                <a:lnTo>
                  <a:pt x="341566" y="277177"/>
                </a:lnTo>
                <a:lnTo>
                  <a:pt x="363347" y="291833"/>
                </a:lnTo>
                <a:lnTo>
                  <a:pt x="390144" y="297180"/>
                </a:lnTo>
                <a:lnTo>
                  <a:pt x="416052" y="291833"/>
                </a:lnTo>
                <a:lnTo>
                  <a:pt x="437388" y="277177"/>
                </a:lnTo>
                <a:lnTo>
                  <a:pt x="451866" y="255397"/>
                </a:lnTo>
                <a:lnTo>
                  <a:pt x="457200" y="228600"/>
                </a:lnTo>
                <a:lnTo>
                  <a:pt x="455231" y="218770"/>
                </a:lnTo>
                <a:lnTo>
                  <a:pt x="457542" y="219227"/>
                </a:lnTo>
                <a:lnTo>
                  <a:pt x="477202" y="269557"/>
                </a:lnTo>
                <a:lnTo>
                  <a:pt x="525780" y="289560"/>
                </a:lnTo>
                <a:lnTo>
                  <a:pt x="552564" y="284213"/>
                </a:lnTo>
                <a:lnTo>
                  <a:pt x="574357" y="269557"/>
                </a:lnTo>
                <a:lnTo>
                  <a:pt x="589000" y="247777"/>
                </a:lnTo>
                <a:lnTo>
                  <a:pt x="594360" y="2209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572757" y="6394193"/>
            <a:ext cx="2280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006400"/>
                </a:solidFill>
                <a:latin typeface="Arial"/>
                <a:cs typeface="Arial"/>
              </a:rPr>
              <a:t>smaller</a:t>
            </a:r>
            <a:r>
              <a:rPr sz="2400" b="1" i="1" spc="-85" dirty="0">
                <a:solidFill>
                  <a:srgbClr val="0064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006400"/>
                </a:solidFill>
                <a:latin typeface="Arial"/>
                <a:cs typeface="Arial"/>
              </a:rPr>
              <a:t>scatter: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900" y="455167"/>
            <a:ext cx="8636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2665" algn="l"/>
              </a:tabLst>
            </a:pPr>
            <a:r>
              <a:rPr sz="3200" b="1" i="1" u="heavy" spc="-215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Fisher</a:t>
            </a:r>
            <a:r>
              <a:rPr sz="3200" b="1" i="1" u="heavy" spc="-5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Linear</a:t>
            </a:r>
            <a:r>
              <a:rPr sz="3200" b="1" i="1" u="heavy" spc="-45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spc="-1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Discriminant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	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5985" y="1166875"/>
            <a:ext cx="1567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by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scatter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34821" y="1225295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0808"/>
                </a:lnTo>
              </a:path>
            </a:pathLst>
          </a:custGeom>
          <a:ln w="156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17441" y="1225295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0808"/>
                </a:lnTo>
              </a:path>
            </a:pathLst>
          </a:custGeom>
          <a:ln w="156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85761" y="1389623"/>
            <a:ext cx="86868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6760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42432" y="1039440"/>
            <a:ext cx="3048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125" spc="-1027" baseline="-17171" dirty="0">
                <a:latin typeface="Symbol"/>
                <a:cs typeface="Symbol"/>
              </a:rPr>
              <a:t></a:t>
            </a:r>
            <a:r>
              <a:rPr sz="2600" b="1" spc="-685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9149" y="1147644"/>
            <a:ext cx="60515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00" dirty="0">
                <a:latin typeface="Symbol"/>
                <a:cs typeface="Symbol"/>
              </a:rPr>
              <a:t>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750" spc="-685" dirty="0">
                <a:latin typeface="Symbol"/>
                <a:cs typeface="Symbol"/>
              </a:rPr>
              <a:t></a:t>
            </a:r>
            <a:r>
              <a:rPr sz="3900" b="1" spc="-1027" baseline="18162" dirty="0">
                <a:latin typeface="Arial"/>
                <a:cs typeface="Arial"/>
              </a:rPr>
              <a:t>~</a:t>
            </a:r>
            <a:endParaRPr sz="3900" baseline="18162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2957" y="4682481"/>
            <a:ext cx="1346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71103" y="4915653"/>
            <a:ext cx="1346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1777" y="4915653"/>
            <a:ext cx="8001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39746" y="4915653"/>
            <a:ext cx="1346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8328" y="5150348"/>
            <a:ext cx="11633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00" b="1" i="1" dirty="0">
                <a:latin typeface="Arial"/>
                <a:cs typeface="Arial"/>
              </a:rPr>
              <a:t>y</a:t>
            </a:r>
            <a:r>
              <a:rPr sz="1500" b="1" i="1" spc="-105" dirty="0">
                <a:latin typeface="Arial"/>
                <a:cs typeface="Arial"/>
              </a:rPr>
              <a:t> </a:t>
            </a:r>
            <a:r>
              <a:rPr sz="1650" b="1" i="1" baseline="-20202" dirty="0">
                <a:latin typeface="Arial"/>
                <a:cs typeface="Arial"/>
              </a:rPr>
              <a:t>i</a:t>
            </a:r>
            <a:r>
              <a:rPr sz="1650" b="1" i="1" spc="-75" baseline="-20202" dirty="0">
                <a:latin typeface="Arial"/>
                <a:cs typeface="Arial"/>
              </a:rPr>
              <a:t> </a:t>
            </a:r>
            <a:r>
              <a:rPr sz="1500" dirty="0">
                <a:latin typeface="Symbol"/>
                <a:cs typeface="Symbol"/>
              </a:rPr>
              <a:t></a:t>
            </a:r>
            <a:r>
              <a:rPr sz="1500" b="1" i="1" dirty="0">
                <a:latin typeface="Arial"/>
                <a:cs typeface="Arial"/>
              </a:rPr>
              <a:t>Class</a:t>
            </a:r>
            <a:r>
              <a:rPr sz="1500" b="1" i="1" spc="459" dirty="0">
                <a:latin typeface="Arial"/>
                <a:cs typeface="Arial"/>
              </a:rPr>
              <a:t> </a:t>
            </a:r>
            <a:r>
              <a:rPr sz="1500" b="1" i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41489" y="4451565"/>
            <a:ext cx="597535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432434" algn="l"/>
              </a:tabLst>
            </a:pPr>
            <a:r>
              <a:rPr sz="2600" b="1" i="1" spc="-50" dirty="0">
                <a:latin typeface="Arial"/>
                <a:cs typeface="Arial"/>
              </a:rPr>
              <a:t>~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5400" spc="-75" baseline="-13117" dirty="0">
                <a:latin typeface="Symbol"/>
                <a:cs typeface="Symbol"/>
              </a:rPr>
              <a:t></a:t>
            </a:r>
            <a:endParaRPr sz="5400" baseline="-13117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99456" y="4524877"/>
            <a:ext cx="279019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63245" algn="l"/>
                <a:tab pos="1235710" algn="l"/>
                <a:tab pos="2258060" algn="l"/>
              </a:tabLst>
            </a:pP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352" baseline="-8438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Symbol"/>
                <a:cs typeface="Symbol"/>
              </a:rPr>
              <a:t></a:t>
            </a:r>
            <a:r>
              <a:rPr sz="2600" b="1" i="1" spc="-25" dirty="0">
                <a:latin typeface="Arial"/>
                <a:cs typeface="Arial"/>
              </a:rPr>
              <a:t>y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750" spc="-1485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2139" y="4167630"/>
            <a:ext cx="7225665" cy="805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ts val="319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Scatter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projected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samples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is</a:t>
            </a:r>
            <a:endParaRPr sz="2800">
              <a:latin typeface="Arial MT"/>
              <a:cs typeface="Arial MT"/>
            </a:endParaRPr>
          </a:p>
          <a:p>
            <a:pPr marR="1394460" algn="ctr">
              <a:lnSpc>
                <a:spcPts val="2950"/>
              </a:lnSpc>
            </a:pPr>
            <a:r>
              <a:rPr sz="2600" b="1" i="1" dirty="0">
                <a:latin typeface="Arial"/>
                <a:cs typeface="Arial"/>
              </a:rPr>
              <a:t>~</a:t>
            </a:r>
            <a:r>
              <a:rPr sz="2600" b="1" i="1" spc="-340" dirty="0">
                <a:latin typeface="Arial"/>
                <a:cs typeface="Arial"/>
              </a:rPr>
              <a:t> </a:t>
            </a:r>
            <a:r>
              <a:rPr sz="1500" b="1" i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89618" y="3175245"/>
            <a:ext cx="1346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57387" y="3408417"/>
            <a:ext cx="1346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61091" y="3408417"/>
            <a:ext cx="1346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47585" y="2960235"/>
            <a:ext cx="536575" cy="565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71475" algn="l"/>
              </a:tabLst>
            </a:pPr>
            <a:r>
              <a:rPr sz="2600" b="1" spc="-50" dirty="0">
                <a:latin typeface="Arial"/>
                <a:cs typeface="Arial"/>
              </a:rPr>
              <a:t>~</a:t>
            </a:r>
            <a:r>
              <a:rPr sz="2600" b="1" dirty="0">
                <a:latin typeface="Arial"/>
                <a:cs typeface="Arial"/>
              </a:rPr>
              <a:t>	</a:t>
            </a:r>
            <a:r>
              <a:rPr sz="5325" spc="-75" baseline="-12519" dirty="0">
                <a:latin typeface="Symbol"/>
                <a:cs typeface="Symbol"/>
              </a:rPr>
              <a:t></a:t>
            </a:r>
            <a:endParaRPr sz="5325" baseline="-12519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86326" y="3043340"/>
            <a:ext cx="353060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600" b="1" dirty="0">
                <a:latin typeface="Arial"/>
                <a:cs typeface="Arial"/>
              </a:rPr>
              <a:t>~</a:t>
            </a:r>
            <a:r>
              <a:rPr sz="2600" b="1" spc="-425" dirty="0">
                <a:latin typeface="Arial"/>
                <a:cs typeface="Arial"/>
              </a:rPr>
              <a:t> </a:t>
            </a:r>
            <a:r>
              <a:rPr sz="2250" b="1" spc="-75" baseline="1851" dirty="0">
                <a:latin typeface="Arial"/>
                <a:cs typeface="Arial"/>
              </a:rPr>
              <a:t>2</a:t>
            </a:r>
            <a:endParaRPr sz="2250" baseline="1851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44156" y="3408417"/>
            <a:ext cx="8001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62043" y="3643112"/>
            <a:ext cx="115760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00" b="1" i="1" dirty="0">
                <a:latin typeface="Arial"/>
                <a:cs typeface="Arial"/>
              </a:rPr>
              <a:t>y</a:t>
            </a:r>
            <a:r>
              <a:rPr sz="1500" b="1" i="1" spc="-105" dirty="0">
                <a:latin typeface="Arial"/>
                <a:cs typeface="Arial"/>
              </a:rPr>
              <a:t> </a:t>
            </a:r>
            <a:r>
              <a:rPr sz="1650" b="1" i="1" baseline="-20202" dirty="0">
                <a:latin typeface="Arial"/>
                <a:cs typeface="Arial"/>
              </a:rPr>
              <a:t>i</a:t>
            </a:r>
            <a:r>
              <a:rPr sz="1650" b="1" i="1" spc="-52" baseline="-20202" dirty="0">
                <a:latin typeface="Arial"/>
                <a:cs typeface="Arial"/>
              </a:rPr>
              <a:t> </a:t>
            </a:r>
            <a:r>
              <a:rPr sz="1500" dirty="0">
                <a:latin typeface="Symbol"/>
                <a:cs typeface="Symbol"/>
              </a:rPr>
              <a:t></a:t>
            </a:r>
            <a:r>
              <a:rPr sz="1500" b="1" i="1" dirty="0">
                <a:latin typeface="Arial"/>
                <a:cs typeface="Arial"/>
              </a:rPr>
              <a:t>Class</a:t>
            </a:r>
            <a:r>
              <a:rPr sz="1500" b="1" i="1" spc="395" dirty="0">
                <a:latin typeface="Arial"/>
                <a:cs typeface="Arial"/>
              </a:rPr>
              <a:t> </a:t>
            </a: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52286" y="3185072"/>
            <a:ext cx="199390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i="1" spc="-134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38952" y="3017641"/>
            <a:ext cx="224282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87070" algn="l"/>
                <a:tab pos="1712595" algn="l"/>
              </a:tabLst>
            </a:pP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352" baseline="-8438" dirty="0">
                <a:latin typeface="Times New Roman"/>
                <a:cs typeface="Times New Roman"/>
              </a:rPr>
              <a:t> </a:t>
            </a:r>
            <a:r>
              <a:rPr sz="3550" spc="-25" dirty="0">
                <a:latin typeface="Symbol"/>
                <a:cs typeface="Symbol"/>
              </a:rPr>
              <a:t></a:t>
            </a:r>
            <a:r>
              <a:rPr sz="2600" b="1" i="1" spc="-25" dirty="0">
                <a:latin typeface="Arial"/>
                <a:cs typeface="Arial"/>
              </a:rPr>
              <a:t>y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1375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4039" y="1166875"/>
            <a:ext cx="8274050" cy="1946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97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59765" algn="l"/>
              </a:tabLst>
            </a:pPr>
            <a:r>
              <a:rPr sz="2800" dirty="0">
                <a:latin typeface="Arial MT"/>
                <a:cs typeface="Arial MT"/>
              </a:rPr>
              <a:t>Fisher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Solution: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normalize</a:t>
            </a:r>
            <a:endParaRPr sz="2800">
              <a:latin typeface="Arial MT"/>
              <a:cs typeface="Arial MT"/>
            </a:endParaRPr>
          </a:p>
          <a:p>
            <a:pPr marL="659765" indent="-608965">
              <a:lnSpc>
                <a:spcPct val="100000"/>
              </a:lnSpc>
              <a:spcBef>
                <a:spcPts val="2039"/>
              </a:spcBef>
              <a:buClr>
                <a:srgbClr val="854300"/>
              </a:buClr>
              <a:buFont typeface="Microsoft Sans Serif"/>
              <a:buChar char="▪"/>
              <a:tabLst>
                <a:tab pos="659765" algn="l"/>
                <a:tab pos="4124325" algn="l"/>
              </a:tabLst>
            </a:pPr>
            <a:r>
              <a:rPr sz="2800" dirty="0">
                <a:latin typeface="Arial MT"/>
                <a:cs typeface="Arial MT"/>
              </a:rPr>
              <a:t>Let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y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345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50" b="1" i="1" baseline="23391" dirty="0">
                <a:latin typeface="Arial"/>
                <a:cs typeface="Arial"/>
              </a:rPr>
              <a:t>t</a:t>
            </a:r>
            <a:r>
              <a:rPr sz="2800" b="1" i="1" dirty="0">
                <a:latin typeface="Arial"/>
                <a:cs typeface="Arial"/>
              </a:rPr>
              <a:t>x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-22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i.e.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y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330" baseline="-20467" dirty="0">
                <a:latin typeface="Arial"/>
                <a:cs typeface="Arial"/>
              </a:rPr>
              <a:t> </a:t>
            </a:r>
            <a:r>
              <a:rPr sz="2800" spc="-25" dirty="0">
                <a:latin typeface="Arial MT"/>
                <a:cs typeface="Arial MT"/>
              </a:rPr>
              <a:t>‘s</a:t>
            </a:r>
            <a:r>
              <a:rPr sz="2800" dirty="0">
                <a:latin typeface="Arial MT"/>
                <a:cs typeface="Arial MT"/>
              </a:rPr>
              <a:t>	are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projected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samples</a:t>
            </a:r>
            <a:endParaRPr sz="2800">
              <a:latin typeface="Arial MT"/>
              <a:cs typeface="Arial MT"/>
            </a:endParaRPr>
          </a:p>
          <a:p>
            <a:pPr marL="659765" indent="-608965">
              <a:lnSpc>
                <a:spcPct val="100000"/>
              </a:lnSpc>
              <a:spcBef>
                <a:spcPts val="3010"/>
              </a:spcBef>
              <a:buClr>
                <a:srgbClr val="854300"/>
              </a:buClr>
              <a:buFont typeface="Microsoft Sans Serif"/>
              <a:buChar char="▪"/>
              <a:tabLst>
                <a:tab pos="659765" algn="l"/>
              </a:tabLst>
            </a:pPr>
            <a:r>
              <a:rPr sz="2800" dirty="0">
                <a:latin typeface="Arial MT"/>
                <a:cs typeface="Arial MT"/>
              </a:rPr>
              <a:t>Scatter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projected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samples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00"/>
              </a:spcBef>
              <a:tabLst>
                <a:tab pos="8683625" algn="l"/>
              </a:tabLst>
            </a:pPr>
            <a:r>
              <a:rPr u="heavy" spc="-21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Fisher</a:t>
            </a:r>
            <a:r>
              <a:rPr u="heavy" spc="-5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Linear</a:t>
            </a:r>
            <a:r>
              <a:rPr u="heavy" spc="-4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854300"/>
                  </a:solidFill>
                </a:uFill>
              </a:rPr>
              <a:t>Discriminant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2841" y="4566798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6265" y="4801494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2259" y="4801494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5910" y="4073021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6020" y="4329053"/>
            <a:ext cx="15938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9730" algn="l"/>
                <a:tab pos="1112520" algn="l"/>
                <a:tab pos="1580515" algn="l"/>
              </a:tabLst>
            </a:pPr>
            <a:r>
              <a:rPr sz="1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1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64809" y="4436516"/>
            <a:ext cx="1009015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00100" algn="l"/>
              </a:tabLst>
            </a:pPr>
            <a:r>
              <a:rPr sz="2600" b="1" dirty="0">
                <a:latin typeface="Arial"/>
                <a:cs typeface="Arial"/>
              </a:rPr>
              <a:t>~</a:t>
            </a:r>
            <a:r>
              <a:rPr sz="2600" b="1" spc="-425" dirty="0">
                <a:latin typeface="Arial"/>
                <a:cs typeface="Arial"/>
              </a:rPr>
              <a:t> </a:t>
            </a:r>
            <a:r>
              <a:rPr sz="2250" b="1" spc="-75" baseline="1851" dirty="0">
                <a:latin typeface="Arial"/>
                <a:cs typeface="Arial"/>
              </a:rPr>
              <a:t>2</a:t>
            </a:r>
            <a:r>
              <a:rPr sz="2250" b="1" baseline="1851" dirty="0">
                <a:latin typeface="Arial"/>
                <a:cs typeface="Arial"/>
              </a:rPr>
              <a:t>	</a:t>
            </a:r>
            <a:r>
              <a:rPr sz="2600" b="1" spc="-50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38925" y="3881052"/>
            <a:ext cx="558800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06400" algn="l"/>
              </a:tabLst>
            </a:pPr>
            <a:r>
              <a:rPr sz="2600" b="1" spc="-50" dirty="0">
                <a:latin typeface="Arial"/>
                <a:cs typeface="Arial"/>
              </a:rPr>
              <a:t>~</a:t>
            </a:r>
            <a:r>
              <a:rPr sz="2600" b="1" dirty="0">
                <a:latin typeface="Arial"/>
                <a:cs typeface="Arial"/>
              </a:rPr>
              <a:t>	</a:t>
            </a:r>
            <a:r>
              <a:rPr sz="5325" spc="-547" baseline="-12519" dirty="0">
                <a:latin typeface="Symbol"/>
                <a:cs typeface="Symbol"/>
              </a:rPr>
              <a:t></a:t>
            </a:r>
            <a:endParaRPr sz="5325" baseline="-12519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3473" y="4578247"/>
            <a:ext cx="198755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i="1" spc="-134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31153" y="4578247"/>
            <a:ext cx="499109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latin typeface="Symbol"/>
                <a:cs typeface="Symbol"/>
              </a:rPr>
              <a:t>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600" b="1" i="1" spc="-134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30569" y="4086778"/>
            <a:ext cx="506095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latin typeface="Symbol"/>
                <a:cs typeface="Symbol"/>
              </a:rPr>
              <a:t>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750" spc="-1395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92195" y="4207188"/>
            <a:ext cx="1604645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94435" algn="l"/>
              </a:tabLst>
            </a:pPr>
            <a:r>
              <a:rPr sz="2600" b="1" i="1" dirty="0">
                <a:latin typeface="Arial"/>
                <a:cs typeface="Arial"/>
              </a:rPr>
              <a:t>J</a:t>
            </a:r>
            <a:r>
              <a:rPr sz="2600" b="1" i="1" spc="-235" dirty="0">
                <a:latin typeface="Arial"/>
                <a:cs typeface="Arial"/>
              </a:rPr>
              <a:t> </a:t>
            </a:r>
            <a:r>
              <a:rPr sz="3450" spc="-170" dirty="0">
                <a:latin typeface="Symbol"/>
                <a:cs typeface="Symbol"/>
              </a:rPr>
              <a:t></a:t>
            </a:r>
            <a:r>
              <a:rPr sz="2600" b="1" i="1" spc="-170" dirty="0">
                <a:latin typeface="Arial"/>
                <a:cs typeface="Arial"/>
              </a:rPr>
              <a:t>v</a:t>
            </a:r>
            <a:r>
              <a:rPr sz="2600" b="1" i="1" spc="-105" dirty="0">
                <a:latin typeface="Arial"/>
                <a:cs typeface="Arial"/>
              </a:rPr>
              <a:t> </a:t>
            </a:r>
            <a:r>
              <a:rPr sz="3450" spc="-170" dirty="0">
                <a:latin typeface="Symbol"/>
                <a:cs typeface="Symbol"/>
              </a:rPr>
              <a:t></a:t>
            </a:r>
            <a:r>
              <a:rPr sz="3450" spc="-26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325" spc="-794" baseline="27386" dirty="0">
                <a:latin typeface="Symbol"/>
                <a:cs typeface="Symbol"/>
              </a:rPr>
              <a:t></a:t>
            </a:r>
            <a:r>
              <a:rPr sz="4125" spc="-794" baseline="34343" dirty="0">
                <a:latin typeface="Symbol"/>
                <a:cs typeface="Symbol"/>
              </a:rPr>
              <a:t></a:t>
            </a:r>
            <a:r>
              <a:rPr sz="3900" b="1" spc="-794" baseline="54487" dirty="0">
                <a:latin typeface="Arial"/>
                <a:cs typeface="Arial"/>
              </a:rPr>
              <a:t>~</a:t>
            </a:r>
            <a:endParaRPr sz="3900" baseline="5448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2139" y="1166875"/>
            <a:ext cx="8827770" cy="26269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21665" marR="5080" indent="-609600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We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normalize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both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scatter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dirty="0">
                <a:latin typeface="Arial MT"/>
                <a:cs typeface="Arial MT"/>
              </a:rPr>
              <a:t>scatter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2</a:t>
            </a:r>
            <a:endParaRPr sz="2800">
              <a:latin typeface="Arial MT"/>
              <a:cs typeface="Arial MT"/>
            </a:endParaRPr>
          </a:p>
          <a:p>
            <a:pPr marL="622300" marR="277495" indent="-610235">
              <a:lnSpc>
                <a:spcPct val="100400"/>
              </a:lnSpc>
              <a:spcBef>
                <a:spcPts val="1055"/>
              </a:spcBef>
              <a:buClr>
                <a:srgbClr val="854300"/>
              </a:buClr>
              <a:buFont typeface="Microsoft Sans Serif"/>
              <a:buChar char="▪"/>
              <a:tabLst>
                <a:tab pos="622300" algn="l"/>
              </a:tabLst>
            </a:pPr>
            <a:r>
              <a:rPr sz="2800" dirty="0">
                <a:latin typeface="Arial MT"/>
                <a:cs typeface="Arial MT"/>
              </a:rPr>
              <a:t>Thus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Fisher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linear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discriminant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line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direction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00" b="1" i="1" spc="-4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maximizes</a:t>
            </a:r>
            <a:endParaRPr sz="2800">
              <a:latin typeface="Arial MT"/>
              <a:cs typeface="Arial MT"/>
            </a:endParaRPr>
          </a:p>
          <a:p>
            <a:pPr marL="1764664">
              <a:lnSpc>
                <a:spcPct val="100000"/>
              </a:lnSpc>
              <a:spcBef>
                <a:spcPts val="3075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want</a:t>
            </a:r>
            <a:r>
              <a:rPr sz="2400" b="1" i="1" spc="-6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projected</a:t>
            </a:r>
            <a:r>
              <a:rPr sz="2400" b="1" i="1" spc="-5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means</a:t>
            </a:r>
            <a:r>
              <a:rPr sz="2400" b="1" i="1" spc="-5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are</a:t>
            </a:r>
            <a:r>
              <a:rPr sz="2400" b="1" i="1" spc="-5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far</a:t>
            </a:r>
            <a:r>
              <a:rPr sz="2400" b="1" i="1" spc="-5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from</a:t>
            </a:r>
            <a:r>
              <a:rPr sz="2400" b="1" i="1" spc="-5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each</a:t>
            </a:r>
            <a:r>
              <a:rPr sz="2400" b="1" i="1" spc="-5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other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67200" y="3831335"/>
            <a:ext cx="1447800" cy="224154"/>
          </a:xfrm>
          <a:custGeom>
            <a:avLst/>
            <a:gdLst/>
            <a:ahLst/>
            <a:cxnLst/>
            <a:rect l="l" t="t" r="r" b="b"/>
            <a:pathLst>
              <a:path w="1447800" h="224154">
                <a:moveTo>
                  <a:pt x="1447799" y="224027"/>
                </a:moveTo>
                <a:lnTo>
                  <a:pt x="1438417" y="180689"/>
                </a:lnTo>
                <a:lnTo>
                  <a:pt x="1412747" y="144779"/>
                </a:lnTo>
                <a:lnTo>
                  <a:pt x="1374505" y="120300"/>
                </a:lnTo>
                <a:lnTo>
                  <a:pt x="1327403" y="111251"/>
                </a:lnTo>
                <a:lnTo>
                  <a:pt x="844295" y="111251"/>
                </a:lnTo>
                <a:lnTo>
                  <a:pt x="797194" y="102441"/>
                </a:lnTo>
                <a:lnTo>
                  <a:pt x="758951" y="78485"/>
                </a:lnTo>
                <a:lnTo>
                  <a:pt x="733282" y="43100"/>
                </a:lnTo>
                <a:lnTo>
                  <a:pt x="723899" y="0"/>
                </a:lnTo>
                <a:lnTo>
                  <a:pt x="714517" y="43100"/>
                </a:lnTo>
                <a:lnTo>
                  <a:pt x="688847" y="78485"/>
                </a:lnTo>
                <a:lnTo>
                  <a:pt x="650605" y="102441"/>
                </a:lnTo>
                <a:lnTo>
                  <a:pt x="603503" y="111251"/>
                </a:lnTo>
                <a:lnTo>
                  <a:pt x="120395" y="111251"/>
                </a:lnTo>
                <a:lnTo>
                  <a:pt x="73294" y="120300"/>
                </a:lnTo>
                <a:lnTo>
                  <a:pt x="35051" y="144779"/>
                </a:lnTo>
                <a:lnTo>
                  <a:pt x="9382" y="180689"/>
                </a:lnTo>
                <a:lnTo>
                  <a:pt x="0" y="224027"/>
                </a:lnTo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152133" y="5327393"/>
            <a:ext cx="4023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want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scatter</a:t>
            </a:r>
            <a:r>
              <a:rPr sz="2400" b="1" i="1" spc="-3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in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class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2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is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5" dirty="0">
                <a:solidFill>
                  <a:srgbClr val="643100"/>
                </a:solidFill>
                <a:latin typeface="Arial"/>
                <a:cs typeface="Arial"/>
              </a:rPr>
              <a:t>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52133" y="5984237"/>
            <a:ext cx="4157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of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class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2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cluster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around</a:t>
            </a:r>
            <a:r>
              <a:rPr sz="2400" b="1" i="1" spc="-5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5" dirty="0">
                <a:solidFill>
                  <a:srgbClr val="643100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3413" y="6522090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solidFill>
                  <a:srgbClr val="643100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26733" y="6264573"/>
            <a:ext cx="270256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2433320" algn="l"/>
              </a:tabLst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projected</a:t>
            </a:r>
            <a:r>
              <a:rPr sz="2400" b="1" i="1" spc="-9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643100"/>
                </a:solidFill>
                <a:latin typeface="Arial"/>
                <a:cs typeface="Arial"/>
              </a:rPr>
              <a:t>mean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	</a:t>
            </a:r>
            <a:r>
              <a:rPr sz="4125" spc="-1019" baseline="-3030" dirty="0">
                <a:solidFill>
                  <a:srgbClr val="643100"/>
                </a:solidFill>
                <a:latin typeface="Symbol"/>
                <a:cs typeface="Symbol"/>
              </a:rPr>
              <a:t></a:t>
            </a:r>
            <a:r>
              <a:rPr sz="3900" b="1" spc="-1019" baseline="16025" dirty="0">
                <a:solidFill>
                  <a:srgbClr val="643100"/>
                </a:solidFill>
                <a:latin typeface="Arial"/>
                <a:cs typeface="Arial"/>
              </a:rPr>
              <a:t>~</a:t>
            </a:r>
            <a:endParaRPr sz="3900" baseline="16025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00521" y="5014721"/>
            <a:ext cx="624205" cy="361950"/>
            <a:chOff x="5700521" y="5014721"/>
            <a:chExt cx="624205" cy="361950"/>
          </a:xfrm>
        </p:grpSpPr>
        <p:sp>
          <p:nvSpPr>
            <p:cNvPr id="21" name="object 21"/>
            <p:cNvSpPr/>
            <p:nvPr/>
          </p:nvSpPr>
          <p:spPr>
            <a:xfrm>
              <a:off x="5714999" y="5029199"/>
              <a:ext cx="486409" cy="277495"/>
            </a:xfrm>
            <a:custGeom>
              <a:avLst/>
              <a:gdLst/>
              <a:ahLst/>
              <a:cxnLst/>
              <a:rect l="l" t="t" r="r" b="b"/>
              <a:pathLst>
                <a:path w="486410" h="277495">
                  <a:moveTo>
                    <a:pt x="486155" y="277367"/>
                  </a:moveTo>
                  <a:lnTo>
                    <a:pt x="0" y="0"/>
                  </a:lnTo>
                </a:path>
              </a:pathLst>
            </a:custGeom>
            <a:ln w="28955">
              <a:solidFill>
                <a:srgbClr val="64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60007" y="5239511"/>
              <a:ext cx="165100" cy="137160"/>
            </a:xfrm>
            <a:custGeom>
              <a:avLst/>
              <a:gdLst/>
              <a:ahLst/>
              <a:cxnLst/>
              <a:rect l="l" t="t" r="r" b="b"/>
              <a:pathLst>
                <a:path w="165100" h="137160">
                  <a:moveTo>
                    <a:pt x="164591" y="137159"/>
                  </a:moveTo>
                  <a:lnTo>
                    <a:pt x="73151" y="0"/>
                  </a:lnTo>
                  <a:lnTo>
                    <a:pt x="0" y="128015"/>
                  </a:lnTo>
                  <a:lnTo>
                    <a:pt x="164591" y="137159"/>
                  </a:lnTo>
                  <a:close/>
                </a:path>
              </a:pathLst>
            </a:custGeom>
            <a:solidFill>
              <a:srgbClr val="64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5939" y="5368541"/>
            <a:ext cx="4023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want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scatter</a:t>
            </a:r>
            <a:r>
              <a:rPr sz="2400" b="1" i="1" spc="-3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in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class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1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is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5" dirty="0">
                <a:solidFill>
                  <a:srgbClr val="643100"/>
                </a:solidFill>
                <a:latin typeface="Arial"/>
                <a:cs typeface="Arial"/>
              </a:rPr>
              <a:t>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39" y="5655053"/>
            <a:ext cx="9110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653915" algn="l"/>
              </a:tabLst>
            </a:pPr>
            <a:r>
              <a:rPr sz="3600" b="1" i="1" baseline="-8101" dirty="0">
                <a:solidFill>
                  <a:srgbClr val="643100"/>
                </a:solidFill>
                <a:latin typeface="Arial"/>
                <a:cs typeface="Arial"/>
              </a:rPr>
              <a:t>small</a:t>
            </a:r>
            <a:r>
              <a:rPr sz="3600" b="1" i="1" spc="-67" baseline="-8101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3600" b="1" i="1" baseline="-8101" dirty="0">
                <a:solidFill>
                  <a:srgbClr val="643100"/>
                </a:solidFill>
                <a:latin typeface="Arial"/>
                <a:cs typeface="Arial"/>
              </a:rPr>
              <a:t>as</a:t>
            </a:r>
            <a:r>
              <a:rPr sz="3600" b="1" i="1" spc="-75" baseline="-8101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3600" b="1" i="1" baseline="-8101" dirty="0">
                <a:solidFill>
                  <a:srgbClr val="643100"/>
                </a:solidFill>
                <a:latin typeface="Arial"/>
                <a:cs typeface="Arial"/>
              </a:rPr>
              <a:t>possible,</a:t>
            </a:r>
            <a:r>
              <a:rPr sz="3600" b="1" i="1" spc="-89" baseline="-8101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3600" b="1" i="1" baseline="-8101" dirty="0">
                <a:solidFill>
                  <a:srgbClr val="643100"/>
                </a:solidFill>
                <a:latin typeface="Arial"/>
                <a:cs typeface="Arial"/>
              </a:rPr>
              <a:t>i.e.</a:t>
            </a:r>
            <a:r>
              <a:rPr sz="3600" b="1" i="1" spc="-82" baseline="-8101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3600" b="1" i="1" spc="-15" baseline="-8101" dirty="0">
                <a:solidFill>
                  <a:srgbClr val="643100"/>
                </a:solidFill>
                <a:latin typeface="Arial"/>
                <a:cs typeface="Arial"/>
              </a:rPr>
              <a:t>samples</a:t>
            </a:r>
            <a:r>
              <a:rPr sz="3600" b="1" i="1" baseline="-8101" dirty="0">
                <a:solidFill>
                  <a:srgbClr val="643100"/>
                </a:solidFill>
                <a:latin typeface="Arial"/>
                <a:cs typeface="Arial"/>
              </a:rPr>
              <a:t>	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small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as</a:t>
            </a:r>
            <a:r>
              <a:rPr sz="2400" b="1" i="1" spc="-5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possible,</a:t>
            </a:r>
            <a:r>
              <a:rPr sz="2400" b="1" i="1" spc="-6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i.e.</a:t>
            </a:r>
            <a:r>
              <a:rPr sz="2400" b="1" i="1" spc="-5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samples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5939" y="6025385"/>
            <a:ext cx="4157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of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class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1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cluster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around</a:t>
            </a:r>
            <a:r>
              <a:rPr sz="2400" b="1" i="1" spc="-5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5" dirty="0">
                <a:solidFill>
                  <a:srgbClr val="643100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38930" y="6550450"/>
            <a:ext cx="134620" cy="260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b="1" spc="-50" dirty="0">
                <a:solidFill>
                  <a:srgbClr val="643100"/>
                </a:solidFill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0539" y="6307693"/>
            <a:ext cx="269113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421255" algn="l"/>
              </a:tabLst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projected</a:t>
            </a:r>
            <a:r>
              <a:rPr sz="2400" b="1" i="1" spc="-9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643100"/>
                </a:solidFill>
                <a:latin typeface="Arial"/>
                <a:cs typeface="Arial"/>
              </a:rPr>
              <a:t>mean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	</a:t>
            </a:r>
            <a:r>
              <a:rPr sz="2800" spc="-710" dirty="0">
                <a:solidFill>
                  <a:srgbClr val="643100"/>
                </a:solidFill>
                <a:latin typeface="Symbol"/>
                <a:cs typeface="Symbol"/>
              </a:rPr>
              <a:t></a:t>
            </a:r>
            <a:r>
              <a:rPr sz="3975" b="1" spc="-1064" baseline="17819" dirty="0">
                <a:solidFill>
                  <a:srgbClr val="643100"/>
                </a:solidFill>
                <a:latin typeface="Arial"/>
                <a:cs typeface="Arial"/>
              </a:rPr>
              <a:t>~</a:t>
            </a:r>
            <a:endParaRPr sz="3975" baseline="17819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86200" y="5014721"/>
            <a:ext cx="548005" cy="361950"/>
            <a:chOff x="3886200" y="5014721"/>
            <a:chExt cx="548005" cy="361950"/>
          </a:xfrm>
        </p:grpSpPr>
        <p:sp>
          <p:nvSpPr>
            <p:cNvPr id="29" name="object 29"/>
            <p:cNvSpPr/>
            <p:nvPr/>
          </p:nvSpPr>
          <p:spPr>
            <a:xfrm>
              <a:off x="4006595" y="5029199"/>
              <a:ext cx="413384" cy="269875"/>
            </a:xfrm>
            <a:custGeom>
              <a:avLst/>
              <a:gdLst/>
              <a:ahLst/>
              <a:cxnLst/>
              <a:rect l="l" t="t" r="r" b="b"/>
              <a:pathLst>
                <a:path w="413385" h="269875">
                  <a:moveTo>
                    <a:pt x="0" y="269747"/>
                  </a:moveTo>
                  <a:lnTo>
                    <a:pt x="413003" y="0"/>
                  </a:lnTo>
                </a:path>
              </a:pathLst>
            </a:custGeom>
            <a:ln w="28955">
              <a:solidFill>
                <a:srgbClr val="64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86200" y="5233415"/>
              <a:ext cx="165100" cy="143510"/>
            </a:xfrm>
            <a:custGeom>
              <a:avLst/>
              <a:gdLst/>
              <a:ahLst/>
              <a:cxnLst/>
              <a:rect l="l" t="t" r="r" b="b"/>
              <a:pathLst>
                <a:path w="165100" h="143510">
                  <a:moveTo>
                    <a:pt x="164591" y="124967"/>
                  </a:moveTo>
                  <a:lnTo>
                    <a:pt x="85343" y="0"/>
                  </a:lnTo>
                  <a:lnTo>
                    <a:pt x="0" y="143255"/>
                  </a:lnTo>
                  <a:lnTo>
                    <a:pt x="164591" y="124967"/>
                  </a:lnTo>
                  <a:close/>
                </a:path>
              </a:pathLst>
            </a:custGeom>
            <a:solidFill>
              <a:srgbClr val="64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55167"/>
            <a:ext cx="8636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2665" algn="l"/>
              </a:tabLst>
            </a:pPr>
            <a:r>
              <a:rPr u="heavy" spc="-21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Fisher</a:t>
            </a:r>
            <a:r>
              <a:rPr u="heavy" spc="-5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Linear</a:t>
            </a:r>
            <a:r>
              <a:rPr u="heavy" spc="-4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854300"/>
                  </a:solidFill>
                </a:uFill>
              </a:rPr>
              <a:t>Discriminant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2881" y="1578521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0777" y="1811693"/>
            <a:ext cx="92964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07720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5948" y="1084746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4544" y="1339253"/>
            <a:ext cx="159575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9730" algn="l"/>
                <a:tab pos="1114425" algn="l"/>
                <a:tab pos="1581785" algn="l"/>
              </a:tabLst>
            </a:pPr>
            <a:r>
              <a:rPr sz="1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1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84852" y="1446922"/>
            <a:ext cx="100901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00100" algn="l"/>
              </a:tabLst>
            </a:pPr>
            <a:r>
              <a:rPr sz="2600" b="1" dirty="0">
                <a:latin typeface="Arial"/>
                <a:cs typeface="Arial"/>
              </a:rPr>
              <a:t>~</a:t>
            </a:r>
            <a:r>
              <a:rPr sz="2600" b="1" spc="-434" dirty="0">
                <a:latin typeface="Arial"/>
                <a:cs typeface="Arial"/>
              </a:rPr>
              <a:t> </a:t>
            </a:r>
            <a:r>
              <a:rPr sz="2250" b="1" spc="-75" baseline="1851" dirty="0">
                <a:latin typeface="Arial"/>
                <a:cs typeface="Arial"/>
              </a:rPr>
              <a:t>2</a:t>
            </a:r>
            <a:r>
              <a:rPr sz="2250" b="1" baseline="1851" dirty="0">
                <a:latin typeface="Arial"/>
                <a:cs typeface="Arial"/>
              </a:rPr>
              <a:t>	</a:t>
            </a:r>
            <a:r>
              <a:rPr sz="2600" b="1" spc="-50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8965" y="891633"/>
            <a:ext cx="559435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06400" algn="l"/>
              </a:tabLst>
            </a:pPr>
            <a:r>
              <a:rPr sz="2600" b="1" spc="-50" dirty="0">
                <a:latin typeface="Arial"/>
                <a:cs typeface="Arial"/>
              </a:rPr>
              <a:t>~</a:t>
            </a:r>
            <a:r>
              <a:rPr sz="2600" b="1" dirty="0">
                <a:latin typeface="Arial"/>
                <a:cs typeface="Arial"/>
              </a:rPr>
              <a:t>	</a:t>
            </a:r>
            <a:r>
              <a:rPr sz="5250" spc="-502" baseline="-12698" dirty="0">
                <a:latin typeface="Symbol"/>
                <a:cs typeface="Symbol"/>
              </a:rPr>
              <a:t></a:t>
            </a:r>
            <a:endParaRPr sz="5250" baseline="-12698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63516" y="1588654"/>
            <a:ext cx="19875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i="1" spc="-1345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1194" y="1588654"/>
            <a:ext cx="499109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dirty="0">
                <a:latin typeface="Symbol"/>
                <a:cs typeface="Symbol"/>
              </a:rPr>
              <a:t>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600" b="1" i="1" spc="-1355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0610" y="1097214"/>
            <a:ext cx="50419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dirty="0">
                <a:latin typeface="Symbol"/>
                <a:cs typeface="Symbol"/>
              </a:rPr>
              <a:t>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750" spc="-1370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10715" y="1217769"/>
            <a:ext cx="1605915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194435" algn="l"/>
              </a:tabLst>
            </a:pPr>
            <a:r>
              <a:rPr sz="2600" b="1" i="1" dirty="0">
                <a:latin typeface="Arial"/>
                <a:cs typeface="Arial"/>
              </a:rPr>
              <a:t>J</a:t>
            </a:r>
            <a:r>
              <a:rPr sz="2600" b="1" i="1" spc="-240" dirty="0">
                <a:latin typeface="Arial"/>
                <a:cs typeface="Arial"/>
              </a:rPr>
              <a:t> </a:t>
            </a:r>
            <a:r>
              <a:rPr sz="3450" spc="-180" dirty="0">
                <a:latin typeface="Symbol"/>
                <a:cs typeface="Symbol"/>
              </a:rPr>
              <a:t></a:t>
            </a:r>
            <a:r>
              <a:rPr sz="2600" b="1" i="1" spc="-180" dirty="0">
                <a:latin typeface="Arial"/>
                <a:cs typeface="Arial"/>
              </a:rPr>
              <a:t>v</a:t>
            </a:r>
            <a:r>
              <a:rPr sz="2600" b="1" i="1" spc="-100" dirty="0">
                <a:latin typeface="Arial"/>
                <a:cs typeface="Arial"/>
              </a:rPr>
              <a:t> </a:t>
            </a:r>
            <a:r>
              <a:rPr sz="3450" spc="-170" dirty="0">
                <a:latin typeface="Symbol"/>
                <a:cs typeface="Symbol"/>
              </a:rPr>
              <a:t></a:t>
            </a:r>
            <a:r>
              <a:rPr sz="3450" spc="-2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250" spc="-772" baseline="27777" dirty="0">
                <a:latin typeface="Symbol"/>
                <a:cs typeface="Symbol"/>
              </a:rPr>
              <a:t></a:t>
            </a:r>
            <a:r>
              <a:rPr sz="4125" spc="-772" baseline="34343" dirty="0">
                <a:latin typeface="Symbol"/>
                <a:cs typeface="Symbol"/>
              </a:rPr>
              <a:t></a:t>
            </a:r>
            <a:r>
              <a:rPr sz="3900" b="1" spc="-772" baseline="54487" dirty="0">
                <a:latin typeface="Arial"/>
                <a:cs typeface="Arial"/>
              </a:rPr>
              <a:t>~</a:t>
            </a:r>
            <a:endParaRPr sz="3900" baseline="54487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90800" y="4347971"/>
            <a:ext cx="4495800" cy="300355"/>
            <a:chOff x="2590800" y="4347971"/>
            <a:chExt cx="4495800" cy="300355"/>
          </a:xfrm>
        </p:grpSpPr>
        <p:sp>
          <p:nvSpPr>
            <p:cNvPr id="14" name="object 14"/>
            <p:cNvSpPr/>
            <p:nvPr/>
          </p:nvSpPr>
          <p:spPr>
            <a:xfrm>
              <a:off x="2590800" y="4561331"/>
              <a:ext cx="4352925" cy="0"/>
            </a:xfrm>
            <a:custGeom>
              <a:avLst/>
              <a:gdLst/>
              <a:ahLst/>
              <a:cxnLst/>
              <a:rect l="l" t="t" r="r" b="b"/>
              <a:pathLst>
                <a:path w="4352925">
                  <a:moveTo>
                    <a:pt x="0" y="0"/>
                  </a:moveTo>
                  <a:lnTo>
                    <a:pt x="885443" y="0"/>
                  </a:lnTo>
                </a:path>
                <a:path w="4352925">
                  <a:moveTo>
                    <a:pt x="1022603" y="0"/>
                  </a:moveTo>
                  <a:lnTo>
                    <a:pt x="1100327" y="0"/>
                  </a:lnTo>
                </a:path>
                <a:path w="4352925">
                  <a:moveTo>
                    <a:pt x="1235963" y="0"/>
                  </a:moveTo>
                  <a:lnTo>
                    <a:pt x="1295399" y="0"/>
                  </a:lnTo>
                </a:path>
                <a:path w="4352925">
                  <a:moveTo>
                    <a:pt x="1432559" y="0"/>
                  </a:moveTo>
                  <a:lnTo>
                    <a:pt x="1571243" y="0"/>
                  </a:lnTo>
                </a:path>
                <a:path w="4352925">
                  <a:moveTo>
                    <a:pt x="1708403" y="0"/>
                  </a:moveTo>
                  <a:lnTo>
                    <a:pt x="4352543" y="0"/>
                  </a:lnTo>
                </a:path>
              </a:pathLst>
            </a:custGeom>
            <a:ln w="28955">
              <a:solidFill>
                <a:srgbClr val="64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40295" y="4488179"/>
              <a:ext cx="146685" cy="147955"/>
            </a:xfrm>
            <a:custGeom>
              <a:avLst/>
              <a:gdLst/>
              <a:ahLst/>
              <a:cxnLst/>
              <a:rect l="l" t="t" r="r" b="b"/>
              <a:pathLst>
                <a:path w="146684" h="147954">
                  <a:moveTo>
                    <a:pt x="146303" y="74675"/>
                  </a:moveTo>
                  <a:lnTo>
                    <a:pt x="0" y="0"/>
                  </a:lnTo>
                  <a:lnTo>
                    <a:pt x="0" y="147827"/>
                  </a:lnTo>
                  <a:lnTo>
                    <a:pt x="146303" y="74675"/>
                  </a:lnTo>
                  <a:close/>
                </a:path>
              </a:pathLst>
            </a:custGeom>
            <a:solidFill>
              <a:srgbClr val="64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5876" y="4465319"/>
              <a:ext cx="182879" cy="18287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099047" y="446531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879" y="91439"/>
                  </a:moveTo>
                  <a:lnTo>
                    <a:pt x="175664" y="55935"/>
                  </a:lnTo>
                  <a:lnTo>
                    <a:pt x="156019" y="26860"/>
                  </a:lnTo>
                  <a:lnTo>
                    <a:pt x="126944" y="7215"/>
                  </a:lnTo>
                  <a:lnTo>
                    <a:pt x="91439" y="0"/>
                  </a:lnTo>
                  <a:lnTo>
                    <a:pt x="55935" y="7215"/>
                  </a:lnTo>
                  <a:lnTo>
                    <a:pt x="26860" y="26860"/>
                  </a:lnTo>
                  <a:lnTo>
                    <a:pt x="7215" y="55935"/>
                  </a:lnTo>
                  <a:lnTo>
                    <a:pt x="0" y="91439"/>
                  </a:lnTo>
                  <a:lnTo>
                    <a:pt x="7215" y="126944"/>
                  </a:lnTo>
                  <a:lnTo>
                    <a:pt x="26860" y="156019"/>
                  </a:lnTo>
                  <a:lnTo>
                    <a:pt x="55935" y="175664"/>
                  </a:lnTo>
                  <a:lnTo>
                    <a:pt x="91439" y="182879"/>
                  </a:lnTo>
                  <a:lnTo>
                    <a:pt x="126944" y="175664"/>
                  </a:lnTo>
                  <a:lnTo>
                    <a:pt x="156019" y="156019"/>
                  </a:lnTo>
                  <a:lnTo>
                    <a:pt x="175664" y="126944"/>
                  </a:lnTo>
                  <a:lnTo>
                    <a:pt x="182879" y="91439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6520" y="4465319"/>
              <a:ext cx="182879" cy="18287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231635" y="4465319"/>
              <a:ext cx="181610" cy="182880"/>
            </a:xfrm>
            <a:custGeom>
              <a:avLst/>
              <a:gdLst/>
              <a:ahLst/>
              <a:cxnLst/>
              <a:rect l="l" t="t" r="r" b="b"/>
              <a:pathLst>
                <a:path w="181610" h="182879">
                  <a:moveTo>
                    <a:pt x="181355" y="91439"/>
                  </a:moveTo>
                  <a:lnTo>
                    <a:pt x="174164" y="55935"/>
                  </a:lnTo>
                  <a:lnTo>
                    <a:pt x="154685" y="26860"/>
                  </a:lnTo>
                  <a:lnTo>
                    <a:pt x="126063" y="7215"/>
                  </a:lnTo>
                  <a:lnTo>
                    <a:pt x="91439" y="0"/>
                  </a:lnTo>
                  <a:lnTo>
                    <a:pt x="55935" y="7215"/>
                  </a:lnTo>
                  <a:lnTo>
                    <a:pt x="26860" y="26860"/>
                  </a:lnTo>
                  <a:lnTo>
                    <a:pt x="7215" y="55935"/>
                  </a:lnTo>
                  <a:lnTo>
                    <a:pt x="0" y="91439"/>
                  </a:lnTo>
                  <a:lnTo>
                    <a:pt x="7215" y="126944"/>
                  </a:lnTo>
                  <a:lnTo>
                    <a:pt x="26860" y="156019"/>
                  </a:lnTo>
                  <a:lnTo>
                    <a:pt x="55935" y="175664"/>
                  </a:lnTo>
                  <a:lnTo>
                    <a:pt x="91439" y="182879"/>
                  </a:lnTo>
                  <a:lnTo>
                    <a:pt x="126063" y="175664"/>
                  </a:lnTo>
                  <a:lnTo>
                    <a:pt x="154685" y="156019"/>
                  </a:lnTo>
                  <a:lnTo>
                    <a:pt x="174164" y="126944"/>
                  </a:lnTo>
                  <a:lnTo>
                    <a:pt x="181355" y="91439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76244" y="4497323"/>
              <a:ext cx="822960" cy="137160"/>
            </a:xfrm>
            <a:custGeom>
              <a:avLst/>
              <a:gdLst/>
              <a:ahLst/>
              <a:cxnLst/>
              <a:rect l="l" t="t" r="r" b="b"/>
              <a:pathLst>
                <a:path w="822960" h="137160">
                  <a:moveTo>
                    <a:pt x="137147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37147" y="137160"/>
                  </a:lnTo>
                  <a:lnTo>
                    <a:pt x="137147" y="0"/>
                  </a:lnTo>
                  <a:close/>
                </a:path>
                <a:path w="822960" h="137160">
                  <a:moveTo>
                    <a:pt x="350507" y="0"/>
                  </a:moveTo>
                  <a:lnTo>
                    <a:pt x="214884" y="0"/>
                  </a:lnTo>
                  <a:lnTo>
                    <a:pt x="214884" y="137160"/>
                  </a:lnTo>
                  <a:lnTo>
                    <a:pt x="350507" y="137160"/>
                  </a:lnTo>
                  <a:lnTo>
                    <a:pt x="350507" y="0"/>
                  </a:lnTo>
                  <a:close/>
                </a:path>
                <a:path w="822960" h="137160">
                  <a:moveTo>
                    <a:pt x="547103" y="0"/>
                  </a:moveTo>
                  <a:lnTo>
                    <a:pt x="409956" y="0"/>
                  </a:lnTo>
                  <a:lnTo>
                    <a:pt x="409956" y="137160"/>
                  </a:lnTo>
                  <a:lnTo>
                    <a:pt x="547103" y="137160"/>
                  </a:lnTo>
                  <a:lnTo>
                    <a:pt x="547103" y="0"/>
                  </a:lnTo>
                  <a:close/>
                </a:path>
                <a:path w="822960" h="137160">
                  <a:moveTo>
                    <a:pt x="822947" y="0"/>
                  </a:moveTo>
                  <a:lnTo>
                    <a:pt x="685800" y="0"/>
                  </a:lnTo>
                  <a:lnTo>
                    <a:pt x="685800" y="137160"/>
                  </a:lnTo>
                  <a:lnTo>
                    <a:pt x="822947" y="137160"/>
                  </a:lnTo>
                  <a:lnTo>
                    <a:pt x="822947" y="0"/>
                  </a:lnTo>
                  <a:close/>
                </a:path>
              </a:pathLst>
            </a:custGeom>
            <a:solidFill>
              <a:srgbClr val="006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66387" y="4347971"/>
              <a:ext cx="2534920" cy="238125"/>
            </a:xfrm>
            <a:custGeom>
              <a:avLst/>
              <a:gdLst/>
              <a:ahLst/>
              <a:cxnLst/>
              <a:rect l="l" t="t" r="r" b="b"/>
              <a:pathLst>
                <a:path w="2534920" h="238125">
                  <a:moveTo>
                    <a:pt x="0" y="213359"/>
                  </a:moveTo>
                  <a:lnTo>
                    <a:pt x="0" y="0"/>
                  </a:lnTo>
                </a:path>
                <a:path w="2534920" h="238125">
                  <a:moveTo>
                    <a:pt x="2534411" y="237743"/>
                  </a:moveTo>
                  <a:lnTo>
                    <a:pt x="2534411" y="25907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89322" y="4019968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44466" y="3669131"/>
            <a:ext cx="304800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25" spc="-1027" baseline="-17171" dirty="0">
                <a:latin typeface="Symbol"/>
                <a:cs typeface="Symbol"/>
              </a:rPr>
              <a:t></a:t>
            </a:r>
            <a:r>
              <a:rPr sz="2600" b="1" spc="-685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8681" y="4082452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37730" y="3731616"/>
            <a:ext cx="306070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25" spc="-1019" baseline="-17171" dirty="0">
                <a:latin typeface="Symbol"/>
                <a:cs typeface="Symbol"/>
              </a:rPr>
              <a:t></a:t>
            </a:r>
            <a:r>
              <a:rPr sz="2600" b="1" spc="-680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451859" y="4800600"/>
            <a:ext cx="847725" cy="304800"/>
          </a:xfrm>
          <a:custGeom>
            <a:avLst/>
            <a:gdLst/>
            <a:ahLst/>
            <a:cxnLst/>
            <a:rect l="l" t="t" r="r" b="b"/>
            <a:pathLst>
              <a:path w="847725" h="304800">
                <a:moveTo>
                  <a:pt x="0" y="0"/>
                </a:moveTo>
                <a:lnTo>
                  <a:pt x="5381" y="59174"/>
                </a:lnTo>
                <a:lnTo>
                  <a:pt x="20192" y="107632"/>
                </a:lnTo>
                <a:lnTo>
                  <a:pt x="42433" y="140374"/>
                </a:lnTo>
                <a:lnTo>
                  <a:pt x="70103" y="152399"/>
                </a:lnTo>
                <a:lnTo>
                  <a:pt x="352043" y="152399"/>
                </a:lnTo>
                <a:lnTo>
                  <a:pt x="379952" y="164425"/>
                </a:lnTo>
                <a:lnTo>
                  <a:pt x="402716" y="197167"/>
                </a:lnTo>
                <a:lnTo>
                  <a:pt x="418052" y="245625"/>
                </a:lnTo>
                <a:lnTo>
                  <a:pt x="423671" y="304799"/>
                </a:lnTo>
                <a:lnTo>
                  <a:pt x="429053" y="245625"/>
                </a:lnTo>
                <a:lnTo>
                  <a:pt x="443864" y="197167"/>
                </a:lnTo>
                <a:lnTo>
                  <a:pt x="466105" y="164425"/>
                </a:lnTo>
                <a:lnTo>
                  <a:pt x="493775" y="152399"/>
                </a:lnTo>
                <a:lnTo>
                  <a:pt x="775715" y="152399"/>
                </a:lnTo>
                <a:lnTo>
                  <a:pt x="803624" y="140374"/>
                </a:lnTo>
                <a:lnTo>
                  <a:pt x="826388" y="107632"/>
                </a:lnTo>
                <a:lnTo>
                  <a:pt x="841724" y="59174"/>
                </a:lnTo>
                <a:lnTo>
                  <a:pt x="847343" y="0"/>
                </a:lnTo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67739" y="5522465"/>
            <a:ext cx="3443604" cy="10483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8100" marR="30480">
              <a:lnSpc>
                <a:spcPct val="89800"/>
              </a:lnSpc>
              <a:spcBef>
                <a:spcPts val="390"/>
              </a:spcBef>
              <a:tabLst>
                <a:tab pos="1492885" algn="l"/>
              </a:tabLst>
            </a:pPr>
            <a:r>
              <a:rPr sz="2400" b="1" i="1" spc="114" dirty="0">
                <a:solidFill>
                  <a:srgbClr val="643100"/>
                </a:solidFill>
                <a:latin typeface="Arial"/>
                <a:cs typeface="Arial"/>
              </a:rPr>
              <a:t>p</a:t>
            </a:r>
            <a:r>
              <a:rPr sz="2400" b="1" i="1" spc="120" dirty="0">
                <a:solidFill>
                  <a:srgbClr val="643100"/>
                </a:solidFill>
                <a:latin typeface="Arial"/>
                <a:cs typeface="Arial"/>
              </a:rPr>
              <a:t>r</a:t>
            </a:r>
            <a:r>
              <a:rPr sz="2400" b="1" i="1" spc="114" dirty="0">
                <a:solidFill>
                  <a:srgbClr val="643100"/>
                </a:solidFill>
                <a:latin typeface="Arial"/>
                <a:cs typeface="Arial"/>
              </a:rPr>
              <a:t>o</a:t>
            </a:r>
            <a:r>
              <a:rPr sz="2400" b="1" i="1" spc="120" dirty="0">
                <a:solidFill>
                  <a:srgbClr val="643100"/>
                </a:solidFill>
                <a:latin typeface="Arial"/>
                <a:cs typeface="Arial"/>
              </a:rPr>
              <a:t>j</a:t>
            </a:r>
            <a:r>
              <a:rPr sz="2400" b="1" i="1" spc="110" dirty="0">
                <a:solidFill>
                  <a:srgbClr val="643100"/>
                </a:solidFill>
                <a:latin typeface="Arial"/>
                <a:cs typeface="Arial"/>
              </a:rPr>
              <a:t>ec</a:t>
            </a:r>
            <a:r>
              <a:rPr sz="2400" b="1" i="1" spc="120" dirty="0">
                <a:solidFill>
                  <a:srgbClr val="643100"/>
                </a:solidFill>
                <a:latin typeface="Arial"/>
                <a:cs typeface="Arial"/>
              </a:rPr>
              <a:t>t</a:t>
            </a:r>
            <a:r>
              <a:rPr sz="2400" b="1" i="1" spc="110" dirty="0">
                <a:solidFill>
                  <a:srgbClr val="643100"/>
                </a:solidFill>
                <a:latin typeface="Arial"/>
                <a:cs typeface="Arial"/>
              </a:rPr>
              <a:t>e</a:t>
            </a:r>
            <a:r>
              <a:rPr sz="2400" b="1" i="1" spc="-1325" dirty="0">
                <a:solidFill>
                  <a:srgbClr val="643100"/>
                </a:solidFill>
                <a:latin typeface="Arial"/>
                <a:cs typeface="Arial"/>
              </a:rPr>
              <a:t>d</a:t>
            </a:r>
            <a:r>
              <a:rPr sz="2250" b="1" spc="179" baseline="61111" dirty="0">
                <a:solidFill>
                  <a:srgbClr val="643100"/>
                </a:solidFill>
                <a:latin typeface="Arial"/>
                <a:cs typeface="Arial"/>
              </a:rPr>
              <a:t>1</a:t>
            </a:r>
            <a:r>
              <a:rPr sz="2250" b="1" baseline="61111" dirty="0">
                <a:solidFill>
                  <a:srgbClr val="643100"/>
                </a:solidFill>
                <a:latin typeface="Arial"/>
                <a:cs typeface="Arial"/>
              </a:rPr>
              <a:t>	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samples</a:t>
            </a:r>
            <a:r>
              <a:rPr sz="2400" b="1" i="1" spc="-9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5" dirty="0">
                <a:solidFill>
                  <a:srgbClr val="643100"/>
                </a:solidFill>
                <a:latin typeface="Arial"/>
                <a:cs typeface="Arial"/>
              </a:rPr>
              <a:t>of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class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1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are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clustered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around</a:t>
            </a:r>
            <a:r>
              <a:rPr sz="2400" b="1" i="1" spc="-7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projected</a:t>
            </a:r>
            <a:r>
              <a:rPr sz="2400" b="1" i="1" spc="-7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643100"/>
                </a:solidFill>
                <a:latin typeface="Arial"/>
                <a:cs typeface="Arial"/>
              </a:rPr>
              <a:t>mean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7739" y="5162801"/>
            <a:ext cx="313753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1017905" algn="l"/>
                <a:tab pos="1406525" algn="l"/>
              </a:tabLst>
            </a:pP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small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	</a:t>
            </a:r>
            <a:r>
              <a:rPr sz="3900" b="1" i="1" spc="-1964" baseline="-6410" dirty="0">
                <a:solidFill>
                  <a:srgbClr val="643100"/>
                </a:solidFill>
                <a:latin typeface="Arial"/>
                <a:cs typeface="Arial"/>
              </a:rPr>
              <a:t>s</a:t>
            </a:r>
            <a:r>
              <a:rPr sz="3900" b="1" spc="-30" baseline="17094" dirty="0">
                <a:solidFill>
                  <a:srgbClr val="643100"/>
                </a:solidFill>
                <a:latin typeface="Arial"/>
                <a:cs typeface="Arial"/>
              </a:rPr>
              <a:t>~</a:t>
            </a:r>
            <a:r>
              <a:rPr sz="3900" b="1" baseline="17094" dirty="0">
                <a:solidFill>
                  <a:srgbClr val="643100"/>
                </a:solidFill>
                <a:latin typeface="Arial"/>
                <a:cs typeface="Arial"/>
              </a:rPr>
              <a:t>	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implies</a:t>
            </a:r>
            <a:r>
              <a:rPr sz="2400" b="1" i="1" spc="-8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643100"/>
                </a:solidFill>
                <a:latin typeface="Arial"/>
                <a:cs typeface="Arial"/>
              </a:rPr>
              <a:t>that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858255" y="4876800"/>
            <a:ext cx="847725" cy="304800"/>
          </a:xfrm>
          <a:custGeom>
            <a:avLst/>
            <a:gdLst/>
            <a:ahLst/>
            <a:cxnLst/>
            <a:rect l="l" t="t" r="r" b="b"/>
            <a:pathLst>
              <a:path w="847725" h="304800">
                <a:moveTo>
                  <a:pt x="0" y="0"/>
                </a:moveTo>
                <a:lnTo>
                  <a:pt x="5595" y="59174"/>
                </a:lnTo>
                <a:lnTo>
                  <a:pt x="20764" y="107632"/>
                </a:lnTo>
                <a:lnTo>
                  <a:pt x="43076" y="140374"/>
                </a:lnTo>
                <a:lnTo>
                  <a:pt x="70103" y="152399"/>
                </a:lnTo>
                <a:lnTo>
                  <a:pt x="353567" y="152399"/>
                </a:lnTo>
                <a:lnTo>
                  <a:pt x="380595" y="164425"/>
                </a:lnTo>
                <a:lnTo>
                  <a:pt x="402907" y="197167"/>
                </a:lnTo>
                <a:lnTo>
                  <a:pt x="418076" y="245625"/>
                </a:lnTo>
                <a:lnTo>
                  <a:pt x="423671" y="304799"/>
                </a:lnTo>
                <a:lnTo>
                  <a:pt x="429267" y="245625"/>
                </a:lnTo>
                <a:lnTo>
                  <a:pt x="444436" y="197167"/>
                </a:lnTo>
                <a:lnTo>
                  <a:pt x="466748" y="164425"/>
                </a:lnTo>
                <a:lnTo>
                  <a:pt x="493775" y="152399"/>
                </a:lnTo>
                <a:lnTo>
                  <a:pt x="777239" y="152399"/>
                </a:lnTo>
                <a:lnTo>
                  <a:pt x="804267" y="140374"/>
                </a:lnTo>
                <a:lnTo>
                  <a:pt x="826579" y="107632"/>
                </a:lnTo>
                <a:lnTo>
                  <a:pt x="841748" y="59174"/>
                </a:lnTo>
                <a:lnTo>
                  <a:pt x="847343" y="0"/>
                </a:lnTo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184137" y="5401564"/>
            <a:ext cx="3392804" cy="12420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R="927735" algn="ctr">
              <a:lnSpc>
                <a:spcPts val="1645"/>
              </a:lnSpc>
              <a:spcBef>
                <a:spcPts val="140"/>
              </a:spcBef>
            </a:pPr>
            <a:r>
              <a:rPr sz="1500" b="1" spc="-50" dirty="0">
                <a:solidFill>
                  <a:srgbClr val="643100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89800"/>
              </a:lnSpc>
              <a:spcBef>
                <a:spcPts val="135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projected</a:t>
            </a:r>
            <a:r>
              <a:rPr sz="2400" b="1" i="1" spc="-10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samples</a:t>
            </a:r>
            <a:r>
              <a:rPr sz="2400" b="1" i="1" spc="-9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5" dirty="0">
                <a:solidFill>
                  <a:srgbClr val="643100"/>
                </a:solidFill>
                <a:latin typeface="Arial"/>
                <a:cs typeface="Arial"/>
              </a:rPr>
              <a:t>of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class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2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are</a:t>
            </a:r>
            <a:r>
              <a:rPr sz="2400" b="1" i="1" spc="-4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clustered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around</a:t>
            </a:r>
            <a:r>
              <a:rPr sz="2400" b="1" i="1" spc="-7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projected</a:t>
            </a:r>
            <a:r>
              <a:rPr sz="2400" b="1" i="1" spc="-7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643100"/>
                </a:solidFill>
                <a:latin typeface="Arial"/>
                <a:cs typeface="Arial"/>
              </a:rPr>
              <a:t>mean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58737" y="5162801"/>
            <a:ext cx="313753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984250" algn="l"/>
                <a:tab pos="1406525" algn="l"/>
              </a:tabLst>
            </a:pP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small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	</a:t>
            </a:r>
            <a:r>
              <a:rPr sz="3900" b="1" i="1" spc="-1964" baseline="-2136" dirty="0">
                <a:solidFill>
                  <a:srgbClr val="643100"/>
                </a:solidFill>
                <a:latin typeface="Arial"/>
                <a:cs typeface="Arial"/>
              </a:rPr>
              <a:t>s</a:t>
            </a:r>
            <a:r>
              <a:rPr sz="3900" b="1" spc="-30" baseline="21367" dirty="0">
                <a:solidFill>
                  <a:srgbClr val="643100"/>
                </a:solidFill>
                <a:latin typeface="Arial"/>
                <a:cs typeface="Arial"/>
              </a:rPr>
              <a:t>~</a:t>
            </a:r>
            <a:r>
              <a:rPr sz="3900" b="1" baseline="21367" dirty="0">
                <a:solidFill>
                  <a:srgbClr val="643100"/>
                </a:solidFill>
                <a:latin typeface="Arial"/>
                <a:cs typeface="Arial"/>
              </a:rPr>
              <a:t>	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implies</a:t>
            </a:r>
            <a:r>
              <a:rPr sz="2400" b="1" i="1" spc="-8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643100"/>
                </a:solidFill>
                <a:latin typeface="Arial"/>
                <a:cs typeface="Arial"/>
              </a:rPr>
              <a:t>that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86200" y="3505200"/>
            <a:ext cx="2514600" cy="304800"/>
          </a:xfrm>
          <a:custGeom>
            <a:avLst/>
            <a:gdLst/>
            <a:ahLst/>
            <a:cxnLst/>
            <a:rect l="l" t="t" r="r" b="b"/>
            <a:pathLst>
              <a:path w="2514600" h="304800">
                <a:moveTo>
                  <a:pt x="0" y="304799"/>
                </a:moveTo>
                <a:lnTo>
                  <a:pt x="7528" y="264406"/>
                </a:lnTo>
                <a:lnTo>
                  <a:pt x="28730" y="228035"/>
                </a:lnTo>
                <a:lnTo>
                  <a:pt x="61531" y="197167"/>
                </a:lnTo>
                <a:lnTo>
                  <a:pt x="103857" y="173284"/>
                </a:lnTo>
                <a:lnTo>
                  <a:pt x="153634" y="157868"/>
                </a:lnTo>
                <a:lnTo>
                  <a:pt x="208787" y="152399"/>
                </a:lnTo>
                <a:lnTo>
                  <a:pt x="1046987" y="152399"/>
                </a:lnTo>
                <a:lnTo>
                  <a:pt x="1102783" y="146931"/>
                </a:lnTo>
                <a:lnTo>
                  <a:pt x="1152990" y="131515"/>
                </a:lnTo>
                <a:lnTo>
                  <a:pt x="1195577" y="107632"/>
                </a:lnTo>
                <a:lnTo>
                  <a:pt x="1228513" y="76764"/>
                </a:lnTo>
                <a:lnTo>
                  <a:pt x="1249764" y="40393"/>
                </a:lnTo>
                <a:lnTo>
                  <a:pt x="1257299" y="0"/>
                </a:lnTo>
                <a:lnTo>
                  <a:pt x="1264828" y="40393"/>
                </a:lnTo>
                <a:lnTo>
                  <a:pt x="1286030" y="76764"/>
                </a:lnTo>
                <a:lnTo>
                  <a:pt x="1318831" y="107632"/>
                </a:lnTo>
                <a:lnTo>
                  <a:pt x="1361157" y="131515"/>
                </a:lnTo>
                <a:lnTo>
                  <a:pt x="1410934" y="146931"/>
                </a:lnTo>
                <a:lnTo>
                  <a:pt x="1466087" y="152399"/>
                </a:lnTo>
                <a:lnTo>
                  <a:pt x="2304287" y="152399"/>
                </a:lnTo>
                <a:lnTo>
                  <a:pt x="2360083" y="157868"/>
                </a:lnTo>
                <a:lnTo>
                  <a:pt x="2410290" y="173284"/>
                </a:lnTo>
                <a:lnTo>
                  <a:pt x="2452877" y="197167"/>
                </a:lnTo>
                <a:lnTo>
                  <a:pt x="2485813" y="228035"/>
                </a:lnTo>
                <a:lnTo>
                  <a:pt x="2507064" y="264406"/>
                </a:lnTo>
                <a:lnTo>
                  <a:pt x="2514599" y="304799"/>
                </a:lnTo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12139" y="2081275"/>
            <a:ext cx="8021320" cy="146113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21665" marR="5080" indent="-609600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find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00" b="1" i="1" spc="-3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makes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J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00" dirty="0">
                <a:latin typeface="Arial MT"/>
                <a:cs typeface="Arial MT"/>
              </a:rPr>
              <a:t>)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large,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are </a:t>
            </a:r>
            <a:r>
              <a:rPr sz="2800" dirty="0">
                <a:latin typeface="Arial MT"/>
                <a:cs typeface="Arial MT"/>
              </a:rPr>
              <a:t>guaranteed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well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separated</a:t>
            </a:r>
            <a:endParaRPr sz="2800">
              <a:latin typeface="Arial MT"/>
              <a:cs typeface="Arial MT"/>
            </a:endParaRPr>
          </a:p>
          <a:p>
            <a:pPr marL="1688464">
              <a:lnSpc>
                <a:spcPct val="100000"/>
              </a:lnSpc>
              <a:spcBef>
                <a:spcPts val="1695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projected</a:t>
            </a:r>
            <a:r>
              <a:rPr sz="2400" b="1" i="1" spc="-6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means</a:t>
            </a:r>
            <a:r>
              <a:rPr sz="2400" b="1" i="1" spc="-6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are</a:t>
            </a:r>
            <a:r>
              <a:rPr sz="24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far</a:t>
            </a:r>
            <a:r>
              <a:rPr sz="2400" b="1" i="1" spc="-6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from</a:t>
            </a:r>
            <a:r>
              <a:rPr sz="2400" b="1" i="1" spc="-5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each</a:t>
            </a:r>
            <a:r>
              <a:rPr sz="2400" b="1" i="1" spc="-5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other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900" y="455167"/>
            <a:ext cx="8636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2665" algn="l"/>
              </a:tabLst>
            </a:pPr>
            <a:r>
              <a:rPr sz="3200" b="1" i="1" u="heavy" spc="-22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Fisher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Linear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Discriminant</a:t>
            </a:r>
            <a:r>
              <a:rPr sz="3200" b="1" i="1" u="heavy" spc="-55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spc="-1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Derivation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	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87641" y="1578521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7062" y="1811693"/>
            <a:ext cx="928369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06450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50708" y="1084746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0830" y="1339253"/>
            <a:ext cx="15938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9730" algn="l"/>
                <a:tab pos="1112520" algn="l"/>
                <a:tab pos="1580515" algn="l"/>
              </a:tabLst>
            </a:pPr>
            <a:r>
              <a:rPr sz="1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15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9612" y="1446922"/>
            <a:ext cx="100901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00100" algn="l"/>
              </a:tabLst>
            </a:pPr>
            <a:r>
              <a:rPr sz="2600" b="1" dirty="0">
                <a:latin typeface="Arial"/>
                <a:cs typeface="Arial"/>
              </a:rPr>
              <a:t>~</a:t>
            </a:r>
            <a:r>
              <a:rPr sz="2600" b="1" spc="-420" dirty="0">
                <a:latin typeface="Arial"/>
                <a:cs typeface="Arial"/>
              </a:rPr>
              <a:t> </a:t>
            </a:r>
            <a:r>
              <a:rPr sz="2250" b="1" spc="-75" baseline="1851" dirty="0">
                <a:latin typeface="Arial"/>
                <a:cs typeface="Arial"/>
              </a:rPr>
              <a:t>2</a:t>
            </a:r>
            <a:r>
              <a:rPr sz="2250" b="1" baseline="1851" dirty="0">
                <a:latin typeface="Arial"/>
                <a:cs typeface="Arial"/>
              </a:rPr>
              <a:t>	</a:t>
            </a:r>
            <a:r>
              <a:rPr sz="2600" b="1" spc="-50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43725" y="891633"/>
            <a:ext cx="558800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06400" algn="l"/>
              </a:tabLst>
            </a:pPr>
            <a:r>
              <a:rPr sz="2600" i="0" spc="-50" dirty="0">
                <a:solidFill>
                  <a:srgbClr val="000000"/>
                </a:solidFill>
                <a:latin typeface="Arial"/>
                <a:cs typeface="Arial"/>
              </a:rPr>
              <a:t>~</a:t>
            </a:r>
            <a:r>
              <a:rPr sz="2600" i="0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5250" b="0" i="0" spc="-502" baseline="-12698" dirty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endParaRPr sz="5250" baseline="-12698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8276" y="1588654"/>
            <a:ext cx="19875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i="1" spc="-1345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5954" y="1588654"/>
            <a:ext cx="499109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dirty="0">
                <a:latin typeface="Symbol"/>
                <a:cs typeface="Symbol"/>
              </a:rPr>
              <a:t>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600" b="1" i="1" spc="-1355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5370" y="1097214"/>
            <a:ext cx="50545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dirty="0">
                <a:latin typeface="Symbol"/>
                <a:cs typeface="Symbol"/>
              </a:rPr>
              <a:t>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750" spc="-1395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6998" y="1217769"/>
            <a:ext cx="1604010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194435" algn="l"/>
              </a:tabLst>
            </a:pPr>
            <a:r>
              <a:rPr sz="2600" b="1" i="1" dirty="0">
                <a:latin typeface="Arial"/>
                <a:cs typeface="Arial"/>
              </a:rPr>
              <a:t>J</a:t>
            </a:r>
            <a:r>
              <a:rPr sz="2600" b="1" i="1" spc="-240" dirty="0">
                <a:latin typeface="Arial"/>
                <a:cs typeface="Arial"/>
              </a:rPr>
              <a:t> </a:t>
            </a:r>
            <a:r>
              <a:rPr sz="3450" spc="-180" dirty="0">
                <a:latin typeface="Symbol"/>
                <a:cs typeface="Symbol"/>
              </a:rPr>
              <a:t></a:t>
            </a:r>
            <a:r>
              <a:rPr sz="2600" b="1" i="1" spc="-180" dirty="0">
                <a:latin typeface="Arial"/>
                <a:cs typeface="Arial"/>
              </a:rPr>
              <a:t>v</a:t>
            </a:r>
            <a:r>
              <a:rPr sz="2600" b="1" i="1" spc="-100" dirty="0">
                <a:latin typeface="Arial"/>
                <a:cs typeface="Arial"/>
              </a:rPr>
              <a:t> </a:t>
            </a:r>
            <a:r>
              <a:rPr sz="3450" spc="-170" dirty="0">
                <a:latin typeface="Symbol"/>
                <a:cs typeface="Symbol"/>
              </a:rPr>
              <a:t></a:t>
            </a:r>
            <a:r>
              <a:rPr sz="3450" spc="-2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250" spc="-780" baseline="27777" dirty="0">
                <a:latin typeface="Symbol"/>
                <a:cs typeface="Symbol"/>
              </a:rPr>
              <a:t></a:t>
            </a:r>
            <a:r>
              <a:rPr sz="4125" spc="-780" baseline="34343" dirty="0">
                <a:latin typeface="Symbol"/>
                <a:cs typeface="Symbol"/>
              </a:rPr>
              <a:t></a:t>
            </a:r>
            <a:r>
              <a:rPr sz="3900" b="1" spc="-780" baseline="54487" dirty="0">
                <a:latin typeface="Arial"/>
                <a:cs typeface="Arial"/>
              </a:rPr>
              <a:t>~</a:t>
            </a:r>
            <a:endParaRPr sz="3900" baseline="5448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7539" y="2157475"/>
            <a:ext cx="8843010" cy="275463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72465" marR="68580" indent="-609600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72465" algn="l"/>
              </a:tabLst>
            </a:pPr>
            <a:r>
              <a:rPr sz="2800" dirty="0">
                <a:latin typeface="Arial MT"/>
                <a:cs typeface="Arial MT"/>
              </a:rPr>
              <a:t>All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now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express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J</a:t>
            </a:r>
            <a:r>
              <a:rPr sz="2800" b="1" i="1" spc="-2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explicitly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00" b="1" i="1" spc="-4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maximize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it</a:t>
            </a:r>
            <a:endParaRPr sz="2800">
              <a:latin typeface="Arial MT"/>
              <a:cs typeface="Arial MT"/>
            </a:endParaRPr>
          </a:p>
          <a:p>
            <a:pPr marL="1053465" lvl="1" indent="-533400">
              <a:lnSpc>
                <a:spcPct val="100000"/>
              </a:lnSpc>
              <a:spcBef>
                <a:spcPts val="570"/>
              </a:spcBef>
              <a:buClr>
                <a:srgbClr val="854300"/>
              </a:buClr>
              <a:buFont typeface="Microsoft Sans Serif"/>
              <a:buChar char="▪"/>
              <a:tabLst>
                <a:tab pos="1053465" algn="l"/>
              </a:tabLst>
            </a:pPr>
            <a:r>
              <a:rPr sz="2400" dirty="0">
                <a:latin typeface="Arial MT"/>
                <a:cs typeface="Arial MT"/>
              </a:rPr>
              <a:t>straightforward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linear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algebra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Calculus</a:t>
            </a:r>
            <a:endParaRPr sz="2400">
              <a:latin typeface="Arial MT"/>
              <a:cs typeface="Arial MT"/>
            </a:endParaRPr>
          </a:p>
          <a:p>
            <a:pPr marL="673100" marR="168910" indent="-609600">
              <a:lnSpc>
                <a:spcPct val="100200"/>
              </a:lnSpc>
              <a:spcBef>
                <a:spcPts val="1210"/>
              </a:spcBef>
              <a:buClr>
                <a:srgbClr val="854300"/>
              </a:buClr>
              <a:buFont typeface="Microsoft Sans Serif"/>
              <a:buChar char="▪"/>
              <a:tabLst>
                <a:tab pos="673100" algn="l"/>
                <a:tab pos="4429125" algn="l"/>
              </a:tabLst>
            </a:pPr>
            <a:r>
              <a:rPr sz="2800" dirty="0">
                <a:latin typeface="Arial MT"/>
                <a:cs typeface="Arial MT"/>
              </a:rPr>
              <a:t>Define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separate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scatter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matrices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S</a:t>
            </a:r>
            <a:r>
              <a:rPr sz="2850" b="1" i="1" baseline="-20467" dirty="0">
                <a:latin typeface="Arial"/>
                <a:cs typeface="Arial"/>
              </a:rPr>
              <a:t>1</a:t>
            </a:r>
            <a:r>
              <a:rPr sz="2850" b="1" i="1" spc="277" baseline="-20467" dirty="0">
                <a:latin typeface="Arial"/>
                <a:cs typeface="Arial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b="1" i="1" dirty="0">
                <a:latin typeface="Arial"/>
                <a:cs typeface="Arial"/>
              </a:rPr>
              <a:t>S</a:t>
            </a:r>
            <a:r>
              <a:rPr sz="2850" b="1" i="1" baseline="-20467" dirty="0">
                <a:latin typeface="Arial"/>
                <a:cs typeface="Arial"/>
              </a:rPr>
              <a:t>2</a:t>
            </a:r>
            <a:r>
              <a:rPr sz="2850" b="1" i="1" spc="322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classes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2.</a:t>
            </a:r>
            <a:r>
              <a:rPr sz="2800" dirty="0">
                <a:latin typeface="Arial MT"/>
                <a:cs typeface="Arial MT"/>
              </a:rPr>
              <a:t>	These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measure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scatter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original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samples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x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300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(before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projection)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34577" y="5338270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50328" y="5082237"/>
            <a:ext cx="9080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50126" y="5338270"/>
            <a:ext cx="147701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41985" algn="l"/>
                <a:tab pos="1355090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i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36889" y="5338270"/>
            <a:ext cx="8001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30440" y="5000425"/>
            <a:ext cx="2151380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81355" algn="l"/>
                <a:tab pos="1356360" algn="l"/>
                <a:tab pos="2023745" algn="l"/>
              </a:tabLst>
            </a:pPr>
            <a:r>
              <a:rPr sz="2600" dirty="0">
                <a:latin typeface="Symbol"/>
                <a:cs typeface="Symbol"/>
              </a:rPr>
              <a:t>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00" spc="-25" dirty="0">
                <a:latin typeface="Symbol"/>
                <a:cs typeface="Symbol"/>
              </a:rPr>
              <a:t></a:t>
            </a:r>
            <a:r>
              <a:rPr sz="2600" b="1" i="1" spc="-25" dirty="0">
                <a:latin typeface="Arial"/>
                <a:cs typeface="Arial"/>
              </a:rPr>
              <a:t>x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00" spc="-370" dirty="0">
                <a:latin typeface="Symbol"/>
                <a:cs typeface="Symbol"/>
              </a:rPr>
              <a:t>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44588" y="6173422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66888" y="6173422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99525" y="6173422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29573" y="5917388"/>
            <a:ext cx="9080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23730" y="6173419"/>
            <a:ext cx="8001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46030" y="6173419"/>
            <a:ext cx="8001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5720" y="4891884"/>
            <a:ext cx="2047875" cy="1774189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540"/>
              </a:spcBef>
              <a:tabLst>
                <a:tab pos="553085" algn="l"/>
                <a:tab pos="1193165" algn="l"/>
              </a:tabLst>
            </a:pP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337" baseline="-8438" dirty="0">
                <a:latin typeface="Times New Roman"/>
                <a:cs typeface="Times New Roman"/>
              </a:rPr>
              <a:t> </a:t>
            </a:r>
            <a:r>
              <a:rPr sz="3500" spc="-35" dirty="0">
                <a:latin typeface="Symbol"/>
                <a:cs typeface="Symbol"/>
              </a:rPr>
              <a:t></a:t>
            </a:r>
            <a:r>
              <a:rPr sz="2600" b="1" i="1" spc="-35" dirty="0">
                <a:latin typeface="Arial"/>
                <a:cs typeface="Arial"/>
              </a:rPr>
              <a:t>x</a:t>
            </a:r>
            <a:endParaRPr sz="2600">
              <a:latin typeface="Arial"/>
              <a:cs typeface="Arial"/>
            </a:endParaRPr>
          </a:p>
          <a:p>
            <a:pPr marL="883285">
              <a:lnSpc>
                <a:spcPts val="1714"/>
              </a:lnSpc>
              <a:spcBef>
                <a:spcPts val="204"/>
              </a:spcBef>
            </a:pPr>
            <a:r>
              <a:rPr sz="1500" b="1" i="1" dirty="0">
                <a:latin typeface="Arial"/>
                <a:cs typeface="Arial"/>
              </a:rPr>
              <a:t>x</a:t>
            </a:r>
            <a:r>
              <a:rPr sz="1500" b="1" i="1" spc="-175" dirty="0">
                <a:latin typeface="Arial"/>
                <a:cs typeface="Arial"/>
              </a:rPr>
              <a:t> </a:t>
            </a:r>
            <a:r>
              <a:rPr sz="1650" b="1" i="1" baseline="-20202" dirty="0">
                <a:latin typeface="Arial"/>
                <a:cs typeface="Arial"/>
              </a:rPr>
              <a:t>i</a:t>
            </a:r>
            <a:r>
              <a:rPr sz="1650" b="1" i="1" spc="-67" baseline="-20202" dirty="0">
                <a:latin typeface="Arial"/>
                <a:cs typeface="Arial"/>
              </a:rPr>
              <a:t> </a:t>
            </a:r>
            <a:r>
              <a:rPr sz="1500" dirty="0">
                <a:latin typeface="Symbol"/>
                <a:cs typeface="Symbol"/>
              </a:rPr>
              <a:t></a:t>
            </a:r>
            <a:r>
              <a:rPr sz="1500" b="1" i="1" dirty="0">
                <a:latin typeface="Arial"/>
                <a:cs typeface="Arial"/>
              </a:rPr>
              <a:t>Class</a:t>
            </a:r>
            <a:r>
              <a:rPr sz="1500" b="1" i="1" spc="229" dirty="0">
                <a:latin typeface="Arial"/>
                <a:cs typeface="Arial"/>
              </a:rPr>
              <a:t> </a:t>
            </a: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38100">
              <a:lnSpc>
                <a:spcPts val="4655"/>
              </a:lnSpc>
              <a:tabLst>
                <a:tab pos="545465" algn="l"/>
                <a:tab pos="1202055" algn="l"/>
              </a:tabLst>
            </a:pP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337" baseline="-8438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Symbol"/>
                <a:cs typeface="Symbol"/>
              </a:rPr>
              <a:t></a:t>
            </a:r>
            <a:r>
              <a:rPr sz="2600" b="1" i="1" spc="-25" dirty="0">
                <a:latin typeface="Arial"/>
                <a:cs typeface="Arial"/>
              </a:rPr>
              <a:t>x</a:t>
            </a:r>
            <a:endParaRPr sz="2600">
              <a:latin typeface="Arial"/>
              <a:cs typeface="Arial"/>
            </a:endParaRPr>
          </a:p>
          <a:p>
            <a:pPr marL="874394">
              <a:lnSpc>
                <a:spcPct val="100000"/>
              </a:lnSpc>
              <a:spcBef>
                <a:spcPts val="204"/>
              </a:spcBef>
            </a:pPr>
            <a:r>
              <a:rPr sz="1500" b="1" i="1" dirty="0">
                <a:latin typeface="Arial"/>
                <a:cs typeface="Arial"/>
              </a:rPr>
              <a:t>x</a:t>
            </a:r>
            <a:r>
              <a:rPr sz="1500" b="1" i="1" spc="-165" dirty="0">
                <a:latin typeface="Arial"/>
                <a:cs typeface="Arial"/>
              </a:rPr>
              <a:t> </a:t>
            </a:r>
            <a:r>
              <a:rPr sz="1650" b="1" i="1" baseline="-20202" dirty="0">
                <a:latin typeface="Arial"/>
                <a:cs typeface="Arial"/>
              </a:rPr>
              <a:t>i</a:t>
            </a:r>
            <a:r>
              <a:rPr sz="1650" b="1" i="1" spc="-75" baseline="-20202" dirty="0">
                <a:latin typeface="Arial"/>
                <a:cs typeface="Arial"/>
              </a:rPr>
              <a:t> </a:t>
            </a:r>
            <a:r>
              <a:rPr sz="1500" dirty="0">
                <a:latin typeface="Symbol"/>
                <a:cs typeface="Symbol"/>
              </a:rPr>
              <a:t></a:t>
            </a:r>
            <a:r>
              <a:rPr sz="1500" b="1" i="1" dirty="0">
                <a:latin typeface="Arial"/>
                <a:cs typeface="Arial"/>
              </a:rPr>
              <a:t>Class</a:t>
            </a:r>
            <a:r>
              <a:rPr sz="1500" b="1" i="1" spc="300" dirty="0">
                <a:latin typeface="Arial"/>
                <a:cs typeface="Arial"/>
              </a:rPr>
              <a:t> 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41110" y="5835576"/>
            <a:ext cx="2219960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15010" algn="l"/>
                <a:tab pos="1390015" algn="l"/>
                <a:tab pos="2092325" algn="l"/>
              </a:tabLst>
            </a:pPr>
            <a:r>
              <a:rPr sz="2600" dirty="0">
                <a:latin typeface="Symbol"/>
                <a:cs typeface="Symbol"/>
              </a:rPr>
              <a:t>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00" spc="-25" dirty="0">
                <a:latin typeface="Symbol"/>
                <a:cs typeface="Symbol"/>
              </a:rPr>
              <a:t></a:t>
            </a:r>
            <a:r>
              <a:rPr sz="2600" b="1" i="1" spc="-25" dirty="0">
                <a:latin typeface="Arial"/>
                <a:cs typeface="Arial"/>
              </a:rPr>
              <a:t>x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00" spc="-370" dirty="0">
                <a:latin typeface="Symbol"/>
                <a:cs typeface="Symbol"/>
              </a:rPr>
              <a:t></a:t>
            </a:r>
            <a:endParaRPr sz="3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4200" y="199146"/>
            <a:ext cx="8661400" cy="1814830"/>
          </a:xfrm>
          <a:prstGeom prst="rect">
            <a:avLst/>
          </a:prstGeom>
        </p:spPr>
        <p:txBody>
          <a:bodyPr vert="horz" wrap="square" lIns="0" tIns="269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20"/>
              </a:spcBef>
              <a:tabLst>
                <a:tab pos="8635365" algn="l"/>
              </a:tabLst>
            </a:pPr>
            <a:r>
              <a:rPr sz="3200" b="1" i="1" u="heavy" spc="-22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Fisher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Linear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Discriminant</a:t>
            </a:r>
            <a:r>
              <a:rPr sz="3200" b="1" i="1" u="heavy" spc="-55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spc="-1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Derivation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	</a:t>
            </a:r>
            <a:endParaRPr sz="3200">
              <a:latin typeface="Arial"/>
              <a:cs typeface="Arial"/>
            </a:endParaRPr>
          </a:p>
          <a:p>
            <a:pPr marL="725805" indent="-609600">
              <a:lnSpc>
                <a:spcPts val="3350"/>
              </a:lnSpc>
              <a:spcBef>
                <a:spcPts val="1755"/>
              </a:spcBef>
              <a:buClr>
                <a:srgbClr val="854300"/>
              </a:buClr>
              <a:buFont typeface="Microsoft Sans Serif"/>
              <a:buChar char="▪"/>
              <a:tabLst>
                <a:tab pos="725805" algn="l"/>
              </a:tabLst>
            </a:pPr>
            <a:r>
              <a:rPr sz="2800" dirty="0">
                <a:latin typeface="Arial MT"/>
                <a:cs typeface="Arial MT"/>
              </a:rPr>
              <a:t>Now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define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b="1" i="1" dirty="0">
                <a:solidFill>
                  <a:srgbClr val="006400"/>
                </a:solidFill>
                <a:latin typeface="Arial"/>
                <a:cs typeface="Arial"/>
              </a:rPr>
              <a:t>within</a:t>
            </a:r>
            <a:r>
              <a:rPr sz="2800" b="1" i="1" spc="-55" dirty="0">
                <a:solidFill>
                  <a:srgbClr val="0064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scatter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matrix</a:t>
            </a:r>
            <a:endParaRPr sz="2800">
              <a:latin typeface="Arial MT"/>
              <a:cs typeface="Arial MT"/>
            </a:endParaRPr>
          </a:p>
          <a:p>
            <a:pPr marR="257175" algn="ctr">
              <a:lnSpc>
                <a:spcPts val="3110"/>
              </a:lnSpc>
              <a:tabLst>
                <a:tab pos="619760" algn="l"/>
              </a:tabLst>
            </a:pPr>
            <a:r>
              <a:rPr sz="2600" b="1" i="1" spc="35" dirty="0">
                <a:latin typeface="Arial"/>
                <a:cs typeface="Arial"/>
              </a:rPr>
              <a:t>S</a:t>
            </a:r>
            <a:r>
              <a:rPr sz="2250" b="1" i="1" spc="52" baseline="-24074" dirty="0">
                <a:latin typeface="Arial"/>
                <a:cs typeface="Arial"/>
              </a:rPr>
              <a:t>W</a:t>
            </a:r>
            <a:r>
              <a:rPr sz="2250" b="1" i="1" baseline="-24074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80" dirty="0">
                <a:latin typeface="Times New Roman"/>
                <a:cs typeface="Times New Roman"/>
              </a:rPr>
              <a:t> </a:t>
            </a:r>
            <a:r>
              <a:rPr sz="2600" b="1" i="1" spc="70" dirty="0">
                <a:latin typeface="Arial"/>
                <a:cs typeface="Arial"/>
              </a:rPr>
              <a:t>S</a:t>
            </a:r>
            <a:r>
              <a:rPr sz="2250" b="1" spc="104" baseline="-24074" dirty="0">
                <a:latin typeface="Arial"/>
                <a:cs typeface="Arial"/>
              </a:rPr>
              <a:t>1</a:t>
            </a:r>
            <a:r>
              <a:rPr sz="2250" b="1" spc="569" baseline="-24074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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b="1" i="1" spc="75" dirty="0">
                <a:latin typeface="Arial"/>
                <a:cs typeface="Arial"/>
              </a:rPr>
              <a:t>S</a:t>
            </a:r>
            <a:r>
              <a:rPr sz="2250" b="1" spc="112" baseline="-24074" dirty="0">
                <a:latin typeface="Arial"/>
                <a:cs typeface="Arial"/>
              </a:rPr>
              <a:t>2</a:t>
            </a:r>
            <a:endParaRPr sz="2250" baseline="-24074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89618" y="2243839"/>
            <a:ext cx="134620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57387" y="2477010"/>
            <a:ext cx="134620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61081" y="2477010"/>
            <a:ext cx="134620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7585" y="2029393"/>
            <a:ext cx="536575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71475" algn="l"/>
              </a:tabLst>
            </a:pPr>
            <a:r>
              <a:rPr sz="2600" b="1" spc="-50" dirty="0">
                <a:latin typeface="Arial"/>
                <a:cs typeface="Arial"/>
              </a:rPr>
              <a:t>~</a:t>
            </a:r>
            <a:r>
              <a:rPr sz="2600" b="1" dirty="0">
                <a:latin typeface="Arial"/>
                <a:cs typeface="Arial"/>
              </a:rPr>
              <a:t>	</a:t>
            </a:r>
            <a:r>
              <a:rPr sz="5325" spc="-75" baseline="-12519" dirty="0">
                <a:latin typeface="Symbol"/>
                <a:cs typeface="Symbol"/>
              </a:rPr>
              <a:t></a:t>
            </a:r>
            <a:endParaRPr sz="5325" baseline="-12519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3626" y="2112910"/>
            <a:ext cx="36639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dirty="0">
                <a:latin typeface="Arial"/>
                <a:cs typeface="Arial"/>
              </a:rPr>
              <a:t>~</a:t>
            </a:r>
            <a:r>
              <a:rPr sz="2600" b="1" spc="-420" dirty="0">
                <a:latin typeface="Arial"/>
                <a:cs typeface="Arial"/>
              </a:rPr>
              <a:t> </a:t>
            </a:r>
            <a:r>
              <a:rPr sz="2250" b="1" spc="-75" baseline="1851" dirty="0">
                <a:latin typeface="Arial"/>
                <a:cs typeface="Arial"/>
              </a:rPr>
              <a:t>2</a:t>
            </a:r>
            <a:endParaRPr sz="2250" baseline="1851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44156" y="2477254"/>
            <a:ext cx="8001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2043" y="2711705"/>
            <a:ext cx="1157605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1500" b="1" i="1" dirty="0">
                <a:latin typeface="Arial"/>
                <a:cs typeface="Arial"/>
              </a:rPr>
              <a:t>y</a:t>
            </a:r>
            <a:r>
              <a:rPr sz="1500" b="1" i="1" spc="-105" dirty="0">
                <a:latin typeface="Arial"/>
                <a:cs typeface="Arial"/>
              </a:rPr>
              <a:t> </a:t>
            </a:r>
            <a:r>
              <a:rPr sz="1650" b="1" i="1" baseline="-20202" dirty="0">
                <a:latin typeface="Arial"/>
                <a:cs typeface="Arial"/>
              </a:rPr>
              <a:t>i</a:t>
            </a:r>
            <a:r>
              <a:rPr sz="1650" b="1" i="1" spc="-52" baseline="-20202" dirty="0">
                <a:latin typeface="Arial"/>
                <a:cs typeface="Arial"/>
              </a:rPr>
              <a:t> </a:t>
            </a:r>
            <a:r>
              <a:rPr sz="1500" dirty="0">
                <a:latin typeface="Symbol"/>
                <a:cs typeface="Symbol"/>
              </a:rPr>
              <a:t></a:t>
            </a:r>
            <a:r>
              <a:rPr sz="1500" b="1" i="1" dirty="0">
                <a:latin typeface="Arial"/>
                <a:cs typeface="Arial"/>
              </a:rPr>
              <a:t>Class</a:t>
            </a:r>
            <a:r>
              <a:rPr sz="1500" b="1" i="1" spc="395" dirty="0">
                <a:latin typeface="Arial"/>
                <a:cs typeface="Arial"/>
              </a:rPr>
              <a:t> </a:t>
            </a: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8339" y="2233674"/>
            <a:ext cx="2862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  <a:tab pos="2676525" algn="l"/>
              </a:tabLst>
            </a:pPr>
            <a:r>
              <a:rPr sz="2800" dirty="0">
                <a:latin typeface="Arial MT"/>
                <a:cs typeface="Arial MT"/>
              </a:rPr>
              <a:t>Recall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that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600" b="1" i="1" spc="-1345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8952" y="2086478"/>
            <a:ext cx="224282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87070" algn="l"/>
                <a:tab pos="1712595" algn="l"/>
              </a:tabLst>
            </a:pP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352" baseline="-8438" dirty="0">
                <a:latin typeface="Times New Roman"/>
                <a:cs typeface="Times New Roman"/>
              </a:rPr>
              <a:t> </a:t>
            </a:r>
            <a:r>
              <a:rPr sz="3550" spc="-25" dirty="0">
                <a:latin typeface="Symbol"/>
                <a:cs typeface="Symbol"/>
              </a:rPr>
              <a:t></a:t>
            </a:r>
            <a:r>
              <a:rPr sz="2600" b="1" i="1" spc="-25" dirty="0">
                <a:latin typeface="Arial"/>
                <a:cs typeface="Arial"/>
              </a:rPr>
              <a:t>y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750" spc="-1375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27041" y="3714377"/>
            <a:ext cx="134620" cy="260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b="1" i="1" spc="-50" dirty="0">
                <a:latin typeface="Arial"/>
                <a:cs typeface="Arial"/>
              </a:rPr>
              <a:t>2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9569" y="3949072"/>
            <a:ext cx="134620" cy="260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b="1" i="1" spc="-5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47337" y="3714377"/>
            <a:ext cx="90805" cy="260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b="1" i="1" spc="-50" dirty="0"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24962" y="3949072"/>
            <a:ext cx="80010" cy="260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b="1" i="1" spc="-50" dirty="0">
                <a:latin typeface="Arial"/>
                <a:cs typeface="Arial"/>
              </a:rPr>
              <a:t>i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76123" y="3949072"/>
            <a:ext cx="134620" cy="260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b="1" i="1" spc="-5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96894" y="4183769"/>
            <a:ext cx="1151255" cy="260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550" b="1" i="1" spc="-10" dirty="0">
                <a:latin typeface="Arial"/>
                <a:cs typeface="Arial"/>
              </a:rPr>
              <a:t>y</a:t>
            </a:r>
            <a:r>
              <a:rPr sz="1550" b="1" i="1" spc="-140" dirty="0">
                <a:latin typeface="Arial"/>
                <a:cs typeface="Arial"/>
              </a:rPr>
              <a:t> </a:t>
            </a:r>
            <a:r>
              <a:rPr sz="1650" b="1" i="1" baseline="-20202" dirty="0">
                <a:latin typeface="Arial"/>
                <a:cs typeface="Arial"/>
              </a:rPr>
              <a:t>i</a:t>
            </a:r>
            <a:r>
              <a:rPr sz="1650" b="1" i="1" spc="-112" baseline="-20202" dirty="0">
                <a:latin typeface="Arial"/>
                <a:cs typeface="Arial"/>
              </a:rPr>
              <a:t> </a:t>
            </a:r>
            <a:r>
              <a:rPr sz="1550" dirty="0">
                <a:latin typeface="Symbol"/>
                <a:cs typeface="Symbol"/>
              </a:rPr>
              <a:t></a:t>
            </a:r>
            <a:r>
              <a:rPr sz="1550" b="1" i="1" dirty="0">
                <a:latin typeface="Arial"/>
                <a:cs typeface="Arial"/>
              </a:rPr>
              <a:t>Class</a:t>
            </a:r>
            <a:r>
              <a:rPr sz="1550" b="1" i="1" spc="204" dirty="0">
                <a:latin typeface="Arial"/>
                <a:cs typeface="Arial"/>
              </a:rPr>
              <a:t> </a:t>
            </a:r>
            <a:r>
              <a:rPr sz="1550" b="1" i="1" spc="-5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73429" y="3725462"/>
            <a:ext cx="19939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i="1" spc="-1450" dirty="0">
                <a:latin typeface="Arial"/>
                <a:cs typeface="Arial"/>
              </a:rPr>
              <a:t>s</a:t>
            </a:r>
            <a:endParaRPr sz="26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84095" y="3577634"/>
            <a:ext cx="37655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i="1" spc="-25" dirty="0">
                <a:latin typeface="Arial"/>
                <a:cs typeface="Arial"/>
              </a:rPr>
              <a:t>~</a:t>
            </a:r>
            <a:r>
              <a:rPr sz="2650" b="1" i="1" spc="-370" dirty="0">
                <a:latin typeface="Arial"/>
                <a:cs typeface="Arial"/>
              </a:rPr>
              <a:t> </a:t>
            </a:r>
            <a:r>
              <a:rPr sz="1550" b="1" i="1" spc="-50" dirty="0">
                <a:latin typeface="Arial"/>
                <a:cs typeface="Arial"/>
              </a:rPr>
              <a:t>2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2939" y="3071874"/>
            <a:ext cx="37172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0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47065" algn="l"/>
                <a:tab pos="3072130" algn="l"/>
              </a:tabLst>
            </a:pP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y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330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b="1" i="1" spc="-20" dirty="0">
                <a:latin typeface="Arial"/>
                <a:cs typeface="Arial"/>
              </a:rPr>
              <a:t>v</a:t>
            </a:r>
            <a:r>
              <a:rPr sz="2850" b="1" i="1" spc="-30" baseline="23391" dirty="0">
                <a:latin typeface="Arial"/>
                <a:cs typeface="Arial"/>
              </a:rPr>
              <a:t>t</a:t>
            </a:r>
            <a:r>
              <a:rPr sz="2800" b="1" i="1" spc="-20" dirty="0">
                <a:latin typeface="Arial"/>
                <a:cs typeface="Arial"/>
              </a:rPr>
              <a:t>x</a:t>
            </a:r>
            <a:r>
              <a:rPr sz="2850" b="1" i="1" spc="-30" baseline="-20467" dirty="0">
                <a:latin typeface="Arial"/>
                <a:cs typeface="Arial"/>
              </a:rPr>
              <a:t>i</a:t>
            </a:r>
            <a:r>
              <a:rPr sz="2850" b="1" i="1" baseline="-20467" dirty="0">
                <a:latin typeface="Arial"/>
                <a:cs typeface="Arial"/>
              </a:rPr>
              <a:t>	</a:t>
            </a:r>
            <a:r>
              <a:rPr sz="2800" spc="-25" dirty="0">
                <a:latin typeface="Arial MT"/>
                <a:cs typeface="Arial MT"/>
              </a:rPr>
              <a:t>and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20229" y="3286253"/>
            <a:ext cx="134620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98567" y="3286253"/>
            <a:ext cx="134620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14162" y="2953002"/>
            <a:ext cx="22161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-50" dirty="0">
                <a:latin typeface="Arial"/>
                <a:cs typeface="Arial"/>
              </a:rPr>
              <a:t>~</a:t>
            </a:r>
            <a:endParaRPr sz="2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79108" y="3043664"/>
            <a:ext cx="206375" cy="450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00" spc="-1395" dirty="0">
                <a:latin typeface="Symbol"/>
                <a:cs typeface="Symbol"/>
              </a:rPr>
              <a:t>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80377" y="3053081"/>
            <a:ext cx="90805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30214" y="3043664"/>
            <a:ext cx="889635" cy="450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2625" algn="l"/>
              </a:tabLst>
            </a:pPr>
            <a:r>
              <a:rPr sz="2600" dirty="0">
                <a:latin typeface="Symbol"/>
                <a:cs typeface="Symbol"/>
              </a:rPr>
              <a:t></a:t>
            </a:r>
            <a:r>
              <a:rPr sz="2600" spc="225" dirty="0">
                <a:latin typeface="Times New Roman"/>
                <a:cs typeface="Times New Roman"/>
              </a:rPr>
              <a:t> </a:t>
            </a:r>
            <a:r>
              <a:rPr sz="2650" b="1" i="1" spc="-60" dirty="0">
                <a:latin typeface="Arial"/>
                <a:cs typeface="Arial"/>
              </a:rPr>
              <a:t>v</a:t>
            </a:r>
            <a:r>
              <a:rPr sz="2650" b="1" i="1" dirty="0">
                <a:latin typeface="Arial"/>
                <a:cs typeface="Arial"/>
              </a:rPr>
              <a:t>	</a:t>
            </a:r>
            <a:r>
              <a:rPr sz="2800" spc="-50" dirty="0">
                <a:latin typeface="Symbol"/>
                <a:cs typeface="Symbol"/>
              </a:rPr>
              <a:t>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80278" y="5024355"/>
            <a:ext cx="2724785" cy="725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6095" algn="l"/>
                <a:tab pos="2091055" algn="l"/>
                <a:tab pos="2585085" algn="l"/>
              </a:tabLst>
            </a:pPr>
            <a:r>
              <a:rPr sz="3550" spc="-50" dirty="0">
                <a:latin typeface="Symbol"/>
                <a:cs typeface="Symbol"/>
              </a:rPr>
              <a:t></a:t>
            </a:r>
            <a:r>
              <a:rPr sz="3550" dirty="0">
                <a:latin typeface="Times New Roman"/>
                <a:cs typeface="Times New Roman"/>
              </a:rPr>
              <a:t>	</a:t>
            </a:r>
            <a:r>
              <a:rPr sz="4600" spc="-555" dirty="0">
                <a:latin typeface="Symbol"/>
                <a:cs typeface="Symbol"/>
              </a:rPr>
              <a:t></a:t>
            </a:r>
            <a:r>
              <a:rPr sz="4600" spc="-325" dirty="0">
                <a:latin typeface="Times New Roman"/>
                <a:cs typeface="Times New Roman"/>
              </a:rPr>
              <a:t> </a:t>
            </a:r>
            <a:r>
              <a:rPr sz="4600" spc="-520" dirty="0">
                <a:latin typeface="Symbol"/>
                <a:cs typeface="Symbol"/>
              </a:rPr>
              <a:t></a:t>
            </a:r>
            <a:r>
              <a:rPr sz="3550" spc="-520" dirty="0">
                <a:latin typeface="Symbol"/>
                <a:cs typeface="Symbol"/>
              </a:rPr>
              <a:t></a:t>
            </a:r>
            <a:r>
              <a:rPr sz="3550" dirty="0">
                <a:latin typeface="Times New Roman"/>
                <a:cs typeface="Times New Roman"/>
              </a:rPr>
              <a:t>	</a:t>
            </a:r>
            <a:r>
              <a:rPr sz="3550" spc="-50" dirty="0">
                <a:latin typeface="Symbol"/>
                <a:cs typeface="Symbol"/>
              </a:rPr>
              <a:t></a:t>
            </a:r>
            <a:r>
              <a:rPr sz="3550" dirty="0">
                <a:latin typeface="Times New Roman"/>
                <a:cs typeface="Times New Roman"/>
              </a:rPr>
              <a:t>	</a:t>
            </a:r>
            <a:r>
              <a:rPr sz="4600" spc="-605" dirty="0">
                <a:latin typeface="Symbol"/>
                <a:cs typeface="Symbol"/>
              </a:rPr>
              <a:t></a:t>
            </a:r>
            <a:endParaRPr sz="46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68757" y="5247856"/>
            <a:ext cx="9080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85293" y="5503890"/>
            <a:ext cx="1346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79680" y="5503890"/>
            <a:ext cx="8001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65507" y="5183849"/>
            <a:ext cx="9080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90017" y="5247857"/>
            <a:ext cx="9080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06553" y="5503891"/>
            <a:ext cx="1346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00940" y="5503891"/>
            <a:ext cx="8001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10608" y="5738586"/>
            <a:ext cx="114998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00" b="1" i="1" dirty="0">
                <a:latin typeface="Arial"/>
                <a:cs typeface="Arial"/>
              </a:rPr>
              <a:t>y</a:t>
            </a:r>
            <a:r>
              <a:rPr sz="1500" b="1" i="1" spc="-100" dirty="0">
                <a:latin typeface="Arial"/>
                <a:cs typeface="Arial"/>
              </a:rPr>
              <a:t> </a:t>
            </a:r>
            <a:r>
              <a:rPr sz="1650" b="1" i="1" baseline="-20202" dirty="0">
                <a:latin typeface="Arial"/>
                <a:cs typeface="Arial"/>
              </a:rPr>
              <a:t>i</a:t>
            </a:r>
            <a:r>
              <a:rPr sz="1650" b="1" i="1" spc="-67" baseline="-20202" dirty="0">
                <a:latin typeface="Arial"/>
                <a:cs typeface="Arial"/>
              </a:rPr>
              <a:t> </a:t>
            </a:r>
            <a:r>
              <a:rPr sz="1500" dirty="0">
                <a:latin typeface="Symbol"/>
                <a:cs typeface="Symbol"/>
              </a:rPr>
              <a:t></a:t>
            </a:r>
            <a:r>
              <a:rPr sz="1500" b="1" i="1" dirty="0">
                <a:latin typeface="Arial"/>
                <a:cs typeface="Arial"/>
              </a:rPr>
              <a:t>Class</a:t>
            </a:r>
            <a:r>
              <a:rPr sz="1500" b="1" i="1" spc="340" dirty="0">
                <a:latin typeface="Arial"/>
                <a:cs typeface="Arial"/>
              </a:rPr>
              <a:t> </a:t>
            </a:r>
            <a:r>
              <a:rPr sz="1500" b="1" i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89137" y="5280530"/>
            <a:ext cx="212090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10403" y="5261485"/>
            <a:ext cx="168148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5490" algn="l"/>
                <a:tab pos="1176655" algn="l"/>
              </a:tabLst>
            </a:pP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x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31667" y="5031975"/>
            <a:ext cx="1706880" cy="725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176655" algn="l"/>
              </a:tabLst>
            </a:pP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322" baseline="-8438" dirty="0">
                <a:latin typeface="Times New Roman"/>
                <a:cs typeface="Times New Roman"/>
              </a:rPr>
              <a:t> </a:t>
            </a:r>
            <a:r>
              <a:rPr sz="4600" spc="-315" dirty="0">
                <a:latin typeface="Symbol"/>
                <a:cs typeface="Symbol"/>
              </a:rPr>
              <a:t></a:t>
            </a:r>
            <a:r>
              <a:rPr sz="3550" spc="-315" dirty="0">
                <a:latin typeface="Symbol"/>
                <a:cs typeface="Symbol"/>
              </a:rPr>
              <a:t></a:t>
            </a:r>
            <a:r>
              <a:rPr sz="2600" b="1" i="1" spc="-315" dirty="0">
                <a:latin typeface="Arial"/>
                <a:cs typeface="Arial"/>
              </a:rPr>
              <a:t>x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29844" y="6031194"/>
            <a:ext cx="9080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47904" y="6287225"/>
            <a:ext cx="1346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40767" y="6287225"/>
            <a:ext cx="8001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85445" y="6287225"/>
            <a:ext cx="13462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78309" y="6287225"/>
            <a:ext cx="8001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10609" y="6521704"/>
            <a:ext cx="1151255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1500" b="1" i="1" dirty="0">
                <a:latin typeface="Arial"/>
                <a:cs typeface="Arial"/>
              </a:rPr>
              <a:t>y</a:t>
            </a:r>
            <a:r>
              <a:rPr sz="1500" b="1" i="1" spc="-95" dirty="0">
                <a:latin typeface="Arial"/>
                <a:cs typeface="Arial"/>
              </a:rPr>
              <a:t> </a:t>
            </a:r>
            <a:r>
              <a:rPr sz="1650" b="1" i="1" baseline="-20202" dirty="0">
                <a:latin typeface="Arial"/>
                <a:cs typeface="Arial"/>
              </a:rPr>
              <a:t>i</a:t>
            </a:r>
            <a:r>
              <a:rPr sz="1650" b="1" i="1" spc="-67" baseline="-20202" dirty="0">
                <a:latin typeface="Arial"/>
                <a:cs typeface="Arial"/>
              </a:rPr>
              <a:t> </a:t>
            </a:r>
            <a:r>
              <a:rPr sz="1500" dirty="0">
                <a:latin typeface="Symbol"/>
                <a:cs typeface="Symbol"/>
              </a:rPr>
              <a:t></a:t>
            </a:r>
            <a:r>
              <a:rPr sz="1500" b="1" i="1" dirty="0">
                <a:latin typeface="Arial"/>
                <a:cs typeface="Arial"/>
              </a:rPr>
              <a:t>Class</a:t>
            </a:r>
            <a:r>
              <a:rPr sz="1500" b="1" i="1" spc="350" dirty="0">
                <a:latin typeface="Arial"/>
                <a:cs typeface="Arial"/>
              </a:rPr>
              <a:t> </a:t>
            </a:r>
            <a:r>
              <a:rPr sz="1500" b="1" i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50225" y="6063277"/>
            <a:ext cx="21209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i="1" spc="-50" dirty="0">
                <a:latin typeface="Arial"/>
                <a:cs typeface="Arial"/>
              </a:rPr>
              <a:t>v</a:t>
            </a:r>
            <a:endParaRPr sz="2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33191" y="5895845"/>
            <a:ext cx="365315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452245" algn="l"/>
                <a:tab pos="2139950" algn="l"/>
                <a:tab pos="2814955" algn="l"/>
                <a:tab pos="3500754" algn="l"/>
              </a:tabLst>
            </a:pP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547" baseline="-8438" dirty="0">
                <a:latin typeface="Times New Roman"/>
                <a:cs typeface="Times New Roman"/>
              </a:rPr>
              <a:t> </a:t>
            </a:r>
            <a:r>
              <a:rPr sz="2650" b="1" i="1" spc="-20" dirty="0">
                <a:latin typeface="Arial"/>
                <a:cs typeface="Arial"/>
              </a:rPr>
              <a:t>v</a:t>
            </a:r>
            <a:r>
              <a:rPr sz="2650" b="1" i="1" spc="-18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232" baseline="44444" dirty="0">
                <a:latin typeface="Arial"/>
                <a:cs typeface="Arial"/>
              </a:rPr>
              <a:t> </a:t>
            </a:r>
            <a:r>
              <a:rPr sz="3550" spc="-25" dirty="0">
                <a:latin typeface="Symbol"/>
                <a:cs typeface="Symbol"/>
              </a:rPr>
              <a:t></a:t>
            </a:r>
            <a:r>
              <a:rPr sz="2650" b="1" i="1" spc="-25" dirty="0">
                <a:latin typeface="Arial"/>
                <a:cs typeface="Arial"/>
              </a:rPr>
              <a:t>x</a:t>
            </a:r>
            <a:r>
              <a:rPr sz="265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Symbol"/>
                <a:cs typeface="Symbol"/>
              </a:rPr>
              <a:t>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3550" spc="-25" dirty="0">
                <a:latin typeface="Symbol"/>
                <a:cs typeface="Symbol"/>
              </a:rPr>
              <a:t></a:t>
            </a:r>
            <a:r>
              <a:rPr sz="2650" b="1" i="1" spc="-25" dirty="0">
                <a:latin typeface="Arial"/>
                <a:cs typeface="Arial"/>
              </a:rPr>
              <a:t>x</a:t>
            </a:r>
            <a:r>
              <a:rPr sz="265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Symbol"/>
                <a:cs typeface="Symbol"/>
              </a:rPr>
              <a:t>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3550" spc="-400" dirty="0">
                <a:latin typeface="Symbol"/>
                <a:cs typeface="Symbol"/>
              </a:rPr>
              <a:t>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540241" y="6076105"/>
            <a:ext cx="90805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i="1" spc="-50" dirty="0"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878569" y="6310800"/>
            <a:ext cx="13462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spc="-5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88554" y="6086857"/>
            <a:ext cx="119443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9765" algn="l"/>
              </a:tabLst>
            </a:pPr>
            <a:r>
              <a:rPr sz="2650" dirty="0">
                <a:latin typeface="Symbol"/>
                <a:cs typeface="Symbol"/>
              </a:rPr>
              <a:t></a:t>
            </a:r>
            <a:r>
              <a:rPr sz="2650" spc="195" dirty="0">
                <a:latin typeface="Times New Roman"/>
                <a:cs typeface="Times New Roman"/>
              </a:rPr>
              <a:t> </a:t>
            </a:r>
            <a:r>
              <a:rPr sz="2650" b="1" i="1" spc="-50" dirty="0">
                <a:latin typeface="Arial"/>
                <a:cs typeface="Arial"/>
              </a:rPr>
              <a:t>v</a:t>
            </a:r>
            <a:r>
              <a:rPr sz="2650" b="1" i="1" dirty="0">
                <a:latin typeface="Arial"/>
                <a:cs typeface="Arial"/>
              </a:rPr>
              <a:t>	S</a:t>
            </a:r>
            <a:r>
              <a:rPr sz="2650" b="1" i="1" spc="125" dirty="0">
                <a:latin typeface="Arial"/>
                <a:cs typeface="Arial"/>
              </a:rPr>
              <a:t> </a:t>
            </a:r>
            <a:r>
              <a:rPr sz="2650" b="1" i="1" spc="-50" dirty="0">
                <a:latin typeface="Arial"/>
                <a:cs typeface="Arial"/>
              </a:rPr>
              <a:t>v</a:t>
            </a:r>
            <a:endParaRPr sz="26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64326" y="4311196"/>
            <a:ext cx="987425" cy="667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47725" algn="l"/>
              </a:tabLst>
            </a:pPr>
            <a:r>
              <a:rPr sz="3550" spc="-350" dirty="0">
                <a:latin typeface="Symbol"/>
                <a:cs typeface="Symbol"/>
              </a:rPr>
              <a:t></a:t>
            </a:r>
            <a:r>
              <a:rPr sz="4200" spc="-350" dirty="0">
                <a:latin typeface="Symbol"/>
                <a:cs typeface="Symbol"/>
              </a:rPr>
              <a:t></a:t>
            </a:r>
            <a:r>
              <a:rPr sz="4200" spc="-170" dirty="0">
                <a:latin typeface="Times New Roman"/>
                <a:cs typeface="Times New Roman"/>
              </a:rPr>
              <a:t> </a:t>
            </a:r>
            <a:r>
              <a:rPr sz="4200" spc="-459" dirty="0">
                <a:latin typeface="Symbol"/>
                <a:cs typeface="Symbol"/>
              </a:rPr>
              <a:t>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3550" spc="-145" dirty="0">
                <a:latin typeface="Symbol"/>
                <a:cs typeface="Symbol"/>
              </a:rPr>
              <a:t>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81528" y="4741082"/>
            <a:ext cx="13462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i="1" spc="-5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375916" y="4741082"/>
            <a:ext cx="8001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i="1" spc="-50" dirty="0">
                <a:latin typeface="Arial"/>
                <a:cs typeface="Arial"/>
              </a:rPr>
              <a:t>i</a:t>
            </a:r>
            <a:endParaRPr sz="15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62328" y="4507909"/>
            <a:ext cx="90805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i="1" spc="-50" dirty="0"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79220" y="4442377"/>
            <a:ext cx="90805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i="1" spc="-50" dirty="0"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989075" y="4741082"/>
            <a:ext cx="13462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i="1" spc="-5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283463" y="4741082"/>
            <a:ext cx="8001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i="1" spc="-50" dirty="0">
                <a:latin typeface="Arial"/>
                <a:cs typeface="Arial"/>
              </a:rPr>
              <a:t>i</a:t>
            </a:r>
            <a:endParaRPr sz="15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10609" y="4975778"/>
            <a:ext cx="1149985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50" b="1" i="1" spc="-10" dirty="0">
                <a:latin typeface="Arial"/>
                <a:cs typeface="Arial"/>
              </a:rPr>
              <a:t>y</a:t>
            </a:r>
            <a:r>
              <a:rPr sz="1550" b="1" i="1" spc="-140" dirty="0">
                <a:latin typeface="Arial"/>
                <a:cs typeface="Arial"/>
              </a:rPr>
              <a:t> </a:t>
            </a:r>
            <a:r>
              <a:rPr sz="1650" b="1" i="1" baseline="-20202" dirty="0">
                <a:latin typeface="Arial"/>
                <a:cs typeface="Arial"/>
              </a:rPr>
              <a:t>i</a:t>
            </a:r>
            <a:r>
              <a:rPr sz="1650" b="1" i="1" spc="-112" baseline="-20202" dirty="0">
                <a:latin typeface="Arial"/>
                <a:cs typeface="Arial"/>
              </a:rPr>
              <a:t> </a:t>
            </a:r>
            <a:r>
              <a:rPr sz="1500" dirty="0">
                <a:latin typeface="Symbol"/>
                <a:cs typeface="Symbol"/>
              </a:rPr>
              <a:t></a:t>
            </a:r>
            <a:r>
              <a:rPr sz="1550" b="1" i="1" dirty="0">
                <a:latin typeface="Arial"/>
                <a:cs typeface="Arial"/>
              </a:rPr>
              <a:t>Class</a:t>
            </a:r>
            <a:r>
              <a:rPr sz="1550" b="1" i="1" spc="225" dirty="0">
                <a:latin typeface="Arial"/>
                <a:cs typeface="Arial"/>
              </a:rPr>
              <a:t> </a:t>
            </a:r>
            <a:r>
              <a:rPr sz="1550" b="1" i="1" spc="-5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606285" y="4318816"/>
            <a:ext cx="1917064" cy="667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45465" algn="l"/>
                <a:tab pos="975360" algn="l"/>
                <a:tab pos="1661160" algn="l"/>
              </a:tabLst>
            </a:pP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x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50" spc="-375" dirty="0">
                <a:latin typeface="Symbol"/>
                <a:cs typeface="Symbol"/>
              </a:rPr>
              <a:t></a:t>
            </a:r>
            <a:r>
              <a:rPr sz="4200" spc="-375" dirty="0">
                <a:latin typeface="Symbol"/>
                <a:cs typeface="Symbol"/>
              </a:rPr>
              <a:t></a:t>
            </a:r>
            <a:endParaRPr sz="42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248409" y="3374368"/>
            <a:ext cx="3333115" cy="311721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05"/>
              </a:spcBef>
              <a:tabLst>
                <a:tab pos="721360" algn="l"/>
                <a:tab pos="2084070" algn="l"/>
                <a:tab pos="2731770" algn="l"/>
                <a:tab pos="3117215" algn="l"/>
              </a:tabLst>
            </a:pPr>
            <a:r>
              <a:rPr sz="2650" spc="-50" dirty="0">
                <a:latin typeface="Symbol"/>
                <a:cs typeface="Symbol"/>
              </a:rPr>
              <a:t>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330" baseline="-8438" dirty="0">
                <a:latin typeface="Times New Roman"/>
                <a:cs typeface="Times New Roman"/>
              </a:rPr>
              <a:t> </a:t>
            </a:r>
            <a:r>
              <a:rPr sz="4200" spc="-365" dirty="0">
                <a:latin typeface="Symbol"/>
                <a:cs typeface="Symbol"/>
              </a:rPr>
              <a:t></a:t>
            </a:r>
            <a:r>
              <a:rPr sz="2650" b="1" i="1" spc="-365" dirty="0">
                <a:latin typeface="Arial"/>
                <a:cs typeface="Arial"/>
              </a:rPr>
              <a:t>v</a:t>
            </a:r>
            <a:r>
              <a:rPr sz="2650" b="1" i="1" spc="-190" dirty="0">
                <a:latin typeface="Arial"/>
                <a:cs typeface="Arial"/>
              </a:rPr>
              <a:t> </a:t>
            </a:r>
            <a:r>
              <a:rPr sz="2325" b="1" i="1" baseline="43010" dirty="0">
                <a:latin typeface="Arial"/>
                <a:cs typeface="Arial"/>
              </a:rPr>
              <a:t>t</a:t>
            </a:r>
            <a:r>
              <a:rPr sz="2325" b="1" i="1" spc="150" baseline="43010" dirty="0">
                <a:latin typeface="Arial"/>
                <a:cs typeface="Arial"/>
              </a:rPr>
              <a:t> </a:t>
            </a:r>
            <a:r>
              <a:rPr sz="2650" b="1" i="1" spc="-50" dirty="0">
                <a:latin typeface="Arial"/>
                <a:cs typeface="Arial"/>
              </a:rPr>
              <a:t>x</a:t>
            </a:r>
            <a:r>
              <a:rPr sz="2650" b="1" i="1" dirty="0">
                <a:latin typeface="Arial"/>
                <a:cs typeface="Arial"/>
              </a:rPr>
              <a:t>	</a:t>
            </a:r>
            <a:r>
              <a:rPr sz="2650" dirty="0">
                <a:latin typeface="Symbol"/>
                <a:cs typeface="Symbol"/>
              </a:rPr>
              <a:t>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b="1" i="1" spc="-50" dirty="0">
                <a:latin typeface="Arial"/>
                <a:cs typeface="Arial"/>
              </a:rPr>
              <a:t>v</a:t>
            </a:r>
            <a:r>
              <a:rPr sz="2650" b="1" i="1" dirty="0">
                <a:latin typeface="Arial"/>
                <a:cs typeface="Arial"/>
              </a:rPr>
              <a:t>	</a:t>
            </a:r>
            <a:r>
              <a:rPr sz="2800" spc="-50" dirty="0">
                <a:latin typeface="Symbol"/>
                <a:cs typeface="Symbol"/>
              </a:rPr>
              <a:t>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4200" spc="-459" dirty="0">
                <a:latin typeface="Symbol"/>
                <a:cs typeface="Symbol"/>
              </a:rPr>
              <a:t></a:t>
            </a:r>
            <a:endParaRPr sz="4200">
              <a:latin typeface="Symbol"/>
              <a:cs typeface="Symbol"/>
            </a:endParaRPr>
          </a:p>
          <a:p>
            <a:pPr marL="76835">
              <a:lnSpc>
                <a:spcPct val="100000"/>
              </a:lnSpc>
              <a:spcBef>
                <a:spcPts val="1200"/>
              </a:spcBef>
              <a:tabLst>
                <a:tab pos="733425" algn="l"/>
                <a:tab pos="2242185" algn="l"/>
              </a:tabLst>
            </a:pP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322" baseline="-8438" dirty="0">
                <a:latin typeface="Times New Roman"/>
                <a:cs typeface="Times New Roman"/>
              </a:rPr>
              <a:t> </a:t>
            </a:r>
            <a:r>
              <a:rPr sz="4200" spc="-350" dirty="0">
                <a:latin typeface="Symbol"/>
                <a:cs typeface="Symbol"/>
              </a:rPr>
              <a:t></a:t>
            </a:r>
            <a:r>
              <a:rPr sz="2600" b="1" i="1" spc="-350" dirty="0">
                <a:latin typeface="Arial"/>
                <a:cs typeface="Arial"/>
              </a:rPr>
              <a:t>v</a:t>
            </a:r>
            <a:r>
              <a:rPr sz="2600" b="1" i="1" spc="-175" dirty="0">
                <a:latin typeface="Arial"/>
                <a:cs typeface="Arial"/>
              </a:rPr>
              <a:t> </a:t>
            </a:r>
            <a:r>
              <a:rPr sz="2325" b="1" i="1" baseline="43010" dirty="0">
                <a:latin typeface="Arial"/>
                <a:cs typeface="Arial"/>
              </a:rPr>
              <a:t>t</a:t>
            </a:r>
            <a:r>
              <a:rPr sz="2325" b="1" i="1" spc="202" baseline="43010" dirty="0">
                <a:latin typeface="Arial"/>
                <a:cs typeface="Arial"/>
              </a:rPr>
              <a:t> </a:t>
            </a:r>
            <a:r>
              <a:rPr sz="3550" spc="-25" dirty="0">
                <a:latin typeface="Symbol"/>
                <a:cs typeface="Symbol"/>
              </a:rPr>
              <a:t></a:t>
            </a:r>
            <a:r>
              <a:rPr sz="2600" b="1" i="1" spc="-25" dirty="0">
                <a:latin typeface="Arial"/>
                <a:cs typeface="Arial"/>
              </a:rPr>
              <a:t>x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  <a:p>
            <a:pPr marL="76835">
              <a:lnSpc>
                <a:spcPct val="100000"/>
              </a:lnSpc>
              <a:spcBef>
                <a:spcPts val="2560"/>
              </a:spcBef>
            </a:pPr>
            <a:r>
              <a:rPr sz="2600" spc="-50" dirty="0">
                <a:latin typeface="Symbol"/>
                <a:cs typeface="Symbol"/>
              </a:rPr>
              <a:t></a:t>
            </a:r>
            <a:endParaRPr sz="2600">
              <a:latin typeface="Symbol"/>
              <a:cs typeface="Symbol"/>
            </a:endParaRPr>
          </a:p>
          <a:p>
            <a:pPr marL="76835">
              <a:lnSpc>
                <a:spcPct val="100000"/>
              </a:lnSpc>
              <a:spcBef>
                <a:spcPts val="3050"/>
              </a:spcBef>
            </a:pPr>
            <a:r>
              <a:rPr sz="2600" spc="-50" dirty="0">
                <a:latin typeface="Symbol"/>
                <a:cs typeface="Symbol"/>
              </a:rPr>
              <a:t></a:t>
            </a:r>
            <a:endParaRPr sz="26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455167"/>
            <a:ext cx="86106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609965" algn="l"/>
              </a:tabLst>
            </a:pPr>
            <a:r>
              <a:rPr sz="3200" b="1" i="1" u="heavy" spc="-22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Fisher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Linear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Discriminant</a:t>
            </a:r>
            <a:r>
              <a:rPr sz="3200" b="1" i="1" u="heavy" spc="-55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spc="-1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Derivation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	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3474" y="1409280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51708" y="1409280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0858" y="1045974"/>
            <a:ext cx="35306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600" b="1" dirty="0">
                <a:latin typeface="Arial"/>
                <a:cs typeface="Arial"/>
              </a:rPr>
              <a:t>~</a:t>
            </a:r>
            <a:r>
              <a:rPr sz="2600" b="1" spc="-425" dirty="0">
                <a:latin typeface="Arial"/>
                <a:cs typeface="Arial"/>
              </a:rPr>
              <a:t> </a:t>
            </a:r>
            <a:r>
              <a:rPr sz="2250" b="1" spc="-75" baseline="1851" dirty="0">
                <a:latin typeface="Arial"/>
                <a:cs typeface="Arial"/>
              </a:rPr>
              <a:t>2</a:t>
            </a:r>
            <a:endParaRPr sz="2250" baseline="1851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3486" y="1187706"/>
            <a:ext cx="127444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049655" algn="l"/>
              </a:tabLst>
            </a:pPr>
            <a:r>
              <a:rPr sz="2600" dirty="0">
                <a:latin typeface="Symbol"/>
                <a:cs typeface="Symbol"/>
              </a:rPr>
              <a:t></a:t>
            </a:r>
            <a:r>
              <a:rPr sz="2600" spc="21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6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40" baseline="44444" dirty="0">
                <a:latin typeface="Arial"/>
                <a:cs typeface="Arial"/>
              </a:rPr>
              <a:t> </a:t>
            </a:r>
            <a:r>
              <a:rPr sz="2600" b="1" i="1" spc="-6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83725" y="2009737"/>
            <a:ext cx="2095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5603" y="1788161"/>
            <a:ext cx="485330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848360" algn="l"/>
                <a:tab pos="3489325" algn="l"/>
                <a:tab pos="4615815" algn="l"/>
              </a:tabLst>
            </a:pPr>
            <a:r>
              <a:rPr sz="2600" dirty="0">
                <a:latin typeface="Symbol"/>
                <a:cs typeface="Symbol"/>
              </a:rPr>
              <a:t>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6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32" baseline="4444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S</a:t>
            </a:r>
            <a:r>
              <a:rPr sz="2250" b="1" baseline="-24074" dirty="0">
                <a:latin typeface="Arial"/>
                <a:cs typeface="Arial"/>
              </a:rPr>
              <a:t>1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37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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6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32" baseline="44444" dirty="0">
                <a:latin typeface="Arial"/>
                <a:cs typeface="Arial"/>
              </a:rPr>
              <a:t> </a:t>
            </a:r>
            <a:r>
              <a:rPr sz="2600" b="1" i="1" spc="70" dirty="0">
                <a:latin typeface="Arial"/>
                <a:cs typeface="Arial"/>
              </a:rPr>
              <a:t>S</a:t>
            </a:r>
            <a:r>
              <a:rPr sz="2250" b="1" spc="104" baseline="-24074" dirty="0">
                <a:latin typeface="Arial"/>
                <a:cs typeface="Arial"/>
              </a:rPr>
              <a:t>2</a:t>
            </a:r>
            <a:r>
              <a:rPr sz="2600" b="1" i="1" spc="7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6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62" baseline="4444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2106" y="2009737"/>
            <a:ext cx="928369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06450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84650" y="1646429"/>
            <a:ext cx="115189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00100" algn="l"/>
              </a:tabLst>
            </a:pPr>
            <a:r>
              <a:rPr sz="2600" b="1" dirty="0">
                <a:latin typeface="Arial"/>
                <a:cs typeface="Arial"/>
              </a:rPr>
              <a:t>~</a:t>
            </a:r>
            <a:r>
              <a:rPr sz="2600" b="1" spc="-425" dirty="0">
                <a:latin typeface="Arial"/>
                <a:cs typeface="Arial"/>
              </a:rPr>
              <a:t> </a:t>
            </a:r>
            <a:r>
              <a:rPr sz="2250" b="1" spc="-75" baseline="1851" dirty="0">
                <a:latin typeface="Arial"/>
                <a:cs typeface="Arial"/>
              </a:rPr>
              <a:t>2</a:t>
            </a:r>
            <a:r>
              <a:rPr sz="2250" b="1" baseline="1851" dirty="0">
                <a:latin typeface="Arial"/>
                <a:cs typeface="Arial"/>
              </a:rPr>
              <a:t>	</a:t>
            </a:r>
            <a:r>
              <a:rPr sz="2600" b="1" dirty="0">
                <a:latin typeface="Arial"/>
                <a:cs typeface="Arial"/>
              </a:rPr>
              <a:t>~</a:t>
            </a:r>
            <a:r>
              <a:rPr sz="2600" b="1" spc="-434" dirty="0">
                <a:latin typeface="Arial"/>
                <a:cs typeface="Arial"/>
              </a:rPr>
              <a:t> </a:t>
            </a:r>
            <a:r>
              <a:rPr sz="2250" b="1" spc="-75" baseline="1851" dirty="0">
                <a:latin typeface="Arial"/>
                <a:cs typeface="Arial"/>
              </a:rPr>
              <a:t>2</a:t>
            </a:r>
            <a:endParaRPr sz="2250" baseline="1851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2773" y="4824474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03366" y="5121654"/>
            <a:ext cx="121475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92835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7590" y="4867145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8029" y="5121654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24986" y="5121654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42130" y="4675342"/>
            <a:ext cx="558800" cy="565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06400" algn="l"/>
              </a:tabLst>
            </a:pPr>
            <a:r>
              <a:rPr sz="2600" b="1" spc="-50" dirty="0">
                <a:latin typeface="Arial"/>
                <a:cs typeface="Arial"/>
              </a:rPr>
              <a:t>~</a:t>
            </a:r>
            <a:r>
              <a:rPr sz="2600" b="1" dirty="0">
                <a:latin typeface="Arial"/>
                <a:cs typeface="Arial"/>
              </a:rPr>
              <a:t>	</a:t>
            </a:r>
            <a:r>
              <a:rPr sz="5250" spc="-517" baseline="-12698" dirty="0">
                <a:latin typeface="Symbol"/>
                <a:cs typeface="Symbol"/>
              </a:rPr>
              <a:t></a:t>
            </a:r>
            <a:endParaRPr sz="5250" baseline="-12698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37933" y="4888482"/>
            <a:ext cx="9080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68569" y="4700595"/>
            <a:ext cx="24568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62585" algn="l"/>
                <a:tab pos="1254125" algn="l"/>
                <a:tab pos="1900555" algn="l"/>
                <a:tab pos="2304415" algn="l"/>
              </a:tabLst>
            </a:pP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4200" spc="-355" dirty="0">
                <a:latin typeface="Symbol"/>
                <a:cs typeface="Symbol"/>
              </a:rPr>
              <a:t></a:t>
            </a:r>
            <a:r>
              <a:rPr sz="2600" b="1" i="1" spc="-355" dirty="0">
                <a:latin typeface="Arial"/>
                <a:cs typeface="Arial"/>
              </a:rPr>
              <a:t>v</a:t>
            </a:r>
            <a:r>
              <a:rPr sz="2600" b="1" i="1" spc="-17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30" baseline="44444" dirty="0">
                <a:latin typeface="Arial"/>
                <a:cs typeface="Arial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4200" spc="-655" dirty="0">
                <a:latin typeface="Symbol"/>
                <a:cs typeface="Symbol"/>
              </a:rPr>
              <a:t></a:t>
            </a:r>
            <a:endParaRPr sz="42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52115" y="4785071"/>
            <a:ext cx="1111250" cy="565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593725" algn="l"/>
              </a:tabLst>
            </a:pPr>
            <a:r>
              <a:rPr sz="3500" spc="-520" dirty="0">
                <a:latin typeface="Symbol"/>
                <a:cs typeface="Symbol"/>
              </a:rPr>
              <a:t></a:t>
            </a:r>
            <a:r>
              <a:rPr sz="2750" spc="-520" dirty="0">
                <a:latin typeface="Symbol"/>
                <a:cs typeface="Symbol"/>
              </a:rPr>
              <a:t></a:t>
            </a:r>
            <a:r>
              <a:rPr sz="3900" b="1" spc="-780" baseline="18162" dirty="0">
                <a:latin typeface="Arial"/>
                <a:cs typeface="Arial"/>
              </a:rPr>
              <a:t>~</a:t>
            </a:r>
            <a:r>
              <a:rPr sz="3900" b="1" baseline="18162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750" spc="-1375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0617" y="5377370"/>
            <a:ext cx="9080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53173" y="5631877"/>
            <a:ext cx="149542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40080" algn="l"/>
                <a:tab pos="1373505" algn="l"/>
              </a:tabLst>
            </a:pPr>
            <a:r>
              <a:rPr sz="1500" b="1" spc="-50" dirty="0">
                <a:latin typeface="Arial"/>
                <a:cs typeface="Arial"/>
              </a:rPr>
              <a:t>2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45709" y="5293347"/>
            <a:ext cx="3812540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294130" algn="l"/>
                <a:tab pos="1996439" algn="l"/>
                <a:tab pos="2656205" algn="l"/>
                <a:tab pos="3359150" algn="l"/>
              </a:tabLst>
            </a:pPr>
            <a:r>
              <a:rPr sz="2600" dirty="0">
                <a:latin typeface="Symbol"/>
                <a:cs typeface="Symbol"/>
              </a:rPr>
              <a:t>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6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240" baseline="44444" dirty="0">
                <a:latin typeface="Arial"/>
                <a:cs typeface="Arial"/>
              </a:rPr>
              <a:t> </a:t>
            </a:r>
            <a:r>
              <a:rPr sz="3550" spc="-25" dirty="0">
                <a:latin typeface="Symbol"/>
                <a:cs typeface="Symbol"/>
              </a:rPr>
              <a:t></a:t>
            </a:r>
            <a:r>
              <a:rPr sz="2750" spc="-25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50" spc="-25" dirty="0">
                <a:latin typeface="Symbol"/>
                <a:cs typeface="Symbol"/>
              </a:rPr>
              <a:t></a:t>
            </a:r>
            <a:r>
              <a:rPr sz="2750" spc="-25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50" spc="-204" dirty="0">
                <a:latin typeface="Symbol"/>
                <a:cs typeface="Symbol"/>
              </a:rPr>
              <a:t></a:t>
            </a:r>
            <a:r>
              <a:rPr sz="3550" spc="-85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79746" y="5595844"/>
            <a:ext cx="1318260" cy="7620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149860" algn="r">
              <a:lnSpc>
                <a:spcPct val="100000"/>
              </a:lnSpc>
              <a:spcBef>
                <a:spcPts val="420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2650" dirty="0">
                <a:latin typeface="Symbol"/>
                <a:cs typeface="Symbol"/>
              </a:rPr>
              <a:t></a:t>
            </a:r>
            <a:r>
              <a:rPr sz="2650" spc="204" dirty="0">
                <a:latin typeface="Times New Roman"/>
                <a:cs typeface="Times New Roman"/>
              </a:rPr>
              <a:t> </a:t>
            </a:r>
            <a:r>
              <a:rPr sz="2650" b="1" i="1" spc="-20" dirty="0">
                <a:latin typeface="Arial"/>
                <a:cs typeface="Arial"/>
              </a:rPr>
              <a:t>v</a:t>
            </a:r>
            <a:r>
              <a:rPr sz="2650" b="1" i="1" spc="-19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54" baseline="44444" dirty="0">
                <a:latin typeface="Arial"/>
                <a:cs typeface="Arial"/>
              </a:rPr>
              <a:t> </a:t>
            </a:r>
            <a:r>
              <a:rPr sz="2650" b="1" i="1" spc="85" dirty="0">
                <a:latin typeface="Arial"/>
                <a:cs typeface="Arial"/>
              </a:rPr>
              <a:t>S</a:t>
            </a:r>
            <a:r>
              <a:rPr sz="2250" b="1" i="1" spc="127" baseline="-24074" dirty="0">
                <a:latin typeface="Arial"/>
                <a:cs typeface="Arial"/>
              </a:rPr>
              <a:t>B</a:t>
            </a:r>
            <a:r>
              <a:rPr sz="2650" b="1" i="1" spc="85" dirty="0">
                <a:latin typeface="Arial"/>
                <a:cs typeface="Arial"/>
              </a:rPr>
              <a:t>v</a:t>
            </a:r>
            <a:endParaRPr sz="2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8339" y="983386"/>
            <a:ext cx="6851015" cy="18542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1540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  <a:tab pos="2360930" algn="l"/>
              </a:tabLst>
            </a:pPr>
            <a:r>
              <a:rPr sz="2800" spc="-10" dirty="0">
                <a:latin typeface="Arial MT"/>
                <a:cs typeface="Arial MT"/>
              </a:rPr>
              <a:t>Similarly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600" b="1" i="1" spc="-135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  <a:p>
            <a:pPr marL="621665" indent="-608965">
              <a:lnSpc>
                <a:spcPct val="100000"/>
              </a:lnSpc>
              <a:spcBef>
                <a:spcPts val="1440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  <a:tab pos="2487295" algn="l"/>
              </a:tabLst>
            </a:pPr>
            <a:r>
              <a:rPr sz="2800" spc="-10" dirty="0">
                <a:latin typeface="Arial MT"/>
                <a:cs typeface="Arial MT"/>
              </a:rPr>
              <a:t>Therefore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3900" b="1" i="1" spc="-2025" baseline="1068" dirty="0">
                <a:latin typeface="Arial"/>
                <a:cs typeface="Arial"/>
              </a:rPr>
              <a:t>s</a:t>
            </a:r>
            <a:endParaRPr sz="3900" baseline="1068">
              <a:latin typeface="Arial"/>
              <a:cs typeface="Arial"/>
            </a:endParaRPr>
          </a:p>
          <a:p>
            <a:pPr marL="621665" indent="-608965">
              <a:lnSpc>
                <a:spcPct val="100000"/>
              </a:lnSpc>
              <a:spcBef>
                <a:spcPts val="1440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Define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between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scatter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matrix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1729" y="2829802"/>
            <a:ext cx="9080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54168" y="3085680"/>
            <a:ext cx="318643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69644" algn="l"/>
                <a:tab pos="1702435" algn="l"/>
                <a:tab pos="2331720" algn="l"/>
                <a:tab pos="3065145" algn="l"/>
              </a:tabLst>
            </a:pPr>
            <a:r>
              <a:rPr sz="1500" b="1" i="1" spc="-50" dirty="0">
                <a:latin typeface="Arial"/>
                <a:cs typeface="Arial"/>
              </a:rPr>
              <a:t>B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05758" y="2748037"/>
            <a:ext cx="3616960" cy="5645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60705" algn="l"/>
                <a:tab pos="1426845" algn="l"/>
                <a:tab pos="2129155" algn="l"/>
                <a:tab pos="2788920" algn="l"/>
                <a:tab pos="3489960" algn="l"/>
              </a:tabLst>
            </a:pP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Symbol"/>
                <a:cs typeface="Symbol"/>
              </a:rPr>
              <a:t></a:t>
            </a:r>
            <a:r>
              <a:rPr sz="2750" spc="-25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00" spc="-25" dirty="0">
                <a:latin typeface="Symbol"/>
                <a:cs typeface="Symbol"/>
              </a:rPr>
              <a:t></a:t>
            </a:r>
            <a:r>
              <a:rPr sz="2750" spc="-25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00" spc="-370" dirty="0">
                <a:latin typeface="Symbol"/>
                <a:cs typeface="Symbol"/>
              </a:rPr>
              <a:t>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0239" y="3376674"/>
            <a:ext cx="8864600" cy="14427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59765" marR="102870" indent="-609600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59765" algn="l"/>
              </a:tabLst>
            </a:pPr>
            <a:r>
              <a:rPr sz="2800" b="1" i="1" dirty="0">
                <a:latin typeface="Arial"/>
                <a:cs typeface="Arial"/>
              </a:rPr>
              <a:t>S</a:t>
            </a:r>
            <a:r>
              <a:rPr sz="2850" b="1" i="1" baseline="-20467" dirty="0">
                <a:latin typeface="Arial"/>
                <a:cs typeface="Arial"/>
              </a:rPr>
              <a:t>B</a:t>
            </a:r>
            <a:r>
              <a:rPr sz="2850" b="1" i="1" spc="284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measures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separation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between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means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two </a:t>
            </a:r>
            <a:r>
              <a:rPr sz="2800" dirty="0">
                <a:latin typeface="Arial MT"/>
                <a:cs typeface="Arial MT"/>
              </a:rPr>
              <a:t>classes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(before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projection)</a:t>
            </a:r>
            <a:endParaRPr sz="2800">
              <a:latin typeface="Arial MT"/>
              <a:cs typeface="Arial MT"/>
            </a:endParaRPr>
          </a:p>
          <a:p>
            <a:pPr marL="659765" indent="-608965">
              <a:lnSpc>
                <a:spcPct val="100000"/>
              </a:lnSpc>
              <a:spcBef>
                <a:spcPts val="1070"/>
              </a:spcBef>
              <a:buClr>
                <a:srgbClr val="854300"/>
              </a:buClr>
              <a:buFont typeface="Microsoft Sans Serif"/>
              <a:buChar char="▪"/>
              <a:tabLst>
                <a:tab pos="659765" algn="l"/>
              </a:tabLst>
            </a:pPr>
            <a:r>
              <a:rPr sz="2800" dirty="0">
                <a:latin typeface="Arial MT"/>
                <a:cs typeface="Arial MT"/>
              </a:rPr>
              <a:t>Let’s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rewrite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separations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projected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means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900" y="199146"/>
            <a:ext cx="8636000" cy="1419860"/>
          </a:xfrm>
          <a:prstGeom prst="rect">
            <a:avLst/>
          </a:prstGeom>
        </p:spPr>
        <p:txBody>
          <a:bodyPr vert="horz" wrap="square" lIns="0" tIns="269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20"/>
              </a:spcBef>
              <a:tabLst>
                <a:tab pos="8622665" algn="l"/>
              </a:tabLst>
            </a:pPr>
            <a:r>
              <a:rPr sz="3200" b="1" i="1" u="heavy" spc="-22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Fisher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Linear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Discriminant</a:t>
            </a:r>
            <a:r>
              <a:rPr sz="3200" b="1" i="1" u="heavy" spc="-55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spc="-1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Derivation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	</a:t>
            </a:r>
            <a:endParaRPr sz="3200">
              <a:latin typeface="Arial"/>
              <a:cs typeface="Arial"/>
            </a:endParaRPr>
          </a:p>
          <a:p>
            <a:pPr marL="713105" indent="-609600">
              <a:lnSpc>
                <a:spcPct val="100000"/>
              </a:lnSpc>
              <a:spcBef>
                <a:spcPts val="1755"/>
              </a:spcBef>
              <a:buClr>
                <a:srgbClr val="854300"/>
              </a:buClr>
              <a:buFont typeface="Microsoft Sans Serif"/>
              <a:buChar char="▪"/>
              <a:tabLst>
                <a:tab pos="713105" algn="l"/>
              </a:tabLst>
            </a:pPr>
            <a:r>
              <a:rPr sz="2800" dirty="0">
                <a:latin typeface="Arial MT"/>
                <a:cs typeface="Arial MT"/>
              </a:rPr>
              <a:t>Thus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objective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written: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39" y="2767074"/>
            <a:ext cx="8373745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21665" marR="5080" indent="-609600">
              <a:lnSpc>
                <a:spcPct val="100400"/>
              </a:lnSpc>
              <a:spcBef>
                <a:spcPts val="80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Minimize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J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00" dirty="0">
                <a:latin typeface="Arial MT"/>
                <a:cs typeface="Arial MT"/>
              </a:rPr>
              <a:t>)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taking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derivative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w.r.t.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00" b="1" i="1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dirty="0">
                <a:latin typeface="Arial MT"/>
                <a:cs typeface="Arial MT"/>
              </a:rPr>
              <a:t>setting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7760" y="4619240"/>
            <a:ext cx="502920" cy="0"/>
          </a:xfrm>
          <a:custGeom>
            <a:avLst/>
            <a:gdLst/>
            <a:ahLst/>
            <a:cxnLst/>
            <a:rect l="l" t="t" r="r" b="b"/>
            <a:pathLst>
              <a:path w="502919">
                <a:moveTo>
                  <a:pt x="0" y="0"/>
                </a:moveTo>
                <a:lnTo>
                  <a:pt x="502918" y="0"/>
                </a:lnTo>
              </a:path>
            </a:pathLst>
          </a:custGeom>
          <a:ln w="13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46476" y="4172706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>
                <a:moveTo>
                  <a:pt x="0" y="0"/>
                </a:moveTo>
                <a:lnTo>
                  <a:pt x="501397" y="0"/>
                </a:lnTo>
              </a:path>
            </a:pathLst>
          </a:custGeom>
          <a:ln w="69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9944" y="4172706"/>
            <a:ext cx="503555" cy="0"/>
          </a:xfrm>
          <a:custGeom>
            <a:avLst/>
            <a:gdLst/>
            <a:ahLst/>
            <a:cxnLst/>
            <a:rect l="l" t="t" r="r" b="b"/>
            <a:pathLst>
              <a:path w="503554">
                <a:moveTo>
                  <a:pt x="0" y="0"/>
                </a:moveTo>
                <a:lnTo>
                  <a:pt x="502930" y="0"/>
                </a:lnTo>
              </a:path>
            </a:pathLst>
          </a:custGeom>
          <a:ln w="69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27028" y="4619240"/>
            <a:ext cx="6403975" cy="0"/>
          </a:xfrm>
          <a:custGeom>
            <a:avLst/>
            <a:gdLst/>
            <a:ahLst/>
            <a:cxnLst/>
            <a:rect l="l" t="t" r="r" b="b"/>
            <a:pathLst>
              <a:path w="6403975">
                <a:moveTo>
                  <a:pt x="0" y="0"/>
                </a:moveTo>
                <a:lnTo>
                  <a:pt x="6403846" y="0"/>
                </a:lnTo>
              </a:path>
            </a:pathLst>
          </a:custGeom>
          <a:ln w="13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81645" y="4602201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4361" y="4677913"/>
            <a:ext cx="211454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93866" y="4478723"/>
            <a:ext cx="133604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2755" algn="l"/>
                <a:tab pos="1196340" algn="l"/>
              </a:tabLst>
            </a:pPr>
            <a:r>
              <a:rPr sz="4200" spc="-390" dirty="0">
                <a:latin typeface="Symbol"/>
                <a:cs typeface="Symbol"/>
              </a:rPr>
              <a:t></a:t>
            </a:r>
            <a:r>
              <a:rPr sz="2600" b="1" i="1" spc="-39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4200" spc="-470" dirty="0">
                <a:latin typeface="Symbol"/>
                <a:cs typeface="Symbol"/>
              </a:rPr>
              <a:t></a:t>
            </a:r>
            <a:endParaRPr sz="42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4930" y="3914387"/>
            <a:ext cx="138811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28625" algn="l"/>
                <a:tab pos="781685" algn="l"/>
                <a:tab pos="1188720" algn="l"/>
              </a:tabLst>
            </a:pP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2664" y="4616953"/>
            <a:ext cx="41592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i="1" spc="-25" dirty="0">
                <a:latin typeface="Arial"/>
                <a:cs typeface="Arial"/>
              </a:rPr>
              <a:t>dv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6296" y="4146035"/>
            <a:ext cx="22987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i="1" spc="-50" dirty="0">
                <a:latin typeface="Arial"/>
                <a:cs typeface="Arial"/>
              </a:rPr>
              <a:t>d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8997" y="4900905"/>
            <a:ext cx="2095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8288" y="4667733"/>
            <a:ext cx="9080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92974" y="4137380"/>
            <a:ext cx="1663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B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29574" y="4137380"/>
            <a:ext cx="2095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42629" y="4137380"/>
            <a:ext cx="2095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10396" y="3904208"/>
            <a:ext cx="352742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448685" algn="l"/>
              </a:tabLst>
            </a:pPr>
            <a:r>
              <a:rPr sz="1500" b="1" i="1" spc="-50" dirty="0">
                <a:latin typeface="Arial"/>
                <a:cs typeface="Arial"/>
              </a:rPr>
              <a:t>t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78289" y="4137380"/>
            <a:ext cx="1663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B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33865" y="3904208"/>
            <a:ext cx="9080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56877" y="3941821"/>
            <a:ext cx="15367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-50" dirty="0">
                <a:latin typeface="Yu Gothic"/>
                <a:cs typeface="Yu Gothic"/>
              </a:rPr>
              <a:t>|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56877" y="4205474"/>
            <a:ext cx="15367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-1664" dirty="0">
                <a:latin typeface="Yu Gothic"/>
                <a:cs typeface="Yu Gothic"/>
              </a:rPr>
              <a:t>⎠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66100" y="4165848"/>
            <a:ext cx="68008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900" b="1" baseline="37393" dirty="0">
                <a:latin typeface="Yu Gothic"/>
                <a:cs typeface="Yu Gothic"/>
              </a:rPr>
              <a:t>|</a:t>
            </a:r>
            <a:r>
              <a:rPr sz="3900" spc="-37" baseline="37393" dirty="0">
                <a:latin typeface="Times New Roman"/>
                <a:cs typeface="Times New Roman"/>
              </a:rPr>
              <a:t> </a:t>
            </a:r>
            <a:r>
              <a:rPr sz="2600" b="1" i="1" spc="-25" dirty="0">
                <a:latin typeface="Arial"/>
                <a:cs typeface="Arial"/>
              </a:rPr>
              <a:t>dv</a:t>
            </a:r>
            <a:endParaRPr sz="2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91500" y="4205473"/>
            <a:ext cx="15367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-1664" dirty="0">
                <a:latin typeface="Yu Gothic"/>
                <a:cs typeface="Yu Gothic"/>
              </a:rPr>
              <a:t>⎝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50906" y="3914388"/>
            <a:ext cx="401764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91160" algn="l"/>
                <a:tab pos="799465" algn="l"/>
                <a:tab pos="1216025" algn="l"/>
                <a:tab pos="1569085" algn="l"/>
                <a:tab pos="2049145" algn="l"/>
                <a:tab pos="2969895" algn="l"/>
                <a:tab pos="3402965" algn="l"/>
              </a:tabLst>
            </a:pP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v</a:t>
            </a:r>
            <a:r>
              <a:rPr sz="2600" b="1" i="1" spc="360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3900" b="1" spc="-75" baseline="30982" dirty="0">
                <a:latin typeface="Yu Gothic"/>
                <a:cs typeface="Yu Gothic"/>
              </a:rPr>
              <a:t>(</a:t>
            </a:r>
            <a:r>
              <a:rPr sz="3900" baseline="30982" dirty="0">
                <a:latin typeface="Times New Roman"/>
                <a:cs typeface="Times New Roman"/>
              </a:rPr>
              <a:t>	</a:t>
            </a:r>
            <a:r>
              <a:rPr sz="3900" b="1" i="1" spc="-75" baseline="35256" dirty="0">
                <a:latin typeface="Arial"/>
                <a:cs typeface="Arial"/>
              </a:rPr>
              <a:t>d</a:t>
            </a:r>
            <a:r>
              <a:rPr sz="3900" b="1" i="1" baseline="35256" dirty="0">
                <a:latin typeface="Arial"/>
                <a:cs typeface="Arial"/>
              </a:rPr>
              <a:t>	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6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32" baseline="4444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20254" y="3941820"/>
            <a:ext cx="15367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-50" dirty="0">
                <a:latin typeface="Yu Gothic"/>
                <a:cs typeface="Yu Gothic"/>
              </a:rPr>
              <a:t>|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20254" y="4205473"/>
            <a:ext cx="15367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-1664" dirty="0">
                <a:latin typeface="Yu Gothic"/>
                <a:cs typeface="Yu Gothic"/>
              </a:rPr>
              <a:t>⎠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20254" y="3728460"/>
            <a:ext cx="359029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448685" algn="l"/>
              </a:tabLst>
            </a:pPr>
            <a:r>
              <a:rPr sz="2600" b="1" spc="-1664" dirty="0">
                <a:latin typeface="Yu Gothic"/>
                <a:cs typeface="Yu Gothic"/>
              </a:rPr>
              <a:t>⎞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b="1" spc="-1675" dirty="0">
                <a:latin typeface="Yu Gothic"/>
                <a:cs typeface="Yu Gothic"/>
              </a:rPr>
              <a:t>⎞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02629" y="4165848"/>
            <a:ext cx="68008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900" b="1" baseline="37393" dirty="0">
                <a:latin typeface="Yu Gothic"/>
                <a:cs typeface="Yu Gothic"/>
              </a:rPr>
              <a:t>|</a:t>
            </a:r>
            <a:r>
              <a:rPr sz="3900" spc="-37" baseline="37393" dirty="0">
                <a:latin typeface="Times New Roman"/>
                <a:cs typeface="Times New Roman"/>
              </a:rPr>
              <a:t> </a:t>
            </a:r>
            <a:r>
              <a:rPr sz="2600" b="1" i="1" spc="-25" dirty="0">
                <a:latin typeface="Arial"/>
                <a:cs typeface="Arial"/>
              </a:rPr>
              <a:t>dv</a:t>
            </a:r>
            <a:endParaRPr sz="2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28029" y="3704076"/>
            <a:ext cx="54546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7660" algn="l"/>
              </a:tabLst>
            </a:pPr>
            <a:r>
              <a:rPr sz="3900" b="1" spc="-75" baseline="-4273" dirty="0">
                <a:latin typeface="Yu Gothic"/>
                <a:cs typeface="Yu Gothic"/>
              </a:rPr>
              <a:t>(</a:t>
            </a:r>
            <a:r>
              <a:rPr sz="3900" baseline="-4273" dirty="0">
                <a:latin typeface="Times New Roman"/>
                <a:cs typeface="Times New Roman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d</a:t>
            </a:r>
            <a:endParaRPr sz="2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50476" y="4258938"/>
            <a:ext cx="1356995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89990" algn="l"/>
              </a:tabLst>
            </a:pPr>
            <a:r>
              <a:rPr sz="2600" b="1" i="1" dirty="0">
                <a:latin typeface="Arial"/>
                <a:cs typeface="Arial"/>
              </a:rPr>
              <a:t>J</a:t>
            </a:r>
            <a:r>
              <a:rPr sz="2600" b="1" i="1" spc="-240" dirty="0">
                <a:latin typeface="Arial"/>
                <a:cs typeface="Arial"/>
              </a:rPr>
              <a:t> </a:t>
            </a:r>
            <a:r>
              <a:rPr sz="3450" spc="-180" dirty="0">
                <a:latin typeface="Symbol"/>
                <a:cs typeface="Symbol"/>
              </a:rPr>
              <a:t></a:t>
            </a:r>
            <a:r>
              <a:rPr sz="2600" b="1" i="1" spc="-180" dirty="0">
                <a:latin typeface="Arial"/>
                <a:cs typeface="Arial"/>
              </a:rPr>
              <a:t>v</a:t>
            </a:r>
            <a:r>
              <a:rPr sz="2600" b="1" i="1" spc="-100" dirty="0">
                <a:latin typeface="Arial"/>
                <a:cs typeface="Arial"/>
              </a:rPr>
              <a:t> </a:t>
            </a:r>
            <a:r>
              <a:rPr sz="3450" spc="-170" dirty="0">
                <a:latin typeface="Symbol"/>
                <a:cs typeface="Symbol"/>
              </a:rPr>
              <a:t></a:t>
            </a:r>
            <a:r>
              <a:rPr sz="3450" spc="-2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3900" b="1" spc="-2512" baseline="26709" dirty="0">
                <a:latin typeface="Yu Gothic"/>
                <a:cs typeface="Yu Gothic"/>
              </a:rPr>
              <a:t>⎝</a:t>
            </a:r>
            <a:endParaRPr sz="3900" baseline="26709">
              <a:latin typeface="Yu Gothic"/>
              <a:cs typeface="Yu Gothic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817880" y="5762240"/>
            <a:ext cx="4700270" cy="0"/>
          </a:xfrm>
          <a:custGeom>
            <a:avLst/>
            <a:gdLst/>
            <a:ahLst/>
            <a:cxnLst/>
            <a:rect l="l" t="t" r="r" b="b"/>
            <a:pathLst>
              <a:path w="4700270">
                <a:moveTo>
                  <a:pt x="0" y="0"/>
                </a:moveTo>
                <a:lnTo>
                  <a:pt x="4700017" y="0"/>
                </a:lnTo>
              </a:path>
            </a:pathLst>
          </a:custGeom>
          <a:ln w="13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107937" y="6043904"/>
            <a:ext cx="20955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07406" y="5621751"/>
            <a:ext cx="147256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58215" algn="l"/>
              </a:tabLst>
            </a:pPr>
            <a:r>
              <a:rPr sz="4200" spc="-365" dirty="0">
                <a:latin typeface="Symbol"/>
                <a:cs typeface="Symbol"/>
              </a:rPr>
              <a:t></a:t>
            </a:r>
            <a:r>
              <a:rPr sz="2600" b="1" i="1" spc="-365" dirty="0">
                <a:latin typeface="Arial"/>
                <a:cs typeface="Arial"/>
              </a:rPr>
              <a:t>v</a:t>
            </a:r>
            <a:r>
              <a:rPr sz="2600" b="1" i="1" spc="-15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54" baseline="4444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v</a:t>
            </a:r>
            <a:r>
              <a:rPr sz="2600" b="1" i="1" spc="-110" dirty="0">
                <a:latin typeface="Arial"/>
                <a:cs typeface="Arial"/>
              </a:rPr>
              <a:t> </a:t>
            </a:r>
            <a:r>
              <a:rPr sz="4200" spc="-315" dirty="0">
                <a:latin typeface="Symbol"/>
                <a:cs typeface="Symbol"/>
              </a:rPr>
              <a:t></a:t>
            </a:r>
            <a:r>
              <a:rPr sz="2250" b="1" spc="-472" baseline="62962" dirty="0">
                <a:latin typeface="Arial"/>
                <a:cs typeface="Arial"/>
              </a:rPr>
              <a:t>2</a:t>
            </a:r>
            <a:endParaRPr sz="2250" baseline="62962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53244" y="5521597"/>
            <a:ext cx="210820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b="1" spc="-50" dirty="0">
                <a:latin typeface="Arial"/>
                <a:cs typeface="Arial"/>
              </a:rPr>
              <a:t>0</a:t>
            </a:r>
            <a:endParaRPr sz="2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56684" y="5174244"/>
            <a:ext cx="5425440" cy="5645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79095" algn="l"/>
                <a:tab pos="5203825" algn="l"/>
              </a:tabLst>
            </a:pPr>
            <a:r>
              <a:rPr sz="3900" spc="-75" baseline="-36324" dirty="0">
                <a:latin typeface="Symbol"/>
                <a:cs typeface="Symbol"/>
              </a:rPr>
              <a:t></a:t>
            </a:r>
            <a:r>
              <a:rPr sz="3900" baseline="-36324" dirty="0">
                <a:latin typeface="Times New Roman"/>
                <a:cs typeface="Times New Roman"/>
              </a:rPr>
              <a:t>	</a:t>
            </a:r>
            <a:r>
              <a:rPr sz="3500" dirty="0">
                <a:latin typeface="Symbol"/>
                <a:cs typeface="Symbol"/>
              </a:rPr>
              <a:t></a:t>
            </a:r>
            <a:r>
              <a:rPr sz="2600" b="1" dirty="0">
                <a:latin typeface="Arial"/>
                <a:cs typeface="Arial"/>
              </a:rPr>
              <a:t>2</a:t>
            </a:r>
            <a:r>
              <a:rPr sz="2600" b="1" i="1" dirty="0">
                <a:latin typeface="Arial"/>
                <a:cs typeface="Arial"/>
              </a:rPr>
              <a:t>S</a:t>
            </a:r>
            <a:r>
              <a:rPr sz="2250" b="1" i="1" baseline="-24074" dirty="0">
                <a:latin typeface="Arial"/>
                <a:cs typeface="Arial"/>
              </a:rPr>
              <a:t>B</a:t>
            </a:r>
            <a:r>
              <a:rPr sz="2250" b="1" i="1" spc="-397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14" dirty="0">
                <a:latin typeface="Arial"/>
                <a:cs typeface="Arial"/>
              </a:rPr>
              <a:t> </a:t>
            </a:r>
            <a:r>
              <a:rPr sz="3500" spc="-245" dirty="0">
                <a:latin typeface="Symbol"/>
                <a:cs typeface="Symbol"/>
              </a:rPr>
              <a:t></a:t>
            </a:r>
            <a:r>
              <a:rPr sz="2600" b="1" i="1" spc="-245" dirty="0">
                <a:latin typeface="Arial"/>
                <a:cs typeface="Arial"/>
              </a:rPr>
              <a:t>v</a:t>
            </a:r>
            <a:r>
              <a:rPr sz="2600" b="1" i="1" spc="-17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40" baseline="44444" dirty="0">
                <a:latin typeface="Arial"/>
                <a:cs typeface="Arial"/>
              </a:rPr>
              <a:t> </a:t>
            </a:r>
            <a:r>
              <a:rPr sz="2600" b="1" i="1" spc="55" dirty="0">
                <a:latin typeface="Arial"/>
                <a:cs typeface="Arial"/>
              </a:rPr>
              <a:t>S</a:t>
            </a:r>
            <a:r>
              <a:rPr sz="2250" b="1" i="1" spc="82" baseline="-24074" dirty="0">
                <a:latin typeface="Arial"/>
                <a:cs typeface="Arial"/>
              </a:rPr>
              <a:t>W</a:t>
            </a:r>
            <a:r>
              <a:rPr sz="2250" b="1" i="1" spc="97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35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Symbol"/>
                <a:cs typeface="Symbol"/>
              </a:rPr>
              <a:t></a:t>
            </a:r>
            <a:r>
              <a:rPr sz="2600" b="1" dirty="0">
                <a:latin typeface="Arial"/>
                <a:cs typeface="Arial"/>
              </a:rPr>
              <a:t>2</a:t>
            </a:r>
            <a:r>
              <a:rPr sz="2600" b="1" i="1" dirty="0">
                <a:latin typeface="Arial"/>
                <a:cs typeface="Arial"/>
              </a:rPr>
              <a:t>S</a:t>
            </a:r>
            <a:r>
              <a:rPr sz="2250" b="1" i="1" baseline="-24074" dirty="0">
                <a:latin typeface="Arial"/>
                <a:cs typeface="Arial"/>
              </a:rPr>
              <a:t>W</a:t>
            </a:r>
            <a:r>
              <a:rPr sz="2250" b="1" i="1" spc="89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10" dirty="0">
                <a:latin typeface="Arial"/>
                <a:cs typeface="Arial"/>
              </a:rPr>
              <a:t> </a:t>
            </a:r>
            <a:r>
              <a:rPr sz="3500" spc="-245" dirty="0">
                <a:latin typeface="Symbol"/>
                <a:cs typeface="Symbol"/>
              </a:rPr>
              <a:t></a:t>
            </a:r>
            <a:r>
              <a:rPr sz="2600" b="1" i="1" spc="-245" dirty="0">
                <a:latin typeface="Arial"/>
                <a:cs typeface="Arial"/>
              </a:rPr>
              <a:t>v</a:t>
            </a:r>
            <a:r>
              <a:rPr sz="2600" b="1" i="1" spc="-17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40" baseline="44444" dirty="0">
                <a:latin typeface="Arial"/>
                <a:cs typeface="Arial"/>
              </a:rPr>
              <a:t> </a:t>
            </a:r>
            <a:r>
              <a:rPr sz="2600" b="1" i="1" spc="90" dirty="0">
                <a:latin typeface="Arial"/>
                <a:cs typeface="Arial"/>
              </a:rPr>
              <a:t>S</a:t>
            </a:r>
            <a:r>
              <a:rPr sz="2250" b="1" i="1" spc="135" baseline="-24074" dirty="0">
                <a:latin typeface="Arial"/>
                <a:cs typeface="Arial"/>
              </a:rPr>
              <a:t>B</a:t>
            </a:r>
            <a:r>
              <a:rPr sz="2600" b="1" i="1" spc="9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3900" spc="-75" baseline="-38461" dirty="0">
                <a:latin typeface="Symbol"/>
                <a:cs typeface="Symbol"/>
              </a:rPr>
              <a:t></a:t>
            </a:r>
            <a:endParaRPr sz="3900" baseline="-38461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66689" y="2216654"/>
            <a:ext cx="19875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i="1" spc="-1445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33191" y="1856318"/>
            <a:ext cx="76644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i="1" dirty="0">
                <a:latin typeface="Arial"/>
                <a:cs typeface="Arial"/>
              </a:rPr>
              <a:t>J</a:t>
            </a:r>
            <a:r>
              <a:rPr sz="2600" b="1" i="1" spc="-240" dirty="0">
                <a:latin typeface="Arial"/>
                <a:cs typeface="Arial"/>
              </a:rPr>
              <a:t> </a:t>
            </a:r>
            <a:r>
              <a:rPr sz="3450" spc="-180" dirty="0">
                <a:latin typeface="Symbol"/>
                <a:cs typeface="Symbol"/>
              </a:rPr>
              <a:t></a:t>
            </a:r>
            <a:r>
              <a:rPr sz="2600" b="1" i="1" spc="-180" dirty="0">
                <a:latin typeface="Arial"/>
                <a:cs typeface="Arial"/>
              </a:rPr>
              <a:t>v</a:t>
            </a:r>
            <a:r>
              <a:rPr sz="2600" b="1" i="1" spc="-100" dirty="0">
                <a:latin typeface="Arial"/>
                <a:cs typeface="Arial"/>
              </a:rPr>
              <a:t> </a:t>
            </a:r>
            <a:r>
              <a:rPr sz="3450" spc="-75" dirty="0">
                <a:latin typeface="Symbol"/>
                <a:cs typeface="Symbol"/>
              </a:rPr>
              <a:t></a:t>
            </a:r>
            <a:endParaRPr sz="345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28002" y="1745737"/>
            <a:ext cx="102425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99465" algn="l"/>
              </a:tabLst>
            </a:pP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5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54" baseline="4444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75833" y="2070350"/>
            <a:ext cx="117792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14069" algn="l"/>
              </a:tabLst>
            </a:pPr>
            <a:r>
              <a:rPr sz="2600" b="1" i="1" dirty="0">
                <a:latin typeface="Arial"/>
                <a:cs typeface="Arial"/>
              </a:rPr>
              <a:t>~</a:t>
            </a:r>
            <a:r>
              <a:rPr sz="2600" b="1" i="1" spc="-340" dirty="0">
                <a:latin typeface="Arial"/>
                <a:cs typeface="Arial"/>
              </a:rPr>
              <a:t> </a:t>
            </a:r>
            <a:r>
              <a:rPr sz="2250" b="1" i="1" spc="-75" baseline="1851" dirty="0">
                <a:latin typeface="Arial"/>
                <a:cs typeface="Arial"/>
              </a:rPr>
              <a:t>2</a:t>
            </a:r>
            <a:r>
              <a:rPr sz="2250" b="1" i="1" baseline="1851" dirty="0">
                <a:latin typeface="Arial"/>
                <a:cs typeface="Arial"/>
              </a:rPr>
              <a:t>	</a:t>
            </a:r>
            <a:r>
              <a:rPr sz="2600" b="1" i="1" dirty="0">
                <a:latin typeface="Arial"/>
                <a:cs typeface="Arial"/>
              </a:rPr>
              <a:t>~</a:t>
            </a:r>
            <a:r>
              <a:rPr sz="2600" b="1" i="1" spc="-340" dirty="0">
                <a:latin typeface="Arial"/>
                <a:cs typeface="Arial"/>
              </a:rPr>
              <a:t> </a:t>
            </a:r>
            <a:r>
              <a:rPr sz="2250" b="1" i="1" spc="-75" baseline="1851" dirty="0">
                <a:latin typeface="Arial"/>
                <a:cs typeface="Arial"/>
              </a:rPr>
              <a:t>2</a:t>
            </a:r>
            <a:endParaRPr sz="2250" baseline="1851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67853" y="2439295"/>
            <a:ext cx="244729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26135" algn="l"/>
                <a:tab pos="2249805" algn="l"/>
              </a:tabLst>
            </a:pPr>
            <a:r>
              <a:rPr sz="1500" b="1" i="1" spc="-50" dirty="0">
                <a:latin typeface="Arial"/>
                <a:cs typeface="Arial"/>
              </a:rPr>
              <a:t>1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2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42684" y="2216654"/>
            <a:ext cx="245745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388110" algn="l"/>
                <a:tab pos="2219960" algn="l"/>
              </a:tabLst>
            </a:pPr>
            <a:r>
              <a:rPr sz="2600" dirty="0">
                <a:latin typeface="Symbol"/>
                <a:cs typeface="Symbol"/>
              </a:rPr>
              <a:t>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v</a:t>
            </a:r>
            <a:r>
              <a:rPr sz="2600" b="1" i="1" spc="-17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54" baseline="4444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23128" y="1829557"/>
            <a:ext cx="3545204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60680" algn="l"/>
                <a:tab pos="718820" algn="l"/>
                <a:tab pos="1476375" algn="l"/>
                <a:tab pos="1970405" algn="l"/>
                <a:tab pos="2404745" algn="l"/>
                <a:tab pos="3044825" algn="l"/>
                <a:tab pos="3506470" algn="l"/>
              </a:tabLst>
            </a:pPr>
            <a:r>
              <a:rPr sz="3900" spc="-75" baseline="-22435" dirty="0">
                <a:latin typeface="Symbol"/>
                <a:cs typeface="Symbol"/>
              </a:rPr>
              <a:t></a:t>
            </a:r>
            <a:r>
              <a:rPr sz="3900" baseline="-22435" dirty="0">
                <a:latin typeface="Times New Roman"/>
                <a:cs typeface="Times New Roman"/>
              </a:rPr>
              <a:t>	</a:t>
            </a:r>
            <a:r>
              <a:rPr sz="15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i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5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i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15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i="1" spc="500" dirty="0">
                <a:latin typeface="Arial"/>
                <a:cs typeface="Arial"/>
              </a:rPr>
              <a:t> </a:t>
            </a:r>
            <a:r>
              <a:rPr sz="3900" baseline="-22435" dirty="0">
                <a:latin typeface="Symbol"/>
                <a:cs typeface="Symbol"/>
              </a:rPr>
              <a:t></a:t>
            </a:r>
            <a:r>
              <a:rPr sz="3900" baseline="-22435" dirty="0">
                <a:latin typeface="Times New Roman"/>
                <a:cs typeface="Times New Roman"/>
              </a:rPr>
              <a:t>	</a:t>
            </a:r>
            <a:r>
              <a:rPr sz="15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i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15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5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64506" y="1618777"/>
            <a:ext cx="1584325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10870" algn="l"/>
                <a:tab pos="1325245" algn="l"/>
              </a:tabLst>
            </a:pPr>
            <a:r>
              <a:rPr sz="3600" spc="-570" dirty="0">
                <a:latin typeface="Symbol"/>
                <a:cs typeface="Symbol"/>
              </a:rPr>
              <a:t></a:t>
            </a:r>
            <a:r>
              <a:rPr sz="2750" spc="-570" dirty="0">
                <a:latin typeface="Symbol"/>
                <a:cs typeface="Symbol"/>
              </a:rPr>
              <a:t></a:t>
            </a:r>
            <a:r>
              <a:rPr sz="3900" b="1" i="1" spc="-855" baseline="19230" dirty="0">
                <a:latin typeface="Arial"/>
                <a:cs typeface="Arial"/>
              </a:rPr>
              <a:t>~</a:t>
            </a:r>
            <a:r>
              <a:rPr sz="3900" b="1" i="1" baseline="19230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750" spc="-730" dirty="0">
                <a:latin typeface="Symbol"/>
                <a:cs typeface="Symbol"/>
              </a:rPr>
              <a:t></a:t>
            </a:r>
            <a:r>
              <a:rPr sz="3900" b="1" i="1" spc="-1095" baseline="19230" dirty="0">
                <a:latin typeface="Arial"/>
                <a:cs typeface="Arial"/>
              </a:rPr>
              <a:t>~</a:t>
            </a:r>
            <a:r>
              <a:rPr sz="3900" b="1" i="1" baseline="19230" dirty="0">
                <a:latin typeface="Arial"/>
                <a:cs typeface="Arial"/>
              </a:rPr>
              <a:t>	</a:t>
            </a:r>
            <a:r>
              <a:rPr sz="3600" spc="-25" dirty="0">
                <a:latin typeface="Symbol"/>
                <a:cs typeface="Symbol"/>
              </a:rPr>
              <a:t></a:t>
            </a:r>
            <a:r>
              <a:rPr sz="2250" b="1" i="1" spc="-37" baseline="53703" dirty="0">
                <a:latin typeface="Arial"/>
                <a:cs typeface="Arial"/>
              </a:rPr>
              <a:t>2</a:t>
            </a:r>
            <a:endParaRPr sz="2250" baseline="5370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00"/>
              </a:spcBef>
              <a:tabLst>
                <a:tab pos="8683625" algn="l"/>
              </a:tabLst>
            </a:pPr>
            <a:r>
              <a:rPr u="heavy" spc="-22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Fisher</a:t>
            </a:r>
            <a:r>
              <a:rPr u="heavy" spc="-7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Linear</a:t>
            </a:r>
            <a:r>
              <a:rPr u="heavy" spc="-7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Discriminant</a:t>
            </a:r>
            <a:r>
              <a:rPr u="heavy" spc="-5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854300"/>
                  </a:solidFill>
                </a:uFill>
              </a:rPr>
              <a:t>Derivation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39" y="1319275"/>
            <a:ext cx="28124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solve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5715" y="1196247"/>
            <a:ext cx="4933315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8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62" baseline="44444" dirty="0">
                <a:latin typeface="Arial"/>
                <a:cs typeface="Arial"/>
              </a:rPr>
              <a:t> </a:t>
            </a:r>
            <a:r>
              <a:rPr sz="2600" b="1" i="1" spc="55" dirty="0">
                <a:latin typeface="Arial"/>
                <a:cs typeface="Arial"/>
              </a:rPr>
              <a:t>S</a:t>
            </a:r>
            <a:r>
              <a:rPr sz="2250" b="1" i="1" spc="82" baseline="-24074" dirty="0">
                <a:latin typeface="Arial"/>
                <a:cs typeface="Arial"/>
              </a:rPr>
              <a:t>W</a:t>
            </a:r>
            <a:r>
              <a:rPr sz="2250" b="1" i="1" spc="97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204" dirty="0">
                <a:latin typeface="Arial"/>
                <a:cs typeface="Arial"/>
              </a:rPr>
              <a:t> </a:t>
            </a:r>
            <a:r>
              <a:rPr sz="3500" spc="-50" dirty="0">
                <a:latin typeface="Symbol"/>
                <a:cs typeface="Symbol"/>
              </a:rPr>
              <a:t>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250" b="1" i="1" spc="-75" baseline="-24074" dirty="0">
                <a:latin typeface="Arial"/>
                <a:cs typeface="Arial"/>
              </a:rPr>
              <a:t>B</a:t>
            </a:r>
            <a:r>
              <a:rPr sz="2250" b="1" i="1" spc="-419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14" dirty="0">
                <a:latin typeface="Arial"/>
                <a:cs typeface="Arial"/>
              </a:rPr>
              <a:t> </a:t>
            </a:r>
            <a:r>
              <a:rPr sz="3500" spc="-180" dirty="0">
                <a:latin typeface="Symbol"/>
                <a:cs typeface="Symbol"/>
              </a:rPr>
              <a:t></a:t>
            </a:r>
            <a:r>
              <a:rPr sz="3500" spc="-4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7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40" baseline="44444" dirty="0">
                <a:latin typeface="Arial"/>
                <a:cs typeface="Arial"/>
              </a:rPr>
              <a:t> </a:t>
            </a:r>
            <a:r>
              <a:rPr sz="2600" b="1" i="1" spc="114" dirty="0">
                <a:latin typeface="Arial"/>
                <a:cs typeface="Arial"/>
              </a:rPr>
              <a:t>S</a:t>
            </a:r>
            <a:r>
              <a:rPr sz="2250" b="1" i="1" spc="172" baseline="-24074" dirty="0">
                <a:latin typeface="Arial"/>
                <a:cs typeface="Arial"/>
              </a:rPr>
              <a:t>B</a:t>
            </a:r>
            <a:r>
              <a:rPr sz="2600" b="1" i="1" spc="114" dirty="0">
                <a:latin typeface="Arial"/>
                <a:cs typeface="Arial"/>
              </a:rPr>
              <a:t>v</a:t>
            </a:r>
            <a:r>
              <a:rPr sz="2600" b="1" i="1" spc="-204" dirty="0">
                <a:latin typeface="Arial"/>
                <a:cs typeface="Arial"/>
              </a:rPr>
              <a:t> </a:t>
            </a:r>
            <a:r>
              <a:rPr sz="3500" spc="-35" dirty="0">
                <a:latin typeface="Symbol"/>
                <a:cs typeface="Symbol"/>
              </a:rPr>
              <a:t></a:t>
            </a:r>
            <a:r>
              <a:rPr sz="2600" b="1" i="1" spc="-35" dirty="0">
                <a:latin typeface="Arial"/>
                <a:cs typeface="Arial"/>
              </a:rPr>
              <a:t>S</a:t>
            </a:r>
            <a:r>
              <a:rPr sz="2250" b="1" i="1" spc="-52" baseline="-24074" dirty="0">
                <a:latin typeface="Arial"/>
                <a:cs typeface="Arial"/>
              </a:rPr>
              <a:t>W</a:t>
            </a:r>
            <a:r>
              <a:rPr sz="2250" b="1" i="1" spc="97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00" dirty="0">
                <a:latin typeface="Arial"/>
                <a:cs typeface="Arial"/>
              </a:rPr>
              <a:t> </a:t>
            </a:r>
            <a:r>
              <a:rPr sz="3500" spc="-180" dirty="0">
                <a:latin typeface="Symbol"/>
                <a:cs typeface="Symbol"/>
              </a:rPr>
              <a:t></a:t>
            </a:r>
            <a:r>
              <a:rPr sz="3500" spc="-3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300" dirty="0">
                <a:latin typeface="Times New Roman"/>
                <a:cs typeface="Times New Roman"/>
              </a:rPr>
              <a:t> </a:t>
            </a:r>
            <a:r>
              <a:rPr sz="2600" b="1" spc="-50" dirty="0">
                <a:latin typeface="Arial"/>
                <a:cs typeface="Arial"/>
              </a:rPr>
              <a:t>0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77893" y="2595366"/>
            <a:ext cx="1981835" cy="0"/>
          </a:xfrm>
          <a:custGeom>
            <a:avLst/>
            <a:gdLst/>
            <a:ahLst/>
            <a:cxnLst/>
            <a:rect l="l" t="t" r="r" b="b"/>
            <a:pathLst>
              <a:path w="1981835">
                <a:moveTo>
                  <a:pt x="0" y="0"/>
                </a:moveTo>
                <a:lnTo>
                  <a:pt x="1981212" y="0"/>
                </a:lnTo>
              </a:path>
            </a:pathLst>
          </a:custGeom>
          <a:ln w="13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46197" y="2595366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196" y="0"/>
                </a:lnTo>
              </a:path>
            </a:pathLst>
          </a:custGeom>
          <a:ln w="13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40939" y="1940142"/>
            <a:ext cx="5539740" cy="107950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50"/>
              </a:spcBef>
              <a:tabLst>
                <a:tab pos="537845" algn="l"/>
              </a:tabLst>
            </a:pPr>
            <a:r>
              <a:rPr sz="3900" b="1" spc="-75" baseline="-36324" dirty="0">
                <a:latin typeface="Yu Gothic"/>
                <a:cs typeface="Yu Gothic"/>
              </a:rPr>
              <a:t>⇒</a:t>
            </a:r>
            <a:r>
              <a:rPr sz="3900" baseline="-36324" dirty="0">
                <a:latin typeface="Times New Roman"/>
                <a:cs typeface="Times New Roman"/>
              </a:rPr>
              <a:t>	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8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40" baseline="44444" dirty="0">
                <a:latin typeface="Arial"/>
                <a:cs typeface="Arial"/>
              </a:rPr>
              <a:t> </a:t>
            </a:r>
            <a:r>
              <a:rPr sz="2600" b="1" i="1" spc="55" dirty="0">
                <a:latin typeface="Arial"/>
                <a:cs typeface="Arial"/>
              </a:rPr>
              <a:t>S</a:t>
            </a:r>
            <a:r>
              <a:rPr sz="2250" b="1" i="1" spc="82" baseline="-24074" dirty="0">
                <a:latin typeface="Arial"/>
                <a:cs typeface="Arial"/>
              </a:rPr>
              <a:t>W</a:t>
            </a:r>
            <a:r>
              <a:rPr sz="2250" b="1" i="1" spc="89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220" dirty="0">
                <a:latin typeface="Arial"/>
                <a:cs typeface="Arial"/>
              </a:rPr>
              <a:t> </a:t>
            </a:r>
            <a:r>
              <a:rPr sz="3500" spc="-45" dirty="0">
                <a:latin typeface="Symbol"/>
                <a:cs typeface="Symbol"/>
              </a:rPr>
              <a:t></a:t>
            </a:r>
            <a:r>
              <a:rPr sz="2600" b="1" i="1" spc="-45" dirty="0">
                <a:latin typeface="Arial"/>
                <a:cs typeface="Arial"/>
              </a:rPr>
              <a:t>S</a:t>
            </a:r>
            <a:r>
              <a:rPr sz="2250" b="1" i="1" spc="-67" baseline="-24074" dirty="0">
                <a:latin typeface="Arial"/>
                <a:cs typeface="Arial"/>
              </a:rPr>
              <a:t>B</a:t>
            </a:r>
            <a:r>
              <a:rPr sz="2250" b="1" i="1" spc="-419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14" dirty="0">
                <a:latin typeface="Arial"/>
                <a:cs typeface="Arial"/>
              </a:rPr>
              <a:t> </a:t>
            </a:r>
            <a:r>
              <a:rPr sz="3500" spc="-180" dirty="0">
                <a:latin typeface="Symbol"/>
                <a:cs typeface="Symbol"/>
              </a:rPr>
              <a:t></a:t>
            </a:r>
            <a:r>
              <a:rPr sz="3500" spc="-240" dirty="0">
                <a:latin typeface="Times New Roman"/>
                <a:cs typeface="Times New Roman"/>
              </a:rPr>
              <a:t> </a:t>
            </a:r>
            <a:r>
              <a:rPr sz="3900" baseline="-36324" dirty="0">
                <a:latin typeface="Symbol"/>
                <a:cs typeface="Symbol"/>
              </a:rPr>
              <a:t></a:t>
            </a:r>
            <a:r>
              <a:rPr sz="3900" spc="405" baseline="-36324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7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40" baseline="44444" dirty="0">
                <a:latin typeface="Arial"/>
                <a:cs typeface="Arial"/>
              </a:rPr>
              <a:t> </a:t>
            </a:r>
            <a:r>
              <a:rPr sz="2600" b="1" i="1" spc="114" dirty="0">
                <a:latin typeface="Arial"/>
                <a:cs typeface="Arial"/>
              </a:rPr>
              <a:t>S</a:t>
            </a:r>
            <a:r>
              <a:rPr sz="2250" b="1" i="1" spc="172" baseline="-24074" dirty="0">
                <a:latin typeface="Arial"/>
                <a:cs typeface="Arial"/>
              </a:rPr>
              <a:t>B</a:t>
            </a:r>
            <a:r>
              <a:rPr sz="2600" b="1" i="1" spc="114" dirty="0">
                <a:latin typeface="Arial"/>
                <a:cs typeface="Arial"/>
              </a:rPr>
              <a:t>v</a:t>
            </a:r>
            <a:r>
              <a:rPr sz="2600" b="1" i="1" spc="-204" dirty="0">
                <a:latin typeface="Arial"/>
                <a:cs typeface="Arial"/>
              </a:rPr>
              <a:t> </a:t>
            </a:r>
            <a:r>
              <a:rPr sz="3500" spc="-35" dirty="0">
                <a:latin typeface="Symbol"/>
                <a:cs typeface="Symbol"/>
              </a:rPr>
              <a:t></a:t>
            </a:r>
            <a:r>
              <a:rPr sz="2600" b="1" i="1" spc="-35" dirty="0">
                <a:latin typeface="Arial"/>
                <a:cs typeface="Arial"/>
              </a:rPr>
              <a:t>S</a:t>
            </a:r>
            <a:r>
              <a:rPr sz="2250" b="1" i="1" spc="-52" baseline="-24074" dirty="0">
                <a:latin typeface="Arial"/>
                <a:cs typeface="Arial"/>
              </a:rPr>
              <a:t>W</a:t>
            </a:r>
            <a:r>
              <a:rPr sz="2250" b="1" i="1" spc="97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14" dirty="0">
                <a:latin typeface="Arial"/>
                <a:cs typeface="Arial"/>
              </a:rPr>
              <a:t> </a:t>
            </a:r>
            <a:r>
              <a:rPr sz="3500" spc="-175" dirty="0">
                <a:latin typeface="Symbol"/>
                <a:cs typeface="Symbol"/>
              </a:rPr>
              <a:t>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900" baseline="-36324" dirty="0">
                <a:latin typeface="Symbol"/>
                <a:cs typeface="Symbol"/>
              </a:rPr>
              <a:t></a:t>
            </a:r>
            <a:r>
              <a:rPr sz="3900" spc="450" baseline="-36324" dirty="0">
                <a:latin typeface="Times New Roman"/>
                <a:cs typeface="Times New Roman"/>
              </a:rPr>
              <a:t> </a:t>
            </a:r>
            <a:r>
              <a:rPr sz="3900" b="1" spc="-75" baseline="-36324" dirty="0">
                <a:latin typeface="Arial"/>
                <a:cs typeface="Arial"/>
              </a:rPr>
              <a:t>0</a:t>
            </a:r>
            <a:endParaRPr sz="3900" baseline="-36324">
              <a:latin typeface="Arial"/>
              <a:cs typeface="Arial"/>
            </a:endParaRPr>
          </a:p>
          <a:p>
            <a:pPr marR="187325" algn="ctr">
              <a:lnSpc>
                <a:spcPct val="100000"/>
              </a:lnSpc>
              <a:spcBef>
                <a:spcPts val="420"/>
              </a:spcBef>
              <a:tabLst>
                <a:tab pos="2367915" algn="l"/>
              </a:tabLst>
            </a:pP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6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54" baseline="44444" dirty="0">
                <a:latin typeface="Arial"/>
                <a:cs typeface="Arial"/>
              </a:rPr>
              <a:t> </a:t>
            </a:r>
            <a:r>
              <a:rPr sz="2600" b="1" i="1" spc="55" dirty="0">
                <a:latin typeface="Arial"/>
                <a:cs typeface="Arial"/>
              </a:rPr>
              <a:t>S</a:t>
            </a:r>
            <a:r>
              <a:rPr sz="2250" b="1" i="1" spc="82" baseline="-24074" dirty="0">
                <a:latin typeface="Arial"/>
                <a:cs typeface="Arial"/>
              </a:rPr>
              <a:t>W</a:t>
            </a:r>
            <a:r>
              <a:rPr sz="2250" b="1" i="1" spc="104" baseline="-2407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v</a:t>
            </a:r>
            <a:r>
              <a:rPr sz="2600" b="1" i="1" spc="-16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54" baseline="44444" dirty="0">
                <a:latin typeface="Arial"/>
                <a:cs typeface="Arial"/>
              </a:rPr>
              <a:t> </a:t>
            </a:r>
            <a:r>
              <a:rPr sz="2600" b="1" i="1" spc="55" dirty="0">
                <a:latin typeface="Arial"/>
                <a:cs typeface="Arial"/>
              </a:rPr>
              <a:t>S</a:t>
            </a:r>
            <a:r>
              <a:rPr sz="2250" b="1" i="1" spc="82" baseline="-24074" dirty="0">
                <a:latin typeface="Arial"/>
                <a:cs typeface="Arial"/>
              </a:rPr>
              <a:t>W</a:t>
            </a:r>
            <a:r>
              <a:rPr sz="2250" b="1" i="1" spc="104" baseline="-2407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58876" y="3685026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196" y="0"/>
                </a:lnTo>
              </a:path>
            </a:pathLst>
          </a:custGeom>
          <a:ln w="13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38618" y="3426317"/>
            <a:ext cx="51625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dirty="0">
                <a:latin typeface="Symbol"/>
                <a:cs typeface="Symbol"/>
              </a:rPr>
              <a:t></a:t>
            </a:r>
            <a:r>
              <a:rPr sz="2600" spc="315" dirty="0">
                <a:latin typeface="Times New Roman"/>
                <a:cs typeface="Times New Roman"/>
              </a:rPr>
              <a:t> </a:t>
            </a:r>
            <a:r>
              <a:rPr sz="2600" b="1" spc="-50" dirty="0">
                <a:latin typeface="Arial"/>
                <a:cs typeface="Arial"/>
              </a:rPr>
              <a:t>0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8168" y="3095150"/>
            <a:ext cx="1252220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48994" algn="l"/>
              </a:tabLst>
            </a:pP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204" dirty="0">
                <a:latin typeface="Arial"/>
                <a:cs typeface="Arial"/>
              </a:rPr>
              <a:t> </a:t>
            </a:r>
            <a:r>
              <a:rPr sz="3500" spc="-25" dirty="0">
                <a:latin typeface="Symbol"/>
                <a:cs typeface="Symbol"/>
              </a:rPr>
              <a:t></a:t>
            </a:r>
            <a:r>
              <a:rPr sz="2600" b="1" i="1" spc="-25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v</a:t>
            </a:r>
            <a:r>
              <a:rPr sz="2600" b="1" i="1" spc="-110" dirty="0">
                <a:latin typeface="Arial"/>
                <a:cs typeface="Arial"/>
              </a:rPr>
              <a:t> </a:t>
            </a:r>
            <a:r>
              <a:rPr sz="3500" spc="-110" dirty="0">
                <a:latin typeface="Symbol"/>
                <a:cs typeface="Symbol"/>
              </a:rPr>
              <a:t>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47692" y="3210301"/>
            <a:ext cx="60198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65760" algn="l"/>
              </a:tabLst>
            </a:pP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4171" y="3426461"/>
            <a:ext cx="140208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75615" algn="l"/>
                <a:tab pos="882650" algn="l"/>
              </a:tabLst>
            </a:pPr>
            <a:r>
              <a:rPr sz="2600" b="1" spc="-50" dirty="0">
                <a:latin typeface="Yu Gothic"/>
                <a:cs typeface="Yu Gothic"/>
              </a:rPr>
              <a:t>⇒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v</a:t>
            </a:r>
            <a:r>
              <a:rPr sz="2600" b="1" i="1" spc="355" dirty="0">
                <a:latin typeface="Arial"/>
                <a:cs typeface="Arial"/>
              </a:rPr>
              <a:t> </a:t>
            </a:r>
            <a:r>
              <a:rPr sz="2600" spc="-50" dirty="0">
                <a:latin typeface="Symbol"/>
                <a:cs typeface="Symbol"/>
              </a:rPr>
              <a:t>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62724" y="3682741"/>
            <a:ext cx="109410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6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54" baseline="44444" dirty="0">
                <a:latin typeface="Arial"/>
                <a:cs typeface="Arial"/>
              </a:rPr>
              <a:t> </a:t>
            </a:r>
            <a:r>
              <a:rPr sz="2600" b="1" i="1" spc="55" dirty="0">
                <a:latin typeface="Arial"/>
                <a:cs typeface="Arial"/>
              </a:rPr>
              <a:t>S</a:t>
            </a:r>
            <a:r>
              <a:rPr sz="2250" b="1" i="1" spc="82" baseline="-24074" dirty="0">
                <a:latin typeface="Arial"/>
                <a:cs typeface="Arial"/>
              </a:rPr>
              <a:t>W</a:t>
            </a:r>
            <a:r>
              <a:rPr sz="2250" b="1" i="1" spc="104" baseline="-2407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49668" y="3433293"/>
            <a:ext cx="9594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62000" algn="l"/>
              </a:tabLst>
            </a:pPr>
            <a:r>
              <a:rPr sz="1500" b="1" i="1" spc="-50" dirty="0">
                <a:latin typeface="Arial"/>
                <a:cs typeface="Arial"/>
              </a:rPr>
              <a:t>B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03718" y="3200121"/>
            <a:ext cx="9080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64348" y="3649703"/>
            <a:ext cx="1663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B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85959" y="3098396"/>
            <a:ext cx="1778635" cy="1205865"/>
          </a:xfrm>
          <a:custGeom>
            <a:avLst/>
            <a:gdLst/>
            <a:ahLst/>
            <a:cxnLst/>
            <a:rect l="l" t="t" r="r" b="b"/>
            <a:pathLst>
              <a:path w="1778635" h="1205864">
                <a:moveTo>
                  <a:pt x="645932" y="15135"/>
                </a:moveTo>
                <a:lnTo>
                  <a:pt x="590722" y="11322"/>
                </a:lnTo>
                <a:lnTo>
                  <a:pt x="539728" y="7206"/>
                </a:lnTo>
                <a:lnTo>
                  <a:pt x="491734" y="3482"/>
                </a:lnTo>
                <a:lnTo>
                  <a:pt x="445526" y="848"/>
                </a:lnTo>
                <a:lnTo>
                  <a:pt x="399889" y="0"/>
                </a:lnTo>
                <a:lnTo>
                  <a:pt x="353609" y="1634"/>
                </a:lnTo>
                <a:lnTo>
                  <a:pt x="305472" y="6447"/>
                </a:lnTo>
                <a:lnTo>
                  <a:pt x="254264" y="15135"/>
                </a:lnTo>
                <a:lnTo>
                  <a:pt x="187779" y="32090"/>
                </a:lnTo>
                <a:lnTo>
                  <a:pt x="124724" y="59331"/>
                </a:lnTo>
                <a:lnTo>
                  <a:pt x="69098" y="93812"/>
                </a:lnTo>
                <a:lnTo>
                  <a:pt x="36332" y="115719"/>
                </a:lnTo>
                <a:lnTo>
                  <a:pt x="10119" y="165889"/>
                </a:lnTo>
                <a:lnTo>
                  <a:pt x="0" y="208013"/>
                </a:lnTo>
                <a:lnTo>
                  <a:pt x="4511" y="246844"/>
                </a:lnTo>
                <a:lnTo>
                  <a:pt x="22189" y="287139"/>
                </a:lnTo>
                <a:lnTo>
                  <a:pt x="51572" y="333651"/>
                </a:lnTo>
                <a:lnTo>
                  <a:pt x="61693" y="364066"/>
                </a:lnTo>
                <a:lnTo>
                  <a:pt x="75518" y="405451"/>
                </a:lnTo>
                <a:lnTo>
                  <a:pt x="84185" y="439219"/>
                </a:lnTo>
                <a:lnTo>
                  <a:pt x="83789" y="443449"/>
                </a:lnTo>
                <a:lnTo>
                  <a:pt x="82845" y="448049"/>
                </a:lnTo>
                <a:lnTo>
                  <a:pt x="81592" y="454047"/>
                </a:lnTo>
                <a:lnTo>
                  <a:pt x="80268" y="462472"/>
                </a:lnTo>
                <a:lnTo>
                  <a:pt x="79112" y="474351"/>
                </a:lnTo>
                <a:lnTo>
                  <a:pt x="78362" y="490712"/>
                </a:lnTo>
                <a:lnTo>
                  <a:pt x="78258" y="512583"/>
                </a:lnTo>
                <a:lnTo>
                  <a:pt x="79038" y="540991"/>
                </a:lnTo>
                <a:lnTo>
                  <a:pt x="84203" y="621533"/>
                </a:lnTo>
                <a:lnTo>
                  <a:pt x="89066" y="675721"/>
                </a:lnTo>
                <a:lnTo>
                  <a:pt x="95768" y="740559"/>
                </a:lnTo>
                <a:lnTo>
                  <a:pt x="106960" y="790423"/>
                </a:lnTo>
                <a:lnTo>
                  <a:pt x="127010" y="833142"/>
                </a:lnTo>
                <a:lnTo>
                  <a:pt x="152775" y="873004"/>
                </a:lnTo>
                <a:lnTo>
                  <a:pt x="181112" y="914295"/>
                </a:lnTo>
                <a:lnTo>
                  <a:pt x="196804" y="945466"/>
                </a:lnTo>
                <a:lnTo>
                  <a:pt x="225308" y="1002687"/>
                </a:lnTo>
                <a:lnTo>
                  <a:pt x="265149" y="1037299"/>
                </a:lnTo>
                <a:lnTo>
                  <a:pt x="309470" y="1066100"/>
                </a:lnTo>
                <a:lnTo>
                  <a:pt x="357149" y="1090182"/>
                </a:lnTo>
                <a:lnTo>
                  <a:pt x="407068" y="1110638"/>
                </a:lnTo>
                <a:lnTo>
                  <a:pt x="458106" y="1128562"/>
                </a:lnTo>
                <a:lnTo>
                  <a:pt x="509145" y="1145046"/>
                </a:lnTo>
                <a:lnTo>
                  <a:pt x="559064" y="1161183"/>
                </a:lnTo>
                <a:lnTo>
                  <a:pt x="580995" y="1166351"/>
                </a:lnTo>
                <a:lnTo>
                  <a:pt x="603069" y="1169375"/>
                </a:lnTo>
                <a:lnTo>
                  <a:pt x="624858" y="1172113"/>
                </a:lnTo>
                <a:lnTo>
                  <a:pt x="645932" y="1176423"/>
                </a:lnTo>
                <a:lnTo>
                  <a:pt x="672602" y="1184162"/>
                </a:lnTo>
                <a:lnTo>
                  <a:pt x="701558" y="1193759"/>
                </a:lnTo>
                <a:lnTo>
                  <a:pt x="724799" y="1201926"/>
                </a:lnTo>
                <a:lnTo>
                  <a:pt x="734324" y="1205379"/>
                </a:lnTo>
                <a:lnTo>
                  <a:pt x="783235" y="1204374"/>
                </a:lnTo>
                <a:lnTo>
                  <a:pt x="832191" y="1203452"/>
                </a:lnTo>
                <a:lnTo>
                  <a:pt x="881185" y="1202589"/>
                </a:lnTo>
                <a:lnTo>
                  <a:pt x="930209" y="1201758"/>
                </a:lnTo>
                <a:lnTo>
                  <a:pt x="979253" y="1200936"/>
                </a:lnTo>
                <a:lnTo>
                  <a:pt x="1028309" y="1200098"/>
                </a:lnTo>
                <a:lnTo>
                  <a:pt x="1077370" y="1199217"/>
                </a:lnTo>
                <a:lnTo>
                  <a:pt x="1126427" y="1198271"/>
                </a:lnTo>
                <a:lnTo>
                  <a:pt x="1175471" y="1197232"/>
                </a:lnTo>
                <a:lnTo>
                  <a:pt x="1224494" y="1196077"/>
                </a:lnTo>
                <a:lnTo>
                  <a:pt x="1273488" y="1194781"/>
                </a:lnTo>
                <a:lnTo>
                  <a:pt x="1322445" y="1193318"/>
                </a:lnTo>
                <a:lnTo>
                  <a:pt x="1371356" y="1191663"/>
                </a:lnTo>
                <a:lnTo>
                  <a:pt x="1436888" y="1186901"/>
                </a:lnTo>
                <a:lnTo>
                  <a:pt x="1502420" y="1176423"/>
                </a:lnTo>
                <a:lnTo>
                  <a:pt x="1542187" y="1165660"/>
                </a:lnTo>
                <a:lnTo>
                  <a:pt x="1585097" y="1150896"/>
                </a:lnTo>
                <a:lnTo>
                  <a:pt x="1633484" y="1132227"/>
                </a:lnTo>
                <a:lnTo>
                  <a:pt x="1680751" y="1104271"/>
                </a:lnTo>
                <a:lnTo>
                  <a:pt x="1714446" y="1085745"/>
                </a:lnTo>
                <a:lnTo>
                  <a:pt x="1743855" y="1061504"/>
                </a:lnTo>
                <a:lnTo>
                  <a:pt x="1778264" y="1016403"/>
                </a:lnTo>
                <a:lnTo>
                  <a:pt x="1773917" y="961144"/>
                </a:lnTo>
                <a:lnTo>
                  <a:pt x="1769910" y="911642"/>
                </a:lnTo>
                <a:lnTo>
                  <a:pt x="1761500" y="868575"/>
                </a:lnTo>
                <a:lnTo>
                  <a:pt x="1743945" y="832620"/>
                </a:lnTo>
                <a:lnTo>
                  <a:pt x="1712506" y="804454"/>
                </a:lnTo>
                <a:lnTo>
                  <a:pt x="1662440" y="784755"/>
                </a:lnTo>
                <a:lnTo>
                  <a:pt x="1655772" y="777207"/>
                </a:lnTo>
                <a:lnTo>
                  <a:pt x="1622935" y="750418"/>
                </a:lnTo>
                <a:lnTo>
                  <a:pt x="1610814" y="748560"/>
                </a:lnTo>
                <a:lnTo>
                  <a:pt x="1598979" y="746131"/>
                </a:lnTo>
                <a:lnTo>
                  <a:pt x="1589288" y="740559"/>
                </a:lnTo>
                <a:lnTo>
                  <a:pt x="1584573" y="729177"/>
                </a:lnTo>
                <a:lnTo>
                  <a:pt x="1583573" y="715794"/>
                </a:lnTo>
                <a:lnTo>
                  <a:pt x="1582001" y="704126"/>
                </a:lnTo>
                <a:lnTo>
                  <a:pt x="1526779" y="689719"/>
                </a:lnTo>
                <a:lnTo>
                  <a:pt x="1477475" y="685939"/>
                </a:lnTo>
                <a:lnTo>
                  <a:pt x="1427878" y="684720"/>
                </a:lnTo>
                <a:lnTo>
                  <a:pt x="1378208" y="684232"/>
                </a:lnTo>
                <a:lnTo>
                  <a:pt x="1328684" y="682647"/>
                </a:lnTo>
                <a:lnTo>
                  <a:pt x="1280294" y="670980"/>
                </a:lnTo>
                <a:lnTo>
                  <a:pt x="1232342" y="657337"/>
                </a:lnTo>
                <a:lnTo>
                  <a:pt x="1185269" y="640841"/>
                </a:lnTo>
                <a:lnTo>
                  <a:pt x="1139513" y="620614"/>
                </a:lnTo>
                <a:lnTo>
                  <a:pt x="1095512" y="595779"/>
                </a:lnTo>
                <a:lnTo>
                  <a:pt x="1083058" y="545035"/>
                </a:lnTo>
                <a:lnTo>
                  <a:pt x="1074747" y="493862"/>
                </a:lnTo>
                <a:lnTo>
                  <a:pt x="1066151" y="442974"/>
                </a:lnTo>
                <a:lnTo>
                  <a:pt x="1052840" y="393087"/>
                </a:lnTo>
                <a:lnTo>
                  <a:pt x="1044180" y="326498"/>
                </a:lnTo>
                <a:lnTo>
                  <a:pt x="1036000" y="275397"/>
                </a:lnTo>
                <a:lnTo>
                  <a:pt x="1025608" y="235493"/>
                </a:lnTo>
                <a:lnTo>
                  <a:pt x="987414" y="172107"/>
                </a:lnTo>
                <a:lnTo>
                  <a:pt x="954228" y="140041"/>
                </a:lnTo>
                <a:lnTo>
                  <a:pt x="908060" y="102003"/>
                </a:lnTo>
                <a:lnTo>
                  <a:pt x="888271" y="83763"/>
                </a:lnTo>
                <a:lnTo>
                  <a:pt x="834908" y="59331"/>
                </a:lnTo>
                <a:lnTo>
                  <a:pt x="770138" y="50378"/>
                </a:lnTo>
                <a:lnTo>
                  <a:pt x="737610" y="46687"/>
                </a:lnTo>
                <a:lnTo>
                  <a:pt x="705368" y="42567"/>
                </a:lnTo>
                <a:lnTo>
                  <a:pt x="678507" y="35281"/>
                </a:lnTo>
                <a:lnTo>
                  <a:pt x="666506" y="32280"/>
                </a:lnTo>
                <a:lnTo>
                  <a:pt x="659076" y="27565"/>
                </a:lnTo>
                <a:lnTo>
                  <a:pt x="645932" y="15135"/>
                </a:lnTo>
                <a:close/>
              </a:path>
            </a:pathLst>
          </a:custGeom>
          <a:ln w="28955">
            <a:solidFill>
              <a:srgbClr val="CD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41438" y="3826254"/>
            <a:ext cx="519430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23215" algn="l"/>
              </a:tabLst>
            </a:pPr>
            <a:r>
              <a:rPr sz="2600" spc="-50" dirty="0">
                <a:solidFill>
                  <a:srgbClr val="CD3100"/>
                </a:solidFill>
                <a:latin typeface="Symbol"/>
                <a:cs typeface="Symbol"/>
              </a:rPr>
              <a:t></a:t>
            </a:r>
            <a:r>
              <a:rPr sz="2600" dirty="0">
                <a:solidFill>
                  <a:srgbClr val="CD3100"/>
                </a:solidFill>
                <a:latin typeface="Times New Roman"/>
                <a:cs typeface="Times New Roman"/>
              </a:rPr>
              <a:t>	</a:t>
            </a:r>
            <a:r>
              <a:rPr sz="2750" spc="-50" dirty="0">
                <a:solidFill>
                  <a:srgbClr val="CD3100"/>
                </a:solidFill>
                <a:latin typeface="Symbol"/>
                <a:cs typeface="Symbol"/>
              </a:rPr>
              <a:t>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57600" y="4895088"/>
            <a:ext cx="1754505" cy="304800"/>
          </a:xfrm>
          <a:custGeom>
            <a:avLst/>
            <a:gdLst/>
            <a:ahLst/>
            <a:cxnLst/>
            <a:rect l="l" t="t" r="r" b="b"/>
            <a:pathLst>
              <a:path w="1754504" h="304800">
                <a:moveTo>
                  <a:pt x="0" y="0"/>
                </a:moveTo>
                <a:lnTo>
                  <a:pt x="7461" y="48621"/>
                </a:lnTo>
                <a:lnTo>
                  <a:pt x="28236" y="90513"/>
                </a:lnTo>
                <a:lnTo>
                  <a:pt x="59911" y="123334"/>
                </a:lnTo>
                <a:lnTo>
                  <a:pt x="100071" y="144743"/>
                </a:lnTo>
                <a:lnTo>
                  <a:pt x="146303" y="152399"/>
                </a:lnTo>
                <a:lnTo>
                  <a:pt x="731519" y="152399"/>
                </a:lnTo>
                <a:lnTo>
                  <a:pt x="777752" y="160202"/>
                </a:lnTo>
                <a:lnTo>
                  <a:pt x="817912" y="181904"/>
                </a:lnTo>
                <a:lnTo>
                  <a:pt x="849587" y="214944"/>
                </a:lnTo>
                <a:lnTo>
                  <a:pt x="870362" y="256763"/>
                </a:lnTo>
                <a:lnTo>
                  <a:pt x="877823" y="304799"/>
                </a:lnTo>
                <a:lnTo>
                  <a:pt x="885126" y="256763"/>
                </a:lnTo>
                <a:lnTo>
                  <a:pt x="905524" y="214944"/>
                </a:lnTo>
                <a:lnTo>
                  <a:pt x="936747" y="181904"/>
                </a:lnTo>
                <a:lnTo>
                  <a:pt x="976530" y="160202"/>
                </a:lnTo>
                <a:lnTo>
                  <a:pt x="1022603" y="152399"/>
                </a:lnTo>
                <a:lnTo>
                  <a:pt x="1607819" y="152399"/>
                </a:lnTo>
                <a:lnTo>
                  <a:pt x="1654052" y="144743"/>
                </a:lnTo>
                <a:lnTo>
                  <a:pt x="1694212" y="123334"/>
                </a:lnTo>
                <a:lnTo>
                  <a:pt x="1725887" y="90513"/>
                </a:lnTo>
                <a:lnTo>
                  <a:pt x="1746662" y="48621"/>
                </a:lnTo>
                <a:lnTo>
                  <a:pt x="1754123" y="0"/>
                </a:lnTo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872738" y="4425035"/>
            <a:ext cx="4697095" cy="11779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4005">
              <a:lnSpc>
                <a:spcPct val="100000"/>
              </a:lnSpc>
              <a:spcBef>
                <a:spcPts val="120"/>
              </a:spcBef>
              <a:tabLst>
                <a:tab pos="755650" algn="l"/>
                <a:tab pos="1510030" algn="l"/>
                <a:tab pos="1820545" algn="l"/>
              </a:tabLst>
            </a:pPr>
            <a:r>
              <a:rPr sz="2600" b="1" spc="-50" dirty="0">
                <a:latin typeface="Yu Gothic"/>
                <a:cs typeface="Yu Gothic"/>
              </a:rPr>
              <a:t>⇒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b="1" i="1" spc="95" dirty="0">
                <a:latin typeface="Arial"/>
                <a:cs typeface="Arial"/>
              </a:rPr>
              <a:t>S</a:t>
            </a:r>
            <a:r>
              <a:rPr sz="2250" b="1" i="1" spc="142" baseline="-24074" dirty="0">
                <a:latin typeface="Arial"/>
                <a:cs typeface="Arial"/>
              </a:rPr>
              <a:t>B</a:t>
            </a:r>
            <a:r>
              <a:rPr sz="2600" b="1" i="1" spc="95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750" spc="-85" dirty="0">
                <a:latin typeface="Symbol"/>
                <a:cs typeface="Symbol"/>
              </a:rPr>
              <a:t></a:t>
            </a:r>
            <a:r>
              <a:rPr sz="2750" spc="-425" dirty="0">
                <a:latin typeface="Times New Roman"/>
                <a:cs typeface="Times New Roman"/>
              </a:rPr>
              <a:t> </a:t>
            </a:r>
            <a:r>
              <a:rPr sz="2600" b="1" i="1" spc="60" dirty="0">
                <a:latin typeface="Arial"/>
                <a:cs typeface="Arial"/>
              </a:rPr>
              <a:t>S</a:t>
            </a:r>
            <a:r>
              <a:rPr sz="2250" b="1" i="1" spc="89" baseline="-24074" dirty="0">
                <a:latin typeface="Arial"/>
                <a:cs typeface="Arial"/>
              </a:rPr>
              <a:t>W</a:t>
            </a:r>
            <a:r>
              <a:rPr sz="2250" b="1" i="1" spc="112" baseline="-2407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870"/>
              </a:spcBef>
            </a:pP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generalized</a:t>
            </a:r>
            <a:r>
              <a:rPr sz="2400" b="1" i="1" spc="-10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643100"/>
                </a:solidFill>
                <a:latin typeface="Arial"/>
                <a:cs typeface="Arial"/>
              </a:rPr>
              <a:t>eigenvalue</a:t>
            </a:r>
            <a:r>
              <a:rPr sz="2400" b="1" i="1" spc="-100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43100"/>
                </a:solidFill>
                <a:latin typeface="Arial"/>
                <a:cs typeface="Arial"/>
              </a:rPr>
              <a:t>problem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348420"/>
            <a:ext cx="8763000" cy="3251200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45"/>
              </a:spcBef>
              <a:tabLst>
                <a:tab pos="8686165" algn="l"/>
              </a:tabLst>
            </a:pPr>
            <a:r>
              <a:rPr sz="3200" b="1" i="1" u="heavy" spc="-22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Fisher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Linear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Discriminant</a:t>
            </a:r>
            <a:r>
              <a:rPr sz="3200" b="1" i="1" u="heavy" spc="-55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spc="-1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Derivation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	</a:t>
            </a:r>
            <a:endParaRPr sz="3200">
              <a:latin typeface="Arial"/>
              <a:cs typeface="Arial"/>
            </a:endParaRPr>
          </a:p>
          <a:p>
            <a:pPr marL="3018790">
              <a:lnSpc>
                <a:spcPct val="100000"/>
              </a:lnSpc>
              <a:spcBef>
                <a:spcPts val="750"/>
              </a:spcBef>
              <a:tabLst>
                <a:tab pos="3771265" algn="l"/>
                <a:tab pos="4082415" algn="l"/>
              </a:tabLst>
            </a:pPr>
            <a:r>
              <a:rPr sz="2600" b="1" i="1" spc="90" dirty="0">
                <a:latin typeface="Arial"/>
                <a:cs typeface="Arial"/>
              </a:rPr>
              <a:t>S</a:t>
            </a:r>
            <a:r>
              <a:rPr sz="2250" b="1" i="1" spc="135" baseline="-24074" dirty="0">
                <a:latin typeface="Arial"/>
                <a:cs typeface="Arial"/>
              </a:rPr>
              <a:t>B</a:t>
            </a:r>
            <a:r>
              <a:rPr sz="2600" b="1" i="1" spc="9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750" spc="-85" dirty="0">
                <a:latin typeface="Symbol"/>
                <a:cs typeface="Symbol"/>
              </a:rPr>
              <a:t></a:t>
            </a:r>
            <a:r>
              <a:rPr sz="2750" spc="-425" dirty="0">
                <a:latin typeface="Times New Roman"/>
                <a:cs typeface="Times New Roman"/>
              </a:rPr>
              <a:t> </a:t>
            </a:r>
            <a:r>
              <a:rPr sz="2600" b="1" i="1" spc="60" dirty="0">
                <a:latin typeface="Arial"/>
                <a:cs typeface="Arial"/>
              </a:rPr>
              <a:t>S</a:t>
            </a:r>
            <a:r>
              <a:rPr sz="2250" b="1" i="1" spc="89" baseline="-24074" dirty="0">
                <a:latin typeface="Arial"/>
                <a:cs typeface="Arial"/>
              </a:rPr>
              <a:t>W</a:t>
            </a:r>
            <a:r>
              <a:rPr sz="2250" b="1" i="1" spc="112" baseline="-2407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  <a:p>
            <a:pPr marL="700405" marR="182880" indent="-609600">
              <a:lnSpc>
                <a:spcPct val="100400"/>
              </a:lnSpc>
              <a:spcBef>
                <a:spcPts val="1290"/>
              </a:spcBef>
              <a:buClr>
                <a:srgbClr val="854300"/>
              </a:buClr>
              <a:buFont typeface="Microsoft Sans Serif"/>
              <a:buChar char="▪"/>
              <a:tabLst>
                <a:tab pos="700405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S</a:t>
            </a:r>
            <a:r>
              <a:rPr sz="2850" b="1" i="1" baseline="-20467" dirty="0">
                <a:latin typeface="Arial"/>
                <a:cs typeface="Arial"/>
              </a:rPr>
              <a:t>W</a:t>
            </a:r>
            <a:r>
              <a:rPr sz="2850" b="1" i="1" spc="-44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has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full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rank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inverse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exists),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convert </a:t>
            </a: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standard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eigenvalue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problem</a:t>
            </a:r>
            <a:endParaRPr sz="2800">
              <a:latin typeface="Arial MT"/>
              <a:cs typeface="Arial MT"/>
            </a:endParaRPr>
          </a:p>
          <a:p>
            <a:pPr marL="3094990">
              <a:lnSpc>
                <a:spcPts val="2605"/>
              </a:lnSpc>
              <a:spcBef>
                <a:spcPts val="880"/>
              </a:spcBef>
              <a:tabLst>
                <a:tab pos="4006215" algn="l"/>
                <a:tab pos="4352290" algn="l"/>
                <a:tab pos="4662805" algn="l"/>
              </a:tabLst>
            </a:pPr>
            <a:r>
              <a:rPr sz="2600" b="1" i="1" dirty="0">
                <a:latin typeface="Arial"/>
                <a:cs typeface="Arial"/>
              </a:rPr>
              <a:t>S</a:t>
            </a:r>
            <a:r>
              <a:rPr sz="2600" b="1" i="1" spc="-240" dirty="0">
                <a:latin typeface="Arial"/>
                <a:cs typeface="Arial"/>
              </a:rPr>
              <a:t> </a:t>
            </a:r>
            <a:r>
              <a:rPr sz="2250" baseline="44444" dirty="0">
                <a:latin typeface="Symbol"/>
                <a:cs typeface="Symbol"/>
              </a:rPr>
              <a:t></a:t>
            </a:r>
            <a:r>
              <a:rPr sz="2250" spc="-367" baseline="44444" dirty="0">
                <a:latin typeface="Times New Roman"/>
                <a:cs typeface="Times New Roman"/>
              </a:rPr>
              <a:t> </a:t>
            </a:r>
            <a:r>
              <a:rPr sz="2250" b="1" spc="-37" baseline="44444" dirty="0">
                <a:latin typeface="Arial"/>
                <a:cs typeface="Arial"/>
              </a:rPr>
              <a:t>1</a:t>
            </a:r>
            <a:r>
              <a:rPr sz="2600" b="1" i="1" spc="-25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750" spc="-85" dirty="0">
                <a:latin typeface="Symbol"/>
                <a:cs typeface="Symbol"/>
              </a:rPr>
              <a:t></a:t>
            </a:r>
            <a:r>
              <a:rPr sz="2750" spc="-420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  <a:p>
            <a:pPr marR="1437640" algn="ctr">
              <a:lnSpc>
                <a:spcPts val="1105"/>
              </a:lnSpc>
              <a:tabLst>
                <a:tab pos="516255" algn="l"/>
              </a:tabLst>
            </a:pPr>
            <a:r>
              <a:rPr sz="1500" b="1" i="1" spc="-50" dirty="0">
                <a:latin typeface="Arial"/>
                <a:cs typeface="Arial"/>
              </a:rPr>
              <a:t>W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B</a:t>
            </a:r>
            <a:endParaRPr sz="1500">
              <a:latin typeface="Arial"/>
              <a:cs typeface="Arial"/>
            </a:endParaRPr>
          </a:p>
          <a:p>
            <a:pPr marL="700405" indent="-609600">
              <a:lnSpc>
                <a:spcPct val="100000"/>
              </a:lnSpc>
              <a:spcBef>
                <a:spcPts val="680"/>
              </a:spcBef>
              <a:buClr>
                <a:srgbClr val="854300"/>
              </a:buClr>
              <a:buFont typeface="Microsoft Sans Serif"/>
              <a:buChar char="▪"/>
              <a:tabLst>
                <a:tab pos="700405" algn="l"/>
                <a:tab pos="2204720" algn="l"/>
              </a:tabLst>
            </a:pPr>
            <a:r>
              <a:rPr sz="2800" dirty="0">
                <a:latin typeface="Arial MT"/>
                <a:cs typeface="Arial MT"/>
              </a:rPr>
              <a:t>But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S</a:t>
            </a:r>
            <a:r>
              <a:rPr sz="2850" b="1" i="1" baseline="-20467" dirty="0">
                <a:latin typeface="Arial"/>
                <a:cs typeface="Arial"/>
              </a:rPr>
              <a:t>B</a:t>
            </a:r>
            <a:r>
              <a:rPr sz="2850" b="1" i="1" spc="-22" baseline="-20467" dirty="0">
                <a:latin typeface="Arial"/>
                <a:cs typeface="Arial"/>
              </a:rPr>
              <a:t> </a:t>
            </a:r>
            <a:r>
              <a:rPr sz="2800" b="1" i="1" spc="-50" dirty="0">
                <a:latin typeface="Arial"/>
                <a:cs typeface="Arial"/>
              </a:rPr>
              <a:t>x</a:t>
            </a:r>
            <a:r>
              <a:rPr sz="2800" b="1" i="1" dirty="0">
                <a:latin typeface="Arial"/>
                <a:cs typeface="Arial"/>
              </a:rPr>
              <a:t>	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any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vector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x,</a:t>
            </a:r>
            <a:r>
              <a:rPr sz="2800" b="1" i="1" spc="-3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points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same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6340" y="3560696"/>
            <a:ext cx="2958465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Arial MT"/>
                <a:cs typeface="Arial MT"/>
              </a:rPr>
              <a:t>direction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950" spc="-20" dirty="0">
                <a:latin typeface="Symbol"/>
                <a:cs typeface="Symbol"/>
              </a:rPr>
              <a:t></a:t>
            </a:r>
            <a:r>
              <a:rPr sz="2850" b="1" i="1" spc="-30" baseline="-20467" dirty="0">
                <a:latin typeface="Arial"/>
                <a:cs typeface="Arial"/>
              </a:rPr>
              <a:t>1</a:t>
            </a:r>
            <a:r>
              <a:rPr sz="2850" b="1" i="1" spc="-60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-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950" spc="-25" dirty="0">
                <a:latin typeface="Symbol"/>
                <a:cs typeface="Symbol"/>
              </a:rPr>
              <a:t></a:t>
            </a:r>
            <a:r>
              <a:rPr sz="2850" b="1" i="1" spc="-37" baseline="-20467" dirty="0">
                <a:latin typeface="Arial"/>
                <a:cs typeface="Arial"/>
              </a:rPr>
              <a:t>2</a:t>
            </a:r>
            <a:endParaRPr sz="2850" baseline="-204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2494" y="4187602"/>
            <a:ext cx="17970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 i="1" spc="-50" dirty="0">
                <a:latin typeface="Arial"/>
                <a:cs typeface="Arial"/>
              </a:rPr>
              <a:t>x</a:t>
            </a:r>
            <a:endParaRPr sz="2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8382" y="4161379"/>
            <a:ext cx="7937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i="1" spc="-50" dirty="0">
                <a:latin typeface="Arial"/>
                <a:cs typeface="Arial"/>
              </a:rPr>
              <a:t>t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4215" y="4373214"/>
            <a:ext cx="284353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05840" algn="l"/>
                <a:tab pos="1612265" algn="l"/>
                <a:tab pos="2133600" algn="l"/>
                <a:tab pos="2740025" algn="l"/>
              </a:tabLst>
            </a:pPr>
            <a:r>
              <a:rPr sz="1250" b="1" i="1" spc="-50" dirty="0">
                <a:latin typeface="Arial"/>
                <a:cs typeface="Arial"/>
              </a:rPr>
              <a:t>B</a:t>
            </a:r>
            <a:r>
              <a:rPr sz="1250" b="1" i="1" dirty="0">
                <a:latin typeface="Arial"/>
                <a:cs typeface="Arial"/>
              </a:rPr>
              <a:t>	</a:t>
            </a:r>
            <a:r>
              <a:rPr sz="1250" b="1" spc="-50" dirty="0">
                <a:latin typeface="Arial"/>
                <a:cs typeface="Arial"/>
              </a:rPr>
              <a:t>1</a:t>
            </a:r>
            <a:r>
              <a:rPr sz="1250" b="1" dirty="0">
                <a:latin typeface="Arial"/>
                <a:cs typeface="Arial"/>
              </a:rPr>
              <a:t>	</a:t>
            </a:r>
            <a:r>
              <a:rPr sz="1250" b="1" spc="-50" dirty="0">
                <a:latin typeface="Arial"/>
                <a:cs typeface="Arial"/>
              </a:rPr>
              <a:t>2</a:t>
            </a:r>
            <a:r>
              <a:rPr sz="1250" b="1" dirty="0">
                <a:latin typeface="Arial"/>
                <a:cs typeface="Arial"/>
              </a:rPr>
              <a:t>	</a:t>
            </a:r>
            <a:r>
              <a:rPr sz="1250" b="1" spc="-50" dirty="0">
                <a:latin typeface="Arial"/>
                <a:cs typeface="Arial"/>
              </a:rPr>
              <a:t>1</a:t>
            </a:r>
            <a:r>
              <a:rPr sz="1250" b="1" dirty="0">
                <a:latin typeface="Arial"/>
                <a:cs typeface="Arial"/>
              </a:rPr>
              <a:t>	</a:t>
            </a:r>
            <a:r>
              <a:rPr sz="1250" b="1" spc="-50" dirty="0"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8473" y="4092316"/>
            <a:ext cx="3197860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84175" algn="l"/>
                <a:tab pos="666115" algn="l"/>
                <a:tab pos="1383665" algn="l"/>
                <a:tab pos="1964689" algn="l"/>
                <a:tab pos="2511425" algn="l"/>
                <a:tab pos="3092450" algn="l"/>
              </a:tabLst>
            </a:pPr>
            <a:r>
              <a:rPr sz="2150" b="1" i="1" spc="-50" dirty="0">
                <a:latin typeface="Arial"/>
                <a:cs typeface="Arial"/>
              </a:rPr>
              <a:t>S</a:t>
            </a:r>
            <a:r>
              <a:rPr sz="2150" b="1" i="1" dirty="0">
                <a:latin typeface="Arial"/>
                <a:cs typeface="Arial"/>
              </a:rPr>
              <a:t>	</a:t>
            </a:r>
            <a:r>
              <a:rPr sz="2150" b="1" i="1" spc="-50" dirty="0">
                <a:latin typeface="Arial"/>
                <a:cs typeface="Arial"/>
              </a:rPr>
              <a:t>x</a:t>
            </a:r>
            <a:r>
              <a:rPr sz="2150" b="1" i="1" dirty="0">
                <a:latin typeface="Arial"/>
                <a:cs typeface="Arial"/>
              </a:rPr>
              <a:t>	</a:t>
            </a:r>
            <a:r>
              <a:rPr sz="2150" dirty="0">
                <a:latin typeface="Symbol"/>
                <a:cs typeface="Symbol"/>
              </a:rPr>
              <a:t></a:t>
            </a:r>
            <a:r>
              <a:rPr sz="2150" spc="285" dirty="0">
                <a:latin typeface="Times New Roman"/>
                <a:cs typeface="Times New Roman"/>
              </a:rPr>
              <a:t> </a:t>
            </a:r>
            <a:r>
              <a:rPr sz="2900" spc="-25" dirty="0">
                <a:latin typeface="Symbol"/>
                <a:cs typeface="Symbol"/>
              </a:rPr>
              <a:t></a:t>
            </a:r>
            <a:r>
              <a:rPr sz="2300" spc="-25" dirty="0">
                <a:latin typeface="Symbol"/>
                <a:cs typeface="Symbol"/>
              </a:rPr>
              <a:t>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215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Symbol"/>
                <a:cs typeface="Symbol"/>
              </a:rPr>
              <a:t>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900" spc="-25" dirty="0">
                <a:latin typeface="Symbol"/>
                <a:cs typeface="Symbol"/>
              </a:rPr>
              <a:t></a:t>
            </a:r>
            <a:r>
              <a:rPr sz="2300" spc="-25" dirty="0">
                <a:latin typeface="Symbol"/>
                <a:cs typeface="Symbol"/>
              </a:rPr>
              <a:t>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215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Symbol"/>
                <a:cs typeface="Symbol"/>
              </a:rPr>
              <a:t>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900" spc="-315" dirty="0">
                <a:latin typeface="Symbol"/>
                <a:cs typeface="Symbol"/>
              </a:rPr>
              <a:t>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67444" y="4244955"/>
            <a:ext cx="17907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i="1" spc="-50" dirty="0">
                <a:latin typeface="Arial"/>
                <a:cs typeface="Arial"/>
              </a:rPr>
              <a:t>x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34857" y="4218327"/>
            <a:ext cx="79375" cy="2190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b="1" i="1" spc="-50" dirty="0">
                <a:latin typeface="Arial"/>
                <a:cs typeface="Arial"/>
              </a:rPr>
              <a:t>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8979" y="4428639"/>
            <a:ext cx="1934845" cy="2190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20395" algn="l"/>
                <a:tab pos="1223645" algn="l"/>
                <a:tab pos="1831975" algn="l"/>
              </a:tabLst>
            </a:pPr>
            <a:r>
              <a:rPr sz="1250" b="1" spc="-50" dirty="0">
                <a:latin typeface="Arial"/>
                <a:cs typeface="Arial"/>
              </a:rPr>
              <a:t>1</a:t>
            </a:r>
            <a:r>
              <a:rPr sz="1250" b="1" dirty="0">
                <a:latin typeface="Arial"/>
                <a:cs typeface="Arial"/>
              </a:rPr>
              <a:t>	</a:t>
            </a:r>
            <a:r>
              <a:rPr sz="1250" b="1" spc="-50" dirty="0">
                <a:latin typeface="Arial"/>
                <a:cs typeface="Arial"/>
              </a:rPr>
              <a:t>2</a:t>
            </a:r>
            <a:r>
              <a:rPr sz="1250" b="1" dirty="0">
                <a:latin typeface="Arial"/>
                <a:cs typeface="Arial"/>
              </a:rPr>
              <a:t>	</a:t>
            </a:r>
            <a:r>
              <a:rPr sz="1250" b="1" spc="-50" dirty="0">
                <a:latin typeface="Arial"/>
                <a:cs typeface="Arial"/>
              </a:rPr>
              <a:t>1</a:t>
            </a:r>
            <a:r>
              <a:rPr sz="1250" b="1" dirty="0">
                <a:latin typeface="Arial"/>
                <a:cs typeface="Arial"/>
              </a:rPr>
              <a:t>	</a:t>
            </a:r>
            <a:r>
              <a:rPr sz="1250" b="1" spc="-50" dirty="0"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4916" y="4039929"/>
            <a:ext cx="3077845" cy="603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730250" algn="l"/>
                <a:tab pos="1310640" algn="l"/>
                <a:tab pos="1939925" algn="l"/>
                <a:tab pos="2522220" algn="l"/>
                <a:tab pos="2959735" algn="l"/>
              </a:tabLst>
            </a:pPr>
            <a:r>
              <a:rPr sz="2150" dirty="0">
                <a:latin typeface="Symbol"/>
                <a:cs typeface="Symbol"/>
              </a:rPr>
              <a:t></a:t>
            </a:r>
            <a:r>
              <a:rPr sz="2150" spc="290" dirty="0">
                <a:latin typeface="Times New Roman"/>
                <a:cs typeface="Times New Roman"/>
              </a:rPr>
              <a:t> </a:t>
            </a:r>
            <a:r>
              <a:rPr sz="2900" spc="-25" dirty="0">
                <a:latin typeface="Symbol"/>
                <a:cs typeface="Symbol"/>
              </a:rPr>
              <a:t></a:t>
            </a:r>
            <a:r>
              <a:rPr sz="2300" spc="-25" dirty="0">
                <a:latin typeface="Symbol"/>
                <a:cs typeface="Symbol"/>
              </a:rPr>
              <a:t>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220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Symbol"/>
                <a:cs typeface="Symbol"/>
              </a:rPr>
              <a:t>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900" spc="-300" dirty="0">
                <a:latin typeface="Symbol"/>
                <a:cs typeface="Symbol"/>
              </a:rPr>
              <a:t></a:t>
            </a:r>
            <a:r>
              <a:rPr sz="3750" spc="-300" dirty="0">
                <a:latin typeface="Symbol"/>
                <a:cs typeface="Symbol"/>
              </a:rPr>
              <a:t></a:t>
            </a:r>
            <a:r>
              <a:rPr sz="2900" spc="-300" dirty="0">
                <a:latin typeface="Symbol"/>
                <a:cs typeface="Symbol"/>
              </a:rPr>
              <a:t></a:t>
            </a:r>
            <a:r>
              <a:rPr sz="2300" spc="-300" dirty="0">
                <a:latin typeface="Symbol"/>
                <a:cs typeface="Symbol"/>
              </a:rPr>
              <a:t>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229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Symbol"/>
                <a:cs typeface="Symbol"/>
              </a:rPr>
              <a:t>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900" spc="-50" dirty="0">
                <a:latin typeface="Symbol"/>
                <a:cs typeface="Symbol"/>
              </a:rPr>
              <a:t>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3750" spc="-490" dirty="0">
                <a:latin typeface="Symbol"/>
                <a:cs typeface="Symbol"/>
              </a:rPr>
              <a:t></a:t>
            </a:r>
            <a:endParaRPr sz="37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96730" y="4378930"/>
            <a:ext cx="707390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06425" algn="l"/>
              </a:tabLst>
            </a:pPr>
            <a:r>
              <a:rPr sz="1250" b="1" spc="-50" dirty="0">
                <a:latin typeface="Arial"/>
                <a:cs typeface="Arial"/>
              </a:rPr>
              <a:t>1</a:t>
            </a:r>
            <a:r>
              <a:rPr sz="1250" b="1" dirty="0">
                <a:latin typeface="Arial"/>
                <a:cs typeface="Arial"/>
              </a:rPr>
              <a:t>	</a:t>
            </a:r>
            <a:r>
              <a:rPr sz="1250" b="1" spc="-50" dirty="0"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54541" y="4105026"/>
            <a:ext cx="160782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3925" algn="l"/>
                <a:tab pos="1492250" algn="l"/>
              </a:tabLst>
            </a:pPr>
            <a:r>
              <a:rPr sz="2100" dirty="0">
                <a:latin typeface="Symbol"/>
                <a:cs typeface="Symbol"/>
              </a:rPr>
              <a:t></a:t>
            </a:r>
            <a:r>
              <a:rPr sz="2100" spc="150" dirty="0">
                <a:latin typeface="Times New Roman"/>
                <a:cs typeface="Times New Roman"/>
              </a:rPr>
              <a:t> </a:t>
            </a:r>
            <a:r>
              <a:rPr sz="2250" spc="-95" dirty="0">
                <a:latin typeface="Symbol"/>
                <a:cs typeface="Symbol"/>
              </a:rPr>
              <a:t></a:t>
            </a:r>
            <a:r>
              <a:rPr sz="2250" spc="-11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Symbol"/>
                <a:cs typeface="Symbol"/>
              </a:rPr>
              <a:t></a:t>
            </a:r>
            <a:r>
              <a:rPr sz="2250" spc="-25" dirty="0">
                <a:latin typeface="Symbol"/>
                <a:cs typeface="Symbol"/>
              </a:rPr>
              <a:t>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100" dirty="0">
                <a:latin typeface="Symbol"/>
                <a:cs typeface="Symbol"/>
              </a:rPr>
              <a:t></a:t>
            </a:r>
            <a:r>
              <a:rPr sz="2100" spc="225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Symbol"/>
                <a:cs typeface="Symbol"/>
              </a:rPr>
              <a:t>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850" spc="-90" dirty="0">
                <a:latin typeface="Symbol"/>
                <a:cs typeface="Symbol"/>
              </a:rPr>
              <a:t>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2139" y="4748274"/>
            <a:ext cx="8835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Thus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solve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eigenvalue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problem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immediately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19546" y="5184394"/>
            <a:ext cx="151765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125" dirty="0">
                <a:latin typeface="Symbol"/>
                <a:cs typeface="Symbol"/>
              </a:rPr>
              <a:t>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00061" y="5528793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49084" y="5192014"/>
            <a:ext cx="1279525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38784" algn="l"/>
                <a:tab pos="1139825" algn="l"/>
              </a:tabLst>
            </a:pP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750" spc="-6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00" spc="-120" dirty="0">
                <a:latin typeface="Symbol"/>
                <a:cs typeface="Symbol"/>
              </a:rPr>
              <a:t>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10174" y="5295620"/>
            <a:ext cx="790575" cy="49275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35"/>
              </a:spcBef>
            </a:pPr>
            <a:r>
              <a:rPr sz="1500" spc="40" dirty="0">
                <a:latin typeface="Symbol"/>
                <a:cs typeface="Symbol"/>
              </a:rPr>
              <a:t></a:t>
            </a:r>
            <a:r>
              <a:rPr sz="1500" b="1" spc="4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669290" algn="l"/>
              </a:tabLst>
            </a:pPr>
            <a:r>
              <a:rPr sz="1500" b="1" i="1" spc="-50" dirty="0">
                <a:latin typeface="Arial"/>
                <a:cs typeface="Arial"/>
              </a:rPr>
              <a:t>W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30825" y="5306332"/>
            <a:ext cx="89281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8140" algn="l"/>
              </a:tabLst>
            </a:pP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b="1" i="1" spc="-6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94759" y="5276088"/>
            <a:ext cx="2687320" cy="528955"/>
          </a:xfrm>
          <a:custGeom>
            <a:avLst/>
            <a:gdLst/>
            <a:ahLst/>
            <a:cxnLst/>
            <a:rect l="l" t="t" r="r" b="b"/>
            <a:pathLst>
              <a:path w="2687320" h="528954">
                <a:moveTo>
                  <a:pt x="0" y="0"/>
                </a:moveTo>
                <a:lnTo>
                  <a:pt x="0" y="528827"/>
                </a:lnTo>
                <a:lnTo>
                  <a:pt x="2686811" y="528827"/>
                </a:lnTo>
                <a:lnTo>
                  <a:pt x="2686811" y="0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006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943600" y="3931289"/>
            <a:ext cx="1828800" cy="852805"/>
          </a:xfrm>
          <a:custGeom>
            <a:avLst/>
            <a:gdLst/>
            <a:ahLst/>
            <a:cxnLst/>
            <a:rect l="l" t="t" r="r" b="b"/>
            <a:pathLst>
              <a:path w="1828800" h="852804">
                <a:moveTo>
                  <a:pt x="1450847" y="124074"/>
                </a:moveTo>
                <a:lnTo>
                  <a:pt x="1410955" y="116574"/>
                </a:lnTo>
                <a:lnTo>
                  <a:pt x="1360536" y="104319"/>
                </a:lnTo>
                <a:lnTo>
                  <a:pt x="1336054" y="95887"/>
                </a:lnTo>
                <a:lnTo>
                  <a:pt x="1292351" y="81402"/>
                </a:lnTo>
                <a:lnTo>
                  <a:pt x="1281588" y="77973"/>
                </a:lnTo>
                <a:lnTo>
                  <a:pt x="1270253" y="74544"/>
                </a:lnTo>
                <a:lnTo>
                  <a:pt x="1258919" y="71115"/>
                </a:lnTo>
                <a:lnTo>
                  <a:pt x="1248155" y="67686"/>
                </a:lnTo>
                <a:lnTo>
                  <a:pt x="1235059" y="63614"/>
                </a:lnTo>
                <a:lnTo>
                  <a:pt x="1221104" y="59114"/>
                </a:lnTo>
                <a:lnTo>
                  <a:pt x="1210008" y="55470"/>
                </a:lnTo>
                <a:lnTo>
                  <a:pt x="1205483" y="53970"/>
                </a:lnTo>
                <a:lnTo>
                  <a:pt x="1168155" y="33376"/>
                </a:lnTo>
                <a:lnTo>
                  <a:pt x="1125424" y="18375"/>
                </a:lnTo>
                <a:lnTo>
                  <a:pt x="1078301" y="8274"/>
                </a:lnTo>
                <a:lnTo>
                  <a:pt x="1027796" y="2380"/>
                </a:lnTo>
                <a:lnTo>
                  <a:pt x="974921" y="0"/>
                </a:lnTo>
                <a:lnTo>
                  <a:pt x="920686" y="440"/>
                </a:lnTo>
                <a:lnTo>
                  <a:pt x="866102" y="3007"/>
                </a:lnTo>
                <a:lnTo>
                  <a:pt x="812179" y="7008"/>
                </a:lnTo>
                <a:lnTo>
                  <a:pt x="759928" y="11751"/>
                </a:lnTo>
                <a:lnTo>
                  <a:pt x="710360" y="16540"/>
                </a:lnTo>
                <a:lnTo>
                  <a:pt x="664486" y="20685"/>
                </a:lnTo>
                <a:lnTo>
                  <a:pt x="623315" y="23490"/>
                </a:lnTo>
                <a:lnTo>
                  <a:pt x="576255" y="40402"/>
                </a:lnTo>
                <a:lnTo>
                  <a:pt x="528263" y="56171"/>
                </a:lnTo>
                <a:lnTo>
                  <a:pt x="479678" y="70925"/>
                </a:lnTo>
                <a:lnTo>
                  <a:pt x="430840" y="84789"/>
                </a:lnTo>
                <a:lnTo>
                  <a:pt x="382086" y="97891"/>
                </a:lnTo>
                <a:lnTo>
                  <a:pt x="333755" y="110358"/>
                </a:lnTo>
                <a:lnTo>
                  <a:pt x="280472" y="122520"/>
                </a:lnTo>
                <a:lnTo>
                  <a:pt x="232957" y="132789"/>
                </a:lnTo>
                <a:lnTo>
                  <a:pt x="189979" y="142987"/>
                </a:lnTo>
                <a:lnTo>
                  <a:pt x="150304" y="154935"/>
                </a:lnTo>
                <a:lnTo>
                  <a:pt x="112701" y="170455"/>
                </a:lnTo>
                <a:lnTo>
                  <a:pt x="75938" y="191368"/>
                </a:lnTo>
                <a:lnTo>
                  <a:pt x="38781" y="219497"/>
                </a:lnTo>
                <a:lnTo>
                  <a:pt x="0" y="256662"/>
                </a:lnTo>
                <a:lnTo>
                  <a:pt x="15128" y="307221"/>
                </a:lnTo>
                <a:lnTo>
                  <a:pt x="26978" y="358259"/>
                </a:lnTo>
                <a:lnTo>
                  <a:pt x="36189" y="409697"/>
                </a:lnTo>
                <a:lnTo>
                  <a:pt x="43400" y="461456"/>
                </a:lnTo>
                <a:lnTo>
                  <a:pt x="49252" y="513454"/>
                </a:lnTo>
                <a:lnTo>
                  <a:pt x="54384" y="565612"/>
                </a:lnTo>
                <a:lnTo>
                  <a:pt x="59435" y="617850"/>
                </a:lnTo>
                <a:lnTo>
                  <a:pt x="61947" y="673123"/>
                </a:lnTo>
                <a:lnTo>
                  <a:pt x="62258" y="721708"/>
                </a:lnTo>
                <a:lnTo>
                  <a:pt x="65531" y="763773"/>
                </a:lnTo>
                <a:lnTo>
                  <a:pt x="76933" y="799488"/>
                </a:lnTo>
                <a:lnTo>
                  <a:pt x="101628" y="829023"/>
                </a:lnTo>
                <a:lnTo>
                  <a:pt x="144779" y="852546"/>
                </a:lnTo>
                <a:lnTo>
                  <a:pt x="193951" y="848061"/>
                </a:lnTo>
                <a:lnTo>
                  <a:pt x="243164" y="843734"/>
                </a:lnTo>
                <a:lnTo>
                  <a:pt x="292417" y="839540"/>
                </a:lnTo>
                <a:lnTo>
                  <a:pt x="341705" y="835453"/>
                </a:lnTo>
                <a:lnTo>
                  <a:pt x="391025" y="831448"/>
                </a:lnTo>
                <a:lnTo>
                  <a:pt x="440373" y="827501"/>
                </a:lnTo>
                <a:lnTo>
                  <a:pt x="489747" y="823585"/>
                </a:lnTo>
                <a:lnTo>
                  <a:pt x="539142" y="819676"/>
                </a:lnTo>
                <a:lnTo>
                  <a:pt x="588556" y="815749"/>
                </a:lnTo>
                <a:lnTo>
                  <a:pt x="637984" y="811779"/>
                </a:lnTo>
                <a:lnTo>
                  <a:pt x="687424" y="807740"/>
                </a:lnTo>
                <a:lnTo>
                  <a:pt x="736872" y="803607"/>
                </a:lnTo>
                <a:lnTo>
                  <a:pt x="786324" y="799356"/>
                </a:lnTo>
                <a:lnTo>
                  <a:pt x="835778" y="794960"/>
                </a:lnTo>
                <a:lnTo>
                  <a:pt x="885229" y="790395"/>
                </a:lnTo>
                <a:lnTo>
                  <a:pt x="934675" y="785636"/>
                </a:lnTo>
                <a:lnTo>
                  <a:pt x="984111" y="780658"/>
                </a:lnTo>
                <a:lnTo>
                  <a:pt x="1033535" y="775435"/>
                </a:lnTo>
                <a:lnTo>
                  <a:pt x="1082943" y="769942"/>
                </a:lnTo>
                <a:lnTo>
                  <a:pt x="1132331" y="764154"/>
                </a:lnTo>
                <a:lnTo>
                  <a:pt x="1184947" y="766242"/>
                </a:lnTo>
                <a:lnTo>
                  <a:pt x="1236260" y="768536"/>
                </a:lnTo>
                <a:lnTo>
                  <a:pt x="1286494" y="770798"/>
                </a:lnTo>
                <a:lnTo>
                  <a:pt x="1335870" y="772790"/>
                </a:lnTo>
                <a:lnTo>
                  <a:pt x="1384612" y="774274"/>
                </a:lnTo>
                <a:lnTo>
                  <a:pt x="1432940" y="775013"/>
                </a:lnTo>
                <a:lnTo>
                  <a:pt x="1481079" y="774767"/>
                </a:lnTo>
                <a:lnTo>
                  <a:pt x="1529249" y="773298"/>
                </a:lnTo>
                <a:lnTo>
                  <a:pt x="1577673" y="770369"/>
                </a:lnTo>
                <a:lnTo>
                  <a:pt x="1626573" y="765742"/>
                </a:lnTo>
                <a:lnTo>
                  <a:pt x="1676172" y="759177"/>
                </a:lnTo>
                <a:lnTo>
                  <a:pt x="1726691" y="750438"/>
                </a:lnTo>
                <a:lnTo>
                  <a:pt x="1759577" y="715148"/>
                </a:lnTo>
                <a:lnTo>
                  <a:pt x="1796772" y="654855"/>
                </a:lnTo>
                <a:lnTo>
                  <a:pt x="1815083" y="604134"/>
                </a:lnTo>
                <a:lnTo>
                  <a:pt x="1827299" y="566201"/>
                </a:lnTo>
                <a:lnTo>
                  <a:pt x="1828799" y="561462"/>
                </a:lnTo>
                <a:lnTo>
                  <a:pt x="1810377" y="517632"/>
                </a:lnTo>
                <a:lnTo>
                  <a:pt x="1786396" y="478922"/>
                </a:lnTo>
                <a:lnTo>
                  <a:pt x="1757147" y="444602"/>
                </a:lnTo>
                <a:lnTo>
                  <a:pt x="1722924" y="413939"/>
                </a:lnTo>
                <a:lnTo>
                  <a:pt x="1684019" y="386202"/>
                </a:lnTo>
                <a:lnTo>
                  <a:pt x="1655611" y="349245"/>
                </a:lnTo>
                <a:lnTo>
                  <a:pt x="1625917" y="313431"/>
                </a:lnTo>
                <a:lnTo>
                  <a:pt x="1595937" y="278189"/>
                </a:lnTo>
                <a:lnTo>
                  <a:pt x="1566671" y="242946"/>
                </a:lnTo>
                <a:lnTo>
                  <a:pt x="1547979" y="215443"/>
                </a:lnTo>
                <a:lnTo>
                  <a:pt x="1538287" y="197798"/>
                </a:lnTo>
                <a:lnTo>
                  <a:pt x="1524881" y="184439"/>
                </a:lnTo>
                <a:lnTo>
                  <a:pt x="1495043" y="169794"/>
                </a:lnTo>
                <a:lnTo>
                  <a:pt x="1473326" y="160769"/>
                </a:lnTo>
                <a:lnTo>
                  <a:pt x="1451609" y="153602"/>
                </a:lnTo>
                <a:lnTo>
                  <a:pt x="1429892" y="147291"/>
                </a:lnTo>
                <a:lnTo>
                  <a:pt x="1408175" y="140838"/>
                </a:lnTo>
                <a:lnTo>
                  <a:pt x="1395483" y="136290"/>
                </a:lnTo>
                <a:lnTo>
                  <a:pt x="1380934" y="130742"/>
                </a:lnTo>
                <a:lnTo>
                  <a:pt x="1368956" y="126051"/>
                </a:lnTo>
                <a:lnTo>
                  <a:pt x="1363979" y="124074"/>
                </a:lnTo>
              </a:path>
            </a:pathLst>
          </a:custGeom>
          <a:ln w="28955">
            <a:solidFill>
              <a:srgbClr val="CD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65337" y="3562032"/>
            <a:ext cx="217804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00" spc="-50" dirty="0">
                <a:solidFill>
                  <a:srgbClr val="CD3100"/>
                </a:solidFill>
                <a:latin typeface="Symbol"/>
                <a:cs typeface="Symbol"/>
              </a:rPr>
              <a:t>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06243" y="5989066"/>
            <a:ext cx="1428750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01750" algn="l"/>
              </a:tabLst>
            </a:pPr>
            <a:r>
              <a:rPr sz="3500" spc="-50" dirty="0">
                <a:latin typeface="Symbol"/>
                <a:cs typeface="Symbol"/>
              </a:rPr>
              <a:t>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370" dirty="0">
                <a:latin typeface="Symbol"/>
                <a:cs typeface="Symbol"/>
              </a:rPr>
              <a:t>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43118" y="5974100"/>
            <a:ext cx="1911985" cy="582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5285" algn="l"/>
                <a:tab pos="1663064" algn="l"/>
              </a:tabLst>
            </a:pPr>
            <a:r>
              <a:rPr sz="3650" spc="-50" dirty="0">
                <a:latin typeface="Symbol"/>
                <a:cs typeface="Symbol"/>
              </a:rPr>
              <a:t></a:t>
            </a:r>
            <a:r>
              <a:rPr sz="3650" dirty="0">
                <a:latin typeface="Times New Roman"/>
                <a:cs typeface="Times New Roman"/>
              </a:rPr>
              <a:t>	</a:t>
            </a:r>
            <a:r>
              <a:rPr sz="3500" spc="-50" dirty="0">
                <a:latin typeface="Symbol"/>
                <a:cs typeface="Symbol"/>
              </a:rPr>
              <a:t>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290" dirty="0">
                <a:latin typeface="Symbol"/>
                <a:cs typeface="Symbol"/>
              </a:rPr>
              <a:t></a:t>
            </a:r>
            <a:r>
              <a:rPr sz="3650" spc="-290" dirty="0">
                <a:latin typeface="Symbol"/>
                <a:cs typeface="Symbol"/>
              </a:rPr>
              <a:t></a:t>
            </a:r>
            <a:endParaRPr sz="36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47203" y="6333464"/>
            <a:ext cx="88963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68350" algn="l"/>
              </a:tabLst>
            </a:pPr>
            <a:r>
              <a:rPr sz="1500" b="1" i="1" spc="-50" dirty="0">
                <a:latin typeface="Arial"/>
                <a:cs typeface="Arial"/>
              </a:rPr>
              <a:t>1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47607" y="6333464"/>
            <a:ext cx="89154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69620" algn="l"/>
              </a:tabLst>
            </a:pPr>
            <a:r>
              <a:rPr sz="1500" b="1" i="1" spc="-50" dirty="0">
                <a:latin typeface="Arial"/>
                <a:cs typeface="Arial"/>
              </a:rPr>
              <a:t>1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37789" y="6111003"/>
            <a:ext cx="24828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i="1" spc="-5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25411" y="6092441"/>
            <a:ext cx="136969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1005" algn="l"/>
                <a:tab pos="865505" algn="l"/>
              </a:tabLst>
            </a:pPr>
            <a:r>
              <a:rPr sz="2750" spc="-50" dirty="0">
                <a:latin typeface="Symbol"/>
                <a:cs typeface="Symbol"/>
              </a:rPr>
              <a:t>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7085" y="5893416"/>
            <a:ext cx="3753485" cy="687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541020" algn="l"/>
                <a:tab pos="989330" algn="l"/>
                <a:tab pos="1771014" algn="l"/>
                <a:tab pos="2214245" algn="l"/>
                <a:tab pos="3039110" algn="l"/>
              </a:tabLst>
            </a:pP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4300" spc="-500" dirty="0">
                <a:latin typeface="Symbol"/>
                <a:cs typeface="Symbol"/>
              </a:rPr>
              <a:t></a:t>
            </a:r>
            <a:r>
              <a:rPr sz="4300" dirty="0">
                <a:latin typeface="Times New Roman"/>
                <a:cs typeface="Times New Roman"/>
              </a:rPr>
              <a:t>	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8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4300" spc="-450" dirty="0">
                <a:latin typeface="Symbol"/>
                <a:cs typeface="Symbol"/>
              </a:rPr>
              <a:t></a:t>
            </a:r>
            <a:r>
              <a:rPr sz="4300" spc="-6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16976" y="6100292"/>
            <a:ext cx="306070" cy="49275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35"/>
              </a:spcBef>
            </a:pPr>
            <a:r>
              <a:rPr sz="1500" spc="40" dirty="0">
                <a:latin typeface="Symbol"/>
                <a:cs typeface="Symbol"/>
              </a:rPr>
              <a:t></a:t>
            </a:r>
            <a:r>
              <a:rPr sz="1500" b="1" i="1" spc="4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1768" y="6100292"/>
            <a:ext cx="1367155" cy="49275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latin typeface="Symbol"/>
                <a:cs typeface="Symbol"/>
              </a:rPr>
              <a:t></a:t>
            </a:r>
            <a:r>
              <a:rPr sz="1500" spc="-240" dirty="0">
                <a:latin typeface="Times New Roman"/>
                <a:cs typeface="Times New Roman"/>
              </a:rPr>
              <a:t> </a:t>
            </a:r>
            <a:r>
              <a:rPr sz="1500" b="1" i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553085" algn="l"/>
                <a:tab pos="1073150" algn="l"/>
              </a:tabLst>
            </a:pPr>
            <a:r>
              <a:rPr sz="1500" b="1" i="1" spc="-50" dirty="0">
                <a:latin typeface="Arial"/>
                <a:cs typeface="Arial"/>
              </a:rPr>
              <a:t>W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B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0558" y="6100292"/>
            <a:ext cx="25717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latin typeface="Symbol"/>
                <a:cs typeface="Symbol"/>
              </a:rPr>
              <a:t></a:t>
            </a:r>
            <a:r>
              <a:rPr sz="1500" spc="-240" dirty="0">
                <a:latin typeface="Times New Roman"/>
                <a:cs typeface="Times New Roman"/>
              </a:rPr>
              <a:t> </a:t>
            </a:r>
            <a:r>
              <a:rPr sz="1500" b="1" i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524000" y="6477000"/>
            <a:ext cx="2286000" cy="320040"/>
          </a:xfrm>
          <a:custGeom>
            <a:avLst/>
            <a:gdLst/>
            <a:ahLst/>
            <a:cxnLst/>
            <a:rect l="l" t="t" r="r" b="b"/>
            <a:pathLst>
              <a:path w="2286000" h="320040">
                <a:moveTo>
                  <a:pt x="0" y="0"/>
                </a:moveTo>
                <a:lnTo>
                  <a:pt x="6808" y="42544"/>
                </a:lnTo>
                <a:lnTo>
                  <a:pt x="26020" y="80771"/>
                </a:lnTo>
                <a:lnTo>
                  <a:pt x="55816" y="113156"/>
                </a:lnTo>
                <a:lnTo>
                  <a:pt x="94375" y="138175"/>
                </a:lnTo>
                <a:lnTo>
                  <a:pt x="139876" y="154304"/>
                </a:lnTo>
                <a:lnTo>
                  <a:pt x="190499" y="160019"/>
                </a:lnTo>
                <a:lnTo>
                  <a:pt x="952499" y="160019"/>
                </a:lnTo>
                <a:lnTo>
                  <a:pt x="1003123" y="165734"/>
                </a:lnTo>
                <a:lnTo>
                  <a:pt x="1048624" y="181863"/>
                </a:lnTo>
                <a:lnTo>
                  <a:pt x="1087183" y="206882"/>
                </a:lnTo>
                <a:lnTo>
                  <a:pt x="1116979" y="239267"/>
                </a:lnTo>
                <a:lnTo>
                  <a:pt x="1136191" y="277494"/>
                </a:lnTo>
                <a:lnTo>
                  <a:pt x="1142999" y="320039"/>
                </a:lnTo>
                <a:lnTo>
                  <a:pt x="1149808" y="277494"/>
                </a:lnTo>
                <a:lnTo>
                  <a:pt x="1169020" y="239267"/>
                </a:lnTo>
                <a:lnTo>
                  <a:pt x="1198816" y="206882"/>
                </a:lnTo>
                <a:lnTo>
                  <a:pt x="1237375" y="181863"/>
                </a:lnTo>
                <a:lnTo>
                  <a:pt x="1282876" y="165734"/>
                </a:lnTo>
                <a:lnTo>
                  <a:pt x="1333499" y="160019"/>
                </a:lnTo>
                <a:lnTo>
                  <a:pt x="2095499" y="160019"/>
                </a:lnTo>
                <a:lnTo>
                  <a:pt x="2146123" y="154304"/>
                </a:lnTo>
                <a:lnTo>
                  <a:pt x="2191624" y="138175"/>
                </a:lnTo>
                <a:lnTo>
                  <a:pt x="2230183" y="113156"/>
                </a:lnTo>
                <a:lnTo>
                  <a:pt x="2259979" y="80771"/>
                </a:lnTo>
                <a:lnTo>
                  <a:pt x="2279191" y="42544"/>
                </a:lnTo>
                <a:lnTo>
                  <a:pt x="2285999" y="0"/>
                </a:lnTo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517138" y="670966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0" dirty="0">
                <a:solidFill>
                  <a:srgbClr val="643100"/>
                </a:solidFill>
                <a:latin typeface="Arial"/>
                <a:cs typeface="Arial"/>
              </a:rPr>
              <a:t>v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315200" y="6553200"/>
            <a:ext cx="2286000" cy="320040"/>
          </a:xfrm>
          <a:custGeom>
            <a:avLst/>
            <a:gdLst/>
            <a:ahLst/>
            <a:cxnLst/>
            <a:rect l="l" t="t" r="r" b="b"/>
            <a:pathLst>
              <a:path w="2286000" h="320040">
                <a:moveTo>
                  <a:pt x="0" y="0"/>
                </a:moveTo>
                <a:lnTo>
                  <a:pt x="6808" y="42544"/>
                </a:lnTo>
                <a:lnTo>
                  <a:pt x="26020" y="80771"/>
                </a:lnTo>
                <a:lnTo>
                  <a:pt x="55816" y="113156"/>
                </a:lnTo>
                <a:lnTo>
                  <a:pt x="94375" y="138175"/>
                </a:lnTo>
                <a:lnTo>
                  <a:pt x="139876" y="154304"/>
                </a:lnTo>
                <a:lnTo>
                  <a:pt x="190499" y="160019"/>
                </a:lnTo>
                <a:lnTo>
                  <a:pt x="952499" y="160019"/>
                </a:lnTo>
                <a:lnTo>
                  <a:pt x="1003123" y="165734"/>
                </a:lnTo>
                <a:lnTo>
                  <a:pt x="1048624" y="181863"/>
                </a:lnTo>
                <a:lnTo>
                  <a:pt x="1087183" y="206882"/>
                </a:lnTo>
                <a:lnTo>
                  <a:pt x="1116979" y="239267"/>
                </a:lnTo>
                <a:lnTo>
                  <a:pt x="1136191" y="277494"/>
                </a:lnTo>
                <a:lnTo>
                  <a:pt x="1142999" y="320039"/>
                </a:lnTo>
                <a:lnTo>
                  <a:pt x="1149808" y="277494"/>
                </a:lnTo>
                <a:lnTo>
                  <a:pt x="1169020" y="239267"/>
                </a:lnTo>
                <a:lnTo>
                  <a:pt x="1198816" y="206882"/>
                </a:lnTo>
                <a:lnTo>
                  <a:pt x="1237375" y="181863"/>
                </a:lnTo>
                <a:lnTo>
                  <a:pt x="1282876" y="165734"/>
                </a:lnTo>
                <a:lnTo>
                  <a:pt x="1333499" y="160019"/>
                </a:lnTo>
                <a:lnTo>
                  <a:pt x="2095499" y="160019"/>
                </a:lnTo>
                <a:lnTo>
                  <a:pt x="2146123" y="154304"/>
                </a:lnTo>
                <a:lnTo>
                  <a:pt x="2191624" y="138175"/>
                </a:lnTo>
                <a:lnTo>
                  <a:pt x="2230183" y="113156"/>
                </a:lnTo>
                <a:lnTo>
                  <a:pt x="2259979" y="80771"/>
                </a:lnTo>
                <a:lnTo>
                  <a:pt x="2279191" y="42544"/>
                </a:lnTo>
                <a:lnTo>
                  <a:pt x="2285999" y="0"/>
                </a:lnTo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308337" y="678586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0" dirty="0">
                <a:solidFill>
                  <a:srgbClr val="643100"/>
                </a:solidFill>
                <a:latin typeface="Arial"/>
                <a:cs typeface="Arial"/>
              </a:rPr>
              <a:t>v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13037" y="5946394"/>
            <a:ext cx="151765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125" dirty="0">
                <a:latin typeface="Symbol"/>
                <a:cs typeface="Symbol"/>
              </a:rPr>
              <a:t>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77752" y="6290792"/>
            <a:ext cx="156654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87705" algn="l"/>
                <a:tab pos="1444625" algn="l"/>
              </a:tabLst>
            </a:pPr>
            <a:r>
              <a:rPr sz="1500" b="1" i="1" spc="-50" dirty="0">
                <a:latin typeface="Arial"/>
                <a:cs typeface="Arial"/>
              </a:rPr>
              <a:t>W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1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28049" y="6057620"/>
            <a:ext cx="25717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dirty="0">
                <a:latin typeface="Symbol"/>
                <a:cs typeface="Symbol"/>
              </a:rPr>
              <a:t></a:t>
            </a:r>
            <a:r>
              <a:rPr sz="1500" spc="-240" dirty="0">
                <a:latin typeface="Times New Roman"/>
                <a:cs typeface="Times New Roman"/>
              </a:rPr>
              <a:t> </a:t>
            </a:r>
            <a:r>
              <a:rPr sz="1500" b="1" i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58000" y="6553200"/>
            <a:ext cx="457200" cy="239395"/>
          </a:xfrm>
          <a:custGeom>
            <a:avLst/>
            <a:gdLst/>
            <a:ahLst/>
            <a:cxnLst/>
            <a:rect l="l" t="t" r="r" b="b"/>
            <a:pathLst>
              <a:path w="457200" h="239395">
                <a:moveTo>
                  <a:pt x="0" y="0"/>
                </a:moveTo>
                <a:lnTo>
                  <a:pt x="2952" y="46458"/>
                </a:lnTo>
                <a:lnTo>
                  <a:pt x="11048" y="84772"/>
                </a:lnTo>
                <a:lnTo>
                  <a:pt x="23145" y="110799"/>
                </a:lnTo>
                <a:lnTo>
                  <a:pt x="38099" y="120395"/>
                </a:lnTo>
                <a:lnTo>
                  <a:pt x="190499" y="120395"/>
                </a:lnTo>
                <a:lnTo>
                  <a:pt x="205454" y="129754"/>
                </a:lnTo>
                <a:lnTo>
                  <a:pt x="217550" y="155257"/>
                </a:lnTo>
                <a:lnTo>
                  <a:pt x="225647" y="193047"/>
                </a:lnTo>
                <a:lnTo>
                  <a:pt x="228599" y="239267"/>
                </a:lnTo>
                <a:lnTo>
                  <a:pt x="231552" y="193047"/>
                </a:lnTo>
                <a:lnTo>
                  <a:pt x="239648" y="155257"/>
                </a:lnTo>
                <a:lnTo>
                  <a:pt x="251745" y="129754"/>
                </a:lnTo>
                <a:lnTo>
                  <a:pt x="266699" y="120395"/>
                </a:lnTo>
                <a:lnTo>
                  <a:pt x="419099" y="120395"/>
                </a:lnTo>
                <a:lnTo>
                  <a:pt x="434054" y="110799"/>
                </a:lnTo>
                <a:lnTo>
                  <a:pt x="446150" y="84772"/>
                </a:lnTo>
                <a:lnTo>
                  <a:pt x="454247" y="46458"/>
                </a:lnTo>
                <a:lnTo>
                  <a:pt x="457199" y="0"/>
                </a:lnTo>
              </a:path>
            </a:pathLst>
          </a:custGeom>
          <a:ln w="28955">
            <a:solidFill>
              <a:srgbClr val="64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596885" y="5497985"/>
            <a:ext cx="2765425" cy="1632585"/>
          </a:xfrm>
          <a:prstGeom prst="rect">
            <a:avLst/>
          </a:prstGeom>
        </p:spPr>
        <p:txBody>
          <a:bodyPr vert="horz" wrap="square" lIns="0" tIns="370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15"/>
              </a:spcBef>
              <a:tabLst>
                <a:tab pos="1356360" algn="l"/>
                <a:tab pos="1801495" algn="l"/>
                <a:tab pos="2516505" algn="l"/>
              </a:tabLst>
            </a:pPr>
            <a:r>
              <a:rPr sz="2600" dirty="0">
                <a:latin typeface="Symbol"/>
                <a:cs typeface="Symbol"/>
              </a:rPr>
              <a:t></a:t>
            </a:r>
            <a:r>
              <a:rPr sz="2600" spc="185" dirty="0">
                <a:latin typeface="Times New Roman"/>
                <a:cs typeface="Times New Roman"/>
              </a:rPr>
              <a:t> </a:t>
            </a:r>
            <a:r>
              <a:rPr sz="2750" spc="-95" dirty="0">
                <a:latin typeface="Symbol"/>
                <a:cs typeface="Symbol"/>
              </a:rPr>
              <a:t></a:t>
            </a:r>
            <a:r>
              <a:rPr sz="2750" spc="-175" dirty="0">
                <a:latin typeface="Times New Roman"/>
                <a:cs typeface="Times New Roman"/>
              </a:rPr>
              <a:t> </a:t>
            </a:r>
            <a:r>
              <a:rPr sz="4300" spc="-415" dirty="0">
                <a:latin typeface="Symbol"/>
                <a:cs typeface="Symbol"/>
              </a:rPr>
              <a:t></a:t>
            </a:r>
            <a:r>
              <a:rPr sz="2600" b="1" i="1" spc="-415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3500" spc="-405" dirty="0">
                <a:latin typeface="Symbol"/>
                <a:cs typeface="Symbol"/>
              </a:rPr>
              <a:t></a:t>
            </a:r>
            <a:r>
              <a:rPr sz="4300" spc="-405" dirty="0">
                <a:latin typeface="Symbol"/>
                <a:cs typeface="Symbol"/>
              </a:rPr>
              <a:t></a:t>
            </a:r>
            <a:endParaRPr sz="4300">
              <a:latin typeface="Symbol"/>
              <a:cs typeface="Symbol"/>
            </a:endParaRPr>
          </a:p>
          <a:p>
            <a:pPr marL="379730">
              <a:lnSpc>
                <a:spcPct val="100000"/>
              </a:lnSpc>
              <a:spcBef>
                <a:spcPts val="1670"/>
              </a:spcBef>
            </a:pPr>
            <a:r>
              <a:rPr sz="2500" spc="-50" dirty="0">
                <a:solidFill>
                  <a:srgbClr val="643100"/>
                </a:solidFill>
                <a:latin typeface="Symbol"/>
                <a:cs typeface="Symbol"/>
              </a:rPr>
              <a:t></a:t>
            </a:r>
            <a:endParaRPr sz="2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55167"/>
            <a:ext cx="8636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2665" algn="l"/>
              </a:tabLst>
            </a:pPr>
            <a:r>
              <a:rPr u="heavy" spc="-22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Fisher</a:t>
            </a:r>
            <a:r>
              <a:rPr u="heavy" spc="-7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Linear</a:t>
            </a:r>
            <a:r>
              <a:rPr u="heavy" spc="-7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Discriminant</a:t>
            </a:r>
            <a:r>
              <a:rPr u="heavy" spc="-5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854300"/>
                  </a:solidFill>
                </a:uFill>
              </a:rPr>
              <a:t>Example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58940" y="2679191"/>
            <a:ext cx="2606040" cy="2291080"/>
            <a:chOff x="6758940" y="2679191"/>
            <a:chExt cx="2606040" cy="2291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8940" y="2679191"/>
              <a:ext cx="2606039" cy="22905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5216" y="3515867"/>
              <a:ext cx="137159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26780" y="2926079"/>
              <a:ext cx="135635" cy="1356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31580" y="2916935"/>
              <a:ext cx="135635" cy="1356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9416" y="3837431"/>
              <a:ext cx="137159" cy="1356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40980" y="3515867"/>
              <a:ext cx="135635" cy="1371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05216" y="4125467"/>
              <a:ext cx="137159" cy="1371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36180" y="4389119"/>
              <a:ext cx="135635" cy="1371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05216" y="3820667"/>
              <a:ext cx="137159" cy="1371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40980" y="4142231"/>
              <a:ext cx="135635" cy="1356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31580" y="3515867"/>
              <a:ext cx="135635" cy="1371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5524" y="2982467"/>
              <a:ext cx="137159" cy="13715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99439" y="1004743"/>
            <a:ext cx="8760460" cy="19856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770"/>
              </a:spcBef>
              <a:buClr>
                <a:srgbClr val="854300"/>
              </a:buClr>
              <a:buFont typeface="Microsoft Sans Serif"/>
              <a:buChar char="▪"/>
              <a:tabLst>
                <a:tab pos="367665" algn="l"/>
              </a:tabLst>
            </a:pPr>
            <a:r>
              <a:rPr sz="2800" spc="-20" dirty="0">
                <a:latin typeface="Arial MT"/>
                <a:cs typeface="Arial MT"/>
              </a:rPr>
              <a:t>Data</a:t>
            </a:r>
            <a:endParaRPr sz="2800">
              <a:latin typeface="Arial MT"/>
              <a:cs typeface="Arial MT"/>
            </a:endParaRPr>
          </a:p>
          <a:p>
            <a:pPr marL="768985" lvl="1" indent="-287020">
              <a:lnSpc>
                <a:spcPct val="100000"/>
              </a:lnSpc>
              <a:spcBef>
                <a:spcPts val="580"/>
              </a:spcBef>
              <a:buClr>
                <a:srgbClr val="854300"/>
              </a:buClr>
              <a:buFont typeface="Microsoft Sans Serif"/>
              <a:buChar char="▪"/>
              <a:tabLst>
                <a:tab pos="768985" algn="l"/>
              </a:tabLst>
            </a:pP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samples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c</a:t>
            </a:r>
            <a:r>
              <a:rPr sz="2400" b="1" i="1" spc="-15" baseline="-20833" dirty="0">
                <a:latin typeface="Arial"/>
                <a:cs typeface="Arial"/>
              </a:rPr>
              <a:t>1</a:t>
            </a:r>
            <a:r>
              <a:rPr sz="2400" spc="-10" dirty="0">
                <a:latin typeface="Arial MT"/>
                <a:cs typeface="Arial MT"/>
              </a:rPr>
              <a:t>=[(1,2),(2,3),(3,3),(4,5),(5,5)]</a:t>
            </a:r>
            <a:endParaRPr sz="2400">
              <a:latin typeface="Arial MT"/>
              <a:cs typeface="Arial MT"/>
            </a:endParaRPr>
          </a:p>
          <a:p>
            <a:pPr marL="768985" lvl="1" indent="-287020">
              <a:lnSpc>
                <a:spcPct val="100000"/>
              </a:lnSpc>
              <a:spcBef>
                <a:spcPts val="565"/>
              </a:spcBef>
              <a:buClr>
                <a:srgbClr val="854300"/>
              </a:buClr>
              <a:buFont typeface="Microsoft Sans Serif"/>
              <a:buChar char="▪"/>
              <a:tabLst>
                <a:tab pos="768985" algn="l"/>
              </a:tabLst>
            </a:pP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samples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c</a:t>
            </a:r>
            <a:r>
              <a:rPr sz="2400" b="1" i="1" spc="-15" baseline="-20833" dirty="0">
                <a:latin typeface="Arial"/>
                <a:cs typeface="Arial"/>
              </a:rPr>
              <a:t>2</a:t>
            </a:r>
            <a:r>
              <a:rPr sz="2400" spc="-10" dirty="0">
                <a:latin typeface="Arial MT"/>
                <a:cs typeface="Arial MT"/>
              </a:rPr>
              <a:t>=[(1,0),(2,1),(3,1),(3,2),(5,3),(6,5)]</a:t>
            </a:r>
            <a:endParaRPr sz="24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1135"/>
              </a:spcBef>
              <a:buClr>
                <a:srgbClr val="854300"/>
              </a:buClr>
              <a:buFont typeface="Microsoft Sans Serif"/>
              <a:buChar char="▪"/>
              <a:tabLst>
                <a:tab pos="367665" algn="l"/>
              </a:tabLst>
            </a:pPr>
            <a:r>
              <a:rPr sz="2800" dirty="0">
                <a:latin typeface="Arial MT"/>
                <a:cs typeface="Arial MT"/>
              </a:rPr>
              <a:t>Arrange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separate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matrices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29612" y="3742656"/>
            <a:ext cx="98171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65150" algn="l"/>
              </a:tabLst>
            </a:pPr>
            <a:r>
              <a:rPr sz="2600" spc="-1010" dirty="0">
                <a:latin typeface="Yu Gothic"/>
                <a:cs typeface="Yu Gothic"/>
              </a:rPr>
              <a:t>|</a:t>
            </a:r>
            <a:r>
              <a:rPr sz="3900" spc="-2354" baseline="-9615" dirty="0">
                <a:latin typeface="Yu Gothic"/>
                <a:cs typeface="Yu Gothic"/>
              </a:rPr>
              <a:t>L</a:t>
            </a:r>
            <a:r>
              <a:rPr sz="2600" spc="-1010" dirty="0">
                <a:latin typeface="Yu Gothic"/>
                <a:cs typeface="Yu Gothic"/>
              </a:rPr>
              <a:t>|</a:t>
            </a:r>
            <a:r>
              <a:rPr sz="3900" spc="-2302" baseline="-8547" dirty="0">
                <a:latin typeface="Yu Gothic"/>
                <a:cs typeface="Yu Gothic"/>
              </a:rPr>
              <a:t>L</a:t>
            </a:r>
            <a:r>
              <a:rPr sz="2600" spc="-1010" dirty="0">
                <a:latin typeface="Yu Gothic"/>
                <a:cs typeface="Yu Gothic"/>
              </a:rPr>
              <a:t>|</a:t>
            </a:r>
            <a:r>
              <a:rPr sz="3900" spc="-2354" baseline="-8547" dirty="0">
                <a:latin typeface="Yu Gothic"/>
                <a:cs typeface="Yu Gothic"/>
              </a:rPr>
              <a:t>L</a:t>
            </a:r>
            <a:r>
              <a:rPr sz="2600" spc="55" dirty="0">
                <a:latin typeface="Yu Gothic"/>
                <a:cs typeface="Yu Gothic"/>
              </a:rPr>
              <a:t>|</a:t>
            </a:r>
            <a:r>
              <a:rPr sz="3900" b="1" i="1" spc="-22" baseline="4273" dirty="0">
                <a:latin typeface="Arial"/>
                <a:cs typeface="Arial"/>
              </a:rPr>
              <a:t>5</a:t>
            </a:r>
            <a:r>
              <a:rPr sz="3900" b="1" i="1" baseline="4273" dirty="0">
                <a:latin typeface="Arial"/>
                <a:cs typeface="Arial"/>
              </a:rPr>
              <a:t>	5</a:t>
            </a:r>
            <a:r>
              <a:rPr sz="3900" b="1" i="1" spc="-375" baseline="4273" dirty="0">
                <a:latin typeface="Arial"/>
                <a:cs typeface="Arial"/>
              </a:rPr>
              <a:t> </a:t>
            </a:r>
            <a:r>
              <a:rPr sz="2600" spc="-1019" dirty="0">
                <a:latin typeface="Yu Gothic"/>
                <a:cs typeface="Yu Gothic"/>
              </a:rPr>
              <a:t>|</a:t>
            </a:r>
            <a:r>
              <a:rPr sz="3900" spc="-1514" baseline="-8547" dirty="0">
                <a:latin typeface="Yu Gothic"/>
                <a:cs typeface="Yu Gothic"/>
              </a:rPr>
              <a:t>]</a:t>
            </a:r>
            <a:r>
              <a:rPr sz="2600" spc="-1019" dirty="0">
                <a:latin typeface="Yu Gothic"/>
                <a:cs typeface="Yu Gothic"/>
              </a:rPr>
              <a:t>|</a:t>
            </a:r>
            <a:r>
              <a:rPr sz="3900" spc="-1552" baseline="-8547" dirty="0">
                <a:latin typeface="Yu Gothic"/>
                <a:cs typeface="Yu Gothic"/>
              </a:rPr>
              <a:t>]</a:t>
            </a:r>
            <a:r>
              <a:rPr sz="2600" spc="-1019" dirty="0">
                <a:latin typeface="Yu Gothic"/>
                <a:cs typeface="Yu Gothic"/>
              </a:rPr>
              <a:t>|</a:t>
            </a:r>
            <a:r>
              <a:rPr sz="3900" spc="-37" baseline="-9615" dirty="0">
                <a:latin typeface="Yu Gothic"/>
                <a:cs typeface="Yu Gothic"/>
              </a:rPr>
              <a:t>]</a:t>
            </a:r>
            <a:endParaRPr sz="3900" baseline="-9615">
              <a:latin typeface="Yu Gothic"/>
              <a:cs typeface="Yu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55012" y="3096480"/>
            <a:ext cx="92773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45465" algn="l"/>
              </a:tabLst>
            </a:pPr>
            <a:r>
              <a:rPr sz="3900" b="1" spc="-2175" baseline="-3205" dirty="0">
                <a:latin typeface="Yu Gothic"/>
                <a:cs typeface="Yu Gothic"/>
              </a:rPr>
              <a:t>「</a:t>
            </a:r>
            <a:r>
              <a:rPr sz="2600" b="1" i="1" spc="-50" dirty="0">
                <a:latin typeface="Arial"/>
                <a:cs typeface="Arial"/>
              </a:rPr>
              <a:t>1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2</a:t>
            </a:r>
            <a:r>
              <a:rPr sz="3900" b="1" spc="-75" baseline="-3205" dirty="0">
                <a:latin typeface="Yu Gothic"/>
                <a:cs typeface="Yu Gothic"/>
              </a:rPr>
              <a:t> </a:t>
            </a:r>
            <a:endParaRPr sz="3900" baseline="-3205">
              <a:latin typeface="Yu Gothic"/>
              <a:cs typeface="Yu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49321" y="3404328"/>
            <a:ext cx="175895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494665" algn="l"/>
                <a:tab pos="817880" algn="l"/>
                <a:tab pos="1407795" algn="l"/>
              </a:tabLst>
            </a:pPr>
            <a:r>
              <a:rPr sz="2600" b="1" i="1" spc="35" dirty="0">
                <a:latin typeface="Arial"/>
                <a:cs typeface="Arial"/>
              </a:rPr>
              <a:t>c</a:t>
            </a:r>
            <a:r>
              <a:rPr sz="2250" b="1" i="1" spc="52" baseline="-24074" dirty="0">
                <a:latin typeface="Arial"/>
                <a:cs typeface="Arial"/>
              </a:rPr>
              <a:t>1</a:t>
            </a:r>
            <a:r>
              <a:rPr sz="2250" b="1" i="1" baseline="-24074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3900" b="1" spc="-75" baseline="-5341" dirty="0">
                <a:latin typeface="Yu Gothic"/>
                <a:cs typeface="Yu Gothic"/>
              </a:rPr>
              <a:t>|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650" dirty="0">
                <a:latin typeface="Times New Roman"/>
                <a:cs typeface="Times New Roman"/>
              </a:rPr>
              <a:t> </a:t>
            </a:r>
            <a:r>
              <a:rPr sz="3900" b="1" baseline="-5341" dirty="0">
                <a:latin typeface="Yu Gothic"/>
                <a:cs typeface="Yu Gothic"/>
              </a:rPr>
              <a:t>|</a:t>
            </a:r>
            <a:endParaRPr sz="3900" baseline="-5341">
              <a:latin typeface="Yu Gothic"/>
              <a:cs typeface="Yu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49367" y="3780754"/>
            <a:ext cx="963294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48005" algn="l"/>
              </a:tabLst>
            </a:pPr>
            <a:r>
              <a:rPr sz="2600" spc="-1015" dirty="0">
                <a:latin typeface="Yu Gothic"/>
                <a:cs typeface="Yu Gothic"/>
              </a:rPr>
              <a:t>|</a:t>
            </a:r>
            <a:r>
              <a:rPr sz="3900" b="1" spc="-2415" baseline="-8547" dirty="0">
                <a:latin typeface="Yu Gothic"/>
                <a:cs typeface="Yu Gothic"/>
              </a:rPr>
              <a:t>L</a:t>
            </a:r>
            <a:r>
              <a:rPr sz="2600" spc="-35" dirty="0">
                <a:latin typeface="Yu Gothic"/>
                <a:cs typeface="Yu Gothic"/>
              </a:rPr>
              <a:t>|</a:t>
            </a:r>
            <a:r>
              <a:rPr sz="3900" b="1" i="1" spc="-30" baseline="4273" dirty="0">
                <a:latin typeface="Arial"/>
                <a:cs typeface="Arial"/>
              </a:rPr>
              <a:t>6</a:t>
            </a:r>
            <a:r>
              <a:rPr sz="3900" b="1" i="1" baseline="4273" dirty="0">
                <a:latin typeface="Arial"/>
                <a:cs typeface="Arial"/>
              </a:rPr>
              <a:t>	5</a:t>
            </a:r>
            <a:r>
              <a:rPr sz="3900" b="1" i="1" spc="-397" baseline="4273" dirty="0">
                <a:latin typeface="Arial"/>
                <a:cs typeface="Arial"/>
              </a:rPr>
              <a:t> </a:t>
            </a:r>
            <a:r>
              <a:rPr sz="2600" spc="-1019" dirty="0">
                <a:latin typeface="Yu Gothic"/>
                <a:cs typeface="Yu Gothic"/>
              </a:rPr>
              <a:t>|</a:t>
            </a:r>
            <a:r>
              <a:rPr sz="3900" spc="-1514" baseline="-8547" dirty="0">
                <a:latin typeface="Yu Gothic"/>
                <a:cs typeface="Yu Gothic"/>
              </a:rPr>
              <a:t>]</a:t>
            </a:r>
            <a:r>
              <a:rPr sz="2600" spc="-1019" dirty="0">
                <a:latin typeface="Yu Gothic"/>
                <a:cs typeface="Yu Gothic"/>
              </a:rPr>
              <a:t>|</a:t>
            </a:r>
            <a:r>
              <a:rPr sz="3900" spc="-37" baseline="-9615" dirty="0">
                <a:latin typeface="Yu Gothic"/>
                <a:cs typeface="Yu Gothic"/>
              </a:rPr>
              <a:t>]</a:t>
            </a:r>
            <a:endParaRPr sz="3900" baseline="-9615">
              <a:latin typeface="Yu Gothic"/>
              <a:cs typeface="Yu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4767" y="3130006"/>
            <a:ext cx="909319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24510" algn="l"/>
              </a:tabLst>
            </a:pPr>
            <a:r>
              <a:rPr sz="3900" b="1" spc="-2279" baseline="-4273" dirty="0">
                <a:latin typeface="Yu Gothic"/>
                <a:cs typeface="Yu Gothic"/>
              </a:rPr>
              <a:t>「</a:t>
            </a:r>
            <a:r>
              <a:rPr sz="2600" b="1" i="1" spc="-50" dirty="0">
                <a:latin typeface="Arial"/>
                <a:cs typeface="Arial"/>
              </a:rPr>
              <a:t>1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50" dirty="0">
                <a:latin typeface="Arial"/>
                <a:cs typeface="Arial"/>
              </a:rPr>
              <a:t>0</a:t>
            </a:r>
            <a:r>
              <a:rPr sz="3900" b="1" spc="-75" baseline="-4273" dirty="0">
                <a:latin typeface="Yu Gothic"/>
                <a:cs typeface="Yu Gothic"/>
              </a:rPr>
              <a:t> </a:t>
            </a:r>
            <a:endParaRPr sz="3900" baseline="-4273">
              <a:latin typeface="Yu Gothic"/>
              <a:cs typeface="Yu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40125" y="3442426"/>
            <a:ext cx="176974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23875" algn="l"/>
                <a:tab pos="847090" algn="l"/>
                <a:tab pos="1418590" algn="l"/>
              </a:tabLst>
            </a:pPr>
            <a:r>
              <a:rPr sz="2600" b="1" i="1" spc="90" dirty="0">
                <a:latin typeface="Arial"/>
                <a:cs typeface="Arial"/>
              </a:rPr>
              <a:t>c</a:t>
            </a:r>
            <a:r>
              <a:rPr sz="2250" b="1" i="1" spc="135" baseline="-24074" dirty="0">
                <a:latin typeface="Arial"/>
                <a:cs typeface="Arial"/>
              </a:rPr>
              <a:t>2</a:t>
            </a:r>
            <a:r>
              <a:rPr sz="2250" b="1" i="1" baseline="-24074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3900" b="1" spc="-75" baseline="-5341" dirty="0">
                <a:latin typeface="Yu Gothic"/>
                <a:cs typeface="Yu Gothic"/>
              </a:rPr>
              <a:t>|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650" dirty="0">
                <a:latin typeface="Times New Roman"/>
                <a:cs typeface="Times New Roman"/>
              </a:rPr>
              <a:t> </a:t>
            </a:r>
            <a:r>
              <a:rPr sz="3900" b="1" baseline="-5341" dirty="0">
                <a:latin typeface="Yu Gothic"/>
                <a:cs typeface="Yu Gothic"/>
              </a:rPr>
              <a:t>|</a:t>
            </a:r>
            <a:endParaRPr sz="3900" baseline="-5341">
              <a:latin typeface="Yu Gothic"/>
              <a:cs typeface="Yu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002017" y="5256276"/>
            <a:ext cx="2140585" cy="1701800"/>
            <a:chOff x="7002017" y="5256276"/>
            <a:chExt cx="2140585" cy="1701800"/>
          </a:xfrm>
        </p:grpSpPr>
        <p:sp>
          <p:nvSpPr>
            <p:cNvPr id="24" name="object 24"/>
            <p:cNvSpPr/>
            <p:nvPr/>
          </p:nvSpPr>
          <p:spPr>
            <a:xfrm>
              <a:off x="7016495" y="5343144"/>
              <a:ext cx="2060575" cy="1600200"/>
            </a:xfrm>
            <a:custGeom>
              <a:avLst/>
              <a:gdLst/>
              <a:ahLst/>
              <a:cxnLst/>
              <a:rect l="l" t="t" r="r" b="b"/>
              <a:pathLst>
                <a:path w="2060575" h="1600200">
                  <a:moveTo>
                    <a:pt x="0" y="1600199"/>
                  </a:moveTo>
                  <a:lnTo>
                    <a:pt x="2060447" y="0"/>
                  </a:lnTo>
                </a:path>
              </a:pathLst>
            </a:custGeom>
            <a:ln w="28955">
              <a:solidFill>
                <a:srgbClr val="006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1876" y="5529072"/>
              <a:ext cx="624840" cy="516890"/>
            </a:xfrm>
            <a:custGeom>
              <a:avLst/>
              <a:gdLst/>
              <a:ahLst/>
              <a:cxnLst/>
              <a:rect l="l" t="t" r="r" b="b"/>
              <a:pathLst>
                <a:path w="624840" h="516889">
                  <a:moveTo>
                    <a:pt x="137160" y="448056"/>
                  </a:moveTo>
                  <a:lnTo>
                    <a:pt x="131800" y="421271"/>
                  </a:lnTo>
                  <a:lnTo>
                    <a:pt x="117157" y="399478"/>
                  </a:lnTo>
                  <a:lnTo>
                    <a:pt x="95364" y="384835"/>
                  </a:lnTo>
                  <a:lnTo>
                    <a:pt x="68580" y="379476"/>
                  </a:lnTo>
                  <a:lnTo>
                    <a:pt x="41783" y="384835"/>
                  </a:lnTo>
                  <a:lnTo>
                    <a:pt x="20002" y="399478"/>
                  </a:lnTo>
                  <a:lnTo>
                    <a:pt x="5346" y="421271"/>
                  </a:lnTo>
                  <a:lnTo>
                    <a:pt x="0" y="448056"/>
                  </a:lnTo>
                  <a:lnTo>
                    <a:pt x="5346" y="474853"/>
                  </a:lnTo>
                  <a:lnTo>
                    <a:pt x="20002" y="496633"/>
                  </a:lnTo>
                  <a:lnTo>
                    <a:pt x="41783" y="511289"/>
                  </a:lnTo>
                  <a:lnTo>
                    <a:pt x="68580" y="516636"/>
                  </a:lnTo>
                  <a:lnTo>
                    <a:pt x="95364" y="511289"/>
                  </a:lnTo>
                  <a:lnTo>
                    <a:pt x="117157" y="496633"/>
                  </a:lnTo>
                  <a:lnTo>
                    <a:pt x="131800" y="474853"/>
                  </a:lnTo>
                  <a:lnTo>
                    <a:pt x="137160" y="448056"/>
                  </a:lnTo>
                  <a:close/>
                </a:path>
                <a:path w="624840" h="516889">
                  <a:moveTo>
                    <a:pt x="624840" y="68580"/>
                  </a:moveTo>
                  <a:lnTo>
                    <a:pt x="619506" y="41795"/>
                  </a:lnTo>
                  <a:lnTo>
                    <a:pt x="605028" y="20002"/>
                  </a:lnTo>
                  <a:lnTo>
                    <a:pt x="583692" y="5359"/>
                  </a:lnTo>
                  <a:lnTo>
                    <a:pt x="557784" y="0"/>
                  </a:lnTo>
                  <a:lnTo>
                    <a:pt x="530987" y="5359"/>
                  </a:lnTo>
                  <a:lnTo>
                    <a:pt x="509206" y="20002"/>
                  </a:lnTo>
                  <a:lnTo>
                    <a:pt x="494550" y="41795"/>
                  </a:lnTo>
                  <a:lnTo>
                    <a:pt x="489204" y="68580"/>
                  </a:lnTo>
                  <a:lnTo>
                    <a:pt x="494550" y="95377"/>
                  </a:lnTo>
                  <a:lnTo>
                    <a:pt x="509206" y="117157"/>
                  </a:lnTo>
                  <a:lnTo>
                    <a:pt x="530987" y="131813"/>
                  </a:lnTo>
                  <a:lnTo>
                    <a:pt x="557784" y="137160"/>
                  </a:lnTo>
                  <a:lnTo>
                    <a:pt x="583692" y="131813"/>
                  </a:lnTo>
                  <a:lnTo>
                    <a:pt x="605028" y="117157"/>
                  </a:lnTo>
                  <a:lnTo>
                    <a:pt x="619506" y="95377"/>
                  </a:lnTo>
                  <a:lnTo>
                    <a:pt x="624840" y="68580"/>
                  </a:lnTo>
                  <a:close/>
                </a:path>
              </a:pathLst>
            </a:custGeom>
            <a:solidFill>
              <a:srgbClr val="313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45295" y="5393436"/>
              <a:ext cx="137159" cy="13563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587996" y="6114288"/>
              <a:ext cx="472440" cy="372110"/>
            </a:xfrm>
            <a:custGeom>
              <a:avLst/>
              <a:gdLst/>
              <a:ahLst/>
              <a:cxnLst/>
              <a:rect l="l" t="t" r="r" b="b"/>
              <a:pathLst>
                <a:path w="472440" h="372110">
                  <a:moveTo>
                    <a:pt x="137160" y="304800"/>
                  </a:moveTo>
                  <a:lnTo>
                    <a:pt x="131800" y="278015"/>
                  </a:lnTo>
                  <a:lnTo>
                    <a:pt x="117157" y="256222"/>
                  </a:lnTo>
                  <a:lnTo>
                    <a:pt x="95364" y="241579"/>
                  </a:lnTo>
                  <a:lnTo>
                    <a:pt x="68580" y="236220"/>
                  </a:lnTo>
                  <a:lnTo>
                    <a:pt x="41783" y="241579"/>
                  </a:lnTo>
                  <a:lnTo>
                    <a:pt x="20002" y="256222"/>
                  </a:lnTo>
                  <a:lnTo>
                    <a:pt x="5346" y="278015"/>
                  </a:lnTo>
                  <a:lnTo>
                    <a:pt x="0" y="304800"/>
                  </a:lnTo>
                  <a:lnTo>
                    <a:pt x="5346" y="330708"/>
                  </a:lnTo>
                  <a:lnTo>
                    <a:pt x="20002" y="352044"/>
                  </a:lnTo>
                  <a:lnTo>
                    <a:pt x="41783" y="366522"/>
                  </a:lnTo>
                  <a:lnTo>
                    <a:pt x="68580" y="371856"/>
                  </a:lnTo>
                  <a:lnTo>
                    <a:pt x="95364" y="366522"/>
                  </a:lnTo>
                  <a:lnTo>
                    <a:pt x="117157" y="352044"/>
                  </a:lnTo>
                  <a:lnTo>
                    <a:pt x="131800" y="330708"/>
                  </a:lnTo>
                  <a:lnTo>
                    <a:pt x="137160" y="304800"/>
                  </a:lnTo>
                  <a:close/>
                </a:path>
                <a:path w="472440" h="372110">
                  <a:moveTo>
                    <a:pt x="472440" y="68580"/>
                  </a:moveTo>
                  <a:lnTo>
                    <a:pt x="467080" y="41795"/>
                  </a:lnTo>
                  <a:lnTo>
                    <a:pt x="452437" y="20002"/>
                  </a:lnTo>
                  <a:lnTo>
                    <a:pt x="430644" y="5359"/>
                  </a:lnTo>
                  <a:lnTo>
                    <a:pt x="403860" y="0"/>
                  </a:lnTo>
                  <a:lnTo>
                    <a:pt x="377063" y="5359"/>
                  </a:lnTo>
                  <a:lnTo>
                    <a:pt x="355282" y="20002"/>
                  </a:lnTo>
                  <a:lnTo>
                    <a:pt x="340626" y="41795"/>
                  </a:lnTo>
                  <a:lnTo>
                    <a:pt x="335280" y="68580"/>
                  </a:lnTo>
                  <a:lnTo>
                    <a:pt x="340626" y="94488"/>
                  </a:lnTo>
                  <a:lnTo>
                    <a:pt x="355282" y="115824"/>
                  </a:lnTo>
                  <a:lnTo>
                    <a:pt x="377063" y="130302"/>
                  </a:lnTo>
                  <a:lnTo>
                    <a:pt x="403860" y="135636"/>
                  </a:lnTo>
                  <a:lnTo>
                    <a:pt x="430644" y="130302"/>
                  </a:lnTo>
                  <a:lnTo>
                    <a:pt x="452437" y="115824"/>
                  </a:lnTo>
                  <a:lnTo>
                    <a:pt x="467080" y="94488"/>
                  </a:lnTo>
                  <a:lnTo>
                    <a:pt x="472440" y="68580"/>
                  </a:lnTo>
                  <a:close/>
                </a:path>
              </a:pathLst>
            </a:custGeom>
            <a:solidFill>
              <a:srgbClr val="313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54695" y="6181344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60">
                  <a:moveTo>
                    <a:pt x="137159" y="68579"/>
                  </a:moveTo>
                  <a:lnTo>
                    <a:pt x="131802" y="41790"/>
                  </a:lnTo>
                  <a:lnTo>
                    <a:pt x="117157" y="20002"/>
                  </a:lnTo>
                  <a:lnTo>
                    <a:pt x="95369" y="5357"/>
                  </a:lnTo>
                  <a:lnTo>
                    <a:pt x="68579" y="0"/>
                  </a:lnTo>
                  <a:lnTo>
                    <a:pt x="41790" y="5357"/>
                  </a:lnTo>
                  <a:lnTo>
                    <a:pt x="20002" y="20002"/>
                  </a:lnTo>
                  <a:lnTo>
                    <a:pt x="5357" y="41790"/>
                  </a:lnTo>
                  <a:lnTo>
                    <a:pt x="0" y="68579"/>
                  </a:lnTo>
                  <a:lnTo>
                    <a:pt x="5357" y="95369"/>
                  </a:lnTo>
                  <a:lnTo>
                    <a:pt x="20002" y="117157"/>
                  </a:lnTo>
                  <a:lnTo>
                    <a:pt x="41790" y="131802"/>
                  </a:lnTo>
                  <a:lnTo>
                    <a:pt x="68579" y="137159"/>
                  </a:lnTo>
                  <a:lnTo>
                    <a:pt x="95369" y="131802"/>
                  </a:lnTo>
                  <a:lnTo>
                    <a:pt x="117157" y="117157"/>
                  </a:lnTo>
                  <a:lnTo>
                    <a:pt x="131802" y="95369"/>
                  </a:lnTo>
                  <a:lnTo>
                    <a:pt x="137159" y="68579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45679" y="6554724"/>
              <a:ext cx="135635" cy="13715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703820" y="5666232"/>
              <a:ext cx="958850" cy="765175"/>
            </a:xfrm>
            <a:custGeom>
              <a:avLst/>
              <a:gdLst/>
              <a:ahLst/>
              <a:cxnLst/>
              <a:rect l="l" t="t" r="r" b="b"/>
              <a:pathLst>
                <a:path w="958850" h="765175">
                  <a:moveTo>
                    <a:pt x="137160" y="696468"/>
                  </a:moveTo>
                  <a:lnTo>
                    <a:pt x="131800" y="669683"/>
                  </a:lnTo>
                  <a:lnTo>
                    <a:pt x="117157" y="647890"/>
                  </a:lnTo>
                  <a:lnTo>
                    <a:pt x="95364" y="633247"/>
                  </a:lnTo>
                  <a:lnTo>
                    <a:pt x="68580" y="627888"/>
                  </a:lnTo>
                  <a:lnTo>
                    <a:pt x="41783" y="633247"/>
                  </a:lnTo>
                  <a:lnTo>
                    <a:pt x="20002" y="647890"/>
                  </a:lnTo>
                  <a:lnTo>
                    <a:pt x="5346" y="669683"/>
                  </a:lnTo>
                  <a:lnTo>
                    <a:pt x="0" y="696468"/>
                  </a:lnTo>
                  <a:lnTo>
                    <a:pt x="5346" y="723265"/>
                  </a:lnTo>
                  <a:lnTo>
                    <a:pt x="20002" y="745045"/>
                  </a:lnTo>
                  <a:lnTo>
                    <a:pt x="41783" y="759701"/>
                  </a:lnTo>
                  <a:lnTo>
                    <a:pt x="68580" y="765048"/>
                  </a:lnTo>
                  <a:lnTo>
                    <a:pt x="95364" y="759701"/>
                  </a:lnTo>
                  <a:lnTo>
                    <a:pt x="117157" y="745045"/>
                  </a:lnTo>
                  <a:lnTo>
                    <a:pt x="131800" y="723265"/>
                  </a:lnTo>
                  <a:lnTo>
                    <a:pt x="137160" y="696468"/>
                  </a:lnTo>
                  <a:close/>
                </a:path>
                <a:path w="958850" h="765175">
                  <a:moveTo>
                    <a:pt x="483108" y="428244"/>
                  </a:moveTo>
                  <a:lnTo>
                    <a:pt x="477748" y="401459"/>
                  </a:lnTo>
                  <a:lnTo>
                    <a:pt x="463105" y="379666"/>
                  </a:lnTo>
                  <a:lnTo>
                    <a:pt x="441312" y="365023"/>
                  </a:lnTo>
                  <a:lnTo>
                    <a:pt x="414528" y="359664"/>
                  </a:lnTo>
                  <a:lnTo>
                    <a:pt x="387731" y="365023"/>
                  </a:lnTo>
                  <a:lnTo>
                    <a:pt x="365950" y="379666"/>
                  </a:lnTo>
                  <a:lnTo>
                    <a:pt x="351294" y="401459"/>
                  </a:lnTo>
                  <a:lnTo>
                    <a:pt x="345948" y="428244"/>
                  </a:lnTo>
                  <a:lnTo>
                    <a:pt x="351294" y="455041"/>
                  </a:lnTo>
                  <a:lnTo>
                    <a:pt x="365950" y="476821"/>
                  </a:lnTo>
                  <a:lnTo>
                    <a:pt x="387731" y="491477"/>
                  </a:lnTo>
                  <a:lnTo>
                    <a:pt x="414528" y="496824"/>
                  </a:lnTo>
                  <a:lnTo>
                    <a:pt x="441312" y="491477"/>
                  </a:lnTo>
                  <a:lnTo>
                    <a:pt x="463105" y="476821"/>
                  </a:lnTo>
                  <a:lnTo>
                    <a:pt x="477748" y="455041"/>
                  </a:lnTo>
                  <a:lnTo>
                    <a:pt x="483108" y="428244"/>
                  </a:lnTo>
                  <a:close/>
                </a:path>
                <a:path w="958850" h="765175">
                  <a:moveTo>
                    <a:pt x="958596" y="68580"/>
                  </a:moveTo>
                  <a:lnTo>
                    <a:pt x="953262" y="41795"/>
                  </a:lnTo>
                  <a:lnTo>
                    <a:pt x="938784" y="20002"/>
                  </a:lnTo>
                  <a:lnTo>
                    <a:pt x="917448" y="5359"/>
                  </a:lnTo>
                  <a:lnTo>
                    <a:pt x="891540" y="0"/>
                  </a:lnTo>
                  <a:lnTo>
                    <a:pt x="864743" y="5359"/>
                  </a:lnTo>
                  <a:lnTo>
                    <a:pt x="842962" y="20002"/>
                  </a:lnTo>
                  <a:lnTo>
                    <a:pt x="828306" y="41795"/>
                  </a:lnTo>
                  <a:lnTo>
                    <a:pt x="822960" y="68580"/>
                  </a:lnTo>
                  <a:lnTo>
                    <a:pt x="828306" y="94488"/>
                  </a:lnTo>
                  <a:lnTo>
                    <a:pt x="842962" y="115824"/>
                  </a:lnTo>
                  <a:lnTo>
                    <a:pt x="864743" y="130302"/>
                  </a:lnTo>
                  <a:lnTo>
                    <a:pt x="891540" y="135636"/>
                  </a:lnTo>
                  <a:lnTo>
                    <a:pt x="917448" y="130302"/>
                  </a:lnTo>
                  <a:lnTo>
                    <a:pt x="938784" y="115824"/>
                  </a:lnTo>
                  <a:lnTo>
                    <a:pt x="953262" y="94488"/>
                  </a:lnTo>
                  <a:lnTo>
                    <a:pt x="958596" y="68580"/>
                  </a:lnTo>
                  <a:close/>
                </a:path>
              </a:pathLst>
            </a:custGeom>
            <a:solidFill>
              <a:srgbClr val="CD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05315" y="5256276"/>
              <a:ext cx="137159" cy="13715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12139" y="5053074"/>
            <a:ext cx="5676265" cy="1733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" indent="-342900">
              <a:lnSpc>
                <a:spcPct val="100099"/>
              </a:lnSpc>
              <a:spcBef>
                <a:spcPts val="90"/>
              </a:spcBef>
              <a:buClr>
                <a:srgbClr val="854300"/>
              </a:buClr>
              <a:buFont typeface="Microsoft Sans Serif"/>
              <a:buChar char="▪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Notice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PCA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performs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very </a:t>
            </a:r>
            <a:r>
              <a:rPr sz="2800" dirty="0">
                <a:latin typeface="Arial MT"/>
                <a:cs typeface="Arial MT"/>
              </a:rPr>
              <a:t>poorly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because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direction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largest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variance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not </a:t>
            </a:r>
            <a:r>
              <a:rPr sz="2800" dirty="0">
                <a:latin typeface="Arial MT"/>
                <a:cs typeface="Arial MT"/>
              </a:rPr>
              <a:t>helpful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classification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00"/>
              </a:spcBef>
              <a:tabLst>
                <a:tab pos="8683625" algn="l"/>
              </a:tabLst>
            </a:pPr>
            <a:r>
              <a:rPr u="heavy" spc="-22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Fisher</a:t>
            </a:r>
            <a:r>
              <a:rPr u="heavy" spc="-7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Linear</a:t>
            </a:r>
            <a:r>
              <a:rPr u="heavy" spc="-7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Discriminant</a:t>
            </a:r>
            <a:r>
              <a:rPr u="heavy" spc="-5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854300"/>
                  </a:solidFill>
                </a:uFill>
              </a:rPr>
              <a:t>Example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8624" y="2982269"/>
            <a:ext cx="1269365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88340" algn="l"/>
              </a:tabLst>
            </a:pPr>
            <a:r>
              <a:rPr sz="3075" spc="-1867" baseline="-13550" dirty="0">
                <a:latin typeface="Yu Gothic"/>
                <a:cs typeface="Yu Gothic"/>
              </a:rPr>
              <a:t>L</a:t>
            </a:r>
            <a:r>
              <a:rPr sz="3075" spc="-1177" baseline="-4065" dirty="0">
                <a:latin typeface="Yu Gothic"/>
                <a:cs typeface="Yu Gothic"/>
              </a:rPr>
              <a:t>|</a:t>
            </a:r>
            <a:r>
              <a:rPr sz="3075" spc="-1867" baseline="-13550" dirty="0">
                <a:latin typeface="Yu Gothic"/>
                <a:cs typeface="Yu Gothic"/>
              </a:rPr>
              <a:t>L</a:t>
            </a:r>
            <a:r>
              <a:rPr sz="3075" spc="-1214" baseline="-4065" dirty="0">
                <a:latin typeface="Yu Gothic"/>
                <a:cs typeface="Yu Gothic"/>
              </a:rPr>
              <a:t>|</a:t>
            </a:r>
            <a:r>
              <a:rPr sz="3075" spc="-1867" baseline="-13550" dirty="0">
                <a:latin typeface="Yu Gothic"/>
                <a:cs typeface="Yu Gothic"/>
              </a:rPr>
              <a:t>L</a:t>
            </a:r>
            <a:r>
              <a:rPr sz="3075" spc="60" baseline="-4065" dirty="0">
                <a:latin typeface="Yu Gothic"/>
                <a:cs typeface="Yu Gothic"/>
              </a:rPr>
              <a:t>|</a:t>
            </a:r>
            <a:r>
              <a:rPr sz="2050" b="1" i="1" spc="145" dirty="0">
                <a:latin typeface="Arial"/>
                <a:cs typeface="Arial"/>
              </a:rPr>
              <a:t>8</a:t>
            </a:r>
            <a:r>
              <a:rPr sz="2050" b="1" i="1" spc="65" dirty="0">
                <a:latin typeface="Arial"/>
                <a:cs typeface="Arial"/>
              </a:rPr>
              <a:t>.</a:t>
            </a:r>
            <a:r>
              <a:rPr sz="2050" b="1" i="1" spc="-10" dirty="0">
                <a:latin typeface="Arial"/>
                <a:cs typeface="Arial"/>
              </a:rPr>
              <a:t>0</a:t>
            </a:r>
            <a:r>
              <a:rPr sz="2050" b="1" i="1" dirty="0">
                <a:latin typeface="Arial"/>
                <a:cs typeface="Arial"/>
              </a:rPr>
              <a:t>	</a:t>
            </a:r>
            <a:r>
              <a:rPr sz="2050" b="1" i="1" spc="70" dirty="0">
                <a:latin typeface="Arial"/>
                <a:cs typeface="Arial"/>
              </a:rPr>
              <a:t>7.2</a:t>
            </a:r>
            <a:r>
              <a:rPr sz="2050" b="1" i="1" spc="-190" dirty="0">
                <a:latin typeface="Arial"/>
                <a:cs typeface="Arial"/>
              </a:rPr>
              <a:t> </a:t>
            </a:r>
            <a:r>
              <a:rPr sz="3075" spc="-1252" baseline="-13550" dirty="0">
                <a:latin typeface="Yu Gothic"/>
                <a:cs typeface="Yu Gothic"/>
              </a:rPr>
              <a:t>]</a:t>
            </a:r>
            <a:r>
              <a:rPr sz="3075" spc="-1252" baseline="-4065" dirty="0">
                <a:latin typeface="Yu Gothic"/>
                <a:cs typeface="Yu Gothic"/>
              </a:rPr>
              <a:t>|</a:t>
            </a:r>
            <a:r>
              <a:rPr sz="3075" spc="-1214" baseline="-13550" dirty="0">
                <a:latin typeface="Yu Gothic"/>
                <a:cs typeface="Yu Gothic"/>
              </a:rPr>
              <a:t>]</a:t>
            </a:r>
            <a:r>
              <a:rPr sz="3075" spc="-1252" baseline="-4065" dirty="0">
                <a:latin typeface="Yu Gothic"/>
                <a:cs typeface="Yu Gothic"/>
              </a:rPr>
              <a:t>|</a:t>
            </a:r>
            <a:r>
              <a:rPr sz="3075" spc="-52" baseline="-13550" dirty="0">
                <a:latin typeface="Yu Gothic"/>
                <a:cs typeface="Yu Gothic"/>
              </a:rPr>
              <a:t>]</a:t>
            </a:r>
            <a:endParaRPr sz="3075" baseline="-13550">
              <a:latin typeface="Yu Gothic"/>
              <a:cs typeface="Yu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9337" y="2738430"/>
            <a:ext cx="560070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i="1" spc="45" dirty="0">
                <a:latin typeface="Arial"/>
                <a:cs typeface="Arial"/>
              </a:rPr>
              <a:t>8.0</a:t>
            </a:r>
            <a:r>
              <a:rPr sz="3075" b="1" spc="67" baseline="-4065" dirty="0">
                <a:latin typeface="Yu Gothic"/>
                <a:cs typeface="Yu Gothic"/>
              </a:rPr>
              <a:t> </a:t>
            </a:r>
            <a:endParaRPr sz="3075" baseline="-4065">
              <a:latin typeface="Yu Gothic"/>
              <a:cs typeface="Yu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902" y="2770868"/>
            <a:ext cx="2874645" cy="4451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50" b="1" i="1" dirty="0">
                <a:latin typeface="Arial"/>
                <a:cs typeface="Arial"/>
              </a:rPr>
              <a:t>S</a:t>
            </a:r>
            <a:r>
              <a:rPr sz="1800" b="1" i="1" baseline="-23148" dirty="0">
                <a:latin typeface="Arial"/>
                <a:cs typeface="Arial"/>
              </a:rPr>
              <a:t>1</a:t>
            </a:r>
            <a:r>
              <a:rPr sz="1800" b="1" i="1" spc="172" baseline="-23148" dirty="0">
                <a:latin typeface="Arial"/>
                <a:cs typeface="Arial"/>
              </a:rPr>
              <a:t> 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310" dirty="0">
                <a:latin typeface="Times New Roman"/>
                <a:cs typeface="Times New Roman"/>
              </a:rPr>
              <a:t> </a:t>
            </a:r>
            <a:r>
              <a:rPr sz="2050" b="1" i="1" dirty="0">
                <a:latin typeface="Arial"/>
                <a:cs typeface="Arial"/>
              </a:rPr>
              <a:t>4</a:t>
            </a:r>
            <a:r>
              <a:rPr sz="2050" b="1" i="1" spc="50" dirty="0">
                <a:latin typeface="Arial"/>
                <a:cs typeface="Arial"/>
              </a:rPr>
              <a:t> </a:t>
            </a:r>
            <a:r>
              <a:rPr sz="2050" dirty="0">
                <a:latin typeface="Symbol"/>
                <a:cs typeface="Symbol"/>
              </a:rPr>
              <a:t>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b="1" i="1" dirty="0">
                <a:latin typeface="Arial"/>
                <a:cs typeface="Arial"/>
              </a:rPr>
              <a:t>cov</a:t>
            </a:r>
            <a:r>
              <a:rPr sz="2050" b="1" i="1" spc="145" dirty="0">
                <a:latin typeface="Arial"/>
                <a:cs typeface="Arial"/>
              </a:rPr>
              <a:t> </a:t>
            </a:r>
            <a:r>
              <a:rPr sz="4125" spc="-30" baseline="1010" dirty="0">
                <a:latin typeface="Symbol"/>
                <a:cs typeface="Symbol"/>
              </a:rPr>
              <a:t></a:t>
            </a:r>
            <a:r>
              <a:rPr sz="2050" b="1" i="1" spc="-20" dirty="0">
                <a:latin typeface="Arial"/>
                <a:cs typeface="Arial"/>
              </a:rPr>
              <a:t>c</a:t>
            </a:r>
            <a:r>
              <a:rPr sz="1800" b="1" i="1" spc="-30" baseline="-23148" dirty="0">
                <a:latin typeface="Arial"/>
                <a:cs typeface="Arial"/>
              </a:rPr>
              <a:t>1</a:t>
            </a:r>
            <a:r>
              <a:rPr sz="1800" b="1" i="1" spc="89" baseline="-23148" dirty="0">
                <a:latin typeface="Arial"/>
                <a:cs typeface="Arial"/>
              </a:rPr>
              <a:t> </a:t>
            </a:r>
            <a:r>
              <a:rPr sz="4125" spc="-217" baseline="1010" dirty="0">
                <a:latin typeface="Symbol"/>
                <a:cs typeface="Symbol"/>
              </a:rPr>
              <a:t></a:t>
            </a:r>
            <a:r>
              <a:rPr sz="4125" spc="-367" baseline="10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335" dirty="0">
                <a:latin typeface="Times New Roman"/>
                <a:cs typeface="Times New Roman"/>
              </a:rPr>
              <a:t> </a:t>
            </a:r>
            <a:r>
              <a:rPr sz="3075" b="1" spc="-1912" baseline="21680" dirty="0">
                <a:latin typeface="Yu Gothic"/>
                <a:cs typeface="Yu Gothic"/>
              </a:rPr>
              <a:t>「</a:t>
            </a:r>
            <a:r>
              <a:rPr sz="3075" spc="-247" baseline="21680" dirty="0">
                <a:latin typeface="Times New Roman"/>
                <a:cs typeface="Times New Roman"/>
              </a:rPr>
              <a:t> </a:t>
            </a:r>
            <a:r>
              <a:rPr sz="3075" b="1" i="1" spc="-37" baseline="25745" dirty="0">
                <a:latin typeface="Arial"/>
                <a:cs typeface="Arial"/>
              </a:rPr>
              <a:t>10</a:t>
            </a:r>
            <a:endParaRPr sz="3075" baseline="2574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6091" y="2982876"/>
            <a:ext cx="1316355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24230" algn="l"/>
              </a:tabLst>
            </a:pPr>
            <a:r>
              <a:rPr sz="3075" spc="-1860" baseline="-13550" dirty="0">
                <a:latin typeface="Yu Gothic"/>
                <a:cs typeface="Yu Gothic"/>
              </a:rPr>
              <a:t>L</a:t>
            </a:r>
            <a:r>
              <a:rPr sz="3075" spc="-1177" baseline="-4065" dirty="0">
                <a:latin typeface="Yu Gothic"/>
                <a:cs typeface="Yu Gothic"/>
              </a:rPr>
              <a:t>|</a:t>
            </a:r>
            <a:r>
              <a:rPr sz="3075" spc="-1860" baseline="-13550" dirty="0">
                <a:latin typeface="Yu Gothic"/>
                <a:cs typeface="Yu Gothic"/>
              </a:rPr>
              <a:t>L</a:t>
            </a:r>
            <a:r>
              <a:rPr sz="3075" spc="-15" baseline="-4065" dirty="0">
                <a:latin typeface="Yu Gothic"/>
                <a:cs typeface="Yu Gothic"/>
              </a:rPr>
              <a:t>|</a:t>
            </a:r>
            <a:r>
              <a:rPr sz="3075" spc="592" baseline="-4065" dirty="0">
                <a:latin typeface="Times New Roman"/>
                <a:cs typeface="Times New Roman"/>
              </a:rPr>
              <a:t> </a:t>
            </a:r>
            <a:r>
              <a:rPr sz="2050" b="1" i="1" spc="-25" dirty="0">
                <a:latin typeface="Arial"/>
                <a:cs typeface="Arial"/>
              </a:rPr>
              <a:t>16</a:t>
            </a:r>
            <a:r>
              <a:rPr sz="2050" b="1" i="1" dirty="0">
                <a:latin typeface="Arial"/>
                <a:cs typeface="Arial"/>
              </a:rPr>
              <a:t>	16</a:t>
            </a:r>
            <a:r>
              <a:rPr sz="2050" b="1" i="1" spc="-114" dirty="0">
                <a:latin typeface="Arial"/>
                <a:cs typeface="Arial"/>
              </a:rPr>
              <a:t> </a:t>
            </a:r>
            <a:r>
              <a:rPr sz="3075" spc="-1252" baseline="-4065" dirty="0">
                <a:latin typeface="Yu Gothic"/>
                <a:cs typeface="Yu Gothic"/>
              </a:rPr>
              <a:t>|</a:t>
            </a:r>
            <a:r>
              <a:rPr sz="3075" spc="-1222" baseline="-13550" dirty="0">
                <a:latin typeface="Yu Gothic"/>
                <a:cs typeface="Yu Gothic"/>
              </a:rPr>
              <a:t>]</a:t>
            </a:r>
            <a:r>
              <a:rPr sz="3075" spc="-1252" baseline="-4065" dirty="0">
                <a:latin typeface="Yu Gothic"/>
                <a:cs typeface="Yu Gothic"/>
              </a:rPr>
              <a:t>|</a:t>
            </a:r>
            <a:r>
              <a:rPr sz="3075" spc="-60" baseline="-13550" dirty="0">
                <a:latin typeface="Yu Gothic"/>
                <a:cs typeface="Yu Gothic"/>
              </a:rPr>
              <a:t>]</a:t>
            </a:r>
            <a:endParaRPr sz="3075" baseline="-13550">
              <a:latin typeface="Yu Gothic"/>
              <a:cs typeface="Yu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1872" y="2771687"/>
            <a:ext cx="3707129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3230" algn="l"/>
                <a:tab pos="3218180" algn="l"/>
              </a:tabLst>
            </a:pPr>
            <a:r>
              <a:rPr sz="2050" b="1" i="1" spc="55" dirty="0">
                <a:latin typeface="Arial"/>
                <a:cs typeface="Arial"/>
              </a:rPr>
              <a:t>S</a:t>
            </a:r>
            <a:r>
              <a:rPr sz="1800" b="1" i="1" spc="82" baseline="-23148" dirty="0">
                <a:latin typeface="Arial"/>
                <a:cs typeface="Arial"/>
              </a:rPr>
              <a:t>2</a:t>
            </a:r>
            <a:r>
              <a:rPr sz="1800" b="1" i="1" baseline="-23148" dirty="0">
                <a:latin typeface="Arial"/>
                <a:cs typeface="Arial"/>
              </a:rPr>
              <a:t>	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185" dirty="0">
                <a:latin typeface="Times New Roman"/>
                <a:cs typeface="Times New Roman"/>
              </a:rPr>
              <a:t> </a:t>
            </a:r>
            <a:r>
              <a:rPr sz="2050" b="1" i="1" dirty="0">
                <a:latin typeface="Arial"/>
                <a:cs typeface="Arial"/>
              </a:rPr>
              <a:t>5</a:t>
            </a:r>
            <a:r>
              <a:rPr sz="2050" b="1" i="1" spc="85" dirty="0">
                <a:latin typeface="Arial"/>
                <a:cs typeface="Arial"/>
              </a:rPr>
              <a:t> </a:t>
            </a:r>
            <a:r>
              <a:rPr sz="2050" dirty="0">
                <a:latin typeface="Symbol"/>
                <a:cs typeface="Symbol"/>
              </a:rPr>
              <a:t>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b="1" i="1" dirty="0">
                <a:latin typeface="Arial"/>
                <a:cs typeface="Arial"/>
              </a:rPr>
              <a:t>cov</a:t>
            </a:r>
            <a:r>
              <a:rPr sz="2050" b="1" i="1" spc="135" dirty="0">
                <a:latin typeface="Arial"/>
                <a:cs typeface="Arial"/>
              </a:rPr>
              <a:t> </a:t>
            </a:r>
            <a:r>
              <a:rPr sz="4125" spc="-225" baseline="1010" dirty="0">
                <a:latin typeface="Symbol"/>
                <a:cs typeface="Symbol"/>
              </a:rPr>
              <a:t></a:t>
            </a:r>
            <a:r>
              <a:rPr sz="2050" b="1" i="1" spc="-150" dirty="0">
                <a:latin typeface="Arial"/>
                <a:cs typeface="Arial"/>
              </a:rPr>
              <a:t>c</a:t>
            </a:r>
            <a:r>
              <a:rPr sz="2050" b="1" i="1" spc="-390" dirty="0">
                <a:latin typeface="Arial"/>
                <a:cs typeface="Arial"/>
              </a:rPr>
              <a:t> </a:t>
            </a:r>
            <a:r>
              <a:rPr sz="1800" b="1" i="1" baseline="-23148" dirty="0">
                <a:latin typeface="Arial"/>
                <a:cs typeface="Arial"/>
              </a:rPr>
              <a:t>2</a:t>
            </a:r>
            <a:r>
              <a:rPr sz="1800" b="1" i="1" spc="240" baseline="-23148" dirty="0">
                <a:latin typeface="Arial"/>
                <a:cs typeface="Arial"/>
              </a:rPr>
              <a:t> </a:t>
            </a:r>
            <a:r>
              <a:rPr sz="4125" spc="-232" baseline="1010" dirty="0">
                <a:latin typeface="Symbol"/>
                <a:cs typeface="Symbol"/>
              </a:rPr>
              <a:t></a:t>
            </a:r>
            <a:r>
              <a:rPr sz="4125" spc="-359" baseline="10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325" dirty="0">
                <a:latin typeface="Times New Roman"/>
                <a:cs typeface="Times New Roman"/>
              </a:rPr>
              <a:t> </a:t>
            </a:r>
            <a:r>
              <a:rPr sz="3075" b="1" spc="-1957" baseline="21680" dirty="0">
                <a:latin typeface="Yu Gothic"/>
                <a:cs typeface="Yu Gothic"/>
              </a:rPr>
              <a:t>「</a:t>
            </a:r>
            <a:r>
              <a:rPr sz="3075" b="1" i="1" spc="-30" baseline="25745" dirty="0">
                <a:latin typeface="Arial"/>
                <a:cs typeface="Arial"/>
              </a:rPr>
              <a:t>17</a:t>
            </a:r>
            <a:r>
              <a:rPr sz="3075" b="1" i="1" spc="-390" baseline="25745" dirty="0">
                <a:latin typeface="Arial"/>
                <a:cs typeface="Arial"/>
              </a:rPr>
              <a:t> </a:t>
            </a:r>
            <a:r>
              <a:rPr sz="3075" b="1" i="1" spc="-37" baseline="25745" dirty="0">
                <a:latin typeface="Arial"/>
                <a:cs typeface="Arial"/>
              </a:rPr>
              <a:t>.3</a:t>
            </a:r>
            <a:r>
              <a:rPr sz="3075" b="1" i="1" baseline="25745" dirty="0">
                <a:latin typeface="Arial"/>
                <a:cs typeface="Arial"/>
              </a:rPr>
              <a:t>	</a:t>
            </a:r>
            <a:r>
              <a:rPr sz="3075" b="1" i="1" spc="-37" baseline="25745" dirty="0">
                <a:latin typeface="Arial"/>
                <a:cs typeface="Arial"/>
              </a:rPr>
              <a:t>16</a:t>
            </a:r>
            <a:r>
              <a:rPr sz="3075" b="1" spc="-37" baseline="21680" dirty="0">
                <a:latin typeface="Yu Gothic"/>
                <a:cs typeface="Yu Gothic"/>
              </a:rPr>
              <a:t> </a:t>
            </a:r>
            <a:endParaRPr sz="3075" baseline="21680">
              <a:latin typeface="Yu Gothic"/>
              <a:cs typeface="Yu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439" y="1166875"/>
            <a:ext cx="8350250" cy="1518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7665" indent="-342265">
              <a:lnSpc>
                <a:spcPts val="3275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367665" algn="l"/>
              </a:tabLst>
            </a:pPr>
            <a:r>
              <a:rPr sz="2800" dirty="0">
                <a:latin typeface="Arial MT"/>
                <a:cs typeface="Arial MT"/>
              </a:rPr>
              <a:t>First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</a:t>
            </a:r>
            <a:endParaRPr sz="2800">
              <a:latin typeface="Arial MT"/>
              <a:cs typeface="Arial MT"/>
            </a:endParaRPr>
          </a:p>
          <a:p>
            <a:pPr marL="365125">
              <a:lnSpc>
                <a:spcPts val="3335"/>
              </a:lnSpc>
              <a:tabLst>
                <a:tab pos="3108325" algn="l"/>
                <a:tab pos="4695825" algn="l"/>
                <a:tab pos="5098415" algn="l"/>
                <a:tab pos="7733665" algn="l"/>
              </a:tabLst>
            </a:pPr>
            <a:r>
              <a:rPr sz="2250" dirty="0">
                <a:latin typeface="Symbol"/>
                <a:cs typeface="Symbol"/>
              </a:rPr>
              <a:t></a:t>
            </a:r>
            <a:r>
              <a:rPr sz="1875" b="1" i="1" baseline="-24444" dirty="0">
                <a:latin typeface="Arial"/>
                <a:cs typeface="Arial"/>
              </a:rPr>
              <a:t>1</a:t>
            </a:r>
            <a:r>
              <a:rPr sz="1875" b="1" i="1" spc="172" baseline="-24444" dirty="0">
                <a:latin typeface="Arial"/>
                <a:cs typeface="Arial"/>
              </a:rPr>
              <a:t>  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275" dirty="0">
                <a:latin typeface="Times New Roman"/>
                <a:cs typeface="Times New Roman"/>
              </a:rPr>
              <a:t> </a:t>
            </a:r>
            <a:r>
              <a:rPr sz="2100" b="1" i="1" dirty="0">
                <a:latin typeface="Arial"/>
                <a:cs typeface="Arial"/>
              </a:rPr>
              <a:t>mean</a:t>
            </a:r>
            <a:r>
              <a:rPr sz="2100" b="1" i="1" spc="210" dirty="0">
                <a:latin typeface="Arial"/>
                <a:cs typeface="Arial"/>
              </a:rPr>
              <a:t> </a:t>
            </a:r>
            <a:r>
              <a:rPr sz="2850" spc="-20" dirty="0">
                <a:latin typeface="Symbol"/>
                <a:cs typeface="Symbol"/>
              </a:rPr>
              <a:t></a:t>
            </a:r>
            <a:r>
              <a:rPr sz="2100" b="1" i="1" spc="-20" dirty="0">
                <a:latin typeface="Arial"/>
                <a:cs typeface="Arial"/>
              </a:rPr>
              <a:t>c</a:t>
            </a:r>
            <a:r>
              <a:rPr sz="1875" b="1" i="1" spc="-30" baseline="-24444" dirty="0">
                <a:latin typeface="Arial"/>
                <a:cs typeface="Arial"/>
              </a:rPr>
              <a:t>1</a:t>
            </a:r>
            <a:r>
              <a:rPr sz="1875" b="1" i="1" spc="89" baseline="-24444" dirty="0">
                <a:latin typeface="Arial"/>
                <a:cs typeface="Arial"/>
              </a:rPr>
              <a:t> </a:t>
            </a:r>
            <a:r>
              <a:rPr sz="2850" spc="-160" dirty="0">
                <a:latin typeface="Symbol"/>
                <a:cs typeface="Symbol"/>
              </a:rPr>
              <a:t></a:t>
            </a:r>
            <a:r>
              <a:rPr sz="2850" spc="-2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215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Symbol"/>
                <a:cs typeface="Symbol"/>
              </a:rPr>
              <a:t></a:t>
            </a:r>
            <a:r>
              <a:rPr sz="2100" b="1" i="1" spc="-25" dirty="0">
                <a:latin typeface="Arial"/>
                <a:cs typeface="Arial"/>
              </a:rPr>
              <a:t>3</a:t>
            </a:r>
            <a:r>
              <a:rPr sz="2100" b="1" i="1" dirty="0">
                <a:latin typeface="Arial"/>
                <a:cs typeface="Arial"/>
              </a:rPr>
              <a:t>	</a:t>
            </a:r>
            <a:r>
              <a:rPr sz="2100" b="1" i="1" spc="85" dirty="0">
                <a:latin typeface="Arial"/>
                <a:cs typeface="Arial"/>
              </a:rPr>
              <a:t>3.6</a:t>
            </a:r>
            <a:r>
              <a:rPr sz="2100" b="1" i="1" spc="-250" dirty="0">
                <a:latin typeface="Arial"/>
                <a:cs typeface="Arial"/>
              </a:rPr>
              <a:t> </a:t>
            </a:r>
            <a:r>
              <a:rPr sz="2850" spc="-60" dirty="0">
                <a:latin typeface="Symbol"/>
                <a:cs typeface="Symbol"/>
              </a:rPr>
              <a:t></a:t>
            </a:r>
            <a:r>
              <a:rPr sz="2850" dirty="0">
                <a:latin typeface="Times New Roman"/>
                <a:cs typeface="Times New Roman"/>
              </a:rPr>
              <a:t>	</a:t>
            </a:r>
            <a:r>
              <a:rPr sz="2250" spc="-85" dirty="0">
                <a:latin typeface="Symbol"/>
                <a:cs typeface="Symbol"/>
              </a:rPr>
              <a:t></a:t>
            </a:r>
            <a:r>
              <a:rPr sz="2250" spc="-345" dirty="0">
                <a:latin typeface="Times New Roman"/>
                <a:cs typeface="Times New Roman"/>
              </a:rPr>
              <a:t> </a:t>
            </a:r>
            <a:r>
              <a:rPr sz="1875" b="1" i="1" spc="-75" baseline="-24444" dirty="0">
                <a:latin typeface="Arial"/>
                <a:cs typeface="Arial"/>
              </a:rPr>
              <a:t>2</a:t>
            </a:r>
            <a:r>
              <a:rPr sz="1875" b="1" i="1" baseline="-24444" dirty="0">
                <a:latin typeface="Arial"/>
                <a:cs typeface="Arial"/>
              </a:rPr>
              <a:t>	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260" dirty="0">
                <a:latin typeface="Times New Roman"/>
                <a:cs typeface="Times New Roman"/>
              </a:rPr>
              <a:t> </a:t>
            </a:r>
            <a:r>
              <a:rPr sz="2100" b="1" i="1" dirty="0">
                <a:latin typeface="Arial"/>
                <a:cs typeface="Arial"/>
              </a:rPr>
              <a:t>mean</a:t>
            </a:r>
            <a:r>
              <a:rPr sz="2100" b="1" i="1" spc="190" dirty="0">
                <a:latin typeface="Arial"/>
                <a:cs typeface="Arial"/>
              </a:rPr>
              <a:t> </a:t>
            </a:r>
            <a:r>
              <a:rPr sz="2850" dirty="0">
                <a:latin typeface="Symbol"/>
                <a:cs typeface="Symbol"/>
              </a:rPr>
              <a:t></a:t>
            </a:r>
            <a:r>
              <a:rPr sz="2100" b="1" i="1" dirty="0">
                <a:latin typeface="Arial"/>
                <a:cs typeface="Arial"/>
              </a:rPr>
              <a:t>c</a:t>
            </a:r>
            <a:r>
              <a:rPr sz="1875" b="1" i="1" baseline="-24444" dirty="0">
                <a:latin typeface="Arial"/>
                <a:cs typeface="Arial"/>
              </a:rPr>
              <a:t>2</a:t>
            </a:r>
            <a:r>
              <a:rPr sz="1875" b="1" i="1" spc="247" baseline="-24444" dirty="0">
                <a:latin typeface="Arial"/>
                <a:cs typeface="Arial"/>
              </a:rPr>
              <a:t> </a:t>
            </a:r>
            <a:r>
              <a:rPr sz="2850" spc="-160" dirty="0">
                <a:latin typeface="Symbol"/>
                <a:cs typeface="Symbol"/>
              </a:rPr>
              <a:t></a:t>
            </a:r>
            <a:r>
              <a:rPr sz="2850" spc="-2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200" dirty="0">
                <a:latin typeface="Times New Roman"/>
                <a:cs typeface="Times New Roman"/>
              </a:rPr>
              <a:t> </a:t>
            </a:r>
            <a:r>
              <a:rPr sz="2850" spc="-20" dirty="0">
                <a:latin typeface="Symbol"/>
                <a:cs typeface="Symbol"/>
              </a:rPr>
              <a:t></a:t>
            </a:r>
            <a:r>
              <a:rPr sz="2100" b="1" i="1" spc="-20" dirty="0">
                <a:latin typeface="Arial"/>
                <a:cs typeface="Arial"/>
              </a:rPr>
              <a:t>3.3</a:t>
            </a:r>
            <a:r>
              <a:rPr sz="2100" b="1" i="1" dirty="0">
                <a:latin typeface="Arial"/>
                <a:cs typeface="Arial"/>
              </a:rPr>
              <a:t>	2</a:t>
            </a:r>
            <a:r>
              <a:rPr sz="2100" b="1" i="1" spc="-245" dirty="0">
                <a:latin typeface="Arial"/>
                <a:cs typeface="Arial"/>
              </a:rPr>
              <a:t> </a:t>
            </a:r>
            <a:r>
              <a:rPr sz="2850" spc="-50" dirty="0">
                <a:latin typeface="Symbol"/>
                <a:cs typeface="Symbol"/>
              </a:rPr>
              <a:t></a:t>
            </a:r>
            <a:endParaRPr sz="2850">
              <a:latin typeface="Symbol"/>
              <a:cs typeface="Symbol"/>
            </a:endParaRPr>
          </a:p>
          <a:p>
            <a:pPr marL="367665" indent="-342265">
              <a:lnSpc>
                <a:spcPct val="100000"/>
              </a:lnSpc>
              <a:spcBef>
                <a:spcPts val="1789"/>
              </a:spcBef>
              <a:buClr>
                <a:srgbClr val="854300"/>
              </a:buClr>
              <a:buFont typeface="Microsoft Sans Serif"/>
              <a:buChar char="▪"/>
              <a:tabLst>
                <a:tab pos="367665" algn="l"/>
              </a:tabLst>
            </a:pPr>
            <a:r>
              <a:rPr sz="2800" dirty="0">
                <a:latin typeface="Arial MT"/>
                <a:cs typeface="Arial MT"/>
              </a:rPr>
              <a:t>Compute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scatter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matrices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S</a:t>
            </a:r>
            <a:r>
              <a:rPr sz="2850" b="1" i="1" baseline="-20467" dirty="0">
                <a:latin typeface="Arial"/>
                <a:cs typeface="Arial"/>
              </a:rPr>
              <a:t>1</a:t>
            </a:r>
            <a:r>
              <a:rPr sz="2850" b="1" i="1" spc="-44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S</a:t>
            </a:r>
            <a:r>
              <a:rPr sz="2850" b="1" i="1" baseline="-20467" dirty="0">
                <a:latin typeface="Arial"/>
                <a:cs typeface="Arial"/>
              </a:rPr>
              <a:t>2</a:t>
            </a:r>
            <a:r>
              <a:rPr sz="2850" b="1" i="1" spc="300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37103" y="3884475"/>
            <a:ext cx="2404110" cy="738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ts val="2790"/>
              </a:lnSpc>
              <a:spcBef>
                <a:spcPts val="125"/>
              </a:spcBef>
              <a:tabLst>
                <a:tab pos="384810" algn="l"/>
                <a:tab pos="1599565" algn="l"/>
                <a:tab pos="2209165" algn="l"/>
              </a:tabLst>
            </a:pPr>
            <a:r>
              <a:rPr sz="3900" spc="-75" baseline="-25641" dirty="0">
                <a:latin typeface="Symbol"/>
                <a:cs typeface="Symbol"/>
              </a:rPr>
              <a:t></a:t>
            </a:r>
            <a:r>
              <a:rPr sz="3900" baseline="-25641" dirty="0">
                <a:latin typeface="Times New Roman"/>
                <a:cs typeface="Times New Roman"/>
              </a:rPr>
              <a:t>	</a:t>
            </a:r>
            <a:r>
              <a:rPr sz="3900" spc="-1485" baseline="-56623" dirty="0">
                <a:latin typeface="Yu Gothic"/>
                <a:cs typeface="Yu Gothic"/>
              </a:rPr>
              <a:t>|</a:t>
            </a:r>
            <a:r>
              <a:rPr sz="3900" b="1" spc="-2190" baseline="-4273" dirty="0">
                <a:latin typeface="Yu Gothic"/>
                <a:cs typeface="Yu Gothic"/>
              </a:rPr>
              <a:t>「</a:t>
            </a:r>
            <a:r>
              <a:rPr sz="2600" b="1" i="1" dirty="0">
                <a:latin typeface="Arial"/>
                <a:cs typeface="Arial"/>
              </a:rPr>
              <a:t>27</a:t>
            </a:r>
            <a:r>
              <a:rPr sz="2600" b="1" i="1" spc="-325" dirty="0">
                <a:latin typeface="Arial"/>
                <a:cs typeface="Arial"/>
              </a:rPr>
              <a:t> </a:t>
            </a:r>
            <a:r>
              <a:rPr sz="2600" b="1" i="1" spc="20" dirty="0">
                <a:latin typeface="Arial"/>
                <a:cs typeface="Arial"/>
              </a:rPr>
              <a:t>.3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25" dirty="0">
                <a:latin typeface="Arial"/>
                <a:cs typeface="Arial"/>
              </a:rPr>
              <a:t>24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3900" b="1" baseline="-4273" dirty="0">
                <a:latin typeface="Yu Gothic"/>
                <a:cs typeface="Yu Gothic"/>
              </a:rPr>
              <a:t> </a:t>
            </a:r>
            <a:endParaRPr sz="3900" baseline="-4273">
              <a:latin typeface="Yu Gothic"/>
              <a:cs typeface="Yu Gothic"/>
            </a:endParaRPr>
          </a:p>
          <a:p>
            <a:pPr marL="384810">
              <a:lnSpc>
                <a:spcPts val="2790"/>
              </a:lnSpc>
              <a:tabLst>
                <a:tab pos="687705" algn="l"/>
                <a:tab pos="1440815" algn="l"/>
              </a:tabLst>
            </a:pPr>
            <a:r>
              <a:rPr sz="3900" b="1" spc="-2437" baseline="-12820" dirty="0">
                <a:latin typeface="Yu Gothic"/>
                <a:cs typeface="Yu Gothic"/>
              </a:rPr>
              <a:t>L</a:t>
            </a:r>
            <a:r>
              <a:rPr sz="3900" spc="-52" baseline="-4273" dirty="0">
                <a:latin typeface="Yu Gothic"/>
                <a:cs typeface="Yu Gothic"/>
              </a:rPr>
              <a:t>|</a:t>
            </a:r>
            <a:r>
              <a:rPr sz="3900" baseline="-4273" dirty="0">
                <a:latin typeface="Times New Roman"/>
                <a:cs typeface="Times New Roman"/>
              </a:rPr>
              <a:t>	</a:t>
            </a:r>
            <a:r>
              <a:rPr sz="2600" b="1" i="1" spc="-25" dirty="0">
                <a:latin typeface="Arial"/>
                <a:cs typeface="Arial"/>
              </a:rPr>
              <a:t>24</a:t>
            </a:r>
            <a:r>
              <a:rPr sz="2600" b="1" i="1" dirty="0">
                <a:latin typeface="Arial"/>
                <a:cs typeface="Arial"/>
              </a:rPr>
              <a:t>	23</a:t>
            </a:r>
            <a:r>
              <a:rPr sz="2600" b="1" i="1" spc="-325" dirty="0">
                <a:latin typeface="Arial"/>
                <a:cs typeface="Arial"/>
              </a:rPr>
              <a:t> </a:t>
            </a:r>
            <a:r>
              <a:rPr sz="2600" b="1" i="1" spc="45" dirty="0">
                <a:latin typeface="Arial"/>
                <a:cs typeface="Arial"/>
              </a:rPr>
              <a:t>.2</a:t>
            </a:r>
            <a:r>
              <a:rPr sz="2600" b="1" i="1" spc="-285" dirty="0">
                <a:latin typeface="Arial"/>
                <a:cs typeface="Arial"/>
              </a:rPr>
              <a:t> </a:t>
            </a:r>
            <a:r>
              <a:rPr sz="3900" spc="-1530" baseline="-4273" dirty="0">
                <a:latin typeface="Yu Gothic"/>
                <a:cs typeface="Yu Gothic"/>
              </a:rPr>
              <a:t>|</a:t>
            </a:r>
            <a:r>
              <a:rPr sz="3900" spc="-1514" baseline="-12820" dirty="0">
                <a:latin typeface="Yu Gothic"/>
                <a:cs typeface="Yu Gothic"/>
              </a:rPr>
              <a:t>]</a:t>
            </a:r>
            <a:r>
              <a:rPr sz="3900" spc="-1530" baseline="-4273" dirty="0">
                <a:latin typeface="Yu Gothic"/>
                <a:cs typeface="Yu Gothic"/>
              </a:rPr>
              <a:t>|</a:t>
            </a:r>
            <a:r>
              <a:rPr sz="3900" spc="-37" baseline="-13888" dirty="0">
                <a:latin typeface="Yu Gothic"/>
                <a:cs typeface="Yu Gothic"/>
              </a:rPr>
              <a:t>]</a:t>
            </a:r>
            <a:endParaRPr sz="3900" baseline="-13888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6739" y="3410513"/>
            <a:ext cx="4177029" cy="10553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919"/>
              </a:spcBef>
              <a:buClr>
                <a:srgbClr val="854300"/>
              </a:buClr>
              <a:buFont typeface="Microsoft Sans Serif"/>
              <a:buChar char="▪"/>
              <a:tabLst>
                <a:tab pos="380365" algn="l"/>
              </a:tabLst>
            </a:pPr>
            <a:r>
              <a:rPr sz="2800" dirty="0">
                <a:latin typeface="Arial MT"/>
                <a:cs typeface="Arial MT"/>
              </a:rPr>
              <a:t>Within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scatter:</a:t>
            </a:r>
            <a:endParaRPr sz="2800">
              <a:latin typeface="Arial MT"/>
              <a:cs typeface="Arial MT"/>
            </a:endParaRPr>
          </a:p>
          <a:p>
            <a:pPr marL="2025014">
              <a:lnSpc>
                <a:spcPct val="100000"/>
              </a:lnSpc>
              <a:spcBef>
                <a:spcPts val="800"/>
              </a:spcBef>
              <a:tabLst>
                <a:tab pos="2645410" algn="l"/>
              </a:tabLst>
            </a:pPr>
            <a:r>
              <a:rPr sz="2600" b="1" i="1" spc="35" dirty="0">
                <a:latin typeface="Arial"/>
                <a:cs typeface="Arial"/>
              </a:rPr>
              <a:t>S</a:t>
            </a:r>
            <a:r>
              <a:rPr sz="2250" b="1" i="1" spc="52" baseline="-24074" dirty="0">
                <a:latin typeface="Arial"/>
                <a:cs typeface="Arial"/>
              </a:rPr>
              <a:t>W</a:t>
            </a:r>
            <a:r>
              <a:rPr sz="2250" b="1" i="1" baseline="-24074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b="1" i="1" spc="50" dirty="0">
                <a:latin typeface="Arial"/>
                <a:cs typeface="Arial"/>
              </a:rPr>
              <a:t>S</a:t>
            </a:r>
            <a:r>
              <a:rPr sz="2250" b="1" i="1" spc="75" baseline="-24074" dirty="0">
                <a:latin typeface="Arial"/>
                <a:cs typeface="Arial"/>
              </a:rPr>
              <a:t>1</a:t>
            </a:r>
            <a:r>
              <a:rPr sz="2250" b="1" i="1" spc="104" baseline="-24074" dirty="0">
                <a:latin typeface="Arial"/>
                <a:cs typeface="Arial"/>
              </a:rPr>
              <a:t>  </a:t>
            </a:r>
            <a:r>
              <a:rPr sz="2600" dirty="0">
                <a:latin typeface="Symbol"/>
                <a:cs typeface="Symbol"/>
              </a:rPr>
              <a:t>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b="1" i="1" spc="75" dirty="0">
                <a:latin typeface="Arial"/>
                <a:cs typeface="Arial"/>
              </a:rPr>
              <a:t>S</a:t>
            </a:r>
            <a:r>
              <a:rPr sz="2250" b="1" i="1" spc="112" baseline="-24074" dirty="0">
                <a:latin typeface="Arial"/>
                <a:cs typeface="Arial"/>
              </a:rPr>
              <a:t>2</a:t>
            </a:r>
            <a:endParaRPr sz="2250" baseline="-24074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339" y="4614162"/>
            <a:ext cx="71412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854300"/>
              </a:buClr>
              <a:buFont typeface="Microsoft Sans Serif"/>
              <a:buChar char="▪"/>
              <a:tabLst>
                <a:tab pos="299085" algn="l"/>
                <a:tab pos="505968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rank,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don’t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solve</a:t>
            </a:r>
            <a:r>
              <a:rPr sz="2400" dirty="0">
                <a:latin typeface="Arial MT"/>
                <a:cs typeface="Arial MT"/>
              </a:rPr>
              <a:t>	for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eigenvalues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22085" y="5150918"/>
            <a:ext cx="2578100" cy="738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82395">
              <a:lnSpc>
                <a:spcPts val="2790"/>
              </a:lnSpc>
              <a:spcBef>
                <a:spcPts val="125"/>
              </a:spcBef>
            </a:pPr>
            <a:r>
              <a:rPr sz="2600" dirty="0">
                <a:latin typeface="Symbol"/>
                <a:cs typeface="Symbol"/>
              </a:rPr>
              <a:t>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b="1" i="1" spc="55" dirty="0">
                <a:latin typeface="Arial"/>
                <a:cs typeface="Arial"/>
              </a:rPr>
              <a:t>0.41</a:t>
            </a:r>
            <a:r>
              <a:rPr sz="3900" b="1" spc="82" baseline="-4273" dirty="0">
                <a:latin typeface="Yu Gothic"/>
                <a:cs typeface="Yu Gothic"/>
              </a:rPr>
              <a:t> </a:t>
            </a:r>
            <a:endParaRPr sz="3900" baseline="-4273">
              <a:latin typeface="Yu Gothic"/>
              <a:cs typeface="Yu Gothic"/>
            </a:endParaRPr>
          </a:p>
          <a:p>
            <a:pPr marL="50800">
              <a:lnSpc>
                <a:spcPts val="2790"/>
              </a:lnSpc>
              <a:tabLst>
                <a:tab pos="1490345" algn="l"/>
                <a:tab pos="2395855" algn="l"/>
              </a:tabLst>
            </a:pPr>
            <a:r>
              <a:rPr sz="3900" spc="-1364" baseline="-12820" dirty="0">
                <a:latin typeface="Yu Gothic"/>
                <a:cs typeface="Yu Gothic"/>
              </a:rPr>
              <a:t>L</a:t>
            </a:r>
            <a:r>
              <a:rPr sz="3900" spc="-1364" baseline="-4273" dirty="0">
                <a:latin typeface="Yu Gothic"/>
                <a:cs typeface="Yu Gothic"/>
              </a:rPr>
              <a:t>|</a:t>
            </a:r>
            <a:r>
              <a:rPr sz="3900" spc="-1364" baseline="-13888" dirty="0">
                <a:latin typeface="Yu Gothic"/>
                <a:cs typeface="Yu Gothic"/>
              </a:rPr>
              <a:t>L</a:t>
            </a:r>
            <a:r>
              <a:rPr sz="3900" spc="-1364" baseline="-4273" dirty="0">
                <a:latin typeface="Yu Gothic"/>
                <a:cs typeface="Yu Gothic"/>
              </a:rPr>
              <a:t>|</a:t>
            </a:r>
            <a:r>
              <a:rPr sz="3900" spc="-1364" baseline="-12820" dirty="0">
                <a:latin typeface="Yu Gothic"/>
                <a:cs typeface="Yu Gothic"/>
              </a:rPr>
              <a:t>L</a:t>
            </a:r>
            <a:r>
              <a:rPr sz="3900" spc="-1364" baseline="-4273" dirty="0">
                <a:latin typeface="Yu Gothic"/>
                <a:cs typeface="Yu Gothic"/>
              </a:rPr>
              <a:t>|</a:t>
            </a:r>
            <a:r>
              <a:rPr sz="2600" spc="-910" dirty="0">
                <a:latin typeface="Symbol"/>
                <a:cs typeface="Symbol"/>
              </a:rPr>
              <a:t>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b="1" i="1" spc="50" dirty="0">
                <a:latin typeface="Arial"/>
                <a:cs typeface="Arial"/>
              </a:rPr>
              <a:t>0.41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55" dirty="0">
                <a:latin typeface="Arial"/>
                <a:cs typeface="Arial"/>
              </a:rPr>
              <a:t>0.47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3900" spc="-1530" baseline="-4273" dirty="0">
                <a:latin typeface="Yu Gothic"/>
                <a:cs typeface="Yu Gothic"/>
              </a:rPr>
              <a:t>|</a:t>
            </a:r>
            <a:r>
              <a:rPr sz="3900" spc="-1514" baseline="-12820" dirty="0">
                <a:latin typeface="Yu Gothic"/>
                <a:cs typeface="Yu Gothic"/>
              </a:rPr>
              <a:t>]</a:t>
            </a:r>
            <a:r>
              <a:rPr sz="3900" spc="-1530" baseline="-4273" dirty="0">
                <a:latin typeface="Yu Gothic"/>
                <a:cs typeface="Yu Gothic"/>
              </a:rPr>
              <a:t>|</a:t>
            </a:r>
            <a:r>
              <a:rPr sz="3900" spc="-37" baseline="-13888" dirty="0">
                <a:latin typeface="Yu Gothic"/>
                <a:cs typeface="Yu Gothic"/>
              </a:rPr>
              <a:t>]</a:t>
            </a:r>
            <a:endParaRPr sz="3900" baseline="-13888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13574" y="5036292"/>
            <a:ext cx="1562100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58800" algn="l"/>
                <a:tab pos="835025" algn="l"/>
              </a:tabLst>
            </a:pPr>
            <a:r>
              <a:rPr sz="5250" spc="-270" baseline="-19047" dirty="0">
                <a:latin typeface="Symbol"/>
                <a:cs typeface="Symbol"/>
              </a:rPr>
              <a:t></a:t>
            </a:r>
            <a:r>
              <a:rPr sz="5250" spc="-465" baseline="-19047" dirty="0">
                <a:latin typeface="Times New Roman"/>
                <a:cs typeface="Times New Roman"/>
              </a:rPr>
              <a:t> </a:t>
            </a:r>
            <a:r>
              <a:rPr sz="3900" spc="-75" baseline="-25641" dirty="0">
                <a:latin typeface="Symbol"/>
                <a:cs typeface="Symbol"/>
              </a:rPr>
              <a:t></a:t>
            </a:r>
            <a:r>
              <a:rPr sz="3900" baseline="-25641" dirty="0">
                <a:latin typeface="Times New Roman"/>
                <a:cs typeface="Times New Roman"/>
              </a:rPr>
              <a:t>	</a:t>
            </a:r>
            <a:r>
              <a:rPr sz="3900" b="1" spc="-2497" baseline="-4273" dirty="0">
                <a:latin typeface="Yu Gothic"/>
                <a:cs typeface="Yu Gothic"/>
              </a:rPr>
              <a:t>「</a:t>
            </a:r>
            <a:r>
              <a:rPr sz="3900" baseline="-4273" dirty="0">
                <a:latin typeface="Times New Roman"/>
                <a:cs typeface="Times New Roman"/>
              </a:rPr>
              <a:t>	</a:t>
            </a:r>
            <a:r>
              <a:rPr sz="2600" b="1" i="1" spc="55" dirty="0">
                <a:latin typeface="Arial"/>
                <a:cs typeface="Arial"/>
              </a:rPr>
              <a:t>0.39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2139" y="5281674"/>
            <a:ext cx="29629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inverse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spc="-50" dirty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48886" y="5484365"/>
            <a:ext cx="252729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50" dirty="0">
                <a:latin typeface="Arial"/>
                <a:cs typeface="Arial"/>
              </a:rPr>
              <a:t>W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5982" y="5191740"/>
            <a:ext cx="2533015" cy="596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3429"/>
              </a:lnSpc>
              <a:spcBef>
                <a:spcPts val="125"/>
              </a:spcBef>
              <a:tabLst>
                <a:tab pos="1074420" algn="l"/>
                <a:tab pos="1385570" algn="l"/>
              </a:tabLst>
            </a:pPr>
            <a:r>
              <a:rPr sz="2800" dirty="0">
                <a:latin typeface="Arial MT"/>
                <a:cs typeface="Arial MT"/>
              </a:rPr>
              <a:t>is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600" b="1" i="1" dirty="0">
                <a:latin typeface="Arial"/>
                <a:cs typeface="Arial"/>
              </a:rPr>
              <a:t>S</a:t>
            </a:r>
            <a:r>
              <a:rPr sz="2600" b="1" i="1" spc="-245" dirty="0">
                <a:latin typeface="Arial"/>
                <a:cs typeface="Arial"/>
              </a:rPr>
              <a:t> </a:t>
            </a:r>
            <a:r>
              <a:rPr sz="2250" spc="52" baseline="44444" dirty="0">
                <a:latin typeface="Symbol"/>
                <a:cs typeface="Symbol"/>
              </a:rPr>
              <a:t></a:t>
            </a:r>
            <a:r>
              <a:rPr sz="2250" b="1" i="1" spc="52" baseline="44444" dirty="0">
                <a:latin typeface="Arial"/>
                <a:cs typeface="Arial"/>
              </a:rPr>
              <a:t>1</a:t>
            </a:r>
            <a:r>
              <a:rPr sz="2250" b="1" i="1" baseline="44444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b="1" i="1" dirty="0">
                <a:latin typeface="Arial"/>
                <a:cs typeface="Arial"/>
              </a:rPr>
              <a:t>inv</a:t>
            </a:r>
            <a:r>
              <a:rPr sz="2600" b="1" i="1" spc="100" dirty="0">
                <a:latin typeface="Arial"/>
                <a:cs typeface="Arial"/>
              </a:rPr>
              <a:t> </a:t>
            </a:r>
            <a:r>
              <a:rPr sz="3500" spc="-25" dirty="0">
                <a:latin typeface="Symbol"/>
                <a:cs typeface="Symbol"/>
              </a:rPr>
              <a:t></a:t>
            </a:r>
            <a:r>
              <a:rPr sz="2600" b="1" i="1" spc="-25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  <a:p>
            <a:pPr marL="649605">
              <a:lnSpc>
                <a:spcPts val="1030"/>
              </a:lnSpc>
              <a:tabLst>
                <a:tab pos="2310765" algn="l"/>
              </a:tabLst>
            </a:pPr>
            <a:r>
              <a:rPr sz="1500" b="1" i="1" spc="-50" dirty="0">
                <a:latin typeface="Arial"/>
                <a:cs typeface="Arial"/>
              </a:rPr>
              <a:t>W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2139" y="5891273"/>
            <a:ext cx="5735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Finally,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optimal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direction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b="1" i="1" spc="-50" dirty="0">
                <a:latin typeface="Arial"/>
                <a:cs typeface="Arial"/>
              </a:rPr>
              <a:t>v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31992" y="6641389"/>
            <a:ext cx="140398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24485" algn="l"/>
                <a:tab pos="1233805" algn="l"/>
              </a:tabLst>
            </a:pPr>
            <a:r>
              <a:rPr sz="2600" spc="-1710" dirty="0">
                <a:latin typeface="Yu Gothic"/>
                <a:cs typeface="Yu Gothic"/>
              </a:rPr>
              <a:t>L</a:t>
            </a:r>
            <a:r>
              <a:rPr sz="3900" spc="-1687" baseline="9615" dirty="0">
                <a:latin typeface="Yu Gothic"/>
                <a:cs typeface="Yu Gothic"/>
              </a:rPr>
              <a:t>|</a:t>
            </a:r>
            <a:r>
              <a:rPr sz="2600" spc="-1710" dirty="0">
                <a:latin typeface="Yu Gothic"/>
                <a:cs typeface="Yu Gothic"/>
              </a:rPr>
              <a:t>L</a:t>
            </a:r>
            <a:r>
              <a:rPr sz="3900" spc="-1725" baseline="9615" dirty="0">
                <a:latin typeface="Yu Gothic"/>
                <a:cs typeface="Yu Gothic"/>
              </a:rPr>
              <a:t>|</a:t>
            </a:r>
            <a:r>
              <a:rPr sz="2600" spc="-155" dirty="0">
                <a:latin typeface="Yu Gothic"/>
                <a:cs typeface="Yu Gothic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3900" b="1" i="1" spc="82" baseline="13888" dirty="0">
                <a:latin typeface="Arial"/>
                <a:cs typeface="Arial"/>
              </a:rPr>
              <a:t>0.89</a:t>
            </a:r>
            <a:r>
              <a:rPr sz="3900" b="1" i="1" baseline="13888" dirty="0">
                <a:latin typeface="Arial"/>
                <a:cs typeface="Arial"/>
              </a:rPr>
              <a:t>	</a:t>
            </a:r>
            <a:r>
              <a:rPr sz="3900" spc="-1530" baseline="9615" dirty="0">
                <a:latin typeface="Yu Gothic"/>
                <a:cs typeface="Yu Gothic"/>
              </a:rPr>
              <a:t>|</a:t>
            </a:r>
            <a:r>
              <a:rPr sz="2600" spc="-1010" dirty="0">
                <a:latin typeface="Yu Gothic"/>
                <a:cs typeface="Yu Gothic"/>
              </a:rPr>
              <a:t>]</a:t>
            </a:r>
            <a:r>
              <a:rPr sz="3900" spc="-1530" baseline="9615" dirty="0">
                <a:latin typeface="Yu Gothic"/>
                <a:cs typeface="Yu Gothic"/>
              </a:rPr>
              <a:t>|</a:t>
            </a:r>
            <a:r>
              <a:rPr sz="2600" spc="-25" dirty="0">
                <a:latin typeface="Yu Gothic"/>
                <a:cs typeface="Yu Gothic"/>
              </a:rPr>
              <a:t>]</a:t>
            </a:r>
            <a:endParaRPr sz="260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36830" y="6402123"/>
            <a:ext cx="89281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8140" algn="l"/>
              </a:tabLst>
            </a:pPr>
            <a:r>
              <a:rPr sz="2600" b="1" i="1" spc="-5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b="1" i="1" spc="-6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88251" y="6624876"/>
            <a:ext cx="89154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69620" algn="l"/>
              </a:tabLst>
            </a:pPr>
            <a:r>
              <a:rPr sz="1500" b="1" i="1" spc="-50" dirty="0">
                <a:latin typeface="Arial"/>
                <a:cs typeface="Arial"/>
              </a:rPr>
              <a:t>1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16166" y="6391704"/>
            <a:ext cx="302895" cy="4921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30"/>
              </a:spcBef>
            </a:pPr>
            <a:r>
              <a:rPr sz="1500" spc="30" dirty="0">
                <a:latin typeface="Symbol"/>
                <a:cs typeface="Symbol"/>
              </a:rPr>
              <a:t></a:t>
            </a:r>
            <a:r>
              <a:rPr sz="1500" b="1" i="1" spc="3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00" b="1" i="1" spc="-50" dirty="0"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94506" y="6132047"/>
            <a:ext cx="2638425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753745" algn="l"/>
                <a:tab pos="1275080" algn="l"/>
              </a:tabLst>
            </a:pPr>
            <a:r>
              <a:rPr sz="3900" baseline="-25641" dirty="0">
                <a:latin typeface="Symbol"/>
                <a:cs typeface="Symbol"/>
              </a:rPr>
              <a:t></a:t>
            </a:r>
            <a:r>
              <a:rPr sz="3900" spc="419" baseline="-25641" dirty="0">
                <a:latin typeface="Times New Roman"/>
                <a:cs typeface="Times New Roman"/>
              </a:rPr>
              <a:t> </a:t>
            </a:r>
            <a:r>
              <a:rPr sz="4125" spc="-75" baseline="-24242" dirty="0">
                <a:latin typeface="Symbol"/>
                <a:cs typeface="Symbol"/>
              </a:rPr>
              <a:t></a:t>
            </a:r>
            <a:r>
              <a:rPr sz="4125" baseline="-24242" dirty="0">
                <a:latin typeface="Times New Roman"/>
                <a:cs typeface="Times New Roman"/>
              </a:rPr>
              <a:t>	</a:t>
            </a:r>
            <a:r>
              <a:rPr sz="5250" spc="-270" baseline="-19047" dirty="0">
                <a:latin typeface="Symbol"/>
                <a:cs typeface="Symbol"/>
              </a:rPr>
              <a:t></a:t>
            </a:r>
            <a:r>
              <a:rPr sz="5250" spc="-465" baseline="-19047" dirty="0">
                <a:latin typeface="Times New Roman"/>
                <a:cs typeface="Times New Roman"/>
              </a:rPr>
              <a:t> </a:t>
            </a:r>
            <a:r>
              <a:rPr sz="3900" spc="-75" baseline="-25641" dirty="0">
                <a:latin typeface="Symbol"/>
                <a:cs typeface="Symbol"/>
              </a:rPr>
              <a:t></a:t>
            </a:r>
            <a:r>
              <a:rPr sz="3900" baseline="-25641" dirty="0">
                <a:latin typeface="Times New Roman"/>
                <a:cs typeface="Times New Roman"/>
              </a:rPr>
              <a:t>	</a:t>
            </a:r>
            <a:r>
              <a:rPr sz="3900" b="1" spc="-2062" baseline="-4273" dirty="0">
                <a:latin typeface="Yu Gothic"/>
                <a:cs typeface="Yu Gothic"/>
              </a:rPr>
              <a:t>「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b="1" i="1" spc="50" dirty="0">
                <a:latin typeface="Arial"/>
                <a:cs typeface="Arial"/>
              </a:rPr>
              <a:t>0.79</a:t>
            </a:r>
            <a:r>
              <a:rPr sz="3900" b="1" spc="75" baseline="-4273" dirty="0">
                <a:latin typeface="Yu Gothic"/>
                <a:cs typeface="Yu Gothic"/>
              </a:rPr>
              <a:t> </a:t>
            </a:r>
            <a:endParaRPr sz="3900" baseline="-4273">
              <a:latin typeface="Yu Gothic"/>
              <a:cs typeface="Yu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46878" y="6287495"/>
            <a:ext cx="347345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90" dirty="0">
                <a:latin typeface="Symbol"/>
                <a:cs typeface="Symbol"/>
              </a:rPr>
              <a:t></a:t>
            </a:r>
            <a:r>
              <a:rPr sz="2750" spc="-90" dirty="0">
                <a:latin typeface="Symbol"/>
                <a:cs typeface="Symbol"/>
              </a:rPr>
              <a:t></a:t>
            </a:r>
            <a:endParaRPr sz="27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099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/>
              <a:t>Fisher</a:t>
            </a:r>
            <a:r>
              <a:rPr spc="-85" dirty="0"/>
              <a:t> </a:t>
            </a:r>
            <a:r>
              <a:rPr dirty="0"/>
              <a:t>Linear</a:t>
            </a:r>
            <a:r>
              <a:rPr spc="-85" dirty="0"/>
              <a:t> </a:t>
            </a:r>
            <a:r>
              <a:rPr dirty="0"/>
              <a:t>Discriminant</a:t>
            </a:r>
            <a:r>
              <a:rPr spc="-7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143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599" y="0"/>
                </a:lnTo>
              </a:path>
            </a:pathLst>
          </a:custGeom>
          <a:ln w="28955">
            <a:solidFill>
              <a:srgbClr val="854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527547" y="1447800"/>
            <a:ext cx="3693160" cy="3278504"/>
            <a:chOff x="5527547" y="1447800"/>
            <a:chExt cx="3693160" cy="32785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7547" y="1447800"/>
              <a:ext cx="3692651" cy="32781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2823" y="3122675"/>
              <a:ext cx="137159" cy="1371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0623" y="1903476"/>
              <a:ext cx="137159" cy="1371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7823" y="1903476"/>
              <a:ext cx="137159" cy="1371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0023" y="2741675"/>
              <a:ext cx="137159" cy="1371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3423" y="2741675"/>
              <a:ext cx="137159" cy="1371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07223" y="3579875"/>
              <a:ext cx="137159" cy="1371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3423" y="3122675"/>
              <a:ext cx="137159" cy="1371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8603" y="3589019"/>
              <a:ext cx="135635" cy="1371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97823" y="2741675"/>
              <a:ext cx="137159" cy="1371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2823" y="3960875"/>
              <a:ext cx="137159" cy="1371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5023" y="1903476"/>
              <a:ext cx="137159" cy="13715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670547" y="1905000"/>
              <a:ext cx="1828800" cy="1402080"/>
            </a:xfrm>
            <a:custGeom>
              <a:avLst/>
              <a:gdLst/>
              <a:ahLst/>
              <a:cxnLst/>
              <a:rect l="l" t="t" r="r" b="b"/>
              <a:pathLst>
                <a:path w="1828800" h="1402079">
                  <a:moveTo>
                    <a:pt x="0" y="1295399"/>
                  </a:moveTo>
                  <a:lnTo>
                    <a:pt x="228599" y="1051559"/>
                  </a:lnTo>
                </a:path>
                <a:path w="1828800" h="1402079">
                  <a:moveTo>
                    <a:pt x="609599" y="1295399"/>
                  </a:moveTo>
                  <a:lnTo>
                    <a:pt x="914399" y="928115"/>
                  </a:lnTo>
                </a:path>
                <a:path w="1828800" h="1402079">
                  <a:moveTo>
                    <a:pt x="304799" y="1080515"/>
                  </a:moveTo>
                  <a:lnTo>
                    <a:pt x="518159" y="838199"/>
                  </a:lnTo>
                </a:path>
                <a:path w="1828800" h="1402079">
                  <a:moveTo>
                    <a:pt x="457199" y="1205483"/>
                  </a:moveTo>
                  <a:lnTo>
                    <a:pt x="1508759" y="0"/>
                  </a:lnTo>
                </a:path>
                <a:path w="1828800" h="1402079">
                  <a:moveTo>
                    <a:pt x="693419" y="1402079"/>
                  </a:moveTo>
                  <a:lnTo>
                    <a:pt x="1828799" y="137159"/>
                  </a:lnTo>
                </a:path>
              </a:pathLst>
            </a:custGeom>
            <a:ln w="18287">
              <a:solidFill>
                <a:srgbClr val="3131CD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70547" y="1994915"/>
              <a:ext cx="2353310" cy="2028825"/>
            </a:xfrm>
            <a:custGeom>
              <a:avLst/>
              <a:gdLst/>
              <a:ahLst/>
              <a:cxnLst/>
              <a:rect l="l" t="t" r="r" b="b"/>
              <a:pathLst>
                <a:path w="2353309" h="2028825">
                  <a:moveTo>
                    <a:pt x="0" y="2028443"/>
                  </a:moveTo>
                  <a:lnTo>
                    <a:pt x="693419" y="1312163"/>
                  </a:lnTo>
                </a:path>
                <a:path w="2353309" h="2028825">
                  <a:moveTo>
                    <a:pt x="1161287" y="1586483"/>
                  </a:moveTo>
                  <a:lnTo>
                    <a:pt x="1854707" y="838199"/>
                  </a:lnTo>
                </a:path>
                <a:path w="2353309" h="2028825">
                  <a:moveTo>
                    <a:pt x="975359" y="1510283"/>
                  </a:moveTo>
                  <a:lnTo>
                    <a:pt x="2353055" y="0"/>
                  </a:lnTo>
                </a:path>
                <a:path w="2353309" h="2028825">
                  <a:moveTo>
                    <a:pt x="819911" y="1359407"/>
                  </a:moveTo>
                  <a:lnTo>
                    <a:pt x="975359" y="1205483"/>
                  </a:lnTo>
                </a:path>
                <a:path w="2353309" h="2028825">
                  <a:moveTo>
                    <a:pt x="911351" y="1664207"/>
                  </a:moveTo>
                  <a:lnTo>
                    <a:pt x="1066799" y="1510283"/>
                  </a:lnTo>
                </a:path>
                <a:path w="2353309" h="2028825">
                  <a:moveTo>
                    <a:pt x="457199" y="1723643"/>
                  </a:moveTo>
                  <a:lnTo>
                    <a:pt x="819911" y="1359407"/>
                  </a:lnTo>
                </a:path>
              </a:pathLst>
            </a:custGeom>
            <a:ln w="18287">
              <a:solidFill>
                <a:srgbClr val="CD31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" indent="-342900">
              <a:lnSpc>
                <a:spcPct val="100099"/>
              </a:lnSpc>
              <a:spcBef>
                <a:spcPts val="90"/>
              </a:spcBef>
              <a:buClr>
                <a:srgbClr val="854300"/>
              </a:buClr>
              <a:buFont typeface="Microsoft Sans Serif"/>
              <a:buChar char="▪"/>
              <a:tabLst>
                <a:tab pos="354965" algn="l"/>
              </a:tabLst>
            </a:pPr>
            <a:r>
              <a:rPr dirty="0"/>
              <a:t>Notice,</a:t>
            </a:r>
            <a:r>
              <a:rPr spc="-4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long</a:t>
            </a:r>
            <a:r>
              <a:rPr spc="-30" dirty="0"/>
              <a:t> </a:t>
            </a:r>
            <a:r>
              <a:rPr dirty="0"/>
              <a:t>as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line </a:t>
            </a:r>
            <a:r>
              <a:rPr dirty="0"/>
              <a:t>has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right</a:t>
            </a:r>
            <a:r>
              <a:rPr spc="-45" dirty="0"/>
              <a:t> </a:t>
            </a:r>
            <a:r>
              <a:rPr dirty="0"/>
              <a:t>direction,</a:t>
            </a:r>
            <a:r>
              <a:rPr spc="-45" dirty="0"/>
              <a:t> </a:t>
            </a:r>
            <a:r>
              <a:rPr spc="-25" dirty="0"/>
              <a:t>its </a:t>
            </a:r>
            <a:r>
              <a:rPr dirty="0"/>
              <a:t>exact</a:t>
            </a:r>
            <a:r>
              <a:rPr spc="-60" dirty="0"/>
              <a:t> </a:t>
            </a:r>
            <a:r>
              <a:rPr dirty="0"/>
              <a:t>position</a:t>
            </a:r>
            <a:r>
              <a:rPr spc="-50" dirty="0"/>
              <a:t> </a:t>
            </a:r>
            <a:r>
              <a:rPr dirty="0"/>
              <a:t>does</a:t>
            </a:r>
            <a:r>
              <a:rPr spc="-50" dirty="0"/>
              <a:t> </a:t>
            </a:r>
            <a:r>
              <a:rPr spc="-25" dirty="0"/>
              <a:t>not </a:t>
            </a:r>
            <a:r>
              <a:rPr spc="-10" dirty="0"/>
              <a:t>matter</a:t>
            </a:r>
          </a:p>
          <a:p>
            <a:pPr marL="354965" marR="300355" indent="-342900" algn="just">
              <a:lnSpc>
                <a:spcPct val="100099"/>
              </a:lnSpc>
              <a:spcBef>
                <a:spcPts val="2865"/>
              </a:spcBef>
              <a:buClr>
                <a:srgbClr val="854300"/>
              </a:buClr>
              <a:buFont typeface="Microsoft Sans Serif"/>
              <a:buChar char="▪"/>
              <a:tabLst>
                <a:tab pos="354965" algn="l"/>
              </a:tabLst>
            </a:pPr>
            <a:r>
              <a:rPr dirty="0"/>
              <a:t>Last</a:t>
            </a:r>
            <a:r>
              <a:rPr spc="-30" dirty="0"/>
              <a:t> </a:t>
            </a:r>
            <a:r>
              <a:rPr dirty="0"/>
              <a:t>step</a:t>
            </a:r>
            <a:r>
              <a:rPr spc="-3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10" dirty="0"/>
              <a:t>compute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actual</a:t>
            </a:r>
            <a:r>
              <a:rPr spc="-20" dirty="0"/>
              <a:t> </a:t>
            </a:r>
            <a:r>
              <a:rPr b="1" i="1" dirty="0">
                <a:latin typeface="Arial"/>
                <a:cs typeface="Arial"/>
              </a:rPr>
              <a:t>1D</a:t>
            </a:r>
            <a:r>
              <a:rPr b="1" i="1" spc="-30" dirty="0">
                <a:latin typeface="Arial"/>
                <a:cs typeface="Arial"/>
              </a:rPr>
              <a:t>  </a:t>
            </a:r>
            <a:r>
              <a:rPr dirty="0"/>
              <a:t>vector</a:t>
            </a:r>
            <a:r>
              <a:rPr spc="-25" dirty="0"/>
              <a:t>  </a:t>
            </a:r>
            <a:r>
              <a:rPr b="1" i="1" spc="-25" dirty="0">
                <a:latin typeface="Arial"/>
                <a:cs typeface="Arial"/>
              </a:rPr>
              <a:t>y</a:t>
            </a:r>
            <a:r>
              <a:rPr spc="-25" dirty="0"/>
              <a:t>. </a:t>
            </a:r>
            <a:r>
              <a:rPr dirty="0"/>
              <a:t>Let’s</a:t>
            </a:r>
            <a:r>
              <a:rPr spc="-40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dirty="0"/>
              <a:t>it</a:t>
            </a:r>
            <a:r>
              <a:rPr spc="-50" dirty="0"/>
              <a:t> </a:t>
            </a:r>
            <a:r>
              <a:rPr dirty="0"/>
              <a:t>separately</a:t>
            </a:r>
            <a:r>
              <a:rPr spc="-40" dirty="0"/>
              <a:t> </a:t>
            </a:r>
            <a:r>
              <a:rPr spc="-25" dirty="0"/>
              <a:t>for </a:t>
            </a:r>
            <a:r>
              <a:rPr dirty="0"/>
              <a:t>each</a:t>
            </a:r>
            <a:r>
              <a:rPr spc="-45" dirty="0"/>
              <a:t> </a:t>
            </a:r>
            <a:r>
              <a:rPr spc="-20" dirty="0"/>
              <a:t>class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655822" y="5835116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89444" y="5793433"/>
            <a:ext cx="123317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00" spc="-994" dirty="0">
                <a:latin typeface="Yu Gothic"/>
                <a:cs typeface="Yu Gothic"/>
              </a:rPr>
              <a:t>|</a:t>
            </a:r>
            <a:r>
              <a:rPr sz="3900" b="1" spc="-2400" baseline="-9615" dirty="0">
                <a:latin typeface="Yu Gothic"/>
                <a:cs typeface="Yu Gothic"/>
              </a:rPr>
              <a:t>L</a:t>
            </a:r>
            <a:r>
              <a:rPr sz="2600" spc="114" dirty="0">
                <a:latin typeface="Yu Gothic"/>
                <a:cs typeface="Yu Gothic"/>
              </a:rPr>
              <a:t>|</a:t>
            </a:r>
            <a:r>
              <a:rPr sz="3900" b="1" baseline="4273" dirty="0">
                <a:latin typeface="Arial"/>
                <a:cs typeface="Arial"/>
              </a:rPr>
              <a:t>2</a:t>
            </a:r>
            <a:r>
              <a:rPr sz="3900" b="1" spc="-359" baseline="4273" dirty="0">
                <a:latin typeface="Arial"/>
                <a:cs typeface="Arial"/>
              </a:rPr>
              <a:t> </a:t>
            </a:r>
            <a:r>
              <a:rPr sz="3900" spc="217" baseline="4273" dirty="0">
                <a:latin typeface="Segoe UI Symbol"/>
                <a:cs typeface="Segoe UI Symbol"/>
              </a:rPr>
              <a:t>⋯</a:t>
            </a:r>
            <a:r>
              <a:rPr sz="3900" spc="-75" baseline="4273" dirty="0">
                <a:latin typeface="Times New Roman"/>
                <a:cs typeface="Times New Roman"/>
              </a:rPr>
              <a:t> </a:t>
            </a:r>
            <a:r>
              <a:rPr sz="3900" b="1" baseline="4273" dirty="0">
                <a:latin typeface="Arial"/>
                <a:cs typeface="Arial"/>
              </a:rPr>
              <a:t>5</a:t>
            </a:r>
            <a:r>
              <a:rPr sz="3900" b="1" spc="-644" baseline="4273" dirty="0">
                <a:latin typeface="Arial"/>
                <a:cs typeface="Arial"/>
              </a:rPr>
              <a:t> </a:t>
            </a:r>
            <a:r>
              <a:rPr sz="2600" spc="-1035" dirty="0">
                <a:latin typeface="Yu Gothic"/>
                <a:cs typeface="Yu Gothic"/>
              </a:rPr>
              <a:t>|</a:t>
            </a:r>
            <a:r>
              <a:rPr sz="3900" spc="-1545" baseline="-9615" dirty="0">
                <a:latin typeface="Yu Gothic"/>
                <a:cs typeface="Yu Gothic"/>
              </a:rPr>
              <a:t>]</a:t>
            </a:r>
            <a:r>
              <a:rPr sz="2600" spc="-1035" dirty="0">
                <a:latin typeface="Yu Gothic"/>
                <a:cs typeface="Yu Gothic"/>
              </a:rPr>
              <a:t>|</a:t>
            </a:r>
            <a:r>
              <a:rPr sz="3900" spc="-60" baseline="-9615" dirty="0">
                <a:latin typeface="Yu Gothic"/>
                <a:cs typeface="Yu Gothic"/>
              </a:rPr>
              <a:t>]</a:t>
            </a:r>
            <a:endParaRPr sz="3900" baseline="-9615">
              <a:latin typeface="Yu Gothic"/>
              <a:cs typeface="Yu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90317" y="5492897"/>
            <a:ext cx="7778115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1633855" algn="l"/>
                <a:tab pos="3345179" algn="l"/>
                <a:tab pos="5521325" algn="l"/>
              </a:tabLst>
            </a:pPr>
            <a:r>
              <a:rPr sz="2600" b="1" i="1" spc="75" dirty="0">
                <a:latin typeface="Arial"/>
                <a:cs typeface="Arial"/>
              </a:rPr>
              <a:t>Y</a:t>
            </a:r>
            <a:r>
              <a:rPr sz="2250" b="1" spc="112" baseline="-24074" dirty="0">
                <a:latin typeface="Arial"/>
                <a:cs typeface="Arial"/>
              </a:rPr>
              <a:t>1</a:t>
            </a:r>
            <a:r>
              <a:rPr sz="2250" b="1" spc="104" baseline="-24074" dirty="0">
                <a:latin typeface="Arial"/>
                <a:cs typeface="Arial"/>
              </a:rPr>
              <a:t>  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6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54" baseline="4444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c</a:t>
            </a:r>
            <a:r>
              <a:rPr sz="2600" b="1" i="1" spc="-345" dirty="0">
                <a:latin typeface="Arial"/>
                <a:cs typeface="Arial"/>
              </a:rPr>
              <a:t> </a:t>
            </a:r>
            <a:r>
              <a:rPr sz="2250" b="1" i="1" spc="-75" baseline="44444" dirty="0">
                <a:latin typeface="Arial"/>
                <a:cs typeface="Arial"/>
              </a:rPr>
              <a:t>t</a:t>
            </a:r>
            <a:r>
              <a:rPr sz="2250" b="1" i="1" baseline="44444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150" dirty="0">
                <a:latin typeface="Times New Roman"/>
                <a:cs typeface="Times New Roman"/>
              </a:rPr>
              <a:t> </a:t>
            </a:r>
            <a:r>
              <a:rPr sz="3550" spc="-20" dirty="0">
                <a:latin typeface="Symbol"/>
                <a:cs typeface="Symbol"/>
              </a:rPr>
              <a:t></a:t>
            </a:r>
            <a:r>
              <a:rPr sz="2600" spc="-20" dirty="0">
                <a:latin typeface="Symbol"/>
                <a:cs typeface="Symbol"/>
              </a:rPr>
              <a:t>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spc="55" dirty="0">
                <a:latin typeface="Arial"/>
                <a:cs typeface="Arial"/>
              </a:rPr>
              <a:t>0.65</a:t>
            </a:r>
            <a:r>
              <a:rPr sz="2600" b="1" dirty="0">
                <a:latin typeface="Arial"/>
                <a:cs typeface="Arial"/>
              </a:rPr>
              <a:t>	</a:t>
            </a:r>
            <a:r>
              <a:rPr sz="2600" b="1" spc="75" dirty="0">
                <a:latin typeface="Arial"/>
                <a:cs typeface="Arial"/>
              </a:rPr>
              <a:t>0.73</a:t>
            </a:r>
            <a:r>
              <a:rPr sz="2600" b="1" spc="-305" dirty="0">
                <a:latin typeface="Arial"/>
                <a:cs typeface="Arial"/>
              </a:rPr>
              <a:t> </a:t>
            </a:r>
            <a:r>
              <a:rPr sz="3550" spc="-30" dirty="0">
                <a:latin typeface="Symbol"/>
                <a:cs typeface="Symbol"/>
              </a:rPr>
              <a:t></a:t>
            </a:r>
            <a:r>
              <a:rPr sz="3900" b="1" spc="-1995" baseline="22435" dirty="0">
                <a:latin typeface="Yu Gothic"/>
                <a:cs typeface="Yu Gothic"/>
              </a:rPr>
              <a:t>「</a:t>
            </a:r>
            <a:r>
              <a:rPr sz="3900" b="1" baseline="26709" dirty="0">
                <a:latin typeface="Arial"/>
                <a:cs typeface="Arial"/>
              </a:rPr>
              <a:t>1</a:t>
            </a:r>
            <a:r>
              <a:rPr sz="3900" b="1" spc="-569" baseline="26709" dirty="0">
                <a:latin typeface="Arial"/>
                <a:cs typeface="Arial"/>
              </a:rPr>
              <a:t> </a:t>
            </a:r>
            <a:r>
              <a:rPr sz="3900" spc="217" baseline="26709" dirty="0">
                <a:latin typeface="Segoe UI Symbol"/>
                <a:cs typeface="Segoe UI Symbol"/>
              </a:rPr>
              <a:t>⋯</a:t>
            </a:r>
            <a:r>
              <a:rPr sz="3900" spc="-75" baseline="26709" dirty="0">
                <a:latin typeface="Times New Roman"/>
                <a:cs typeface="Times New Roman"/>
              </a:rPr>
              <a:t> </a:t>
            </a:r>
            <a:r>
              <a:rPr sz="3900" b="1" spc="-75" baseline="26709" dirty="0">
                <a:latin typeface="Arial"/>
                <a:cs typeface="Arial"/>
              </a:rPr>
              <a:t>5</a:t>
            </a:r>
            <a:r>
              <a:rPr sz="3900" baseline="22435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85" dirty="0">
                <a:latin typeface="Times New Roman"/>
                <a:cs typeface="Times New Roman"/>
              </a:rPr>
              <a:t> </a:t>
            </a:r>
            <a:r>
              <a:rPr sz="3550" spc="-25" dirty="0">
                <a:latin typeface="Symbol"/>
                <a:cs typeface="Symbol"/>
              </a:rPr>
              <a:t></a:t>
            </a:r>
            <a:r>
              <a:rPr sz="2600" b="1" spc="-25" dirty="0">
                <a:latin typeface="Arial"/>
                <a:cs typeface="Arial"/>
              </a:rPr>
              <a:t>0.81</a:t>
            </a:r>
            <a:r>
              <a:rPr sz="2600" b="1" spc="-400" dirty="0">
                <a:latin typeface="Arial"/>
                <a:cs typeface="Arial"/>
              </a:rPr>
              <a:t> </a:t>
            </a:r>
            <a:r>
              <a:rPr sz="2600" spc="145" dirty="0">
                <a:latin typeface="Segoe UI Symbol"/>
                <a:cs typeface="Segoe UI Symbol"/>
              </a:rPr>
              <a:t>⋯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b="1" spc="100" dirty="0">
                <a:latin typeface="Arial"/>
                <a:cs typeface="Arial"/>
              </a:rPr>
              <a:t>0.4</a:t>
            </a:r>
            <a:r>
              <a:rPr sz="2600" b="1" spc="-434" dirty="0">
                <a:latin typeface="Arial"/>
                <a:cs typeface="Arial"/>
              </a:rPr>
              <a:t> </a:t>
            </a:r>
            <a:r>
              <a:rPr sz="3550" spc="-50" dirty="0">
                <a:latin typeface="Symbol"/>
                <a:cs typeface="Symbol"/>
              </a:rPr>
              <a:t>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44343" y="6670268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79488" y="6628584"/>
            <a:ext cx="123317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00" spc="-994" dirty="0">
                <a:latin typeface="Yu Gothic"/>
                <a:cs typeface="Yu Gothic"/>
              </a:rPr>
              <a:t>|</a:t>
            </a:r>
            <a:r>
              <a:rPr sz="3900" b="1" spc="-2400" baseline="-9615" dirty="0">
                <a:latin typeface="Yu Gothic"/>
                <a:cs typeface="Yu Gothic"/>
              </a:rPr>
              <a:t>L</a:t>
            </a:r>
            <a:r>
              <a:rPr sz="2600" spc="114" dirty="0">
                <a:latin typeface="Yu Gothic"/>
                <a:cs typeface="Yu Gothic"/>
              </a:rPr>
              <a:t>|</a:t>
            </a:r>
            <a:r>
              <a:rPr sz="3900" b="1" baseline="4273" dirty="0">
                <a:latin typeface="Arial"/>
                <a:cs typeface="Arial"/>
              </a:rPr>
              <a:t>0</a:t>
            </a:r>
            <a:r>
              <a:rPr sz="3900" b="1" spc="-359" baseline="4273" dirty="0">
                <a:latin typeface="Arial"/>
                <a:cs typeface="Arial"/>
              </a:rPr>
              <a:t> </a:t>
            </a:r>
            <a:r>
              <a:rPr sz="3900" spc="217" baseline="4273" dirty="0">
                <a:latin typeface="Segoe UI Symbol"/>
                <a:cs typeface="Segoe UI Symbol"/>
              </a:rPr>
              <a:t>⋯</a:t>
            </a:r>
            <a:r>
              <a:rPr sz="3900" spc="-75" baseline="4273" dirty="0">
                <a:latin typeface="Times New Roman"/>
                <a:cs typeface="Times New Roman"/>
              </a:rPr>
              <a:t> </a:t>
            </a:r>
            <a:r>
              <a:rPr sz="3900" b="1" baseline="4273" dirty="0">
                <a:latin typeface="Arial"/>
                <a:cs typeface="Arial"/>
              </a:rPr>
              <a:t>5</a:t>
            </a:r>
            <a:r>
              <a:rPr sz="3900" b="1" spc="-644" baseline="4273" dirty="0">
                <a:latin typeface="Arial"/>
                <a:cs typeface="Arial"/>
              </a:rPr>
              <a:t> </a:t>
            </a:r>
            <a:r>
              <a:rPr sz="2600" spc="-1035" dirty="0">
                <a:latin typeface="Yu Gothic"/>
                <a:cs typeface="Yu Gothic"/>
              </a:rPr>
              <a:t>|</a:t>
            </a:r>
            <a:r>
              <a:rPr sz="3900" spc="-1545" baseline="-9615" dirty="0">
                <a:latin typeface="Yu Gothic"/>
                <a:cs typeface="Yu Gothic"/>
              </a:rPr>
              <a:t>]</a:t>
            </a:r>
            <a:r>
              <a:rPr sz="2600" spc="-1035" dirty="0">
                <a:latin typeface="Yu Gothic"/>
                <a:cs typeface="Yu Gothic"/>
              </a:rPr>
              <a:t>|</a:t>
            </a:r>
            <a:r>
              <a:rPr sz="3900" spc="-60" baseline="-9615" dirty="0">
                <a:latin typeface="Yu Gothic"/>
                <a:cs typeface="Yu Gothic"/>
              </a:rPr>
              <a:t>]</a:t>
            </a:r>
            <a:endParaRPr sz="3900" baseline="-9615">
              <a:latin typeface="Yu Gothic"/>
              <a:cs typeface="Yu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87947" y="6328049"/>
            <a:ext cx="5306695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214245" algn="l"/>
              </a:tabLst>
            </a:pPr>
            <a:r>
              <a:rPr sz="2600" b="1" spc="75" dirty="0">
                <a:latin typeface="Arial"/>
                <a:cs typeface="Arial"/>
              </a:rPr>
              <a:t>0.73</a:t>
            </a:r>
            <a:r>
              <a:rPr sz="2600" b="1" spc="-290" dirty="0">
                <a:latin typeface="Arial"/>
                <a:cs typeface="Arial"/>
              </a:rPr>
              <a:t> </a:t>
            </a:r>
            <a:r>
              <a:rPr sz="3550" spc="-45" dirty="0">
                <a:latin typeface="Symbol"/>
                <a:cs typeface="Symbol"/>
              </a:rPr>
              <a:t></a:t>
            </a:r>
            <a:r>
              <a:rPr sz="3900" b="1" spc="-1995" baseline="22435" dirty="0">
                <a:latin typeface="Yu Gothic"/>
                <a:cs typeface="Yu Gothic"/>
              </a:rPr>
              <a:t>「</a:t>
            </a:r>
            <a:r>
              <a:rPr sz="3900" b="1" baseline="26709" dirty="0">
                <a:latin typeface="Arial"/>
                <a:cs typeface="Arial"/>
              </a:rPr>
              <a:t>1</a:t>
            </a:r>
            <a:r>
              <a:rPr sz="3900" b="1" spc="-569" baseline="26709" dirty="0">
                <a:latin typeface="Arial"/>
                <a:cs typeface="Arial"/>
              </a:rPr>
              <a:t> </a:t>
            </a:r>
            <a:r>
              <a:rPr sz="3900" spc="217" baseline="26709" dirty="0">
                <a:latin typeface="Segoe UI Symbol"/>
                <a:cs typeface="Segoe UI Symbol"/>
              </a:rPr>
              <a:t>⋯</a:t>
            </a:r>
            <a:r>
              <a:rPr sz="3900" spc="-37" baseline="26709" dirty="0">
                <a:latin typeface="Times New Roman"/>
                <a:cs typeface="Times New Roman"/>
              </a:rPr>
              <a:t> </a:t>
            </a:r>
            <a:r>
              <a:rPr sz="3900" b="1" spc="-75" baseline="26709" dirty="0">
                <a:latin typeface="Arial"/>
                <a:cs typeface="Arial"/>
              </a:rPr>
              <a:t>6</a:t>
            </a:r>
            <a:r>
              <a:rPr sz="3900" baseline="22435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Symbol"/>
                <a:cs typeface="Symbol"/>
              </a:rPr>
              <a:t></a:t>
            </a:r>
            <a:r>
              <a:rPr sz="2600" spc="-10" dirty="0">
                <a:latin typeface="Symbol"/>
                <a:cs typeface="Symbol"/>
              </a:rPr>
              <a:t>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b="1" spc="70" dirty="0">
                <a:latin typeface="Arial"/>
                <a:cs typeface="Arial"/>
              </a:rPr>
              <a:t>0.65</a:t>
            </a:r>
            <a:r>
              <a:rPr sz="2600" b="1" spc="-40" dirty="0">
                <a:latin typeface="Arial"/>
                <a:cs typeface="Arial"/>
              </a:rPr>
              <a:t> </a:t>
            </a:r>
            <a:r>
              <a:rPr sz="2600" spc="145" dirty="0">
                <a:latin typeface="Segoe UI Symbol"/>
                <a:cs typeface="Segoe UI Symbol"/>
              </a:rPr>
              <a:t>⋯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b="1" spc="75" dirty="0">
                <a:latin typeface="Arial"/>
                <a:cs typeface="Arial"/>
              </a:rPr>
              <a:t>0.25</a:t>
            </a:r>
            <a:r>
              <a:rPr sz="2600" b="1" spc="-254" dirty="0">
                <a:latin typeface="Arial"/>
                <a:cs typeface="Arial"/>
              </a:rPr>
              <a:t> </a:t>
            </a:r>
            <a:r>
              <a:rPr sz="3550" spc="-50" dirty="0">
                <a:latin typeface="Symbol"/>
                <a:cs typeface="Symbol"/>
              </a:rPr>
              <a:t>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0390" y="6328049"/>
            <a:ext cx="3089275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545465" algn="l"/>
                <a:tab pos="1665605" algn="l"/>
              </a:tabLst>
            </a:pPr>
            <a:r>
              <a:rPr sz="2600" b="1" i="1" spc="75" dirty="0">
                <a:latin typeface="Arial"/>
                <a:cs typeface="Arial"/>
              </a:rPr>
              <a:t>Y</a:t>
            </a:r>
            <a:r>
              <a:rPr sz="2250" b="1" spc="112" baseline="-24074" dirty="0">
                <a:latin typeface="Arial"/>
                <a:cs typeface="Arial"/>
              </a:rPr>
              <a:t>2</a:t>
            </a:r>
            <a:r>
              <a:rPr sz="2250" b="1" baseline="-24074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-165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40" baseline="4444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c</a:t>
            </a:r>
            <a:r>
              <a:rPr sz="2600" b="1" i="1" spc="-360" dirty="0">
                <a:latin typeface="Arial"/>
                <a:cs typeface="Arial"/>
              </a:rPr>
              <a:t> </a:t>
            </a:r>
            <a:r>
              <a:rPr sz="2250" b="1" i="1" spc="-75" baseline="44444" dirty="0">
                <a:latin typeface="Arial"/>
                <a:cs typeface="Arial"/>
              </a:rPr>
              <a:t>t</a:t>
            </a:r>
            <a:r>
              <a:rPr sz="2250" b="1" i="1" baseline="44444" dirty="0">
                <a:latin typeface="Arial"/>
                <a:cs typeface="Arial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Symbol"/>
                <a:cs typeface="Symbol"/>
              </a:rPr>
              <a:t></a:t>
            </a:r>
            <a:r>
              <a:rPr sz="2600" spc="-10" dirty="0">
                <a:latin typeface="Symbol"/>
                <a:cs typeface="Symbol"/>
              </a:rPr>
              <a:t>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spc="50" dirty="0">
                <a:latin typeface="Arial"/>
                <a:cs typeface="Arial"/>
              </a:rPr>
              <a:t>0.65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099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85" dirty="0"/>
              <a:t> </a:t>
            </a:r>
            <a:r>
              <a:rPr dirty="0"/>
              <a:t>Discriminant</a:t>
            </a:r>
            <a:r>
              <a:rPr spc="-85" dirty="0"/>
              <a:t> </a:t>
            </a:r>
            <a:r>
              <a:rPr dirty="0"/>
              <a:t>Analysis</a:t>
            </a:r>
            <a:r>
              <a:rPr spc="-75" dirty="0"/>
              <a:t> </a:t>
            </a:r>
            <a:r>
              <a:rPr spc="-10" dirty="0"/>
              <a:t>(MDA)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143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599" y="0"/>
                </a:lnTo>
              </a:path>
            </a:pathLst>
          </a:custGeom>
          <a:ln w="28955">
            <a:solidFill>
              <a:srgbClr val="854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3886200"/>
            <a:ext cx="4419600" cy="2362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3739" y="1135786"/>
            <a:ext cx="8297545" cy="22809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05765" indent="-342900">
              <a:lnSpc>
                <a:spcPct val="100000"/>
              </a:lnSpc>
              <a:spcBef>
                <a:spcPts val="340"/>
              </a:spcBef>
              <a:buClr>
                <a:srgbClr val="854300"/>
              </a:buClr>
              <a:buFont typeface="Microsoft Sans Serif"/>
              <a:buChar char="▪"/>
              <a:tabLst>
                <a:tab pos="405765" algn="l"/>
              </a:tabLst>
            </a:pP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generalize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FLD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multiple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classes</a:t>
            </a:r>
            <a:endParaRPr sz="2800">
              <a:latin typeface="Arial MT"/>
              <a:cs typeface="Arial MT"/>
            </a:endParaRPr>
          </a:p>
          <a:p>
            <a:pPr marL="406400" marR="43180" indent="-343535">
              <a:lnSpc>
                <a:spcPct val="100400"/>
              </a:lnSpc>
              <a:spcBef>
                <a:spcPts val="225"/>
              </a:spcBef>
              <a:buClr>
                <a:srgbClr val="854300"/>
              </a:buClr>
              <a:buFont typeface="Microsoft Sans Serif"/>
              <a:buChar char="▪"/>
              <a:tabLst>
                <a:tab pos="406400" algn="l"/>
              </a:tabLst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case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c</a:t>
            </a:r>
            <a:r>
              <a:rPr sz="2800" b="1" i="1" spc="-4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classes,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reduce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dimensionality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1,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2,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3,…,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b="1" i="1" spc="-10" dirty="0">
                <a:latin typeface="Arial"/>
                <a:cs typeface="Arial"/>
              </a:rPr>
              <a:t>c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1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dimensions</a:t>
            </a:r>
            <a:endParaRPr sz="2800">
              <a:latin typeface="Arial MT"/>
              <a:cs typeface="Arial MT"/>
            </a:endParaRPr>
          </a:p>
          <a:p>
            <a:pPr marL="672465" indent="-608965">
              <a:lnSpc>
                <a:spcPct val="100000"/>
              </a:lnSpc>
              <a:spcBef>
                <a:spcPts val="470"/>
              </a:spcBef>
              <a:buClr>
                <a:srgbClr val="854300"/>
              </a:buClr>
              <a:buFont typeface="Microsoft Sans Serif"/>
              <a:buChar char="▪"/>
              <a:tabLst>
                <a:tab pos="672465" algn="l"/>
                <a:tab pos="6875145" algn="l"/>
              </a:tabLst>
            </a:pP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sample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x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315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linear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subspace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b="1" i="1" dirty="0">
                <a:latin typeface="Arial"/>
                <a:cs typeface="Arial"/>
              </a:rPr>
              <a:t>y</a:t>
            </a:r>
            <a:r>
              <a:rPr sz="2850" b="1" i="1" baseline="-20467" dirty="0">
                <a:latin typeface="Arial"/>
                <a:cs typeface="Arial"/>
              </a:rPr>
              <a:t>i</a:t>
            </a:r>
            <a:r>
              <a:rPr sz="2850" b="1" i="1" spc="352" baseline="-20467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=</a:t>
            </a:r>
            <a:r>
              <a:rPr sz="2800" b="1" i="1" spc="-15" dirty="0">
                <a:latin typeface="Arial"/>
                <a:cs typeface="Arial"/>
              </a:rPr>
              <a:t> </a:t>
            </a:r>
            <a:r>
              <a:rPr sz="2800" b="1" i="1" spc="55" dirty="0">
                <a:latin typeface="Arial"/>
                <a:cs typeface="Arial"/>
              </a:rPr>
              <a:t>V</a:t>
            </a:r>
            <a:r>
              <a:rPr sz="2850" b="1" i="1" spc="82" baseline="23391" dirty="0">
                <a:latin typeface="Arial"/>
                <a:cs typeface="Arial"/>
              </a:rPr>
              <a:t>t</a:t>
            </a:r>
            <a:r>
              <a:rPr sz="2800" b="1" i="1" spc="55" dirty="0">
                <a:latin typeface="Arial"/>
                <a:cs typeface="Arial"/>
              </a:rPr>
              <a:t>x</a:t>
            </a:r>
            <a:r>
              <a:rPr sz="2850" b="1" i="1" spc="82" baseline="-20467" dirty="0">
                <a:latin typeface="Arial"/>
                <a:cs typeface="Arial"/>
              </a:rPr>
              <a:t>i</a:t>
            </a:r>
            <a:endParaRPr sz="2850" baseline="-20467">
              <a:latin typeface="Arial"/>
              <a:cs typeface="Arial"/>
            </a:endParaRPr>
          </a:p>
          <a:p>
            <a:pPr marL="1053465" lvl="1" indent="-533400">
              <a:lnSpc>
                <a:spcPct val="100000"/>
              </a:lnSpc>
              <a:buClr>
                <a:srgbClr val="854300"/>
              </a:buClr>
              <a:buFont typeface="Microsoft Sans Serif"/>
              <a:buChar char="▪"/>
              <a:tabLst>
                <a:tab pos="1053465" algn="l"/>
              </a:tabLst>
            </a:pPr>
            <a:r>
              <a:rPr sz="2800" b="1" i="1" dirty="0">
                <a:latin typeface="Arial"/>
                <a:cs typeface="Arial"/>
              </a:rPr>
              <a:t>V</a:t>
            </a:r>
            <a:r>
              <a:rPr sz="2800" b="1" i="1" spc="-5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called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projection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matrix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900" y="378968"/>
            <a:ext cx="8636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2665" algn="l"/>
              </a:tabLst>
            </a:pPr>
            <a:r>
              <a:rPr sz="3200" b="1" i="1" u="heavy" spc="-22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Multiple</a:t>
            </a:r>
            <a:r>
              <a:rPr sz="3200" b="1" i="1" u="heavy" spc="-7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Discriminant</a:t>
            </a:r>
            <a:r>
              <a:rPr sz="3200" b="1" i="1" u="heavy" spc="-65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Analysis</a:t>
            </a:r>
            <a:r>
              <a:rPr sz="3200" b="1" i="1" u="heavy" spc="-65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heavy" spc="-10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(MDA)</a:t>
            </a:r>
            <a:r>
              <a:rPr sz="3200" b="1" i="1" u="heavy" dirty="0">
                <a:solidFill>
                  <a:srgbClr val="854300"/>
                </a:solidFill>
                <a:uFill>
                  <a:solidFill>
                    <a:srgbClr val="854300"/>
                  </a:solidFill>
                </a:uFill>
                <a:latin typeface="Arial"/>
                <a:cs typeface="Arial"/>
              </a:rPr>
              <a:t>	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9" y="3300474"/>
            <a:ext cx="3565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dirty="0">
                <a:latin typeface="Arial MT"/>
                <a:cs typeface="Arial MT"/>
              </a:rPr>
              <a:t>Objective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function: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42784" y="3608831"/>
            <a:ext cx="2013585" cy="0"/>
          </a:xfrm>
          <a:custGeom>
            <a:avLst/>
            <a:gdLst/>
            <a:ahLst/>
            <a:cxnLst/>
            <a:rect l="l" t="t" r="r" b="b"/>
            <a:pathLst>
              <a:path w="2013584">
                <a:moveTo>
                  <a:pt x="0" y="0"/>
                </a:moveTo>
                <a:lnTo>
                  <a:pt x="2013205" y="0"/>
                </a:lnTo>
              </a:path>
            </a:pathLst>
          </a:custGeom>
          <a:ln w="13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13827" y="3407761"/>
            <a:ext cx="2098675" cy="66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600" b="1" i="1" dirty="0">
                <a:latin typeface="Arial"/>
                <a:cs typeface="Arial"/>
              </a:rPr>
              <a:t>det</a:t>
            </a:r>
            <a:r>
              <a:rPr sz="2600" b="1" i="1" spc="100" dirty="0">
                <a:latin typeface="Arial"/>
                <a:cs typeface="Arial"/>
              </a:rPr>
              <a:t> </a:t>
            </a:r>
            <a:r>
              <a:rPr sz="4200" spc="-405" dirty="0">
                <a:latin typeface="Symbol"/>
                <a:cs typeface="Symbol"/>
              </a:rPr>
              <a:t></a:t>
            </a:r>
            <a:r>
              <a:rPr sz="2600" b="1" i="1" spc="-405" dirty="0">
                <a:latin typeface="Arial"/>
                <a:cs typeface="Arial"/>
              </a:rPr>
              <a:t>V</a:t>
            </a:r>
            <a:r>
              <a:rPr sz="2600" b="1" i="1" spc="5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32" baseline="44444" dirty="0">
                <a:latin typeface="Arial"/>
                <a:cs typeface="Arial"/>
              </a:rPr>
              <a:t> </a:t>
            </a:r>
            <a:r>
              <a:rPr sz="2600" b="1" i="1" spc="60" dirty="0">
                <a:latin typeface="Arial"/>
                <a:cs typeface="Arial"/>
              </a:rPr>
              <a:t>S</a:t>
            </a:r>
            <a:r>
              <a:rPr sz="2250" b="1" i="1" spc="89" baseline="-24074" dirty="0">
                <a:latin typeface="Arial"/>
                <a:cs typeface="Arial"/>
              </a:rPr>
              <a:t>W</a:t>
            </a:r>
            <a:r>
              <a:rPr sz="2250" b="1" i="1" spc="-37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125" dirty="0">
                <a:latin typeface="Arial"/>
                <a:cs typeface="Arial"/>
              </a:rPr>
              <a:t> </a:t>
            </a:r>
            <a:r>
              <a:rPr sz="4200" spc="-459" dirty="0">
                <a:latin typeface="Symbol"/>
                <a:cs typeface="Symbol"/>
              </a:rPr>
              <a:t></a:t>
            </a:r>
            <a:endParaRPr sz="42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4442" y="2938370"/>
            <a:ext cx="3261360" cy="66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271905" algn="l"/>
              </a:tabLst>
            </a:pPr>
            <a:r>
              <a:rPr sz="3900" b="1" i="1" baseline="-36324" dirty="0">
                <a:latin typeface="Arial"/>
                <a:cs typeface="Arial"/>
              </a:rPr>
              <a:t>J</a:t>
            </a:r>
            <a:r>
              <a:rPr sz="3900" b="1" i="1" spc="-382" baseline="-36324" dirty="0">
                <a:latin typeface="Arial"/>
                <a:cs typeface="Arial"/>
              </a:rPr>
              <a:t> </a:t>
            </a:r>
            <a:r>
              <a:rPr sz="5175" spc="-225" baseline="-26570" dirty="0">
                <a:latin typeface="Symbol"/>
                <a:cs typeface="Symbol"/>
              </a:rPr>
              <a:t></a:t>
            </a:r>
            <a:r>
              <a:rPr sz="3900" b="1" i="1" spc="-225" baseline="-36324" dirty="0">
                <a:latin typeface="Arial"/>
                <a:cs typeface="Arial"/>
              </a:rPr>
              <a:t>V</a:t>
            </a:r>
            <a:r>
              <a:rPr sz="3900" b="1" i="1" spc="-30" baseline="-36324" dirty="0">
                <a:latin typeface="Arial"/>
                <a:cs typeface="Arial"/>
              </a:rPr>
              <a:t> </a:t>
            </a:r>
            <a:r>
              <a:rPr sz="5175" spc="-254" baseline="-26570" dirty="0">
                <a:latin typeface="Symbol"/>
                <a:cs typeface="Symbol"/>
              </a:rPr>
              <a:t></a:t>
            </a:r>
            <a:r>
              <a:rPr sz="5175" spc="-397" baseline="-26570" dirty="0">
                <a:latin typeface="Times New Roman"/>
                <a:cs typeface="Times New Roman"/>
              </a:rPr>
              <a:t> </a:t>
            </a:r>
            <a:r>
              <a:rPr sz="3900" spc="-75" baseline="-36324" dirty="0">
                <a:latin typeface="Symbol"/>
                <a:cs typeface="Symbol"/>
              </a:rPr>
              <a:t></a:t>
            </a:r>
            <a:r>
              <a:rPr sz="3900" baseline="-36324" dirty="0">
                <a:latin typeface="Times New Roman"/>
                <a:cs typeface="Times New Roman"/>
              </a:rPr>
              <a:t>	</a:t>
            </a:r>
            <a:r>
              <a:rPr sz="2600" b="1" i="1" dirty="0">
                <a:latin typeface="Arial"/>
                <a:cs typeface="Arial"/>
              </a:rPr>
              <a:t>det</a:t>
            </a:r>
            <a:r>
              <a:rPr sz="2600" b="1" i="1" spc="120" dirty="0">
                <a:latin typeface="Arial"/>
                <a:cs typeface="Arial"/>
              </a:rPr>
              <a:t> </a:t>
            </a:r>
            <a:r>
              <a:rPr sz="4200" spc="-405" dirty="0">
                <a:latin typeface="Symbol"/>
                <a:cs typeface="Symbol"/>
              </a:rPr>
              <a:t></a:t>
            </a:r>
            <a:r>
              <a:rPr sz="2600" b="1" i="1" spc="-405" dirty="0">
                <a:latin typeface="Arial"/>
                <a:cs typeface="Arial"/>
              </a:rPr>
              <a:t>V</a:t>
            </a:r>
            <a:r>
              <a:rPr sz="2600" b="1" i="1" spc="5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32" baseline="44444" dirty="0">
                <a:latin typeface="Arial"/>
                <a:cs typeface="Arial"/>
              </a:rPr>
              <a:t> </a:t>
            </a:r>
            <a:r>
              <a:rPr sz="2600" b="1" i="1" spc="85" dirty="0">
                <a:latin typeface="Arial"/>
                <a:cs typeface="Arial"/>
              </a:rPr>
              <a:t>S</a:t>
            </a:r>
            <a:r>
              <a:rPr sz="2250" b="1" i="1" spc="127" baseline="-24074" dirty="0">
                <a:latin typeface="Arial"/>
                <a:cs typeface="Arial"/>
              </a:rPr>
              <a:t>B</a:t>
            </a:r>
            <a:r>
              <a:rPr sz="2600" b="1" i="1" spc="85" dirty="0">
                <a:latin typeface="Arial"/>
                <a:cs typeface="Arial"/>
              </a:rPr>
              <a:t>V</a:t>
            </a:r>
            <a:r>
              <a:rPr sz="2600" b="1" i="1" spc="114" dirty="0">
                <a:latin typeface="Arial"/>
                <a:cs typeface="Arial"/>
              </a:rPr>
              <a:t> </a:t>
            </a:r>
            <a:r>
              <a:rPr sz="4200" spc="-459" dirty="0">
                <a:latin typeface="Symbol"/>
                <a:cs typeface="Symbol"/>
              </a:rPr>
              <a:t></a:t>
            </a:r>
            <a:endParaRPr sz="42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939" y="4138674"/>
            <a:ext cx="5464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7065" indent="-608965">
              <a:lnSpc>
                <a:spcPct val="100000"/>
              </a:lnSpc>
              <a:spcBef>
                <a:spcPts val="100"/>
              </a:spcBef>
              <a:buClr>
                <a:srgbClr val="854300"/>
              </a:buClr>
              <a:buFont typeface="Microsoft Sans Serif"/>
              <a:buChar char="▪"/>
              <a:tabLst>
                <a:tab pos="647065" algn="l"/>
              </a:tabLst>
            </a:pP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scatter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matrix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i="1" dirty="0">
                <a:latin typeface="Arial"/>
                <a:cs typeface="Arial"/>
              </a:rPr>
              <a:t>S</a:t>
            </a:r>
            <a:r>
              <a:rPr sz="2400" b="1" i="1" baseline="-20833" dirty="0">
                <a:latin typeface="Arial"/>
                <a:cs typeface="Arial"/>
              </a:rPr>
              <a:t>W</a:t>
            </a:r>
            <a:r>
              <a:rPr sz="2400" b="1" i="1" spc="284" baseline="-20833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34954" y="4638843"/>
            <a:ext cx="7874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i="1" spc="-50" dirty="0">
                <a:latin typeface="Arial"/>
                <a:cs typeface="Arial"/>
              </a:rPr>
              <a:t>t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35310" y="4847632"/>
            <a:ext cx="6985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i="1" spc="-50" dirty="0"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3707" y="4847632"/>
            <a:ext cx="11430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i="1" spc="-50" dirty="0">
                <a:latin typeface="Arial"/>
                <a:cs typeface="Arial"/>
              </a:rPr>
              <a:t>k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1092" y="4494063"/>
            <a:ext cx="111760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15365" algn="l"/>
              </a:tabLst>
            </a:pPr>
            <a:r>
              <a:rPr sz="1250" b="1" i="1" spc="-50" dirty="0">
                <a:latin typeface="Arial"/>
                <a:cs typeface="Arial"/>
              </a:rPr>
              <a:t>c</a:t>
            </a:r>
            <a:r>
              <a:rPr sz="1250" b="1" i="1" dirty="0">
                <a:latin typeface="Arial"/>
                <a:cs typeface="Arial"/>
              </a:rPr>
              <a:t>	</a:t>
            </a:r>
            <a:r>
              <a:rPr sz="1250" b="1" i="1" spc="-50" dirty="0">
                <a:latin typeface="Arial"/>
                <a:cs typeface="Arial"/>
              </a:rPr>
              <a:t>c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79817" y="4847632"/>
            <a:ext cx="247967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79905" algn="l"/>
                <a:tab pos="2421890" algn="l"/>
              </a:tabLst>
            </a:pPr>
            <a:r>
              <a:rPr sz="1250" b="1" i="1" spc="-50" dirty="0">
                <a:latin typeface="Arial"/>
                <a:cs typeface="Arial"/>
              </a:rPr>
              <a:t>i</a:t>
            </a:r>
            <a:r>
              <a:rPr sz="1250" b="1" i="1" dirty="0">
                <a:latin typeface="Arial"/>
                <a:cs typeface="Arial"/>
              </a:rPr>
              <a:t>	</a:t>
            </a:r>
            <a:r>
              <a:rPr sz="1250" b="1" i="1" spc="-50" dirty="0">
                <a:latin typeface="Arial"/>
                <a:cs typeface="Arial"/>
              </a:rPr>
              <a:t>k</a:t>
            </a:r>
            <a:r>
              <a:rPr sz="1250" b="1" i="1" dirty="0">
                <a:latin typeface="Arial"/>
                <a:cs typeface="Arial"/>
              </a:rPr>
              <a:t>	</a:t>
            </a:r>
            <a:r>
              <a:rPr sz="1250" b="1" i="1" spc="-50" dirty="0"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38340" y="4847632"/>
            <a:ext cx="17653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i="1" spc="-50" dirty="0">
                <a:latin typeface="Arial"/>
                <a:cs typeface="Arial"/>
              </a:rPr>
              <a:t>W</a:t>
            </a:r>
            <a:endParaRPr sz="12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17969" y="5039655"/>
            <a:ext cx="230378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040765" algn="l"/>
              </a:tabLst>
            </a:pPr>
            <a:r>
              <a:rPr sz="1250" b="1" i="1" spc="-10" dirty="0">
                <a:latin typeface="Arial"/>
                <a:cs typeface="Arial"/>
              </a:rPr>
              <a:t>i</a:t>
            </a:r>
            <a:r>
              <a:rPr sz="1250" b="1" i="1" spc="-105" dirty="0">
                <a:latin typeface="Arial"/>
                <a:cs typeface="Arial"/>
              </a:rPr>
              <a:t> </a:t>
            </a:r>
            <a:r>
              <a:rPr sz="1250" spc="-25" dirty="0">
                <a:latin typeface="Symbol"/>
                <a:cs typeface="Symbol"/>
              </a:rPr>
              <a:t></a:t>
            </a:r>
            <a:r>
              <a:rPr sz="1250" b="1" i="1" spc="-25" dirty="0">
                <a:latin typeface="Arial"/>
                <a:cs typeface="Arial"/>
              </a:rPr>
              <a:t>1</a:t>
            </a:r>
            <a:r>
              <a:rPr sz="1250" b="1" i="1" dirty="0">
                <a:latin typeface="Arial"/>
                <a:cs typeface="Arial"/>
              </a:rPr>
              <a:t>	</a:t>
            </a:r>
            <a:r>
              <a:rPr sz="1250" b="1" i="1" spc="-10" dirty="0">
                <a:latin typeface="Arial"/>
                <a:cs typeface="Arial"/>
              </a:rPr>
              <a:t>i</a:t>
            </a:r>
            <a:r>
              <a:rPr sz="1250" b="1" i="1" spc="-95" dirty="0">
                <a:latin typeface="Arial"/>
                <a:cs typeface="Arial"/>
              </a:rPr>
              <a:t> </a:t>
            </a:r>
            <a:r>
              <a:rPr sz="1250" dirty="0">
                <a:latin typeface="Symbol"/>
                <a:cs typeface="Symbol"/>
              </a:rPr>
              <a:t></a:t>
            </a:r>
            <a:r>
              <a:rPr sz="1250" b="1" i="1" dirty="0">
                <a:latin typeface="Arial"/>
                <a:cs typeface="Arial"/>
              </a:rPr>
              <a:t>1</a:t>
            </a:r>
            <a:r>
              <a:rPr sz="1250" b="1" i="1" spc="400" dirty="0">
                <a:latin typeface="Arial"/>
                <a:cs typeface="Arial"/>
              </a:rPr>
              <a:t> </a:t>
            </a:r>
            <a:r>
              <a:rPr sz="1250" b="1" i="1" spc="-10" dirty="0">
                <a:latin typeface="Arial"/>
                <a:cs typeface="Arial"/>
              </a:rPr>
              <a:t>x</a:t>
            </a:r>
            <a:r>
              <a:rPr sz="1250" b="1" i="1" spc="-130" dirty="0">
                <a:latin typeface="Arial"/>
                <a:cs typeface="Arial"/>
              </a:rPr>
              <a:t> </a:t>
            </a:r>
            <a:r>
              <a:rPr sz="1350" b="1" i="1" baseline="-18518" dirty="0">
                <a:latin typeface="Arial"/>
                <a:cs typeface="Arial"/>
              </a:rPr>
              <a:t>k</a:t>
            </a:r>
            <a:r>
              <a:rPr sz="1350" b="1" i="1" spc="-22" baseline="-18518" dirty="0">
                <a:latin typeface="Arial"/>
                <a:cs typeface="Arial"/>
              </a:rPr>
              <a:t> </a:t>
            </a:r>
            <a:r>
              <a:rPr sz="1250" dirty="0">
                <a:latin typeface="Symbol"/>
                <a:cs typeface="Symbol"/>
              </a:rPr>
              <a:t></a:t>
            </a:r>
            <a:r>
              <a:rPr sz="1250" b="1" i="1" dirty="0">
                <a:latin typeface="Arial"/>
                <a:cs typeface="Arial"/>
              </a:rPr>
              <a:t>class</a:t>
            </a:r>
            <a:r>
              <a:rPr sz="1250" b="1" i="1" spc="360" dirty="0">
                <a:latin typeface="Arial"/>
                <a:cs typeface="Arial"/>
              </a:rPr>
              <a:t> </a:t>
            </a:r>
            <a:r>
              <a:rPr sz="1250" b="1" i="1" spc="-50" dirty="0"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08220" y="4528056"/>
            <a:ext cx="5180330" cy="5187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558165" algn="l"/>
                <a:tab pos="1562100" algn="l"/>
                <a:tab pos="2472055" algn="l"/>
                <a:tab pos="3362325" algn="l"/>
                <a:tab pos="3904615" algn="l"/>
                <a:tab pos="4506595" algn="l"/>
                <a:tab pos="5050790" algn="l"/>
              </a:tabLst>
            </a:pPr>
            <a:r>
              <a:rPr sz="2150" b="1" i="1" spc="-50" dirty="0">
                <a:latin typeface="Arial"/>
                <a:cs typeface="Arial"/>
              </a:rPr>
              <a:t>S</a:t>
            </a:r>
            <a:r>
              <a:rPr sz="2150" b="1" i="1" dirty="0">
                <a:latin typeface="Arial"/>
                <a:cs typeface="Arial"/>
              </a:rPr>
              <a:t>	</a:t>
            </a:r>
            <a:r>
              <a:rPr sz="2150" dirty="0">
                <a:latin typeface="Symbol"/>
                <a:cs typeface="Symbol"/>
              </a:rPr>
              <a:t></a:t>
            </a:r>
            <a:r>
              <a:rPr sz="2150" spc="300" dirty="0">
                <a:latin typeface="Times New Roman"/>
                <a:cs typeface="Times New Roman"/>
              </a:rPr>
              <a:t> </a:t>
            </a:r>
            <a:r>
              <a:rPr sz="4800" b="1" spc="-1350" baseline="-8680" dirty="0">
                <a:latin typeface="Yu Gothic"/>
                <a:cs typeface="Yu Gothic"/>
              </a:rPr>
              <a:t>Σ</a:t>
            </a:r>
            <a:r>
              <a:rPr sz="4800" spc="-375" baseline="-8680" dirty="0">
                <a:latin typeface="Times New Roman"/>
                <a:cs typeface="Times New Roman"/>
              </a:rPr>
              <a:t> </a:t>
            </a:r>
            <a:r>
              <a:rPr sz="2150" b="1" i="1" spc="-50" dirty="0">
                <a:latin typeface="Arial"/>
                <a:cs typeface="Arial"/>
              </a:rPr>
              <a:t>S</a:t>
            </a:r>
            <a:r>
              <a:rPr sz="2150" b="1" i="1" dirty="0">
                <a:latin typeface="Arial"/>
                <a:cs typeface="Arial"/>
              </a:rPr>
              <a:t>	</a:t>
            </a:r>
            <a:r>
              <a:rPr sz="2150" dirty="0">
                <a:latin typeface="Symbol"/>
                <a:cs typeface="Symbol"/>
              </a:rPr>
              <a:t></a:t>
            </a:r>
            <a:r>
              <a:rPr sz="2150" spc="290" dirty="0">
                <a:latin typeface="Times New Roman"/>
                <a:cs typeface="Times New Roman"/>
              </a:rPr>
              <a:t> </a:t>
            </a:r>
            <a:r>
              <a:rPr sz="4800" b="1" spc="-1425" baseline="-8680" dirty="0">
                <a:latin typeface="Yu Gothic"/>
                <a:cs typeface="Yu Gothic"/>
              </a:rPr>
              <a:t>Σ</a:t>
            </a:r>
            <a:r>
              <a:rPr sz="4800" baseline="-8680" dirty="0">
                <a:latin typeface="Times New Roman"/>
                <a:cs typeface="Times New Roman"/>
              </a:rPr>
              <a:t>	</a:t>
            </a:r>
            <a:r>
              <a:rPr sz="4800" b="1" spc="-1350" baseline="-8680" dirty="0">
                <a:latin typeface="Yu Gothic"/>
                <a:cs typeface="Yu Gothic"/>
              </a:rPr>
              <a:t>Σ</a:t>
            </a:r>
            <a:r>
              <a:rPr sz="4800" spc="-270" baseline="-8680" dirty="0">
                <a:latin typeface="Times New Roman"/>
                <a:cs typeface="Times New Roman"/>
              </a:rPr>
              <a:t> </a:t>
            </a:r>
            <a:r>
              <a:rPr sz="2900" spc="-25" dirty="0">
                <a:latin typeface="Symbol"/>
                <a:cs typeface="Symbol"/>
              </a:rPr>
              <a:t></a:t>
            </a:r>
            <a:r>
              <a:rPr sz="2150" b="1" i="1" spc="-25" dirty="0">
                <a:latin typeface="Arial"/>
                <a:cs typeface="Arial"/>
              </a:rPr>
              <a:t>x</a:t>
            </a:r>
            <a:r>
              <a:rPr sz="2150" b="1" i="1" dirty="0">
                <a:latin typeface="Arial"/>
                <a:cs typeface="Arial"/>
              </a:rPr>
              <a:t>	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185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Symbol"/>
                <a:cs typeface="Symbol"/>
              </a:rPr>
              <a:t>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900" spc="-25" dirty="0">
                <a:latin typeface="Symbol"/>
                <a:cs typeface="Symbol"/>
              </a:rPr>
              <a:t></a:t>
            </a:r>
            <a:r>
              <a:rPr sz="2150" b="1" i="1" spc="-25" dirty="0">
                <a:latin typeface="Arial"/>
                <a:cs typeface="Arial"/>
              </a:rPr>
              <a:t>x</a:t>
            </a:r>
            <a:r>
              <a:rPr sz="2150" b="1" i="1" dirty="0">
                <a:latin typeface="Arial"/>
                <a:cs typeface="Arial"/>
              </a:rPr>
              <a:t>	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210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Symbol"/>
                <a:cs typeface="Symbol"/>
              </a:rPr>
              <a:t>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900" spc="-325" dirty="0">
                <a:latin typeface="Symbol"/>
                <a:cs typeface="Symbol"/>
              </a:rPr>
              <a:t>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2939" y="5357873"/>
            <a:ext cx="5791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7065" indent="-608965">
              <a:lnSpc>
                <a:spcPct val="100000"/>
              </a:lnSpc>
              <a:spcBef>
                <a:spcPts val="100"/>
              </a:spcBef>
              <a:buClr>
                <a:srgbClr val="854300"/>
              </a:buClr>
              <a:buFont typeface="Microsoft Sans Serif"/>
              <a:buChar char="▪"/>
              <a:tabLst>
                <a:tab pos="647065" algn="l"/>
              </a:tabLst>
            </a:pP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scatter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matrix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i="1" dirty="0">
                <a:latin typeface="Arial"/>
                <a:cs typeface="Arial"/>
              </a:rPr>
              <a:t>S</a:t>
            </a:r>
            <a:r>
              <a:rPr sz="2400" b="1" i="1" baseline="-20833" dirty="0">
                <a:latin typeface="Arial"/>
                <a:cs typeface="Arial"/>
              </a:rPr>
              <a:t>B</a:t>
            </a:r>
            <a:r>
              <a:rPr sz="2400" b="1" i="1" spc="277" baseline="-20833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65309" y="5638516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spc="-50" dirty="0">
                <a:latin typeface="Arial"/>
                <a:cs typeface="Arial"/>
              </a:rPr>
              <a:t>c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18551" y="6071329"/>
            <a:ext cx="307149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310640" algn="l"/>
                <a:tab pos="1790700" algn="l"/>
                <a:tab pos="3004185" algn="l"/>
              </a:tabLst>
            </a:pPr>
            <a:r>
              <a:rPr sz="1500" b="1" i="1" spc="-50" dirty="0">
                <a:latin typeface="Arial"/>
                <a:cs typeface="Arial"/>
              </a:rPr>
              <a:t>B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i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i</a:t>
            </a:r>
            <a:r>
              <a:rPr sz="1500" b="1" i="1" dirty="0">
                <a:latin typeface="Arial"/>
                <a:cs typeface="Arial"/>
              </a:rPr>
              <a:t>	</a:t>
            </a:r>
            <a:r>
              <a:rPr sz="1500" b="1" i="1" spc="-50" dirty="0"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44722" y="5681324"/>
            <a:ext cx="4255135" cy="626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86105" algn="l"/>
                <a:tab pos="900430" algn="l"/>
                <a:tab pos="1706245" algn="l"/>
                <a:tab pos="2259965" algn="l"/>
                <a:tab pos="3472815" algn="l"/>
              </a:tabLst>
            </a:pPr>
            <a:r>
              <a:rPr sz="2600" b="1" i="1" spc="-50" dirty="0">
                <a:latin typeface="Arial"/>
                <a:cs typeface="Arial"/>
              </a:rPr>
              <a:t>S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5925" spc="-1725" baseline="-8438" dirty="0">
                <a:latin typeface="Yu Gothic"/>
                <a:cs typeface="Yu Gothic"/>
              </a:rPr>
              <a:t>Σ</a:t>
            </a:r>
            <a:r>
              <a:rPr sz="5925" spc="-337" baseline="-8438" dirty="0">
                <a:latin typeface="Times New Roman"/>
                <a:cs typeface="Times New Roman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n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3500" spc="-35" dirty="0">
                <a:latin typeface="Symbol"/>
                <a:cs typeface="Symbol"/>
              </a:rPr>
              <a:t></a:t>
            </a:r>
            <a:r>
              <a:rPr sz="2750" spc="-35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80" dirty="0">
                <a:latin typeface="Symbol"/>
                <a:cs typeface="Symbol"/>
              </a:rPr>
              <a:t></a:t>
            </a:r>
            <a:r>
              <a:rPr sz="2750" spc="-160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Symbol"/>
                <a:cs typeface="Symbol"/>
              </a:rPr>
              <a:t></a:t>
            </a:r>
            <a:r>
              <a:rPr sz="2750" spc="-25" dirty="0">
                <a:latin typeface="Symbol"/>
                <a:cs typeface="Symbol"/>
              </a:rPr>
              <a:t>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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750" spc="-80" dirty="0">
                <a:latin typeface="Symbol"/>
                <a:cs typeface="Symbol"/>
              </a:rPr>
              <a:t></a:t>
            </a:r>
            <a:r>
              <a:rPr sz="2750" spc="-160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Symbol"/>
                <a:cs typeface="Symbol"/>
              </a:rPr>
              <a:t></a:t>
            </a:r>
            <a:r>
              <a:rPr sz="2250" b="1" i="1" spc="-37" baseline="50000" dirty="0">
                <a:latin typeface="Arial"/>
                <a:cs typeface="Arial"/>
              </a:rPr>
              <a:t>t</a:t>
            </a:r>
            <a:endParaRPr sz="2250" baseline="50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39" y="1116583"/>
            <a:ext cx="11303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95"/>
              </a:spcBef>
              <a:buClr>
                <a:srgbClr val="854300"/>
              </a:buClr>
              <a:buFont typeface="Microsoft Sans Serif"/>
              <a:buChar char="▪"/>
              <a:tabLst>
                <a:tab pos="621665" algn="l"/>
              </a:tabLst>
            </a:pPr>
            <a:r>
              <a:rPr sz="2800" spc="-25" dirty="0">
                <a:latin typeface="Arial MT"/>
                <a:cs typeface="Arial MT"/>
              </a:rPr>
              <a:t>Let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7181" y="2615234"/>
            <a:ext cx="3060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="1" i="1" spc="60" dirty="0">
                <a:latin typeface="Arial"/>
                <a:cs typeface="Arial"/>
              </a:rPr>
              <a:t>n</a:t>
            </a:r>
            <a:r>
              <a:rPr sz="1800" b="1" i="1" spc="89" baseline="-25462" dirty="0">
                <a:latin typeface="Arial"/>
                <a:cs typeface="Arial"/>
              </a:rPr>
              <a:t>i</a:t>
            </a:r>
            <a:endParaRPr sz="1800" baseline="-25462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02863" y="2292146"/>
            <a:ext cx="6477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150" baseline="-25132" dirty="0">
                <a:latin typeface="Symbol"/>
                <a:cs typeface="Symbol"/>
              </a:rPr>
              <a:t></a:t>
            </a:r>
            <a:r>
              <a:rPr sz="3150" spc="532" baseline="-25132" dirty="0">
                <a:latin typeface="Times New Roman"/>
                <a:cs typeface="Times New Roman"/>
              </a:rPr>
              <a:t> </a:t>
            </a:r>
            <a:r>
              <a:rPr sz="2100" b="1" i="1" u="sng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100" b="1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2100" b="1" i="1" u="sng" spc="5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43199" y="2395795"/>
            <a:ext cx="304165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200" spc="-60" dirty="0">
                <a:latin typeface="Symbol"/>
                <a:cs typeface="Symbol"/>
              </a:rPr>
              <a:t></a:t>
            </a:r>
            <a:r>
              <a:rPr sz="2200" spc="-310" dirty="0">
                <a:latin typeface="Times New Roman"/>
                <a:cs typeface="Times New Roman"/>
              </a:rPr>
              <a:t> </a:t>
            </a:r>
            <a:r>
              <a:rPr sz="1800" b="1" i="1" spc="-75" baseline="-25462" dirty="0">
                <a:latin typeface="Arial"/>
                <a:cs typeface="Arial"/>
              </a:rPr>
              <a:t>i</a:t>
            </a:r>
            <a:endParaRPr sz="1800" baseline="-25462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35320" y="2777051"/>
            <a:ext cx="264985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2454910" algn="l"/>
              </a:tabLst>
            </a:pPr>
            <a:r>
              <a:rPr sz="1200" b="1" i="1" dirty="0">
                <a:latin typeface="Arial"/>
                <a:cs typeface="Arial"/>
              </a:rPr>
              <a:t>x</a:t>
            </a:r>
            <a:r>
              <a:rPr sz="1200" b="1" i="1" spc="-20" dirty="0">
                <a:latin typeface="Arial"/>
                <a:cs typeface="Arial"/>
              </a:rPr>
              <a:t> </a:t>
            </a:r>
            <a:r>
              <a:rPr sz="1200" dirty="0">
                <a:latin typeface="Symbol"/>
                <a:cs typeface="Symbol"/>
              </a:rPr>
              <a:t>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Arial"/>
                <a:cs typeface="Arial"/>
              </a:rPr>
              <a:t>class</a:t>
            </a:r>
            <a:r>
              <a:rPr sz="1200" b="1" i="1" spc="420" dirty="0">
                <a:latin typeface="Arial"/>
                <a:cs typeface="Arial"/>
              </a:rPr>
              <a:t> </a:t>
            </a:r>
            <a:r>
              <a:rPr sz="1200" b="1" i="1" spc="-60" dirty="0">
                <a:latin typeface="Arial"/>
                <a:cs typeface="Arial"/>
              </a:rPr>
              <a:t>i</a:t>
            </a:r>
            <a:r>
              <a:rPr sz="1200" b="1" i="1" dirty="0">
                <a:latin typeface="Arial"/>
                <a:cs typeface="Arial"/>
              </a:rPr>
              <a:t>	x</a:t>
            </a:r>
            <a:r>
              <a:rPr sz="1200" b="1" i="1" spc="-114" dirty="0">
                <a:latin typeface="Arial"/>
                <a:cs typeface="Arial"/>
              </a:rPr>
              <a:t> </a:t>
            </a:r>
            <a:r>
              <a:rPr sz="1275" b="1" i="1" spc="-75" baseline="-19607" dirty="0">
                <a:latin typeface="Arial"/>
                <a:cs typeface="Arial"/>
              </a:rPr>
              <a:t>i</a:t>
            </a:r>
            <a:endParaRPr sz="1275" baseline="-19607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45551" y="2615234"/>
            <a:ext cx="1892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i="1" spc="-50" dirty="0"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846" y="2277180"/>
            <a:ext cx="2789555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316990" algn="l"/>
              </a:tabLst>
            </a:pPr>
            <a:r>
              <a:rPr sz="4725" b="1" spc="-1372" baseline="-8818" dirty="0">
                <a:latin typeface="Yu Gothic"/>
                <a:cs typeface="Yu Gothic"/>
              </a:rPr>
              <a:t>Σ</a:t>
            </a:r>
            <a:r>
              <a:rPr sz="4725" spc="-15" baseline="-8818" dirty="0">
                <a:latin typeface="Times New Roman"/>
                <a:cs typeface="Times New Roman"/>
              </a:rPr>
              <a:t> </a:t>
            </a:r>
            <a:r>
              <a:rPr sz="2100" b="1" i="1" spc="-50" dirty="0">
                <a:latin typeface="Arial"/>
                <a:cs typeface="Arial"/>
              </a:rPr>
              <a:t>x</a:t>
            </a:r>
            <a:r>
              <a:rPr sz="2100" b="1" i="1" dirty="0">
                <a:latin typeface="Arial"/>
                <a:cs typeface="Arial"/>
              </a:rPr>
              <a:t>	</a:t>
            </a:r>
            <a:r>
              <a:rPr sz="2200" dirty="0">
                <a:latin typeface="Symbol"/>
                <a:cs typeface="Symbol"/>
              </a:rPr>
              <a:t>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345" dirty="0">
                <a:latin typeface="Times New Roman"/>
                <a:cs typeface="Times New Roman"/>
              </a:rPr>
              <a:t> </a:t>
            </a:r>
            <a:r>
              <a:rPr sz="3150" b="1" i="1" u="sng" spc="-682" baseline="2513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150" b="1" i="1" u="sng" baseline="2513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3150" b="1" i="1" u="sng" spc="-240" baseline="2513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150" b="1" i="1" spc="-300" baseline="25132" dirty="0">
                <a:latin typeface="Arial"/>
                <a:cs typeface="Arial"/>
              </a:rPr>
              <a:t> </a:t>
            </a:r>
            <a:r>
              <a:rPr sz="4725" b="1" spc="-1372" baseline="-8818" dirty="0">
                <a:latin typeface="Yu Gothic"/>
                <a:cs typeface="Yu Gothic"/>
              </a:rPr>
              <a:t>Σ</a:t>
            </a:r>
            <a:r>
              <a:rPr sz="4725" spc="-15" baseline="-8818" dirty="0">
                <a:latin typeface="Times New Roman"/>
                <a:cs typeface="Times New Roman"/>
              </a:rPr>
              <a:t> </a:t>
            </a:r>
            <a:r>
              <a:rPr sz="2100" b="1" i="1" dirty="0">
                <a:latin typeface="Arial"/>
                <a:cs typeface="Arial"/>
              </a:rPr>
              <a:t>x</a:t>
            </a:r>
            <a:r>
              <a:rPr sz="2100" b="1" i="1" spc="-270" dirty="0">
                <a:latin typeface="Arial"/>
                <a:cs typeface="Arial"/>
              </a:rPr>
              <a:t> </a:t>
            </a:r>
            <a:r>
              <a:rPr sz="1800" b="1" i="1" spc="-75" baseline="-25462" dirty="0">
                <a:latin typeface="Arial"/>
                <a:cs typeface="Arial"/>
              </a:rPr>
              <a:t>i</a:t>
            </a:r>
            <a:endParaRPr sz="1800" baseline="-25462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55139" y="6276353"/>
            <a:ext cx="2604135" cy="63309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347345" algn="r">
              <a:lnSpc>
                <a:spcPct val="100000"/>
              </a:lnSpc>
              <a:spcBef>
                <a:spcPts val="365"/>
              </a:spcBef>
            </a:pPr>
            <a:r>
              <a:rPr sz="1500" b="1" i="1" dirty="0">
                <a:latin typeface="Arial"/>
                <a:cs typeface="Arial"/>
              </a:rPr>
              <a:t>i</a:t>
            </a:r>
            <a:r>
              <a:rPr sz="1500" b="1" i="1" spc="-114" dirty="0">
                <a:latin typeface="Arial"/>
                <a:cs typeface="Arial"/>
              </a:rPr>
              <a:t> </a:t>
            </a:r>
            <a:r>
              <a:rPr sz="1500" spc="35" dirty="0">
                <a:latin typeface="Symbol"/>
                <a:cs typeface="Symbol"/>
              </a:rPr>
              <a:t></a:t>
            </a:r>
            <a:r>
              <a:rPr sz="1500" b="1" i="1" spc="35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000" b="1" i="1" dirty="0">
                <a:solidFill>
                  <a:srgbClr val="643100"/>
                </a:solidFill>
                <a:latin typeface="Arial"/>
                <a:cs typeface="Arial"/>
              </a:rPr>
              <a:t>maximum</a:t>
            </a:r>
            <a:r>
              <a:rPr sz="2000" b="1" i="1" spc="-4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643100"/>
                </a:solidFill>
                <a:latin typeface="Arial"/>
                <a:cs typeface="Arial"/>
              </a:rPr>
              <a:t>rank</a:t>
            </a:r>
            <a:r>
              <a:rPr sz="2000" b="1" i="1" spc="-2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643100"/>
                </a:solidFill>
                <a:latin typeface="Arial"/>
                <a:cs typeface="Arial"/>
              </a:rPr>
              <a:t>is</a:t>
            </a:r>
            <a:r>
              <a:rPr sz="2000" b="1" i="1" spc="-2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643100"/>
                </a:solidFill>
                <a:latin typeface="Arial"/>
                <a:cs typeface="Arial"/>
              </a:rPr>
              <a:t>c</a:t>
            </a:r>
            <a:r>
              <a:rPr sz="2000" b="1" i="1" spc="-35" dirty="0">
                <a:solidFill>
                  <a:srgbClr val="643100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643100"/>
                </a:solidFill>
                <a:latin typeface="Arial"/>
                <a:cs typeface="Arial"/>
              </a:rPr>
              <a:t>-</a:t>
            </a:r>
            <a:r>
              <a:rPr sz="2000" b="1" i="1" spc="-50" dirty="0">
                <a:solidFill>
                  <a:srgbClr val="643100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652522" y="6248400"/>
            <a:ext cx="319405" cy="395605"/>
            <a:chOff x="2652522" y="6248400"/>
            <a:chExt cx="319405" cy="395605"/>
          </a:xfrm>
        </p:grpSpPr>
        <p:sp>
          <p:nvSpPr>
            <p:cNvPr id="29" name="object 29"/>
            <p:cNvSpPr/>
            <p:nvPr/>
          </p:nvSpPr>
          <p:spPr>
            <a:xfrm>
              <a:off x="2667000" y="6362700"/>
              <a:ext cx="212090" cy="266700"/>
            </a:xfrm>
            <a:custGeom>
              <a:avLst/>
              <a:gdLst/>
              <a:ahLst/>
              <a:cxnLst/>
              <a:rect l="l" t="t" r="r" b="b"/>
              <a:pathLst>
                <a:path w="212089" h="266700">
                  <a:moveTo>
                    <a:pt x="0" y="266699"/>
                  </a:moveTo>
                  <a:lnTo>
                    <a:pt x="57316" y="193952"/>
                  </a:lnTo>
                  <a:lnTo>
                    <a:pt x="98488" y="141922"/>
                  </a:lnTo>
                  <a:lnTo>
                    <a:pt x="143375" y="85605"/>
                  </a:lnTo>
                  <a:lnTo>
                    <a:pt x="211835" y="0"/>
                  </a:lnTo>
                </a:path>
              </a:pathLst>
            </a:custGeom>
            <a:ln w="28955">
              <a:solidFill>
                <a:srgbClr val="64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22448" y="6248400"/>
              <a:ext cx="149860" cy="161925"/>
            </a:xfrm>
            <a:custGeom>
              <a:avLst/>
              <a:gdLst/>
              <a:ahLst/>
              <a:cxnLst/>
              <a:rect l="l" t="t" r="r" b="b"/>
              <a:pathLst>
                <a:path w="149860" h="161925">
                  <a:moveTo>
                    <a:pt x="149351" y="0"/>
                  </a:moveTo>
                  <a:lnTo>
                    <a:pt x="0" y="70103"/>
                  </a:lnTo>
                  <a:lnTo>
                    <a:pt x="115823" y="161543"/>
                  </a:lnTo>
                  <a:lnTo>
                    <a:pt x="149351" y="0"/>
                  </a:lnTo>
                  <a:close/>
                </a:path>
              </a:pathLst>
            </a:custGeom>
            <a:solidFill>
              <a:srgbClr val="64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110739" y="1134871"/>
            <a:ext cx="5744210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0865" indent="-532765">
              <a:lnSpc>
                <a:spcPts val="2835"/>
              </a:lnSpc>
              <a:spcBef>
                <a:spcPts val="100"/>
              </a:spcBef>
              <a:buClr>
                <a:srgbClr val="854300"/>
              </a:buClr>
              <a:buFont typeface="Microsoft Sans Serif"/>
              <a:buChar char="▪"/>
              <a:tabLst>
                <a:tab pos="570865" algn="l"/>
              </a:tabLst>
            </a:pPr>
            <a:r>
              <a:rPr sz="2400" b="1" i="1" dirty="0">
                <a:latin typeface="Arial"/>
                <a:cs typeface="Arial"/>
              </a:rPr>
              <a:t>n</a:t>
            </a:r>
            <a:r>
              <a:rPr sz="2400" b="1" i="1" baseline="-20833" dirty="0">
                <a:latin typeface="Arial"/>
                <a:cs typeface="Arial"/>
              </a:rPr>
              <a:t>i</a:t>
            </a:r>
            <a:r>
              <a:rPr sz="2400" b="1" i="1" spc="27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samples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i="1" spc="-50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 marL="570865" indent="-532765">
              <a:lnSpc>
                <a:spcPts val="2895"/>
              </a:lnSpc>
              <a:buClr>
                <a:srgbClr val="854300"/>
              </a:buClr>
              <a:buFont typeface="Microsoft Sans Serif"/>
              <a:buChar char="▪"/>
              <a:tabLst>
                <a:tab pos="570865" algn="l"/>
              </a:tabLst>
            </a:pP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500" dirty="0">
                <a:latin typeface="Symbol"/>
                <a:cs typeface="Symbol"/>
              </a:rPr>
              <a:t></a:t>
            </a:r>
            <a:r>
              <a:rPr sz="2400" b="1" i="1" baseline="-20833" dirty="0">
                <a:latin typeface="Arial"/>
                <a:cs typeface="Arial"/>
              </a:rPr>
              <a:t>i</a:t>
            </a:r>
            <a:r>
              <a:rPr sz="2400" b="1" i="1" spc="270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sample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i="1" spc="-50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 marL="570865" indent="-532765">
              <a:lnSpc>
                <a:spcPts val="2940"/>
              </a:lnSpc>
              <a:buClr>
                <a:srgbClr val="854300"/>
              </a:buClr>
              <a:buSzPct val="96000"/>
              <a:buFont typeface="Microsoft Sans Serif"/>
              <a:buChar char="▪"/>
              <a:tabLst>
                <a:tab pos="570865" algn="l"/>
              </a:tabLst>
            </a:pPr>
            <a:r>
              <a:rPr sz="2500" dirty="0">
                <a:latin typeface="Symbol"/>
                <a:cs typeface="Symbol"/>
              </a:rPr>
              <a:t>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samples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78968"/>
            <a:ext cx="8636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2665" algn="l"/>
              </a:tabLst>
            </a:pPr>
            <a:r>
              <a:rPr u="heavy" spc="-22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Multiple</a:t>
            </a:r>
            <a:r>
              <a:rPr u="heavy" spc="-70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Discriminant</a:t>
            </a:r>
            <a:r>
              <a:rPr u="heavy" spc="-6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Analysis</a:t>
            </a:r>
            <a:r>
              <a:rPr u="heavy" spc="-6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854300"/>
                  </a:solidFill>
                </a:uFill>
              </a:rPr>
              <a:t>(MDA)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4669541" y="1638297"/>
            <a:ext cx="2013585" cy="0"/>
          </a:xfrm>
          <a:custGeom>
            <a:avLst/>
            <a:gdLst/>
            <a:ahLst/>
            <a:cxnLst/>
            <a:rect l="l" t="t" r="r" b="b"/>
            <a:pathLst>
              <a:path w="2013584">
                <a:moveTo>
                  <a:pt x="0" y="0"/>
                </a:moveTo>
                <a:lnTo>
                  <a:pt x="2013205" y="0"/>
                </a:lnTo>
              </a:path>
            </a:pathLst>
          </a:custGeom>
          <a:ln w="13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2439" y="967840"/>
            <a:ext cx="9098280" cy="5803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330" algn="ctr">
              <a:lnSpc>
                <a:spcPts val="4370"/>
              </a:lnSpc>
              <a:spcBef>
                <a:spcPts val="95"/>
              </a:spcBef>
              <a:tabLst>
                <a:tab pos="1334770" algn="l"/>
              </a:tabLst>
            </a:pPr>
            <a:r>
              <a:rPr sz="3900" b="1" i="1" baseline="-36324" dirty="0">
                <a:latin typeface="Arial"/>
                <a:cs typeface="Arial"/>
              </a:rPr>
              <a:t>J</a:t>
            </a:r>
            <a:r>
              <a:rPr sz="3900" b="1" i="1" spc="-382" baseline="-36324" dirty="0">
                <a:latin typeface="Arial"/>
                <a:cs typeface="Arial"/>
              </a:rPr>
              <a:t> </a:t>
            </a:r>
            <a:r>
              <a:rPr sz="5175" spc="-225" baseline="-26570" dirty="0">
                <a:latin typeface="Symbol"/>
                <a:cs typeface="Symbol"/>
              </a:rPr>
              <a:t></a:t>
            </a:r>
            <a:r>
              <a:rPr sz="3900" b="1" i="1" spc="-225" baseline="-36324" dirty="0">
                <a:latin typeface="Arial"/>
                <a:cs typeface="Arial"/>
              </a:rPr>
              <a:t>V</a:t>
            </a:r>
            <a:r>
              <a:rPr sz="3900" b="1" i="1" spc="-30" baseline="-36324" dirty="0">
                <a:latin typeface="Arial"/>
                <a:cs typeface="Arial"/>
              </a:rPr>
              <a:t> </a:t>
            </a:r>
            <a:r>
              <a:rPr sz="5175" spc="-254" baseline="-26570" dirty="0">
                <a:latin typeface="Symbol"/>
                <a:cs typeface="Symbol"/>
              </a:rPr>
              <a:t></a:t>
            </a:r>
            <a:r>
              <a:rPr sz="5175" spc="-397" baseline="-26570" dirty="0">
                <a:latin typeface="Times New Roman"/>
                <a:cs typeface="Times New Roman"/>
              </a:rPr>
              <a:t> </a:t>
            </a:r>
            <a:r>
              <a:rPr sz="3900" spc="-75" baseline="-36324" dirty="0">
                <a:latin typeface="Symbol"/>
                <a:cs typeface="Symbol"/>
              </a:rPr>
              <a:t></a:t>
            </a:r>
            <a:r>
              <a:rPr sz="3900" baseline="-36324" dirty="0">
                <a:latin typeface="Times New Roman"/>
                <a:cs typeface="Times New Roman"/>
              </a:rPr>
              <a:t>	</a:t>
            </a:r>
            <a:r>
              <a:rPr sz="2600" b="1" i="1" dirty="0">
                <a:latin typeface="Arial"/>
                <a:cs typeface="Arial"/>
              </a:rPr>
              <a:t>det</a:t>
            </a:r>
            <a:r>
              <a:rPr sz="2600" b="1" i="1" spc="120" dirty="0">
                <a:latin typeface="Arial"/>
                <a:cs typeface="Arial"/>
              </a:rPr>
              <a:t> </a:t>
            </a:r>
            <a:r>
              <a:rPr sz="4200" spc="-405" dirty="0">
                <a:latin typeface="Symbol"/>
                <a:cs typeface="Symbol"/>
              </a:rPr>
              <a:t></a:t>
            </a:r>
            <a:r>
              <a:rPr sz="2600" b="1" i="1" spc="-405" dirty="0">
                <a:latin typeface="Arial"/>
                <a:cs typeface="Arial"/>
              </a:rPr>
              <a:t>V</a:t>
            </a:r>
            <a:r>
              <a:rPr sz="2600" b="1" i="1" spc="5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32" baseline="44444" dirty="0">
                <a:latin typeface="Arial"/>
                <a:cs typeface="Arial"/>
              </a:rPr>
              <a:t> </a:t>
            </a:r>
            <a:r>
              <a:rPr sz="2600" b="1" i="1" spc="85" dirty="0">
                <a:latin typeface="Arial"/>
                <a:cs typeface="Arial"/>
              </a:rPr>
              <a:t>S</a:t>
            </a:r>
            <a:r>
              <a:rPr sz="2250" b="1" i="1" spc="127" baseline="-24074" dirty="0">
                <a:latin typeface="Arial"/>
                <a:cs typeface="Arial"/>
              </a:rPr>
              <a:t>B</a:t>
            </a:r>
            <a:r>
              <a:rPr sz="2600" b="1" i="1" spc="85" dirty="0">
                <a:latin typeface="Arial"/>
                <a:cs typeface="Arial"/>
              </a:rPr>
              <a:t>V</a:t>
            </a:r>
            <a:r>
              <a:rPr sz="2600" b="1" i="1" spc="114" dirty="0">
                <a:latin typeface="Arial"/>
                <a:cs typeface="Arial"/>
              </a:rPr>
              <a:t> </a:t>
            </a:r>
            <a:r>
              <a:rPr sz="4200" spc="-470" dirty="0">
                <a:latin typeface="Symbol"/>
                <a:cs typeface="Symbol"/>
              </a:rPr>
              <a:t></a:t>
            </a:r>
            <a:endParaRPr sz="4200">
              <a:latin typeface="Symbol"/>
              <a:cs typeface="Symbol"/>
            </a:endParaRPr>
          </a:p>
          <a:p>
            <a:pPr marL="1336675" algn="ctr">
              <a:lnSpc>
                <a:spcPts val="4370"/>
              </a:lnSpc>
            </a:pPr>
            <a:r>
              <a:rPr sz="2600" b="1" i="1" dirty="0">
                <a:latin typeface="Arial"/>
                <a:cs typeface="Arial"/>
              </a:rPr>
              <a:t>det</a:t>
            </a:r>
            <a:r>
              <a:rPr sz="2600" b="1" i="1" spc="100" dirty="0">
                <a:latin typeface="Arial"/>
                <a:cs typeface="Arial"/>
              </a:rPr>
              <a:t> </a:t>
            </a:r>
            <a:r>
              <a:rPr sz="4200" spc="-405" dirty="0">
                <a:latin typeface="Symbol"/>
                <a:cs typeface="Symbol"/>
              </a:rPr>
              <a:t></a:t>
            </a:r>
            <a:r>
              <a:rPr sz="2600" b="1" i="1" spc="-405" dirty="0">
                <a:latin typeface="Arial"/>
                <a:cs typeface="Arial"/>
              </a:rPr>
              <a:t>V</a:t>
            </a:r>
            <a:r>
              <a:rPr sz="2600" b="1" i="1" spc="50" dirty="0">
                <a:latin typeface="Arial"/>
                <a:cs typeface="Arial"/>
              </a:rPr>
              <a:t> </a:t>
            </a:r>
            <a:r>
              <a:rPr sz="2250" b="1" i="1" baseline="44444" dirty="0">
                <a:latin typeface="Arial"/>
                <a:cs typeface="Arial"/>
              </a:rPr>
              <a:t>t</a:t>
            </a:r>
            <a:r>
              <a:rPr sz="2250" b="1" i="1" spc="-232" baseline="44444" dirty="0">
                <a:latin typeface="Arial"/>
                <a:cs typeface="Arial"/>
              </a:rPr>
              <a:t> </a:t>
            </a:r>
            <a:r>
              <a:rPr sz="2600" b="1" i="1" spc="55" dirty="0">
                <a:latin typeface="Arial"/>
                <a:cs typeface="Arial"/>
              </a:rPr>
              <a:t>S</a:t>
            </a:r>
            <a:r>
              <a:rPr sz="2250" b="1" i="1" spc="82" baseline="-24074" dirty="0">
                <a:latin typeface="Arial"/>
                <a:cs typeface="Arial"/>
              </a:rPr>
              <a:t>W</a:t>
            </a:r>
            <a:r>
              <a:rPr sz="2250" b="1" i="1" spc="-37" baseline="-24074" dirty="0">
                <a:latin typeface="Arial"/>
                <a:cs typeface="Arial"/>
              </a:rPr>
              <a:t> </a:t>
            </a:r>
            <a:r>
              <a:rPr sz="2600" b="1" i="1" dirty="0">
                <a:latin typeface="Arial"/>
                <a:cs typeface="Arial"/>
              </a:rPr>
              <a:t>V</a:t>
            </a:r>
            <a:r>
              <a:rPr sz="2600" b="1" i="1" spc="130" dirty="0">
                <a:latin typeface="Arial"/>
                <a:cs typeface="Arial"/>
              </a:rPr>
              <a:t> </a:t>
            </a:r>
            <a:r>
              <a:rPr sz="4200" spc="-459" dirty="0">
                <a:latin typeface="Symbol"/>
                <a:cs typeface="Symbol"/>
              </a:rPr>
              <a:t></a:t>
            </a:r>
            <a:endParaRPr sz="4200">
              <a:latin typeface="Symbol"/>
              <a:cs typeface="Symbol"/>
            </a:endParaRPr>
          </a:p>
          <a:p>
            <a:pPr marL="685165" indent="-608965">
              <a:lnSpc>
                <a:spcPct val="100000"/>
              </a:lnSpc>
              <a:spcBef>
                <a:spcPts val="630"/>
              </a:spcBef>
              <a:buClr>
                <a:srgbClr val="854300"/>
              </a:buClr>
              <a:buFont typeface="Microsoft Sans Serif"/>
              <a:buChar char="▪"/>
              <a:tabLst>
                <a:tab pos="685165" algn="l"/>
              </a:tabLst>
            </a:pPr>
            <a:r>
              <a:rPr sz="2800" dirty="0">
                <a:latin typeface="Arial MT"/>
                <a:cs typeface="Arial MT"/>
              </a:rPr>
              <a:t>First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solve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b="1" i="1" dirty="0">
                <a:solidFill>
                  <a:srgbClr val="006400"/>
                </a:solidFill>
                <a:latin typeface="Arial"/>
                <a:cs typeface="Arial"/>
              </a:rPr>
              <a:t>generalized</a:t>
            </a:r>
            <a:r>
              <a:rPr sz="2800" b="1" i="1" spc="-85" dirty="0">
                <a:solidFill>
                  <a:srgbClr val="0064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006400"/>
                </a:solidFill>
                <a:latin typeface="Arial"/>
                <a:cs typeface="Arial"/>
              </a:rPr>
              <a:t>eigenvalue</a:t>
            </a:r>
            <a:r>
              <a:rPr sz="2800" b="1" i="1" spc="-70" dirty="0">
                <a:solidFill>
                  <a:srgbClr val="0064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latin typeface="Arial MT"/>
                <a:cs typeface="Arial MT"/>
              </a:rPr>
              <a:t>problem:</a:t>
            </a:r>
            <a:endParaRPr sz="2800">
              <a:latin typeface="Arial MT"/>
              <a:cs typeface="Arial MT"/>
            </a:endParaRPr>
          </a:p>
          <a:p>
            <a:pPr marR="682625" algn="ctr">
              <a:lnSpc>
                <a:spcPct val="100000"/>
              </a:lnSpc>
              <a:spcBef>
                <a:spcPts val="434"/>
              </a:spcBef>
              <a:tabLst>
                <a:tab pos="753745" algn="l"/>
                <a:tab pos="1064895" algn="l"/>
              </a:tabLst>
            </a:pPr>
            <a:r>
              <a:rPr sz="2600" b="1" i="1" spc="90" dirty="0">
                <a:latin typeface="Arial"/>
                <a:cs typeface="Arial"/>
              </a:rPr>
              <a:t>S</a:t>
            </a:r>
            <a:r>
              <a:rPr sz="2250" b="1" i="1" spc="135" baseline="-24074" dirty="0">
                <a:latin typeface="Arial"/>
                <a:cs typeface="Arial"/>
              </a:rPr>
              <a:t>B</a:t>
            </a:r>
            <a:r>
              <a:rPr sz="2600" b="1" i="1" spc="90" dirty="0">
                <a:latin typeface="Arial"/>
                <a:cs typeface="Arial"/>
              </a:rPr>
              <a:t>v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spc="-50" dirty="0">
                <a:latin typeface="Symbol"/>
                <a:cs typeface="Symbol"/>
              </a:rPr>
              <a:t>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750" spc="-85" dirty="0">
                <a:latin typeface="Symbol"/>
                <a:cs typeface="Symbol"/>
              </a:rPr>
              <a:t></a:t>
            </a:r>
            <a:r>
              <a:rPr sz="2750" spc="-425" dirty="0">
                <a:latin typeface="Times New Roman"/>
                <a:cs typeface="Times New Roman"/>
              </a:rPr>
              <a:t> </a:t>
            </a:r>
            <a:r>
              <a:rPr sz="2600" b="1" i="1" spc="60" dirty="0">
                <a:latin typeface="Arial"/>
                <a:cs typeface="Arial"/>
              </a:rPr>
              <a:t>S</a:t>
            </a:r>
            <a:r>
              <a:rPr sz="2250" b="1" i="1" spc="89" baseline="-24074" dirty="0">
                <a:latin typeface="Arial"/>
                <a:cs typeface="Arial"/>
              </a:rPr>
              <a:t>W</a:t>
            </a:r>
            <a:r>
              <a:rPr sz="2250" b="1" i="1" spc="127" baseline="-24074" dirty="0">
                <a:latin typeface="Arial"/>
                <a:cs typeface="Arial"/>
              </a:rPr>
              <a:t> </a:t>
            </a:r>
            <a:r>
              <a:rPr sz="2600" b="1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  <a:p>
            <a:pPr marL="685165" indent="-608965">
              <a:lnSpc>
                <a:spcPct val="100000"/>
              </a:lnSpc>
              <a:spcBef>
                <a:spcPts val="1905"/>
              </a:spcBef>
              <a:buClr>
                <a:srgbClr val="854300"/>
              </a:buClr>
              <a:buFont typeface="Microsoft Sans Serif"/>
              <a:buChar char="▪"/>
              <a:tabLst>
                <a:tab pos="685165" algn="l"/>
              </a:tabLst>
            </a:pPr>
            <a:r>
              <a:rPr sz="2800" dirty="0">
                <a:latin typeface="Arial MT"/>
                <a:cs typeface="Arial MT"/>
              </a:rPr>
              <a:t>At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most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spc="-25" dirty="0">
                <a:latin typeface="Arial"/>
                <a:cs typeface="Arial"/>
              </a:rPr>
              <a:t>c</a:t>
            </a:r>
            <a:r>
              <a:rPr sz="2800" spc="-25" dirty="0">
                <a:latin typeface="Arial MT"/>
                <a:cs typeface="Arial MT"/>
              </a:rPr>
              <a:t>-</a:t>
            </a:r>
            <a:r>
              <a:rPr sz="2800" b="1" i="1" dirty="0">
                <a:latin typeface="Arial"/>
                <a:cs typeface="Arial"/>
              </a:rPr>
              <a:t>1</a:t>
            </a:r>
            <a:r>
              <a:rPr sz="2800" b="1" i="1" spc="-3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distinct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solution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eigenvalues</a:t>
            </a:r>
            <a:endParaRPr sz="2800">
              <a:latin typeface="Arial MT"/>
              <a:cs typeface="Arial MT"/>
            </a:endParaRPr>
          </a:p>
          <a:p>
            <a:pPr marL="685165" indent="-608965">
              <a:lnSpc>
                <a:spcPct val="100000"/>
              </a:lnSpc>
              <a:spcBef>
                <a:spcPts val="1440"/>
              </a:spcBef>
              <a:buClr>
                <a:srgbClr val="854300"/>
              </a:buClr>
              <a:buFont typeface="Microsoft Sans Serif"/>
              <a:buChar char="▪"/>
              <a:tabLst>
                <a:tab pos="685165" algn="l"/>
              </a:tabLst>
            </a:pPr>
            <a:r>
              <a:rPr sz="2800" dirty="0">
                <a:latin typeface="Arial MT"/>
                <a:cs typeface="Arial MT"/>
              </a:rPr>
              <a:t>Let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50" b="1" i="1" baseline="-20467" dirty="0">
                <a:latin typeface="Arial"/>
                <a:cs typeface="Arial"/>
              </a:rPr>
              <a:t>1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50" b="1" i="1" baseline="-20467" dirty="0">
                <a:latin typeface="Arial"/>
                <a:cs typeface="Arial"/>
              </a:rPr>
              <a:t>2</a:t>
            </a:r>
            <a:r>
              <a:rPr sz="2850" b="1" i="1" spc="322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,…,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b="1" i="1" spc="-10" dirty="0">
                <a:latin typeface="Arial"/>
                <a:cs typeface="Arial"/>
              </a:rPr>
              <a:t>v</a:t>
            </a:r>
            <a:r>
              <a:rPr sz="2850" b="1" i="1" spc="-15" baseline="-20467" dirty="0">
                <a:latin typeface="Arial"/>
                <a:cs typeface="Arial"/>
              </a:rPr>
              <a:t>c-</a:t>
            </a:r>
            <a:r>
              <a:rPr sz="2850" b="1" i="1" baseline="-20467" dirty="0">
                <a:latin typeface="Arial"/>
                <a:cs typeface="Arial"/>
              </a:rPr>
              <a:t>1</a:t>
            </a:r>
            <a:r>
              <a:rPr sz="2850" b="1" i="1" spc="322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corresponding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eigenvectors</a:t>
            </a:r>
            <a:endParaRPr sz="2800">
              <a:latin typeface="Arial MT"/>
              <a:cs typeface="Arial MT"/>
            </a:endParaRPr>
          </a:p>
          <a:p>
            <a:pPr marL="685165" marR="782955" indent="-609600">
              <a:lnSpc>
                <a:spcPct val="100200"/>
              </a:lnSpc>
              <a:spcBef>
                <a:spcPts val="1435"/>
              </a:spcBef>
              <a:buClr>
                <a:srgbClr val="854300"/>
              </a:buClr>
              <a:buFont typeface="Microsoft Sans Serif"/>
              <a:buChar char="▪"/>
              <a:tabLst>
                <a:tab pos="685165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optimal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projection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matrix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V</a:t>
            </a:r>
            <a:r>
              <a:rPr sz="2800" b="1" i="1" spc="-5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subspace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dimension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k</a:t>
            </a:r>
            <a:r>
              <a:rPr sz="2800" b="1" i="1" spc="-3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given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eigenvectors </a:t>
            </a:r>
            <a:r>
              <a:rPr sz="2800" dirty="0">
                <a:latin typeface="Arial MT"/>
                <a:cs typeface="Arial MT"/>
              </a:rPr>
              <a:t>corresponding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largest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k</a:t>
            </a:r>
            <a:r>
              <a:rPr sz="2800" b="1" i="1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 MT"/>
                <a:cs typeface="Arial MT"/>
              </a:rPr>
              <a:t>eigenvalues</a:t>
            </a:r>
            <a:endParaRPr sz="2800">
              <a:latin typeface="Arial MT"/>
              <a:cs typeface="Arial MT"/>
            </a:endParaRPr>
          </a:p>
          <a:p>
            <a:pPr marL="685165" marR="939800" indent="-609600">
              <a:lnSpc>
                <a:spcPct val="100400"/>
              </a:lnSpc>
              <a:spcBef>
                <a:spcPts val="695"/>
              </a:spcBef>
              <a:buClr>
                <a:srgbClr val="854300"/>
              </a:buClr>
              <a:buFont typeface="Microsoft Sans Serif"/>
              <a:buChar char="▪"/>
              <a:tabLst>
                <a:tab pos="685165" algn="l"/>
              </a:tabLst>
            </a:pPr>
            <a:r>
              <a:rPr sz="2800" dirty="0">
                <a:latin typeface="Arial MT"/>
                <a:cs typeface="Arial MT"/>
              </a:rPr>
              <a:t>Thus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subspace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dimension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at </a:t>
            </a:r>
            <a:r>
              <a:rPr sz="2800" dirty="0">
                <a:latin typeface="Arial MT"/>
                <a:cs typeface="Arial MT"/>
              </a:rPr>
              <a:t>most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b="1" i="1" spc="-10" dirty="0">
                <a:latin typeface="Arial"/>
                <a:cs typeface="Arial"/>
              </a:rPr>
              <a:t>c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b="1" i="1" spc="-50" dirty="0"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55167"/>
            <a:ext cx="8636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2665" algn="l"/>
              </a:tabLst>
            </a:pPr>
            <a:r>
              <a:rPr u="heavy" spc="-19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FDA</a:t>
            </a:r>
            <a:r>
              <a:rPr u="heavy" spc="-1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and</a:t>
            </a:r>
            <a:r>
              <a:rPr u="heavy" spc="-1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MDA</a:t>
            </a:r>
            <a:r>
              <a:rPr u="heavy" spc="-25" dirty="0">
                <a:uFill>
                  <a:solidFill>
                    <a:srgbClr val="8543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854300"/>
                  </a:solidFill>
                </a:uFill>
              </a:rPr>
              <a:t>Drawbacks</a:t>
            </a:r>
            <a:r>
              <a:rPr u="heavy" dirty="0">
                <a:uFill>
                  <a:solidFill>
                    <a:srgbClr val="8543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39" y="928543"/>
            <a:ext cx="8117840" cy="223774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770"/>
              </a:spcBef>
              <a:buClr>
                <a:srgbClr val="854300"/>
              </a:buClr>
              <a:buFont typeface="Microsoft Sans Serif"/>
              <a:buChar char="▪"/>
              <a:tabLst>
                <a:tab pos="367665" algn="l"/>
              </a:tabLst>
            </a:pPr>
            <a:r>
              <a:rPr sz="2800" dirty="0">
                <a:latin typeface="Arial MT"/>
                <a:cs typeface="Arial MT"/>
              </a:rPr>
              <a:t>Reduces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dimension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k</a:t>
            </a:r>
            <a:r>
              <a:rPr sz="2800" b="1" i="1" spc="-4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b="1" i="1" spc="-10" dirty="0">
                <a:latin typeface="Arial"/>
                <a:cs typeface="Arial"/>
              </a:rPr>
              <a:t>c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b="1" i="1" dirty="0">
                <a:latin typeface="Arial"/>
                <a:cs typeface="Arial"/>
              </a:rPr>
              <a:t>1</a:t>
            </a:r>
            <a:r>
              <a:rPr sz="2800" b="1" i="1" spc="-4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(unlike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PCA)</a:t>
            </a:r>
            <a:endParaRPr sz="2800">
              <a:latin typeface="Arial MT"/>
              <a:cs typeface="Arial MT"/>
            </a:endParaRPr>
          </a:p>
          <a:p>
            <a:pPr marL="768985" marR="17780" lvl="1" indent="-287020">
              <a:lnSpc>
                <a:spcPct val="100000"/>
              </a:lnSpc>
              <a:spcBef>
                <a:spcPts val="580"/>
              </a:spcBef>
              <a:buClr>
                <a:srgbClr val="854300"/>
              </a:buClr>
              <a:buFont typeface="Microsoft Sans Serif"/>
              <a:buChar char="▪"/>
              <a:tabLst>
                <a:tab pos="768985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complex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may </a:t>
            </a: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unseparable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samples</a:t>
            </a:r>
            <a:endParaRPr sz="24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500"/>
              </a:spcBef>
              <a:buClr>
                <a:srgbClr val="854300"/>
              </a:buClr>
              <a:buFont typeface="Microsoft Sans Serif"/>
              <a:buChar char="▪"/>
              <a:tabLst>
                <a:tab pos="367665" algn="l"/>
              </a:tabLst>
            </a:pP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fail:</a:t>
            </a:r>
            <a:endParaRPr sz="2800">
              <a:latin typeface="Arial MT"/>
              <a:cs typeface="Arial MT"/>
            </a:endParaRPr>
          </a:p>
          <a:p>
            <a:pPr marL="405765">
              <a:lnSpc>
                <a:spcPct val="100000"/>
              </a:lnSpc>
              <a:spcBef>
                <a:spcPts val="180"/>
              </a:spcBef>
              <a:tabLst>
                <a:tab pos="862965" algn="l"/>
                <a:tab pos="3235960" algn="l"/>
              </a:tabLst>
            </a:pPr>
            <a:r>
              <a:rPr sz="2400" b="1" i="1" spc="-25" dirty="0">
                <a:solidFill>
                  <a:srgbClr val="854300"/>
                </a:solidFill>
                <a:latin typeface="Arial"/>
                <a:cs typeface="Arial"/>
              </a:rPr>
              <a:t>1.</a:t>
            </a:r>
            <a:r>
              <a:rPr sz="2400" b="1" i="1" dirty="0">
                <a:solidFill>
                  <a:srgbClr val="854300"/>
                </a:solidFill>
                <a:latin typeface="Arial"/>
                <a:cs typeface="Arial"/>
              </a:rPr>
              <a:t>	</a:t>
            </a:r>
            <a:r>
              <a:rPr sz="2400" b="1" i="1" dirty="0">
                <a:latin typeface="Arial"/>
                <a:cs typeface="Arial"/>
              </a:rPr>
              <a:t>J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b="1" i="1" dirty="0">
                <a:latin typeface="Arial"/>
                <a:cs typeface="Arial"/>
              </a:rPr>
              <a:t>v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always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0:</a:t>
            </a:r>
            <a:r>
              <a:rPr sz="2400" dirty="0">
                <a:latin typeface="Arial MT"/>
                <a:cs typeface="Arial MT"/>
              </a:rPr>
              <a:t>	happens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Symbol"/>
                <a:cs typeface="Symbol"/>
              </a:rPr>
              <a:t></a:t>
            </a:r>
            <a:r>
              <a:rPr sz="2400" b="1" i="1" baseline="-20833" dirty="0">
                <a:latin typeface="Arial"/>
                <a:cs typeface="Arial"/>
              </a:rPr>
              <a:t>1</a:t>
            </a:r>
            <a:r>
              <a:rPr sz="2400" b="1" i="1" spc="600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500" spc="-25" dirty="0">
                <a:latin typeface="Symbol"/>
                <a:cs typeface="Symbol"/>
              </a:rPr>
              <a:t></a:t>
            </a:r>
            <a:r>
              <a:rPr sz="2400" b="1" i="1" spc="-3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19122" y="3338321"/>
            <a:ext cx="1781810" cy="562610"/>
            <a:chOff x="2119122" y="3338321"/>
            <a:chExt cx="1781810" cy="562610"/>
          </a:xfrm>
        </p:grpSpPr>
        <p:sp>
          <p:nvSpPr>
            <p:cNvPr id="5" name="object 5"/>
            <p:cNvSpPr/>
            <p:nvPr/>
          </p:nvSpPr>
          <p:spPr>
            <a:xfrm>
              <a:off x="2133600" y="3352799"/>
              <a:ext cx="1752600" cy="533400"/>
            </a:xfrm>
            <a:custGeom>
              <a:avLst/>
              <a:gdLst/>
              <a:ahLst/>
              <a:cxnLst/>
              <a:rect l="l" t="t" r="r" b="b"/>
              <a:pathLst>
                <a:path w="1752600" h="533400">
                  <a:moveTo>
                    <a:pt x="1752599" y="266699"/>
                  </a:moveTo>
                  <a:lnTo>
                    <a:pt x="1742162" y="225329"/>
                  </a:lnTo>
                  <a:lnTo>
                    <a:pt x="1711899" y="185999"/>
                  </a:lnTo>
                  <a:lnTo>
                    <a:pt x="1663381" y="149178"/>
                  </a:lnTo>
                  <a:lnTo>
                    <a:pt x="1598181" y="115331"/>
                  </a:lnTo>
                  <a:lnTo>
                    <a:pt x="1559816" y="99668"/>
                  </a:lnTo>
                  <a:lnTo>
                    <a:pt x="1517870" y="84924"/>
                  </a:lnTo>
                  <a:lnTo>
                    <a:pt x="1472539" y="71156"/>
                  </a:lnTo>
                  <a:lnTo>
                    <a:pt x="1424020" y="58422"/>
                  </a:lnTo>
                  <a:lnTo>
                    <a:pt x="1372509" y="46782"/>
                  </a:lnTo>
                  <a:lnTo>
                    <a:pt x="1318203" y="36293"/>
                  </a:lnTo>
                  <a:lnTo>
                    <a:pt x="1261298" y="27014"/>
                  </a:lnTo>
                  <a:lnTo>
                    <a:pt x="1201991" y="19002"/>
                  </a:lnTo>
                  <a:lnTo>
                    <a:pt x="1140479" y="12317"/>
                  </a:lnTo>
                  <a:lnTo>
                    <a:pt x="1076957" y="7015"/>
                  </a:lnTo>
                  <a:lnTo>
                    <a:pt x="1011622" y="3156"/>
                  </a:lnTo>
                  <a:lnTo>
                    <a:pt x="944670" y="798"/>
                  </a:lnTo>
                  <a:lnTo>
                    <a:pt x="876299" y="0"/>
                  </a:lnTo>
                  <a:lnTo>
                    <a:pt x="807731" y="798"/>
                  </a:lnTo>
                  <a:lnTo>
                    <a:pt x="740621" y="3156"/>
                  </a:lnTo>
                  <a:lnTo>
                    <a:pt x="675163" y="7015"/>
                  </a:lnTo>
                  <a:lnTo>
                    <a:pt x="611550" y="12317"/>
                  </a:lnTo>
                  <a:lnTo>
                    <a:pt x="549976" y="19002"/>
                  </a:lnTo>
                  <a:lnTo>
                    <a:pt x="490634" y="27014"/>
                  </a:lnTo>
                  <a:lnTo>
                    <a:pt x="433719" y="36293"/>
                  </a:lnTo>
                  <a:lnTo>
                    <a:pt x="379423" y="46782"/>
                  </a:lnTo>
                  <a:lnTo>
                    <a:pt x="327939" y="58422"/>
                  </a:lnTo>
                  <a:lnTo>
                    <a:pt x="279463" y="71156"/>
                  </a:lnTo>
                  <a:lnTo>
                    <a:pt x="234186" y="84924"/>
                  </a:lnTo>
                  <a:lnTo>
                    <a:pt x="192303" y="99668"/>
                  </a:lnTo>
                  <a:lnTo>
                    <a:pt x="154008" y="115331"/>
                  </a:lnTo>
                  <a:lnTo>
                    <a:pt x="119492" y="131854"/>
                  </a:lnTo>
                  <a:lnTo>
                    <a:pt x="62578" y="167246"/>
                  </a:lnTo>
                  <a:lnTo>
                    <a:pt x="23108" y="205380"/>
                  </a:lnTo>
                  <a:lnTo>
                    <a:pt x="2632" y="245788"/>
                  </a:lnTo>
                  <a:lnTo>
                    <a:pt x="0" y="266699"/>
                  </a:lnTo>
                  <a:lnTo>
                    <a:pt x="2900" y="288439"/>
                  </a:lnTo>
                  <a:lnTo>
                    <a:pt x="25429" y="330469"/>
                  </a:lnTo>
                  <a:lnTo>
                    <a:pt x="68770" y="370093"/>
                  </a:lnTo>
                  <a:lnTo>
                    <a:pt x="131131" y="406746"/>
                  </a:lnTo>
                  <a:lnTo>
                    <a:pt x="168883" y="423781"/>
                  </a:lnTo>
                  <a:lnTo>
                    <a:pt x="210718" y="439861"/>
                  </a:lnTo>
                  <a:lnTo>
                    <a:pt x="256412" y="454913"/>
                  </a:lnTo>
                  <a:lnTo>
                    <a:pt x="305741" y="468869"/>
                  </a:lnTo>
                  <a:lnTo>
                    <a:pt x="358481" y="481657"/>
                  </a:lnTo>
                  <a:lnTo>
                    <a:pt x="414407" y="493205"/>
                  </a:lnTo>
                  <a:lnTo>
                    <a:pt x="473296" y="503444"/>
                  </a:lnTo>
                  <a:lnTo>
                    <a:pt x="534923" y="512302"/>
                  </a:lnTo>
                  <a:lnTo>
                    <a:pt x="599066" y="519708"/>
                  </a:lnTo>
                  <a:lnTo>
                    <a:pt x="665498" y="525592"/>
                  </a:lnTo>
                  <a:lnTo>
                    <a:pt x="733998" y="529882"/>
                  </a:lnTo>
                  <a:lnTo>
                    <a:pt x="804339" y="532508"/>
                  </a:lnTo>
                  <a:lnTo>
                    <a:pt x="876299" y="533399"/>
                  </a:lnTo>
                  <a:lnTo>
                    <a:pt x="948053" y="532508"/>
                  </a:lnTo>
                  <a:lnTo>
                    <a:pt x="1018231" y="529882"/>
                  </a:lnTo>
                  <a:lnTo>
                    <a:pt x="1086605" y="525592"/>
                  </a:lnTo>
                  <a:lnTo>
                    <a:pt x="1152948" y="519708"/>
                  </a:lnTo>
                  <a:lnTo>
                    <a:pt x="1217033" y="512302"/>
                  </a:lnTo>
                  <a:lnTo>
                    <a:pt x="1278631" y="503444"/>
                  </a:lnTo>
                  <a:lnTo>
                    <a:pt x="1337516" y="493205"/>
                  </a:lnTo>
                  <a:lnTo>
                    <a:pt x="1393460" y="481657"/>
                  </a:lnTo>
                  <a:lnTo>
                    <a:pt x="1446235" y="468869"/>
                  </a:lnTo>
                  <a:lnTo>
                    <a:pt x="1495615" y="454913"/>
                  </a:lnTo>
                  <a:lnTo>
                    <a:pt x="1541371" y="439861"/>
                  </a:lnTo>
                  <a:lnTo>
                    <a:pt x="1583277" y="423781"/>
                  </a:lnTo>
                  <a:lnTo>
                    <a:pt x="1621104" y="406746"/>
                  </a:lnTo>
                  <a:lnTo>
                    <a:pt x="1683615" y="370093"/>
                  </a:lnTo>
                  <a:lnTo>
                    <a:pt x="1727083" y="330469"/>
                  </a:lnTo>
                  <a:lnTo>
                    <a:pt x="1749688" y="288439"/>
                  </a:lnTo>
                  <a:lnTo>
                    <a:pt x="1752599" y="266699"/>
                  </a:lnTo>
                  <a:close/>
                </a:path>
              </a:pathLst>
            </a:custGeom>
            <a:ln w="28955">
              <a:solidFill>
                <a:srgbClr val="CD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3200" y="335279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533399" y="266699"/>
                  </a:moveTo>
                  <a:lnTo>
                    <a:pt x="529070" y="218619"/>
                  </a:lnTo>
                  <a:lnTo>
                    <a:pt x="516600" y="173424"/>
                  </a:lnTo>
                  <a:lnTo>
                    <a:pt x="496767" y="131854"/>
                  </a:lnTo>
                  <a:lnTo>
                    <a:pt x="470349" y="94648"/>
                  </a:lnTo>
                  <a:lnTo>
                    <a:pt x="438123" y="62548"/>
                  </a:lnTo>
                  <a:lnTo>
                    <a:pt x="400868" y="36293"/>
                  </a:lnTo>
                  <a:lnTo>
                    <a:pt x="359360" y="16623"/>
                  </a:lnTo>
                  <a:lnTo>
                    <a:pt x="314378" y="4279"/>
                  </a:lnTo>
                  <a:lnTo>
                    <a:pt x="266699" y="0"/>
                  </a:lnTo>
                  <a:lnTo>
                    <a:pt x="218619" y="4279"/>
                  </a:lnTo>
                  <a:lnTo>
                    <a:pt x="173424" y="16623"/>
                  </a:lnTo>
                  <a:lnTo>
                    <a:pt x="131854" y="36293"/>
                  </a:lnTo>
                  <a:lnTo>
                    <a:pt x="94648" y="62548"/>
                  </a:lnTo>
                  <a:lnTo>
                    <a:pt x="62548" y="94648"/>
                  </a:lnTo>
                  <a:lnTo>
                    <a:pt x="36293" y="131854"/>
                  </a:lnTo>
                  <a:lnTo>
                    <a:pt x="16623" y="173424"/>
                  </a:lnTo>
                  <a:lnTo>
                    <a:pt x="4279" y="218619"/>
                  </a:lnTo>
                  <a:lnTo>
                    <a:pt x="0" y="266699"/>
                  </a:lnTo>
                  <a:lnTo>
                    <a:pt x="4279" y="314378"/>
                  </a:lnTo>
                  <a:lnTo>
                    <a:pt x="16623" y="359360"/>
                  </a:lnTo>
                  <a:lnTo>
                    <a:pt x="36293" y="400868"/>
                  </a:lnTo>
                  <a:lnTo>
                    <a:pt x="62548" y="438123"/>
                  </a:lnTo>
                  <a:lnTo>
                    <a:pt x="94648" y="470349"/>
                  </a:lnTo>
                  <a:lnTo>
                    <a:pt x="131854" y="496767"/>
                  </a:lnTo>
                  <a:lnTo>
                    <a:pt x="173424" y="516600"/>
                  </a:lnTo>
                  <a:lnTo>
                    <a:pt x="218619" y="529070"/>
                  </a:lnTo>
                  <a:lnTo>
                    <a:pt x="266699" y="533399"/>
                  </a:lnTo>
                  <a:lnTo>
                    <a:pt x="314378" y="529070"/>
                  </a:lnTo>
                  <a:lnTo>
                    <a:pt x="359360" y="516600"/>
                  </a:lnTo>
                  <a:lnTo>
                    <a:pt x="400868" y="496767"/>
                  </a:lnTo>
                  <a:lnTo>
                    <a:pt x="438123" y="470349"/>
                  </a:lnTo>
                  <a:lnTo>
                    <a:pt x="470349" y="438123"/>
                  </a:lnTo>
                  <a:lnTo>
                    <a:pt x="496767" y="400868"/>
                  </a:lnTo>
                  <a:lnTo>
                    <a:pt x="516600" y="359360"/>
                  </a:lnTo>
                  <a:lnTo>
                    <a:pt x="529070" y="314378"/>
                  </a:lnTo>
                  <a:lnTo>
                    <a:pt x="533399" y="266699"/>
                  </a:lnTo>
                  <a:close/>
                </a:path>
              </a:pathLst>
            </a:custGeom>
            <a:ln w="28955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12339" y="3917694"/>
            <a:ext cx="1941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PCA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performs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7939" y="4245354"/>
            <a:ext cx="2129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reasonably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well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62022" y="4781550"/>
            <a:ext cx="1743710" cy="38100"/>
            <a:chOff x="2462022" y="4781550"/>
            <a:chExt cx="1743710" cy="38100"/>
          </a:xfrm>
        </p:grpSpPr>
        <p:sp>
          <p:nvSpPr>
            <p:cNvPr id="10" name="object 10"/>
            <p:cNvSpPr/>
            <p:nvPr/>
          </p:nvSpPr>
          <p:spPr>
            <a:xfrm>
              <a:off x="2476500" y="4797551"/>
              <a:ext cx="1714500" cy="3175"/>
            </a:xfrm>
            <a:custGeom>
              <a:avLst/>
              <a:gdLst/>
              <a:ahLst/>
              <a:cxnLst/>
              <a:rect l="l" t="t" r="r" b="b"/>
              <a:pathLst>
                <a:path w="1714500" h="3175">
                  <a:moveTo>
                    <a:pt x="0" y="3047"/>
                  </a:moveTo>
                  <a:lnTo>
                    <a:pt x="1714499" y="0"/>
                  </a:lnTo>
                </a:path>
              </a:pathLst>
            </a:custGeom>
            <a:ln w="28955">
              <a:solidFill>
                <a:srgbClr val="CD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09900" y="48006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399" y="0"/>
                  </a:lnTo>
                </a:path>
              </a:pathLst>
            </a:custGeom>
            <a:ln w="38099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6202679" y="32004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74319" y="137159"/>
                </a:moveTo>
                <a:lnTo>
                  <a:pt x="267224" y="93634"/>
                </a:lnTo>
                <a:lnTo>
                  <a:pt x="247546" y="55961"/>
                </a:lnTo>
                <a:lnTo>
                  <a:pt x="217700" y="26334"/>
                </a:lnTo>
                <a:lnTo>
                  <a:pt x="180100" y="6949"/>
                </a:lnTo>
                <a:lnTo>
                  <a:pt x="137159" y="0"/>
                </a:lnTo>
                <a:lnTo>
                  <a:pt x="93634" y="6949"/>
                </a:lnTo>
                <a:lnTo>
                  <a:pt x="55961" y="26334"/>
                </a:lnTo>
                <a:lnTo>
                  <a:pt x="26334" y="55961"/>
                </a:lnTo>
                <a:lnTo>
                  <a:pt x="6949" y="93634"/>
                </a:lnTo>
                <a:lnTo>
                  <a:pt x="0" y="137159"/>
                </a:lnTo>
                <a:lnTo>
                  <a:pt x="6949" y="180100"/>
                </a:lnTo>
                <a:lnTo>
                  <a:pt x="26334" y="217700"/>
                </a:lnTo>
                <a:lnTo>
                  <a:pt x="55961" y="247546"/>
                </a:lnTo>
                <a:lnTo>
                  <a:pt x="93634" y="267224"/>
                </a:lnTo>
                <a:lnTo>
                  <a:pt x="137159" y="274319"/>
                </a:lnTo>
                <a:lnTo>
                  <a:pt x="180100" y="267224"/>
                </a:lnTo>
                <a:lnTo>
                  <a:pt x="217700" y="247546"/>
                </a:lnTo>
                <a:lnTo>
                  <a:pt x="247546" y="217700"/>
                </a:lnTo>
                <a:lnTo>
                  <a:pt x="267224" y="180100"/>
                </a:lnTo>
                <a:lnTo>
                  <a:pt x="274319" y="137159"/>
                </a:lnTo>
                <a:close/>
              </a:path>
            </a:pathLst>
          </a:custGeom>
          <a:ln w="28955">
            <a:solidFill>
              <a:srgbClr val="3131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59879" y="32004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74319" y="137159"/>
                </a:moveTo>
                <a:lnTo>
                  <a:pt x="267224" y="93634"/>
                </a:lnTo>
                <a:lnTo>
                  <a:pt x="247546" y="55961"/>
                </a:lnTo>
                <a:lnTo>
                  <a:pt x="217700" y="26334"/>
                </a:lnTo>
                <a:lnTo>
                  <a:pt x="180100" y="6949"/>
                </a:lnTo>
                <a:lnTo>
                  <a:pt x="137159" y="0"/>
                </a:lnTo>
                <a:lnTo>
                  <a:pt x="93634" y="6949"/>
                </a:lnTo>
                <a:lnTo>
                  <a:pt x="55961" y="26334"/>
                </a:lnTo>
                <a:lnTo>
                  <a:pt x="26334" y="55961"/>
                </a:lnTo>
                <a:lnTo>
                  <a:pt x="6949" y="93634"/>
                </a:lnTo>
                <a:lnTo>
                  <a:pt x="0" y="137159"/>
                </a:lnTo>
                <a:lnTo>
                  <a:pt x="6949" y="180100"/>
                </a:lnTo>
                <a:lnTo>
                  <a:pt x="26334" y="217700"/>
                </a:lnTo>
                <a:lnTo>
                  <a:pt x="55961" y="247546"/>
                </a:lnTo>
                <a:lnTo>
                  <a:pt x="93634" y="267224"/>
                </a:lnTo>
                <a:lnTo>
                  <a:pt x="137159" y="274319"/>
                </a:lnTo>
                <a:lnTo>
                  <a:pt x="180100" y="267224"/>
                </a:lnTo>
                <a:lnTo>
                  <a:pt x="217700" y="247546"/>
                </a:lnTo>
                <a:lnTo>
                  <a:pt x="247546" y="217700"/>
                </a:lnTo>
                <a:lnTo>
                  <a:pt x="267224" y="180100"/>
                </a:lnTo>
                <a:lnTo>
                  <a:pt x="274319" y="137159"/>
                </a:lnTo>
                <a:close/>
              </a:path>
            </a:pathLst>
          </a:custGeom>
          <a:ln w="28955">
            <a:solidFill>
              <a:srgbClr val="CD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59879" y="35814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74319" y="137159"/>
                </a:moveTo>
                <a:lnTo>
                  <a:pt x="267224" y="93634"/>
                </a:lnTo>
                <a:lnTo>
                  <a:pt x="247546" y="55961"/>
                </a:lnTo>
                <a:lnTo>
                  <a:pt x="217700" y="26334"/>
                </a:lnTo>
                <a:lnTo>
                  <a:pt x="180100" y="6949"/>
                </a:lnTo>
                <a:lnTo>
                  <a:pt x="137159" y="0"/>
                </a:lnTo>
                <a:lnTo>
                  <a:pt x="93634" y="6949"/>
                </a:lnTo>
                <a:lnTo>
                  <a:pt x="55961" y="26334"/>
                </a:lnTo>
                <a:lnTo>
                  <a:pt x="26334" y="55961"/>
                </a:lnTo>
                <a:lnTo>
                  <a:pt x="6949" y="93634"/>
                </a:lnTo>
                <a:lnTo>
                  <a:pt x="0" y="137159"/>
                </a:lnTo>
                <a:lnTo>
                  <a:pt x="6949" y="180100"/>
                </a:lnTo>
                <a:lnTo>
                  <a:pt x="26334" y="217700"/>
                </a:lnTo>
                <a:lnTo>
                  <a:pt x="55961" y="247546"/>
                </a:lnTo>
                <a:lnTo>
                  <a:pt x="93634" y="267224"/>
                </a:lnTo>
                <a:lnTo>
                  <a:pt x="137159" y="274319"/>
                </a:lnTo>
                <a:lnTo>
                  <a:pt x="180100" y="267224"/>
                </a:lnTo>
                <a:lnTo>
                  <a:pt x="217700" y="247546"/>
                </a:lnTo>
                <a:lnTo>
                  <a:pt x="247546" y="217700"/>
                </a:lnTo>
                <a:lnTo>
                  <a:pt x="267224" y="180100"/>
                </a:lnTo>
                <a:lnTo>
                  <a:pt x="274319" y="137159"/>
                </a:lnTo>
                <a:close/>
              </a:path>
            </a:pathLst>
          </a:custGeom>
          <a:ln w="28955">
            <a:solidFill>
              <a:srgbClr val="3131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02679" y="35814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74319" y="137159"/>
                </a:moveTo>
                <a:lnTo>
                  <a:pt x="267224" y="93634"/>
                </a:lnTo>
                <a:lnTo>
                  <a:pt x="247546" y="55961"/>
                </a:lnTo>
                <a:lnTo>
                  <a:pt x="217700" y="26334"/>
                </a:lnTo>
                <a:lnTo>
                  <a:pt x="180100" y="6949"/>
                </a:lnTo>
                <a:lnTo>
                  <a:pt x="137159" y="0"/>
                </a:lnTo>
                <a:lnTo>
                  <a:pt x="93634" y="6949"/>
                </a:lnTo>
                <a:lnTo>
                  <a:pt x="55961" y="26334"/>
                </a:lnTo>
                <a:lnTo>
                  <a:pt x="26334" y="55961"/>
                </a:lnTo>
                <a:lnTo>
                  <a:pt x="6949" y="93634"/>
                </a:lnTo>
                <a:lnTo>
                  <a:pt x="0" y="137159"/>
                </a:lnTo>
                <a:lnTo>
                  <a:pt x="6949" y="180100"/>
                </a:lnTo>
                <a:lnTo>
                  <a:pt x="26334" y="217700"/>
                </a:lnTo>
                <a:lnTo>
                  <a:pt x="55961" y="247546"/>
                </a:lnTo>
                <a:lnTo>
                  <a:pt x="93634" y="267224"/>
                </a:lnTo>
                <a:lnTo>
                  <a:pt x="137159" y="274319"/>
                </a:lnTo>
                <a:lnTo>
                  <a:pt x="180100" y="267224"/>
                </a:lnTo>
                <a:lnTo>
                  <a:pt x="217700" y="247546"/>
                </a:lnTo>
                <a:lnTo>
                  <a:pt x="247546" y="217700"/>
                </a:lnTo>
                <a:lnTo>
                  <a:pt x="267224" y="180100"/>
                </a:lnTo>
                <a:lnTo>
                  <a:pt x="274319" y="137159"/>
                </a:lnTo>
                <a:close/>
              </a:path>
            </a:pathLst>
          </a:custGeom>
          <a:ln w="28955">
            <a:solidFill>
              <a:srgbClr val="CD3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79537" y="3955794"/>
            <a:ext cx="129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PCA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also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65137" y="4283454"/>
            <a:ext cx="65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fails: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00800" y="4476750"/>
            <a:ext cx="462280" cy="100965"/>
            <a:chOff x="6400800" y="4476750"/>
            <a:chExt cx="462280" cy="100965"/>
          </a:xfrm>
        </p:grpSpPr>
        <p:sp>
          <p:nvSpPr>
            <p:cNvPr id="19" name="object 19"/>
            <p:cNvSpPr/>
            <p:nvPr/>
          </p:nvSpPr>
          <p:spPr>
            <a:xfrm>
              <a:off x="6400800" y="4558284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199" y="0"/>
                  </a:lnTo>
                </a:path>
              </a:pathLst>
            </a:custGeom>
            <a:ln w="38099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05371" y="44958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199" y="0"/>
                  </a:lnTo>
                </a:path>
              </a:pathLst>
            </a:custGeom>
            <a:ln w="38099">
              <a:solidFill>
                <a:srgbClr val="CD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7086600" y="4476750"/>
            <a:ext cx="457200" cy="100965"/>
            <a:chOff x="7086600" y="4476750"/>
            <a:chExt cx="457200" cy="100965"/>
          </a:xfrm>
        </p:grpSpPr>
        <p:sp>
          <p:nvSpPr>
            <p:cNvPr id="22" name="object 22"/>
            <p:cNvSpPr/>
            <p:nvPr/>
          </p:nvSpPr>
          <p:spPr>
            <a:xfrm>
              <a:off x="7086600" y="4558284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199" y="0"/>
                  </a:lnTo>
                </a:path>
              </a:pathLst>
            </a:custGeom>
            <a:ln w="38099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6600" y="44958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199" y="0"/>
                  </a:lnTo>
                </a:path>
              </a:pathLst>
            </a:custGeom>
            <a:ln w="38099">
              <a:solidFill>
                <a:srgbClr val="CD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45539" y="4461762"/>
            <a:ext cx="7957184" cy="134683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985"/>
              </a:spcBef>
            </a:pPr>
            <a:r>
              <a:rPr sz="2400" spc="-10" dirty="0">
                <a:latin typeface="Arial MT"/>
                <a:cs typeface="Arial MT"/>
              </a:rPr>
              <a:t>here:</a:t>
            </a:r>
            <a:endParaRPr sz="2400">
              <a:latin typeface="Arial MT"/>
              <a:cs typeface="Arial MT"/>
            </a:endParaRPr>
          </a:p>
          <a:p>
            <a:pPr marL="469265" marR="5080" indent="-457200">
              <a:lnSpc>
                <a:spcPts val="2870"/>
              </a:lnSpc>
              <a:spcBef>
                <a:spcPts val="995"/>
              </a:spcBef>
              <a:tabLst>
                <a:tab pos="469265" algn="l"/>
              </a:tabLst>
            </a:pPr>
            <a:r>
              <a:rPr sz="2400" spc="-25" dirty="0">
                <a:solidFill>
                  <a:srgbClr val="854300"/>
                </a:solidFill>
                <a:latin typeface="Arial MT"/>
                <a:cs typeface="Arial MT"/>
              </a:rPr>
              <a:t>2.</a:t>
            </a:r>
            <a:r>
              <a:rPr sz="2400" dirty="0">
                <a:solidFill>
                  <a:srgbClr val="854300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i="1" dirty="0">
                <a:latin typeface="Arial"/>
                <a:cs typeface="Arial"/>
              </a:rPr>
              <a:t>J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b="1" i="1" dirty="0">
                <a:latin typeface="Arial"/>
                <a:cs typeface="Arial"/>
              </a:rPr>
              <a:t>v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always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large: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overlap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when </a:t>
            </a:r>
            <a:r>
              <a:rPr sz="2400" dirty="0">
                <a:latin typeface="Arial MT"/>
                <a:cs typeface="Arial MT"/>
              </a:rPr>
              <a:t>projected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(PCA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fail)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317485" y="5772150"/>
            <a:ext cx="1007744" cy="995680"/>
            <a:chOff x="7317485" y="5772150"/>
            <a:chExt cx="1007744" cy="995680"/>
          </a:xfrm>
        </p:grpSpPr>
        <p:sp>
          <p:nvSpPr>
            <p:cNvPr id="26" name="object 26"/>
            <p:cNvSpPr/>
            <p:nvPr/>
          </p:nvSpPr>
          <p:spPr>
            <a:xfrm>
              <a:off x="7336535" y="5791200"/>
              <a:ext cx="786765" cy="957580"/>
            </a:xfrm>
            <a:custGeom>
              <a:avLst/>
              <a:gdLst/>
              <a:ahLst/>
              <a:cxnLst/>
              <a:rect l="l" t="t" r="r" b="b"/>
              <a:pathLst>
                <a:path w="786765" h="957579">
                  <a:moveTo>
                    <a:pt x="786383" y="0"/>
                  </a:moveTo>
                  <a:lnTo>
                    <a:pt x="727691" y="1316"/>
                  </a:lnTo>
                  <a:lnTo>
                    <a:pt x="670170" y="5202"/>
                  </a:lnTo>
                  <a:lnTo>
                    <a:pt x="613974" y="11566"/>
                  </a:lnTo>
                  <a:lnTo>
                    <a:pt x="559254" y="20312"/>
                  </a:lnTo>
                  <a:lnTo>
                    <a:pt x="506162" y="31348"/>
                  </a:lnTo>
                  <a:lnTo>
                    <a:pt x="454850" y="44579"/>
                  </a:lnTo>
                  <a:lnTo>
                    <a:pt x="405470" y="59913"/>
                  </a:lnTo>
                  <a:lnTo>
                    <a:pt x="358175" y="77255"/>
                  </a:lnTo>
                  <a:lnTo>
                    <a:pt x="313116" y="96513"/>
                  </a:lnTo>
                  <a:lnTo>
                    <a:pt x="270445" y="117591"/>
                  </a:lnTo>
                  <a:lnTo>
                    <a:pt x="230314" y="140398"/>
                  </a:lnTo>
                  <a:lnTo>
                    <a:pt x="192875" y="164839"/>
                  </a:lnTo>
                  <a:lnTo>
                    <a:pt x="158281" y="190820"/>
                  </a:lnTo>
                  <a:lnTo>
                    <a:pt x="126683" y="218249"/>
                  </a:lnTo>
                  <a:lnTo>
                    <a:pt x="98233" y="247030"/>
                  </a:lnTo>
                  <a:lnTo>
                    <a:pt x="73083" y="277072"/>
                  </a:lnTo>
                  <a:lnTo>
                    <a:pt x="33292" y="340560"/>
                  </a:lnTo>
                  <a:lnTo>
                    <a:pt x="8525" y="407964"/>
                  </a:lnTo>
                  <a:lnTo>
                    <a:pt x="0" y="478535"/>
                  </a:lnTo>
                  <a:lnTo>
                    <a:pt x="2156" y="514360"/>
                  </a:lnTo>
                  <a:lnTo>
                    <a:pt x="18954" y="583716"/>
                  </a:lnTo>
                  <a:lnTo>
                    <a:pt x="51385" y="649412"/>
                  </a:lnTo>
                  <a:lnTo>
                    <a:pt x="98233" y="710717"/>
                  </a:lnTo>
                  <a:lnTo>
                    <a:pt x="126683" y="739496"/>
                  </a:lnTo>
                  <a:lnTo>
                    <a:pt x="158281" y="766904"/>
                  </a:lnTo>
                  <a:lnTo>
                    <a:pt x="192875" y="792850"/>
                  </a:lnTo>
                  <a:lnTo>
                    <a:pt x="230314" y="817244"/>
                  </a:lnTo>
                  <a:lnTo>
                    <a:pt x="270445" y="839995"/>
                  </a:lnTo>
                  <a:lnTo>
                    <a:pt x="313116" y="861011"/>
                  </a:lnTo>
                  <a:lnTo>
                    <a:pt x="358175" y="880201"/>
                  </a:lnTo>
                  <a:lnTo>
                    <a:pt x="405470" y="897474"/>
                  </a:lnTo>
                  <a:lnTo>
                    <a:pt x="454850" y="912739"/>
                  </a:lnTo>
                  <a:lnTo>
                    <a:pt x="506162" y="925906"/>
                  </a:lnTo>
                  <a:lnTo>
                    <a:pt x="559254" y="936883"/>
                  </a:lnTo>
                  <a:lnTo>
                    <a:pt x="613974" y="945579"/>
                  </a:lnTo>
                  <a:lnTo>
                    <a:pt x="670170" y="951903"/>
                  </a:lnTo>
                  <a:lnTo>
                    <a:pt x="727691" y="955764"/>
                  </a:lnTo>
                  <a:lnTo>
                    <a:pt x="786383" y="957071"/>
                  </a:lnTo>
                  <a:lnTo>
                    <a:pt x="726678" y="947101"/>
                  </a:lnTo>
                  <a:lnTo>
                    <a:pt x="669077" y="934540"/>
                  </a:lnTo>
                  <a:lnTo>
                    <a:pt x="613741" y="919508"/>
                  </a:lnTo>
                  <a:lnTo>
                    <a:pt x="560827" y="902124"/>
                  </a:lnTo>
                  <a:lnTo>
                    <a:pt x="510494" y="882507"/>
                  </a:lnTo>
                  <a:lnTo>
                    <a:pt x="462900" y="860777"/>
                  </a:lnTo>
                  <a:lnTo>
                    <a:pt x="418204" y="837053"/>
                  </a:lnTo>
                  <a:lnTo>
                    <a:pt x="376563" y="811453"/>
                  </a:lnTo>
                  <a:lnTo>
                    <a:pt x="338137" y="784097"/>
                  </a:lnTo>
                  <a:lnTo>
                    <a:pt x="303083" y="755105"/>
                  </a:lnTo>
                  <a:lnTo>
                    <a:pt x="271560" y="724595"/>
                  </a:lnTo>
                  <a:lnTo>
                    <a:pt x="243727" y="692686"/>
                  </a:lnTo>
                  <a:lnTo>
                    <a:pt x="219741" y="659497"/>
                  </a:lnTo>
                  <a:lnTo>
                    <a:pt x="199761" y="625149"/>
                  </a:lnTo>
                  <a:lnTo>
                    <a:pt x="183945" y="589759"/>
                  </a:lnTo>
                  <a:lnTo>
                    <a:pt x="165440" y="516333"/>
                  </a:lnTo>
                  <a:lnTo>
                    <a:pt x="163067" y="478535"/>
                  </a:lnTo>
                  <a:lnTo>
                    <a:pt x="165440" y="440738"/>
                  </a:lnTo>
                  <a:lnTo>
                    <a:pt x="183945" y="367312"/>
                  </a:lnTo>
                  <a:lnTo>
                    <a:pt x="199761" y="331922"/>
                  </a:lnTo>
                  <a:lnTo>
                    <a:pt x="219741" y="297574"/>
                  </a:lnTo>
                  <a:lnTo>
                    <a:pt x="243727" y="264385"/>
                  </a:lnTo>
                  <a:lnTo>
                    <a:pt x="271560" y="232476"/>
                  </a:lnTo>
                  <a:lnTo>
                    <a:pt x="303083" y="201966"/>
                  </a:lnTo>
                  <a:lnTo>
                    <a:pt x="338137" y="172973"/>
                  </a:lnTo>
                  <a:lnTo>
                    <a:pt x="376563" y="145618"/>
                  </a:lnTo>
                  <a:lnTo>
                    <a:pt x="418204" y="120018"/>
                  </a:lnTo>
                  <a:lnTo>
                    <a:pt x="462900" y="96294"/>
                  </a:lnTo>
                  <a:lnTo>
                    <a:pt x="510494" y="74564"/>
                  </a:lnTo>
                  <a:lnTo>
                    <a:pt x="560827" y="54947"/>
                  </a:lnTo>
                  <a:lnTo>
                    <a:pt x="613741" y="37563"/>
                  </a:lnTo>
                  <a:lnTo>
                    <a:pt x="669077" y="22531"/>
                  </a:lnTo>
                  <a:lnTo>
                    <a:pt x="726678" y="9970"/>
                  </a:lnTo>
                  <a:lnTo>
                    <a:pt x="786383" y="0"/>
                  </a:lnTo>
                  <a:close/>
                </a:path>
              </a:pathLst>
            </a:custGeom>
            <a:ln w="38099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336535" y="5791200"/>
              <a:ext cx="969644" cy="957580"/>
            </a:xfrm>
            <a:custGeom>
              <a:avLst/>
              <a:gdLst/>
              <a:ahLst/>
              <a:cxnLst/>
              <a:rect l="l" t="t" r="r" b="b"/>
              <a:pathLst>
                <a:path w="969645" h="957579">
                  <a:moveTo>
                    <a:pt x="0" y="0"/>
                  </a:moveTo>
                  <a:lnTo>
                    <a:pt x="63686" y="1020"/>
                  </a:lnTo>
                  <a:lnTo>
                    <a:pt x="126279" y="4040"/>
                  </a:lnTo>
                  <a:lnTo>
                    <a:pt x="187650" y="8995"/>
                  </a:lnTo>
                  <a:lnTo>
                    <a:pt x="247671" y="15822"/>
                  </a:lnTo>
                  <a:lnTo>
                    <a:pt x="306214" y="24457"/>
                  </a:lnTo>
                  <a:lnTo>
                    <a:pt x="363150" y="34835"/>
                  </a:lnTo>
                  <a:lnTo>
                    <a:pt x="418352" y="46894"/>
                  </a:lnTo>
                  <a:lnTo>
                    <a:pt x="471691" y="60569"/>
                  </a:lnTo>
                  <a:lnTo>
                    <a:pt x="523039" y="75796"/>
                  </a:lnTo>
                  <a:lnTo>
                    <a:pt x="572268" y="92512"/>
                  </a:lnTo>
                  <a:lnTo>
                    <a:pt x="619249" y="110654"/>
                  </a:lnTo>
                  <a:lnTo>
                    <a:pt x="663856" y="130156"/>
                  </a:lnTo>
                  <a:lnTo>
                    <a:pt x="705958" y="150956"/>
                  </a:lnTo>
                  <a:lnTo>
                    <a:pt x="745429" y="172990"/>
                  </a:lnTo>
                  <a:lnTo>
                    <a:pt x="782141" y="196193"/>
                  </a:lnTo>
                  <a:lnTo>
                    <a:pt x="815964" y="220503"/>
                  </a:lnTo>
                  <a:lnTo>
                    <a:pt x="846771" y="245854"/>
                  </a:lnTo>
                  <a:lnTo>
                    <a:pt x="874433" y="272185"/>
                  </a:lnTo>
                  <a:lnTo>
                    <a:pt x="919813" y="327525"/>
                  </a:lnTo>
                  <a:lnTo>
                    <a:pt x="951077" y="386015"/>
                  </a:lnTo>
                  <a:lnTo>
                    <a:pt x="967200" y="447142"/>
                  </a:lnTo>
                  <a:lnTo>
                    <a:pt x="969263" y="478535"/>
                  </a:lnTo>
                  <a:lnTo>
                    <a:pt x="967200" y="510098"/>
                  </a:lnTo>
                  <a:lnTo>
                    <a:pt x="951077" y="571481"/>
                  </a:lnTo>
                  <a:lnTo>
                    <a:pt x="919813" y="630131"/>
                  </a:lnTo>
                  <a:lnTo>
                    <a:pt x="874433" y="685550"/>
                  </a:lnTo>
                  <a:lnTo>
                    <a:pt x="846771" y="711893"/>
                  </a:lnTo>
                  <a:lnTo>
                    <a:pt x="815964" y="737243"/>
                  </a:lnTo>
                  <a:lnTo>
                    <a:pt x="782141" y="761536"/>
                  </a:lnTo>
                  <a:lnTo>
                    <a:pt x="745429" y="784712"/>
                  </a:lnTo>
                  <a:lnTo>
                    <a:pt x="705958" y="806708"/>
                  </a:lnTo>
                  <a:lnTo>
                    <a:pt x="663856" y="827463"/>
                  </a:lnTo>
                  <a:lnTo>
                    <a:pt x="619249" y="846913"/>
                  </a:lnTo>
                  <a:lnTo>
                    <a:pt x="572268" y="864997"/>
                  </a:lnTo>
                  <a:lnTo>
                    <a:pt x="523039" y="881654"/>
                  </a:lnTo>
                  <a:lnTo>
                    <a:pt x="471691" y="896821"/>
                  </a:lnTo>
                  <a:lnTo>
                    <a:pt x="418352" y="910435"/>
                  </a:lnTo>
                  <a:lnTo>
                    <a:pt x="363150" y="922436"/>
                  </a:lnTo>
                  <a:lnTo>
                    <a:pt x="306214" y="932761"/>
                  </a:lnTo>
                  <a:lnTo>
                    <a:pt x="247671" y="941347"/>
                  </a:lnTo>
                  <a:lnTo>
                    <a:pt x="187650" y="948133"/>
                  </a:lnTo>
                  <a:lnTo>
                    <a:pt x="126279" y="953058"/>
                  </a:lnTo>
                  <a:lnTo>
                    <a:pt x="63686" y="956058"/>
                  </a:lnTo>
                  <a:lnTo>
                    <a:pt x="0" y="957071"/>
                  </a:lnTo>
                  <a:lnTo>
                    <a:pt x="62641" y="948282"/>
                  </a:lnTo>
                  <a:lnTo>
                    <a:pt x="123343" y="937636"/>
                  </a:lnTo>
                  <a:lnTo>
                    <a:pt x="181991" y="925205"/>
                  </a:lnTo>
                  <a:lnTo>
                    <a:pt x="238471" y="911063"/>
                  </a:lnTo>
                  <a:lnTo>
                    <a:pt x="292668" y="895280"/>
                  </a:lnTo>
                  <a:lnTo>
                    <a:pt x="344468" y="877930"/>
                  </a:lnTo>
                  <a:lnTo>
                    <a:pt x="393756" y="859084"/>
                  </a:lnTo>
                  <a:lnTo>
                    <a:pt x="440418" y="838814"/>
                  </a:lnTo>
                  <a:lnTo>
                    <a:pt x="484338" y="817192"/>
                  </a:lnTo>
                  <a:lnTo>
                    <a:pt x="525403" y="794291"/>
                  </a:lnTo>
                  <a:lnTo>
                    <a:pt x="563499" y="770182"/>
                  </a:lnTo>
                  <a:lnTo>
                    <a:pt x="598509" y="744938"/>
                  </a:lnTo>
                  <a:lnTo>
                    <a:pt x="630321" y="718630"/>
                  </a:lnTo>
                  <a:lnTo>
                    <a:pt x="658819" y="691331"/>
                  </a:lnTo>
                  <a:lnTo>
                    <a:pt x="705416" y="634047"/>
                  </a:lnTo>
                  <a:lnTo>
                    <a:pt x="737384" y="573663"/>
                  </a:lnTo>
                  <a:lnTo>
                    <a:pt x="753808" y="510756"/>
                  </a:lnTo>
                  <a:lnTo>
                    <a:pt x="755903" y="478535"/>
                  </a:lnTo>
                  <a:lnTo>
                    <a:pt x="753808" y="446513"/>
                  </a:lnTo>
                  <a:lnTo>
                    <a:pt x="737384" y="383888"/>
                  </a:lnTo>
                  <a:lnTo>
                    <a:pt x="705416" y="323656"/>
                  </a:lnTo>
                  <a:lnTo>
                    <a:pt x="658819" y="266417"/>
                  </a:lnTo>
                  <a:lnTo>
                    <a:pt x="630321" y="239108"/>
                  </a:lnTo>
                  <a:lnTo>
                    <a:pt x="598509" y="212773"/>
                  </a:lnTo>
                  <a:lnTo>
                    <a:pt x="563499" y="187486"/>
                  </a:lnTo>
                  <a:lnTo>
                    <a:pt x="525403" y="163323"/>
                  </a:lnTo>
                  <a:lnTo>
                    <a:pt x="484338" y="140359"/>
                  </a:lnTo>
                  <a:lnTo>
                    <a:pt x="440418" y="118668"/>
                  </a:lnTo>
                  <a:lnTo>
                    <a:pt x="393756" y="98326"/>
                  </a:lnTo>
                  <a:lnTo>
                    <a:pt x="344468" y="79407"/>
                  </a:lnTo>
                  <a:lnTo>
                    <a:pt x="292668" y="61988"/>
                  </a:lnTo>
                  <a:lnTo>
                    <a:pt x="238471" y="46142"/>
                  </a:lnTo>
                  <a:lnTo>
                    <a:pt x="181991" y="31946"/>
                  </a:lnTo>
                  <a:lnTo>
                    <a:pt x="123343" y="19473"/>
                  </a:lnTo>
                  <a:lnTo>
                    <a:pt x="62641" y="87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D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3" ma:contentTypeDescription="Create a new document." ma:contentTypeScope="" ma:versionID="f15c6cd630bf8942c37780dd86cd0f40">
  <xsd:schema xmlns:xsd="http://www.w3.org/2001/XMLSchema" xmlns:xs="http://www.w3.org/2001/XMLSchema" xmlns:p="http://schemas.microsoft.com/office/2006/metadata/properties" xmlns:ns2="82062c1e-dd8f-4268-9e54-b0572c0891a6" targetNamespace="http://schemas.microsoft.com/office/2006/metadata/properties" ma:root="true" ma:fieldsID="2e3acf5cd54823db6264b3c66621dce5" ns2:_="">
    <xsd:import namespace="82062c1e-dd8f-4268-9e54-b0572c089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62c1e-dd8f-4268-9e54-b0572c0891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424039-8BD3-4322-A65A-7EFD743D2C33}"/>
</file>

<file path=customXml/itemProps2.xml><?xml version="1.0" encoding="utf-8"?>
<ds:datastoreItem xmlns:ds="http://schemas.openxmlformats.org/officeDocument/2006/customXml" ds:itemID="{F25CA449-CADC-4CD1-B888-C041D67892E3}"/>
</file>

<file path=customXml/itemProps3.xml><?xml version="1.0" encoding="utf-8"?>
<ds:datastoreItem xmlns:ds="http://schemas.openxmlformats.org/officeDocument/2006/customXml" ds:itemID="{A5ABB3D3-CAF8-4130-9E61-58BDD15D93D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2739</Words>
  <Application>Microsoft Office PowerPoint</Application>
  <PresentationFormat>Custom</PresentationFormat>
  <Paragraphs>539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Yu Gothic</vt:lpstr>
      <vt:lpstr>Arial</vt:lpstr>
      <vt:lpstr>Arial MT</vt:lpstr>
      <vt:lpstr>Microsoft Sans Serif</vt:lpstr>
      <vt:lpstr>Segoe UI Symbol</vt:lpstr>
      <vt:lpstr>Symbol</vt:lpstr>
      <vt:lpstr>Times New Roman</vt:lpstr>
      <vt:lpstr>Office Theme</vt:lpstr>
      <vt:lpstr>Discriminant Analysis</vt:lpstr>
      <vt:lpstr>Data Representation vs. Data Classification</vt:lpstr>
      <vt:lpstr>Fisher Linear Discriminant</vt:lpstr>
      <vt:lpstr> Fisher Linear Discriminant </vt:lpstr>
      <vt:lpstr> Fisher Linear Discriminant </vt:lpstr>
      <vt:lpstr> Fisher Linear Discriminant </vt:lpstr>
      <vt:lpstr>Fisher Linear Discriminant</vt:lpstr>
      <vt:lpstr>PowerPoint Presentation</vt:lpstr>
      <vt:lpstr>PowerPoint Presentation</vt:lpstr>
      <vt:lpstr> Fisher Linear Discriminant </vt:lpstr>
      <vt:lpstr> Fisher Linear Discriminant </vt:lpstr>
      <vt:lpstr>~ </vt:lpstr>
      <vt:lpstr>PowerPoint Presentation</vt:lpstr>
      <vt:lpstr>PowerPoint Presentation</vt:lpstr>
      <vt:lpstr>PowerPoint Presentation</vt:lpstr>
      <vt:lpstr> Fisher Linear Discriminant Derivation </vt:lpstr>
      <vt:lpstr>PowerPoint Presentation</vt:lpstr>
      <vt:lpstr> Fisher Linear Discriminant Example </vt:lpstr>
      <vt:lpstr> Fisher Linear Discriminant Example </vt:lpstr>
      <vt:lpstr>Fisher Linear Discriminant Example</vt:lpstr>
      <vt:lpstr>Multiple Discriminant Analysis (MDA)</vt:lpstr>
      <vt:lpstr>PowerPoint Presentation</vt:lpstr>
      <vt:lpstr> Multiple Discriminant Analysis (MDA) </vt:lpstr>
      <vt:lpstr> FDA and MDA Drawbacks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Lecture8</dc:title>
  <dc:creator>olga</dc:creator>
  <cp:lastModifiedBy>Jawad Khan</cp:lastModifiedBy>
  <cp:revision>1</cp:revision>
  <dcterms:created xsi:type="dcterms:W3CDTF">2025-11-24T13:26:40Z</dcterms:created>
  <dcterms:modified xsi:type="dcterms:W3CDTF">2025-11-24T13:28:47Z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Creator">
    <vt:lpwstr>PScript5.dll Version 5.2</vt:lpwstr>
  </property>
  <property fmtid="{D5CDD505-2E9C-101B-9397-08002B2CF9AE}" pid="4" name="Producer">
    <vt:lpwstr>GNU Ghostscript 7.05</vt:lpwstr>
  </property>
  <property fmtid="{D5CDD505-2E9C-101B-9397-08002B2CF9AE}" pid="5" name="LastSaved">
    <vt:filetime>2025-11-24T00:00:00Z</vt:filetime>
  </property>
  <property fmtid="{D5CDD505-2E9C-101B-9397-08002B2CF9AE}" pid="6" name="ContentTypeId">
    <vt:lpwstr>0x0101002419A45FDF435D4CA9F3A585DD4ABEB3</vt:lpwstr>
  </property>
</Properties>
</file>