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84" r:id="rId20"/>
    <p:sldId id="283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ning Chen" initials="YC" lastIdx="1" clrIdx="0">
    <p:extLst>
      <p:ext uri="{19B8F6BF-5375-455C-9EA6-DF929625EA0E}">
        <p15:presenceInfo xmlns:p15="http://schemas.microsoft.com/office/powerpoint/2012/main" userId="S::f0024z7@dartmouth.edu::1f7b4c1b-affa-45aa-b49a-dea75852fc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D4086E-115B-4FA2-836F-A28E24F0A9DB}">
  <a:tblStyle styleId="{E4D4086E-115B-4FA2-836F-A28E24F0A9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ED29479-DD0C-4F4D-A4C7-1C1E6F1311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62" autoAdjust="0"/>
    <p:restoredTop sz="93447" autoAdjust="0"/>
  </p:normalViewPr>
  <p:slideViewPr>
    <p:cSldViewPr snapToGrid="0" snapToObjects="1">
      <p:cViewPr varScale="1">
        <p:scale>
          <a:sx n="72" d="100"/>
          <a:sy n="72" d="100"/>
        </p:scale>
        <p:origin x="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347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221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29eb4e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29eb4e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164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29eb4e9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29eb4e9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Dots are examples: Green = positive label, gray = negative label.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Consider score to be probability output of Logistic Regression.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Position of example on scoring line based on model output. For most of the metrics, only the relative rank / ordering of positive/negative matter.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Prevalence decides class imbalance.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too many examples, plot class-wise histogram instead.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Rank view useful to start error analysis (start with the topmost negative example, or bottom-most positive example).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04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29eb4e9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829eb4e9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after picking a threshold, we have a classifier.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we have a classifier, we can obtain all the Point metrics of that classifier.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2049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29eb4e9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29eb4e9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point metrics can be derived from the confusion matrix. Confusion matrix captures all the information about a classifier performance, but is not a scalar!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Properties: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Total Sum is Fixed (population).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Column Sums are Fixed (class-wise population).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/>
              <a:t>Quality of model &amp; selected threshold decide how columns are split into rows.</a:t>
            </a: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dirty="0">
                <a:solidFill>
                  <a:schemeClr val="dk1"/>
                </a:solidFill>
              </a:rPr>
              <a:t>We want diagonals to be “heavy”, off diagonals to be “light”.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8010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29eb4e99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829eb4e99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 = Green examples correctly identified as green.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0208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29eb4e9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29eb4e9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TN = Gray examples correctly identified as gray. “Trueness” is along the diagonal.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2914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29eb4e9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829eb4e9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= Gray examples falsely identified as green.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8052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829eb4e99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829eb4e99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FN = Green examples falsely identified as gray.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78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829eb4e99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829eb4e99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Accuracy = what fraction of all predictions did we get right?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Improving accuracy is equivalent to having a 0-1 Loss function.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781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829eb4e99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829eb4e99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= quality of positive predictions.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called PPV (Positive Predictive Value).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2127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829eb4e9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829eb4e99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Recall (sensitivity) - What fraction of all greens did we pick out? Terminology from lab tests: how sensitive is the test in detecting disease?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Somewhat related to Precision ( both recall and precision involve TP)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Trivial 100% recall = pull everybody above the threshold.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Trivial 100% precision = push everybody below the threshold except 1 green on top (hopefully no gray above it!).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Striving for good precision with 100% recall = pulling up the lowest green as high as possible in the ranking.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Striving for good recall with 100% precision = pushing down the top most gray as low as possible in the ranking.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768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829eb4e99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829eb4e99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Recall (Specificity) - What fraction of all negatives in the population were we able to keep away?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Sensitivity and specificity operate in different sub-universes.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8668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829eb4e99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829eb4e99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Summarize precision and recall into single score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F1-score: Harmonic mean of PR and REC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G-score: Geometric mean of PR and REC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0016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829eb4e99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829eb4e99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Changing the threshold can result in a new confusion matrix, and new values for some of the metrics.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Many threshold values are redundant (between two consecutively ranked examples). Number of effective thresholds = M + 1 (# of examples + 1)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39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829eb4e99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829eb4e99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 scan through all possible effective thresholds, we explore all the possible values the metrics can take on for the given model.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row is specific to the threshold.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is specific to the model (different model = different effective thresholds).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 Sensitivity monotonic, Specificity monotonic in opposite direction. Precision somewhat correlated with specificity, and not monotonic. Tradeoff between Sensitivity and Specificity, Precision and Recall.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663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829eb4e99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829eb4e99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AUC = Area Under Curve. Also called C-Statistic (concordance score). Represents how well the results are ranked. If you pick a positive </a:t>
            </a:r>
            <a:r>
              <a:rPr lang="en" dirty="0" err="1"/>
              <a:t>e.g</a:t>
            </a:r>
            <a:r>
              <a:rPr lang="en" dirty="0"/>
              <a:t> by random, and negative </a:t>
            </a:r>
            <a:r>
              <a:rPr lang="en" dirty="0" err="1"/>
              <a:t>e.g</a:t>
            </a:r>
            <a:r>
              <a:rPr lang="en" dirty="0"/>
              <a:t> by random, AUC = probability that positive </a:t>
            </a:r>
            <a:r>
              <a:rPr lang="en" dirty="0" err="1"/>
              <a:t>eg</a:t>
            </a:r>
            <a:r>
              <a:rPr lang="en" dirty="0"/>
              <a:t> is ranked &gt; negative example. Measure of quality of discrimination.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 people plot TPR (= Sensitivity) vs FPR (= 1 - Specificity).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Thresholds are points on this curve. Each point represents one set of point metrics.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Diagonal line = random guessing.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Grid view (top left to bottom right, </a:t>
            </a:r>
            <a:r>
              <a:rPr lang="en-US" dirty="0" err="1"/>
              <a:t>postive</a:t>
            </a:r>
            <a:r>
              <a:rPr lang="en-US" baseline="0" dirty="0"/>
              <a:t> = move right, negative = move down)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/>
              <a:t>Agnostic to prevalence.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798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829eb4e9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829eb4e9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Precision Recall curve represents a different tradeoff. Think search engine results ranked.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 of curve at right cannot be lower than prevalence.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Area under PRC = Average Precision. Intuition: By randomly picking the threshold, what’s the expected precision?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While specificity monotonically decreases with increasing recall (the number of correctly classified negative examples goes down), precision can be “jagged”. Getting a bunch of positives in the sequence increases both precision and recall (hence curve climbs up slowly), but getting a bunch of negatives in the sequence drops the precision without increasing recall. Hence, by definition, curve has only slow climbs and vertical drops.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798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82af6ba9f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82af6ba9f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55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Metrics</a:t>
            </a:r>
            <a:br>
              <a:rPr lang="en" dirty="0"/>
            </a:br>
            <a:r>
              <a:rPr lang="en" dirty="0"/>
              <a:t>Example</a:t>
            </a:r>
            <a:br>
              <a:rPr lang="en-US" dirty="0"/>
            </a:br>
            <a:endParaRPr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BE9E-D16C-3D77-DD14-60E562973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x is input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 is binary output (0/1)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Model is </a:t>
            </a:r>
            <a:r>
              <a:rPr lang="en" dirty="0" err="1"/>
              <a:t>ŷ</a:t>
            </a:r>
            <a:r>
              <a:rPr lang="en" dirty="0"/>
              <a:t> = h(x)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types of models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Models that output a categorical class directly (K-nearest neighbor, Decision tree)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Models that output a real valued score (SVM, Logistic Regression)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Score could be margin (SVM), probability (LR, NN)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Need to pick a threshold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We focus on this type (the other type can be interpreted as an instance)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based models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C3C88C-9EA6-5A4A-9680-23FA067839D5}"/>
              </a:ext>
            </a:extLst>
          </p:cNvPr>
          <p:cNvGrpSpPr/>
          <p:nvPr/>
        </p:nvGrpSpPr>
        <p:grpSpPr>
          <a:xfrm>
            <a:off x="1175657" y="1028912"/>
            <a:ext cx="1583871" cy="3868667"/>
            <a:chOff x="1275150" y="1271925"/>
            <a:chExt cx="1172100" cy="2862900"/>
          </a:xfrm>
        </p:grpSpPr>
        <p:cxnSp>
          <p:nvCxnSpPr>
            <p:cNvPr id="79" name="Google Shape;79;p17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7"/>
            <p:cNvSpPr/>
            <p:nvPr/>
          </p:nvSpPr>
          <p:spPr>
            <a:xfrm>
              <a:off x="15619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15594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5594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15619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15594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15594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15619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15594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15594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15594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5594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15594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15619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15619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15619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15594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5594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15619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15594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15594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1275150" y="12719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/>
                <a:t>Score = 1</a:t>
              </a:r>
              <a:endParaRPr sz="800" dirty="0"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275150" y="40151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0</a:t>
              </a:r>
              <a:endParaRPr sz="8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C03A7A-8807-8D4D-B6F3-B716956FCEA4}"/>
              </a:ext>
            </a:extLst>
          </p:cNvPr>
          <p:cNvGrpSpPr/>
          <p:nvPr/>
        </p:nvGrpSpPr>
        <p:grpSpPr>
          <a:xfrm>
            <a:off x="3863996" y="1206157"/>
            <a:ext cx="2823450" cy="792420"/>
            <a:chOff x="4020150" y="1413600"/>
            <a:chExt cx="2823450" cy="792420"/>
          </a:xfrm>
        </p:grpSpPr>
        <p:graphicFrame>
          <p:nvGraphicFramePr>
            <p:cNvPr id="101" name="Google Shape;101;p17"/>
            <p:cNvGraphicFramePr/>
            <p:nvPr>
              <p:extLst>
                <p:ext uri="{D42A27DB-BD31-4B8C-83A1-F6EECF244321}">
                  <p14:modId xmlns:p14="http://schemas.microsoft.com/office/powerpoint/2010/main" val="2958057073"/>
                </p:ext>
              </p:extLst>
            </p:nvPr>
          </p:nvGraphicFramePr>
          <p:xfrm>
            <a:off x="4020150" y="1413600"/>
            <a:ext cx="2823450" cy="792420"/>
          </p:xfrm>
          <a:graphic>
            <a:graphicData uri="http://schemas.openxmlformats.org/drawingml/2006/table">
              <a:tbl>
                <a:tblPr>
                  <a:noFill/>
                  <a:tableStyleId>{E4D4086E-115B-4FA2-836F-A28E24F0A9DB}</a:tableStyleId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40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62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Positive example</a:t>
                        </a: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Negative example</a:t>
                        </a:r>
                        <a:endParaRPr dirty="0"/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03" name="Google Shape;103;p17"/>
            <p:cNvSpPr/>
            <p:nvPr/>
          </p:nvSpPr>
          <p:spPr>
            <a:xfrm>
              <a:off x="4146175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146175" y="19684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23CB25-756E-CC4F-89BA-A99BAABE87DC}"/>
              </a:ext>
            </a:extLst>
          </p:cNvPr>
          <p:cNvGrpSpPr/>
          <p:nvPr/>
        </p:nvGrpSpPr>
        <p:grpSpPr>
          <a:xfrm>
            <a:off x="3456084" y="3430123"/>
            <a:ext cx="3639274" cy="1005780"/>
            <a:chOff x="3916725" y="2949650"/>
            <a:chExt cx="2868141" cy="100578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3916725" y="3133100"/>
              <a:ext cx="24729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Prevalence = </a:t>
              </a:r>
              <a:endParaRPr dirty="0"/>
            </a:p>
          </p:txBody>
        </p:sp>
        <p:graphicFrame>
          <p:nvGraphicFramePr>
            <p:cNvPr id="106" name="Google Shape;106;p17"/>
            <p:cNvGraphicFramePr/>
            <p:nvPr>
              <p:extLst>
                <p:ext uri="{D42A27DB-BD31-4B8C-83A1-F6EECF244321}">
                  <p14:modId xmlns:p14="http://schemas.microsoft.com/office/powerpoint/2010/main" val="3229421933"/>
                </p:ext>
              </p:extLst>
            </p:nvPr>
          </p:nvGraphicFramePr>
          <p:xfrm>
            <a:off x="4986961" y="2949650"/>
            <a:ext cx="1797905" cy="1005780"/>
          </p:xfrm>
          <a:graphic>
            <a:graphicData uri="http://schemas.openxmlformats.org/drawingml/2006/table">
              <a:tbl>
                <a:tblPr>
                  <a:noFill/>
                  <a:tableStyleId>{E4D4086E-115B-4FA2-836F-A28E24F0A9DB}</a:tableStyleId>
                </a:tblPr>
                <a:tblGrid>
                  <a:gridCol w="228129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81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positive examples</a:t>
                        </a: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positive examples + </a:t>
                        </a: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/>
                          <a:t># negatives examples</a:t>
                        </a: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4EE02F-0C81-A841-A88B-162D5BCA74C9}"/>
              </a:ext>
            </a:extLst>
          </p:cNvPr>
          <p:cNvSpPr txBox="1"/>
          <p:nvPr/>
        </p:nvSpPr>
        <p:spPr>
          <a:xfrm>
            <a:off x="3160275" y="2336774"/>
            <a:ext cx="42308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Score: Output of logistic regression.</a:t>
            </a:r>
          </a:p>
          <a:p>
            <a:r>
              <a:rPr lang="en-US" dirty="0"/>
              <a:t>For most metrics</a:t>
            </a:r>
            <a:r>
              <a:rPr lang="en-US" dirty="0">
                <a:solidFill>
                  <a:srgbClr val="FF0000"/>
                </a:solidFill>
              </a:rPr>
              <a:t>: Only ranking matters.</a:t>
            </a:r>
          </a:p>
          <a:p>
            <a:r>
              <a:rPr lang="en-US" dirty="0">
                <a:solidFill>
                  <a:srgbClr val="FF0000"/>
                </a:solidFill>
              </a:rPr>
              <a:t>If too many examples</a:t>
            </a:r>
            <a:r>
              <a:rPr lang="en-US" dirty="0"/>
              <a:t>: Plot class-wise histogram.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Threshold -&gt; Classifier -&gt; Point Metrics</a:t>
            </a:r>
            <a:endParaRPr dirty="0"/>
          </a:p>
        </p:txBody>
      </p:sp>
      <p:sp>
        <p:nvSpPr>
          <p:cNvPr id="136" name="Google Shape;136;p18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137" name="Google Shape;137;p18"/>
          <p:cNvGraphicFramePr/>
          <p:nvPr>
            <p:extLst>
              <p:ext uri="{D42A27DB-BD31-4B8C-83A1-F6EECF244321}">
                <p14:modId xmlns:p14="http://schemas.microsoft.com/office/powerpoint/2010/main" val="4262202065"/>
              </p:ext>
            </p:extLst>
          </p:nvPr>
        </p:nvGraphicFramePr>
        <p:xfrm>
          <a:off x="3227575" y="1482301"/>
          <a:ext cx="782805" cy="1354028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78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8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Th</a:t>
                      </a:r>
                      <a:endParaRPr sz="1600"/>
                    </a:p>
                  </a:txBody>
                  <a:tcPr marL="186934" marR="186934" marT="186934" marB="1869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0.5</a:t>
                      </a:r>
                      <a:endParaRPr sz="1600" dirty="0"/>
                    </a:p>
                  </a:txBody>
                  <a:tcPr marL="186934" marR="186934" marT="186934" marB="1869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EDBCEDE-6B82-404C-A6D8-7A3223667EB0}"/>
              </a:ext>
            </a:extLst>
          </p:cNvPr>
          <p:cNvGrpSpPr/>
          <p:nvPr/>
        </p:nvGrpSpPr>
        <p:grpSpPr>
          <a:xfrm>
            <a:off x="159900" y="1195725"/>
            <a:ext cx="2860886" cy="2997700"/>
            <a:chOff x="159900" y="1195725"/>
            <a:chExt cx="2758650" cy="2890575"/>
          </a:xfrm>
        </p:grpSpPr>
        <p:sp>
          <p:nvSpPr>
            <p:cNvPr id="111" name="Google Shape;111;p18"/>
            <p:cNvSpPr/>
            <p:nvPr/>
          </p:nvSpPr>
          <p:spPr>
            <a:xfrm>
              <a:off x="416550" y="2777700"/>
              <a:ext cx="2502000" cy="13086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416550" y="1482300"/>
              <a:ext cx="2502000" cy="1308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4" name="Google Shape;114;p18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" name="Google Shape;115;p18"/>
            <p:cNvSpPr/>
            <p:nvPr/>
          </p:nvSpPr>
          <p:spPr>
            <a:xfrm>
              <a:off x="16381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16356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16356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16381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16356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16356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16381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16356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16356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16356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14832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14832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14857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4857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14857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4832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4832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4857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14832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14832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416550" y="1195725"/>
              <a:ext cx="25020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     Label positive                         Label negative</a:t>
              </a:r>
              <a:endParaRPr sz="800"/>
            </a:p>
          </p:txBody>
        </p:sp>
        <p:sp>
          <p:nvSpPr>
            <p:cNvPr id="138" name="Google Shape;138;p18"/>
            <p:cNvSpPr txBox="1"/>
            <p:nvPr/>
          </p:nvSpPr>
          <p:spPr>
            <a:xfrm rot="-5400000">
              <a:off x="-1031250" y="2719725"/>
              <a:ext cx="25020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dirty="0"/>
                <a:t>    Predict Negative                      Predict Positive</a:t>
              </a:r>
              <a:endParaRPr sz="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Confusion Matrix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19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" name="Google Shape;147;p19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168" name="Google Shape;168;p19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sp>
        <p:nvSpPr>
          <p:cNvPr id="169" name="Google Shape;169;p19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170" name="Google Shape;170;p19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171" name="Google Shape;171;p19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172" name="Google Shape;172;p19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173" name="Google Shape;173;p19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174" name="Google Shape;174;p19"/>
          <p:cNvGraphicFramePr/>
          <p:nvPr>
            <p:extLst>
              <p:ext uri="{D42A27DB-BD31-4B8C-83A1-F6EECF244321}">
                <p14:modId xmlns:p14="http://schemas.microsoft.com/office/powerpoint/2010/main" val="156795731"/>
              </p:ext>
            </p:extLst>
          </p:nvPr>
        </p:nvGraphicFramePr>
        <p:xfrm>
          <a:off x="3227575" y="1482299"/>
          <a:ext cx="606150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6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Th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0.5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037B5C6-E117-4941-B4E0-4F1E7571788D}"/>
              </a:ext>
            </a:extLst>
          </p:cNvPr>
          <p:cNvSpPr txBox="1"/>
          <p:nvPr/>
        </p:nvSpPr>
        <p:spPr>
          <a:xfrm>
            <a:off x="3739243" y="2817450"/>
            <a:ext cx="4686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Properties: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Total sum is fixed (population).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Column sums are fixed (class-wise population).</a:t>
            </a:r>
          </a:p>
          <a:p>
            <a:pPr marL="457200" lvl="0" indent="-298450">
              <a:buSzPts val="1100"/>
              <a:buChar char="-"/>
            </a:pPr>
            <a:r>
              <a:rPr lang="en-US" dirty="0"/>
              <a:t>Quality of model &amp; threshold decide how columns are split into rows.</a:t>
            </a:r>
          </a:p>
          <a:p>
            <a:pPr marL="457200" lvl="0" indent="-298450">
              <a:buClr>
                <a:schemeClr val="dk1"/>
              </a:buClr>
              <a:buSzPts val="1100"/>
              <a:buChar char="-"/>
            </a:pPr>
            <a:r>
              <a:rPr lang="en-US" dirty="0">
                <a:solidFill>
                  <a:schemeClr val="dk1"/>
                </a:solidFill>
              </a:rPr>
              <a:t>We want diagonals to be “heavy”, off diagonals to be “light”.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metrics: True Positives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20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2" name="Google Shape;182;p20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04" name="Google Shape;204;p20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206" name="Google Shape;206;p20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207" name="Google Shape;207;p20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08" name="Google Shape;208;p20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sp>
        <p:nvSpPr>
          <p:cNvPr id="211" name="Google Shape;211;p20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8" name="Google Shape;174;p19">
            <a:extLst>
              <a:ext uri="{FF2B5EF4-FFF2-40B4-BE49-F238E27FC236}">
                <a16:creationId xmlns:a16="http://schemas.microsoft.com/office/drawing/2014/main" id="{5C868663-B0EF-9549-9B43-3B6B7320F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984942"/>
              </p:ext>
            </p:extLst>
          </p:nvPr>
        </p:nvGraphicFramePr>
        <p:xfrm>
          <a:off x="3227575" y="1482299"/>
          <a:ext cx="606150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6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Th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0.5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Google Shape;174;p19">
            <a:extLst>
              <a:ext uri="{FF2B5EF4-FFF2-40B4-BE49-F238E27FC236}">
                <a16:creationId xmlns:a16="http://schemas.microsoft.com/office/drawing/2014/main" id="{C593C64A-E446-784B-ABA1-A3DD69A34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9103462"/>
              </p:ext>
            </p:extLst>
          </p:nvPr>
        </p:nvGraphicFramePr>
        <p:xfrm>
          <a:off x="3839675" y="1482299"/>
          <a:ext cx="546673" cy="1053553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4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9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TP</a:t>
                      </a:r>
                      <a:endParaRPr sz="1300" dirty="0"/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144749" marR="144749" marT="144749" marB="144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True Negatives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1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41" name="Google Shape;241;p21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242" name="Google Shape;242;p21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244" name="Google Shape;244;p21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45" name="Google Shape;245;p21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246" name="Google Shape;246;p21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7" name="Google Shape;247;p21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8" name="Google Shape;248;p21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8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9" name="Google Shape;249;p21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False Positives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2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2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279" name="Google Shape;279;p22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280" name="Google Shape;280;p22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281" name="Google Shape;281;p22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283" name="Google Shape;283;p22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284" name="Google Shape;284;p22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5" name="Google Shape;285;p22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6" name="Google Shape;286;p22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" name="Google Shape;287;p22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288" name="Google Shape;288;p22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2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False Negatives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6" name="Google Shape;296;p23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3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3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318" name="Google Shape;318;p23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319" name="Google Shape;319;p23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320" name="Google Shape;320;p23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321" name="Google Shape;321;p23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1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323" name="Google Shape;323;p23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4" name="Google Shape;324;p23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5" name="Google Shape;325;p23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6" name="Google Shape;326;p23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27" name="Google Shape;327;p23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8" name="Google Shape;328;p23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25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25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365" name="Google Shape;365;p25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368" name="Google Shape;368;p25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369" name="Google Shape;369;p25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370" name="Google Shape;370;p25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1" name="Google Shape;371;p25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2" name="Google Shape;372;p25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3" name="Google Shape;373;p25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374" name="Google Shape;374;p25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5" name="Google Shape;375;p25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6" name="Google Shape;376;p25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.85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75A5A9C-2371-1E4E-9A20-BBEDF97B3DC7}"/>
              </a:ext>
            </a:extLst>
          </p:cNvPr>
          <p:cNvSpPr txBox="1"/>
          <p:nvPr/>
        </p:nvSpPr>
        <p:spPr>
          <a:xfrm>
            <a:off x="4378425" y="3237150"/>
            <a:ext cx="2791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000" dirty="0"/>
              <a:t>Equivalent to 0-1 Loss!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36D8B-043F-07A4-62A7-47C6D1165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50" y="4102137"/>
            <a:ext cx="6315566" cy="7508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Precision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4" name="Google Shape;384;p26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26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6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06" name="Google Shape;406;p26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408" name="Google Shape;408;p26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410" name="Google Shape;410;p26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11" name="Google Shape;411;p26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2" name="Google Shape;412;p26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3" name="Google Shape;413;p26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" name="Google Shape;414;p26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415" name="Google Shape;415;p26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6" name="Google Shape;416;p26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7" name="Google Shape;417;p26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8" name="Google Shape;418;p26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89E58C0-7081-2F8A-73FC-6A6557C5D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00" y="2982648"/>
            <a:ext cx="5557763" cy="750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Positive Recall (Sensitivity)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6" name="Google Shape;426;p27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p27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7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7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7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48" name="Google Shape;448;p27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9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49" name="Google Shape;449;p27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450" name="Google Shape;450;p27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451" name="Google Shape;451;p27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1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52" name="Google Shape;452;p27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53" name="Google Shape;453;p27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4" name="Google Shape;454;p27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5" name="Google Shape;455;p27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6" name="Google Shape;456;p27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457" name="Google Shape;457;p27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8" name="Google Shape;458;p27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9" name="Google Shape;459;p27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0" name="Google Shape;460;p27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" name="Google Shape;461;p27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.9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E378DF-8AA4-57EC-1D08-EBBCC3614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426" y="3126941"/>
            <a:ext cx="4766847" cy="9888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Negative Recall (Specificity)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9" name="Google Shape;469;p28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28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8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8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8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8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8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491" name="Google Shape;491;p28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492" name="Google Shape;492;p28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8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0000"/>
                </a:solidFill>
              </a:rPr>
              <a:t>2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494" name="Google Shape;494;p28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495" name="Google Shape;495;p28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496" name="Google Shape;496;p28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7" name="Google Shape;497;p28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8" name="Google Shape;498;p28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9" name="Google Shape;499;p28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00" name="Google Shape;500;p28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1" name="Google Shape;501;p28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2" name="Google Shape;502;p28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3" name="Google Shape;503;p28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Google Shape;504;p28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5" name="Google Shape;505;p28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0.8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FBE7D9C-B588-3F19-B3E2-B652DEEC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647" y="2744632"/>
            <a:ext cx="5448803" cy="9888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/>
          <p:nvPr/>
        </p:nvSpPr>
        <p:spPr>
          <a:xfrm>
            <a:off x="416550" y="2777700"/>
            <a:ext cx="2502000" cy="130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metrics: F1-score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2" name="Google Shape;512;p29"/>
          <p:cNvSpPr/>
          <p:nvPr/>
        </p:nvSpPr>
        <p:spPr>
          <a:xfrm>
            <a:off x="416550" y="1482300"/>
            <a:ext cx="2502000" cy="130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3" name="Google Shape;513;p29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29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9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535" name="Google Shape;535;p29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9</a:t>
            </a:r>
            <a:endParaRPr sz="2400"/>
          </a:p>
        </p:txBody>
      </p:sp>
      <p:sp>
        <p:nvSpPr>
          <p:cNvPr id="536" name="Google Shape;536;p29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537" name="Google Shape;537;p29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538" name="Google Shape;538;p29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  <p:sp>
        <p:nvSpPr>
          <p:cNvPr id="539" name="Google Shape;539;p29"/>
          <p:cNvSpPr txBox="1"/>
          <p:nvPr/>
        </p:nvSpPr>
        <p:spPr>
          <a:xfrm>
            <a:off x="73000" y="26476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Th=0.5</a:t>
            </a:r>
            <a:endParaRPr sz="600"/>
          </a:p>
        </p:txBody>
      </p:sp>
      <p:graphicFrame>
        <p:nvGraphicFramePr>
          <p:cNvPr id="540" name="Google Shape;540;p29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1" name="Google Shape;541;p29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2" name="Google Shape;542;p29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3" name="Google Shape;543;p29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44" name="Google Shape;544;p29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5" name="Google Shape;545;p29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6" name="Google Shape;546;p29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.85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7" name="Google Shape;547;p29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.81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8" name="Google Shape;548;p29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.9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9" name="Google Shape;549;p29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0" name="Google Shape;550;p29"/>
          <p:cNvGraphicFramePr/>
          <p:nvPr/>
        </p:nvGraphicFramePr>
        <p:xfrm>
          <a:off x="6848525" y="1482300"/>
          <a:ext cx="4086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.857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71E20770-9A32-E549-9A06-E95FF156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50" y="2882950"/>
            <a:ext cx="54229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"/>
          <p:cNvSpPr/>
          <p:nvPr/>
        </p:nvSpPr>
        <p:spPr>
          <a:xfrm>
            <a:off x="416550" y="2617275"/>
            <a:ext cx="2502000" cy="146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metrics: Changing threshold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0"/>
          <p:cNvSpPr/>
          <p:nvPr/>
        </p:nvSpPr>
        <p:spPr>
          <a:xfrm>
            <a:off x="416550" y="1482300"/>
            <a:ext cx="2502000" cy="1134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8" name="Google Shape;558;p30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30"/>
          <p:cNvSpPr/>
          <p:nvPr/>
        </p:nvSpPr>
        <p:spPr>
          <a:xfrm>
            <a:off x="16381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0"/>
          <p:cNvSpPr/>
          <p:nvPr/>
        </p:nvSpPr>
        <p:spPr>
          <a:xfrm>
            <a:off x="16356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16356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0"/>
          <p:cNvSpPr/>
          <p:nvPr/>
        </p:nvSpPr>
        <p:spPr>
          <a:xfrm>
            <a:off x="16381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0"/>
          <p:cNvSpPr/>
          <p:nvPr/>
        </p:nvSpPr>
        <p:spPr>
          <a:xfrm>
            <a:off x="16356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0"/>
          <p:cNvSpPr/>
          <p:nvPr/>
        </p:nvSpPr>
        <p:spPr>
          <a:xfrm>
            <a:off x="16356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16381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0"/>
          <p:cNvSpPr/>
          <p:nvPr/>
        </p:nvSpPr>
        <p:spPr>
          <a:xfrm>
            <a:off x="16356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16356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16356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14832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14832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14857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14857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14857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14832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14832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14857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14832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14832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0"/>
          <p:cNvSpPr txBox="1"/>
          <p:nvPr/>
        </p:nvSpPr>
        <p:spPr>
          <a:xfrm>
            <a:off x="416550" y="1195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Label positive                         Label negative</a:t>
            </a:r>
            <a:endParaRPr sz="800"/>
          </a:p>
        </p:txBody>
      </p:sp>
      <p:sp>
        <p:nvSpPr>
          <p:cNvPr id="580" name="Google Shape;580;p30"/>
          <p:cNvSpPr txBox="1"/>
          <p:nvPr/>
        </p:nvSpPr>
        <p:spPr>
          <a:xfrm>
            <a:off x="462650" y="1569250"/>
            <a:ext cx="3321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7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581" name="Google Shape;581;p30"/>
          <p:cNvSpPr txBox="1"/>
          <p:nvPr/>
        </p:nvSpPr>
        <p:spPr>
          <a:xfrm>
            <a:off x="2520050" y="3526925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</a:t>
            </a:r>
            <a:endParaRPr sz="2400"/>
          </a:p>
        </p:txBody>
      </p:sp>
      <p:sp>
        <p:nvSpPr>
          <p:cNvPr id="582" name="Google Shape;582;p30"/>
          <p:cNvSpPr txBox="1"/>
          <p:nvPr/>
        </p:nvSpPr>
        <p:spPr>
          <a:xfrm>
            <a:off x="2520050" y="15692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  <p:sp>
        <p:nvSpPr>
          <p:cNvPr id="583" name="Google Shape;583;p30"/>
          <p:cNvSpPr txBox="1"/>
          <p:nvPr/>
        </p:nvSpPr>
        <p:spPr>
          <a:xfrm>
            <a:off x="462650" y="3550450"/>
            <a:ext cx="2961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3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584" name="Google Shape;584;p30"/>
          <p:cNvSpPr txBox="1"/>
          <p:nvPr/>
        </p:nvSpPr>
        <p:spPr>
          <a:xfrm>
            <a:off x="73000" y="2495250"/>
            <a:ext cx="429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Th=0.6</a:t>
            </a:r>
            <a:endParaRPr sz="600">
              <a:solidFill>
                <a:srgbClr val="FF0000"/>
              </a:solidFill>
            </a:endParaRPr>
          </a:p>
        </p:txBody>
      </p:sp>
      <p:graphicFrame>
        <p:nvGraphicFramePr>
          <p:cNvPr id="585" name="Google Shape;585;p30"/>
          <p:cNvGraphicFramePr/>
          <p:nvPr/>
        </p:nvGraphicFramePr>
        <p:xfrm>
          <a:off x="322757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Th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0.6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6" name="Google Shape;586;p30"/>
          <p:cNvGraphicFramePr/>
          <p:nvPr/>
        </p:nvGraphicFramePr>
        <p:xfrm>
          <a:off x="3616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7" name="Google Shape;587;p30"/>
          <p:cNvGraphicFramePr/>
          <p:nvPr/>
        </p:nvGraphicFramePr>
        <p:xfrm>
          <a:off x="3997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8" name="Google Shape;588;p30"/>
          <p:cNvSpPr txBox="1"/>
          <p:nvPr/>
        </p:nvSpPr>
        <p:spPr>
          <a:xfrm rot="-5400000">
            <a:off x="-1031250" y="2719725"/>
            <a:ext cx="25020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Predict Negative                      Predict Positive</a:t>
            </a:r>
            <a:endParaRPr sz="800"/>
          </a:p>
        </p:txBody>
      </p:sp>
      <p:graphicFrame>
        <p:nvGraphicFramePr>
          <p:cNvPr id="589" name="Google Shape;589;p30"/>
          <p:cNvGraphicFramePr/>
          <p:nvPr/>
        </p:nvGraphicFramePr>
        <p:xfrm>
          <a:off x="4378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FP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0" name="Google Shape;590;p30"/>
          <p:cNvGraphicFramePr/>
          <p:nvPr/>
        </p:nvGraphicFramePr>
        <p:xfrm>
          <a:off x="4759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FN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1" name="Google Shape;591;p30"/>
          <p:cNvGraphicFramePr/>
          <p:nvPr/>
        </p:nvGraphicFramePr>
        <p:xfrm>
          <a:off x="5140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Acc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.75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2" name="Google Shape;592;p30"/>
          <p:cNvGraphicFramePr/>
          <p:nvPr/>
        </p:nvGraphicFramePr>
        <p:xfrm>
          <a:off x="5521425" y="1482300"/>
          <a:ext cx="382850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3" name="Google Shape;593;p30"/>
          <p:cNvGraphicFramePr/>
          <p:nvPr/>
        </p:nvGraphicFramePr>
        <p:xfrm>
          <a:off x="5902425" y="1482300"/>
          <a:ext cx="5138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Recall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4" name="Google Shape;594;p30"/>
          <p:cNvGraphicFramePr/>
          <p:nvPr/>
        </p:nvGraphicFramePr>
        <p:xfrm>
          <a:off x="6416250" y="1482300"/>
          <a:ext cx="43227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Spec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.8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5" name="Google Shape;595;p30"/>
          <p:cNvGraphicFramePr/>
          <p:nvPr/>
        </p:nvGraphicFramePr>
        <p:xfrm>
          <a:off x="6848525" y="1482300"/>
          <a:ext cx="408625" cy="662220"/>
        </p:xfrm>
        <a:graphic>
          <a:graphicData uri="http://schemas.openxmlformats.org/drawingml/2006/table">
            <a:tbl>
              <a:tblPr>
                <a:noFill/>
                <a:tableStyleId>{E4D4086E-115B-4FA2-836F-A28E24F0A9DB}</a:tableStyleId>
              </a:tblPr>
              <a:tblGrid>
                <a:gridCol w="4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F1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</a:rPr>
                        <a:t>.733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574B25-E2F7-C74C-BC79-0C5D665FEE07}"/>
              </a:ext>
            </a:extLst>
          </p:cNvPr>
          <p:cNvSpPr txBox="1"/>
          <p:nvPr/>
        </p:nvSpPr>
        <p:spPr>
          <a:xfrm>
            <a:off x="3610424" y="2907750"/>
            <a:ext cx="471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/>
              <a:t># effective thresholds = # examples + 1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Google Shape;600;p31"/>
          <p:cNvGraphicFramePr/>
          <p:nvPr/>
        </p:nvGraphicFramePr>
        <p:xfrm>
          <a:off x="3930425" y="345625"/>
          <a:ext cx="4915150" cy="4472600"/>
        </p:xfrm>
        <a:graphic>
          <a:graphicData uri="http://schemas.openxmlformats.org/drawingml/2006/table">
            <a:tbl>
              <a:tblPr>
                <a:noFill/>
                <a:tableStyleId>{1ED29479-DD0C-4F4D-A4C7-1C1E6F131166}</a:tableStyleId>
              </a:tblPr>
              <a:tblGrid>
                <a:gridCol w="69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95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3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Threshold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TP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FP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Accuracy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Precision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Recall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Specificity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0.182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0.308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0.429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0.833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0.625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0.714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0.588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0.737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0.818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0.818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0.783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0.562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0.529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0.526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0.690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3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696C4DF-1131-F248-8D99-80AEFE439455}"/>
              </a:ext>
            </a:extLst>
          </p:cNvPr>
          <p:cNvGrpSpPr/>
          <p:nvPr/>
        </p:nvGrpSpPr>
        <p:grpSpPr>
          <a:xfrm>
            <a:off x="370607" y="503959"/>
            <a:ext cx="3091050" cy="4522481"/>
            <a:chOff x="490500" y="1271925"/>
            <a:chExt cx="1956750" cy="2862900"/>
          </a:xfrm>
        </p:grpSpPr>
        <p:cxnSp>
          <p:nvCxnSpPr>
            <p:cNvPr id="601" name="Google Shape;601;p31"/>
            <p:cNvCxnSpPr/>
            <p:nvPr/>
          </p:nvCxnSpPr>
          <p:spPr>
            <a:xfrm>
              <a:off x="1600675" y="1502700"/>
              <a:ext cx="4200" cy="256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2" name="Google Shape;602;p31"/>
            <p:cNvSpPr/>
            <p:nvPr/>
          </p:nvSpPr>
          <p:spPr>
            <a:xfrm>
              <a:off x="1561975" y="1749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1559400" y="2245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559400" y="28174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561975" y="30203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559400" y="32371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559400" y="340250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561975" y="35119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1559400" y="3621350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1559400" y="374802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1559400" y="3917575"/>
              <a:ext cx="81600" cy="90300"/>
            </a:xfrm>
            <a:prstGeom prst="flowChartConnector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1559400" y="15392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1559400" y="1644338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1561975" y="185455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1561975" y="19974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1561975" y="21213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1559400" y="236932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1559400" y="2671563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1561975" y="38402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1559400" y="2493300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1559400" y="2617275"/>
              <a:ext cx="81600" cy="90300"/>
            </a:xfrm>
            <a:prstGeom prst="flowChartConnector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 txBox="1"/>
            <p:nvPr/>
          </p:nvSpPr>
          <p:spPr>
            <a:xfrm>
              <a:off x="1275150" y="12719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1</a:t>
              </a:r>
              <a:endParaRPr sz="800"/>
            </a:p>
          </p:txBody>
        </p:sp>
        <p:sp>
          <p:nvSpPr>
            <p:cNvPr id="623" name="Google Shape;623;p31"/>
            <p:cNvSpPr txBox="1"/>
            <p:nvPr/>
          </p:nvSpPr>
          <p:spPr>
            <a:xfrm>
              <a:off x="1275150" y="4015125"/>
              <a:ext cx="1172100" cy="1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Score = 0</a:t>
              </a:r>
              <a:endParaRPr sz="800"/>
            </a:p>
          </p:txBody>
        </p:sp>
        <p:cxnSp>
          <p:nvCxnSpPr>
            <p:cNvPr id="624" name="Google Shape;624;p31"/>
            <p:cNvCxnSpPr/>
            <p:nvPr/>
          </p:nvCxnSpPr>
          <p:spPr>
            <a:xfrm rot="10800000" flipH="1">
              <a:off x="1167025" y="151363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1"/>
            <p:cNvCxnSpPr/>
            <p:nvPr/>
          </p:nvCxnSpPr>
          <p:spPr>
            <a:xfrm rot="10800000" flipH="1">
              <a:off x="1164450" y="16256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31"/>
            <p:cNvCxnSpPr/>
            <p:nvPr/>
          </p:nvCxnSpPr>
          <p:spPr>
            <a:xfrm rot="10800000" flipH="1">
              <a:off x="1167025" y="17376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31"/>
            <p:cNvCxnSpPr/>
            <p:nvPr/>
          </p:nvCxnSpPr>
          <p:spPr>
            <a:xfrm rot="10800000" flipH="1">
              <a:off x="1164450" y="18428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31"/>
            <p:cNvCxnSpPr/>
            <p:nvPr/>
          </p:nvCxnSpPr>
          <p:spPr>
            <a:xfrm rot="10800000" flipH="1">
              <a:off x="1167025" y="19667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31"/>
            <p:cNvCxnSpPr/>
            <p:nvPr/>
          </p:nvCxnSpPr>
          <p:spPr>
            <a:xfrm rot="10800000" flipH="1">
              <a:off x="1167775" y="21001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31"/>
            <p:cNvCxnSpPr/>
            <p:nvPr/>
          </p:nvCxnSpPr>
          <p:spPr>
            <a:xfrm rot="10800000" flipH="1">
              <a:off x="1167775" y="22241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31"/>
            <p:cNvCxnSpPr/>
            <p:nvPr/>
          </p:nvCxnSpPr>
          <p:spPr>
            <a:xfrm rot="10800000" flipH="1">
              <a:off x="1164450" y="234813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31"/>
            <p:cNvCxnSpPr/>
            <p:nvPr/>
          </p:nvCxnSpPr>
          <p:spPr>
            <a:xfrm rot="10800000" flipH="1">
              <a:off x="1167775" y="247211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31"/>
            <p:cNvCxnSpPr/>
            <p:nvPr/>
          </p:nvCxnSpPr>
          <p:spPr>
            <a:xfrm rot="10800000" flipH="1">
              <a:off x="1167775" y="25960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31"/>
            <p:cNvCxnSpPr/>
            <p:nvPr/>
          </p:nvCxnSpPr>
          <p:spPr>
            <a:xfrm rot="10800000" flipH="1">
              <a:off x="1164450" y="27067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5" name="Google Shape;635;p31"/>
            <p:cNvCxnSpPr/>
            <p:nvPr/>
          </p:nvCxnSpPr>
          <p:spPr>
            <a:xfrm rot="10800000" flipH="1">
              <a:off x="1167775" y="280822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31"/>
            <p:cNvCxnSpPr/>
            <p:nvPr/>
          </p:nvCxnSpPr>
          <p:spPr>
            <a:xfrm rot="10800000" flipH="1">
              <a:off x="1167775" y="29597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31"/>
            <p:cNvCxnSpPr/>
            <p:nvPr/>
          </p:nvCxnSpPr>
          <p:spPr>
            <a:xfrm rot="10800000" flipH="1">
              <a:off x="1164450" y="3158888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8" name="Google Shape;638;p31"/>
            <p:cNvCxnSpPr/>
            <p:nvPr/>
          </p:nvCxnSpPr>
          <p:spPr>
            <a:xfrm rot="10800000" flipH="1">
              <a:off x="1164450" y="33354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1"/>
            <p:cNvCxnSpPr/>
            <p:nvPr/>
          </p:nvCxnSpPr>
          <p:spPr>
            <a:xfrm rot="10800000" flipH="1">
              <a:off x="1167775" y="349800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1"/>
            <p:cNvCxnSpPr/>
            <p:nvPr/>
          </p:nvCxnSpPr>
          <p:spPr>
            <a:xfrm rot="10800000" flipH="1">
              <a:off x="1164450" y="3616050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1"/>
            <p:cNvCxnSpPr/>
            <p:nvPr/>
          </p:nvCxnSpPr>
          <p:spPr>
            <a:xfrm rot="10800000" flipH="1">
              <a:off x="1164450" y="3725475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31"/>
            <p:cNvCxnSpPr/>
            <p:nvPr/>
          </p:nvCxnSpPr>
          <p:spPr>
            <a:xfrm rot="10800000" flipH="1">
              <a:off x="1164450" y="38521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1"/>
            <p:cNvCxnSpPr/>
            <p:nvPr/>
          </p:nvCxnSpPr>
          <p:spPr>
            <a:xfrm rot="10800000" flipH="1">
              <a:off x="1167775" y="392236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1"/>
            <p:cNvCxnSpPr/>
            <p:nvPr/>
          </p:nvCxnSpPr>
          <p:spPr>
            <a:xfrm rot="10800000" flipH="1">
              <a:off x="1164450" y="4036513"/>
              <a:ext cx="871500" cy="87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45" name="Google Shape;645;p31"/>
            <p:cNvSpPr txBox="1"/>
            <p:nvPr/>
          </p:nvSpPr>
          <p:spPr>
            <a:xfrm>
              <a:off x="490500" y="3993775"/>
              <a:ext cx="759900" cy="9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Threshold = 0.00</a:t>
              </a:r>
              <a:endParaRPr sz="600"/>
            </a:p>
          </p:txBody>
        </p:sp>
        <p:sp>
          <p:nvSpPr>
            <p:cNvPr id="646" name="Google Shape;646;p31"/>
            <p:cNvSpPr txBox="1"/>
            <p:nvPr/>
          </p:nvSpPr>
          <p:spPr>
            <a:xfrm>
              <a:off x="490500" y="1456025"/>
              <a:ext cx="759900" cy="9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Threshold = 1.00</a:t>
              </a:r>
              <a:endParaRPr sz="600"/>
            </a:p>
          </p:txBody>
        </p:sp>
      </p:grpSp>
      <p:sp>
        <p:nvSpPr>
          <p:cNvPr id="647" name="Google Shape;647;p31"/>
          <p:cNvSpPr txBox="1"/>
          <p:nvPr/>
        </p:nvSpPr>
        <p:spPr>
          <a:xfrm>
            <a:off x="545250" y="298150"/>
            <a:ext cx="21810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 Scanning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 Rotated ROC </a:t>
            </a:r>
            <a:r>
              <a:rPr lang="en-US" dirty="0"/>
              <a:t>(Sen vs. Spec)</a:t>
            </a:r>
            <a:endParaRPr dirty="0"/>
          </a:p>
        </p:txBody>
      </p:sp>
      <p:pic>
        <p:nvPicPr>
          <p:cNvPr id="658" name="Google Shape;658;p33" descr="r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941525"/>
            <a:ext cx="5094634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9" name="Google Shape;659;p33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0" name="Google Shape;660;p33"/>
          <p:cNvSpPr/>
          <p:nvPr/>
        </p:nvSpPr>
        <p:spPr>
          <a:xfrm>
            <a:off x="15619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15594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15594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15619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3"/>
          <p:cNvSpPr/>
          <p:nvPr/>
        </p:nvSpPr>
        <p:spPr>
          <a:xfrm>
            <a:off x="15594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3"/>
          <p:cNvSpPr/>
          <p:nvPr/>
        </p:nvSpPr>
        <p:spPr>
          <a:xfrm>
            <a:off x="15594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15619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15594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15594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15594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15594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15594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15619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15619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15619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15594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15594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3"/>
          <p:cNvSpPr/>
          <p:nvPr/>
        </p:nvSpPr>
        <p:spPr>
          <a:xfrm>
            <a:off x="15619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15594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15594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3"/>
          <p:cNvSpPr txBox="1"/>
          <p:nvPr/>
        </p:nvSpPr>
        <p:spPr>
          <a:xfrm>
            <a:off x="1275150" y="12719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681" name="Google Shape;681;p33"/>
          <p:cNvSpPr txBox="1"/>
          <p:nvPr/>
        </p:nvSpPr>
        <p:spPr>
          <a:xfrm>
            <a:off x="1275150" y="4015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175695-DCE3-6D41-8C30-141987988796}"/>
              </a:ext>
            </a:extLst>
          </p:cNvPr>
          <p:cNvSpPr txBox="1"/>
          <p:nvPr/>
        </p:nvSpPr>
        <p:spPr>
          <a:xfrm>
            <a:off x="5959929" y="4762500"/>
            <a:ext cx="238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 = True Pos / Pos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9080D-EFBC-4847-AAD1-4817BEBCAE82}"/>
              </a:ext>
            </a:extLst>
          </p:cNvPr>
          <p:cNvSpPr txBox="1"/>
          <p:nvPr/>
        </p:nvSpPr>
        <p:spPr>
          <a:xfrm>
            <a:off x="-22213" y="1891255"/>
            <a:ext cx="1561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Specificity</a:t>
            </a:r>
          </a:p>
          <a:p>
            <a:r>
              <a:rPr lang="en-US" dirty="0"/>
              <a:t>= True Neg / Neg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40DA-535C-6B4C-BB57-82A4AE51421B}"/>
              </a:ext>
            </a:extLst>
          </p:cNvPr>
          <p:cNvSpPr txBox="1"/>
          <p:nvPr/>
        </p:nvSpPr>
        <p:spPr>
          <a:xfrm>
            <a:off x="2040947" y="1121632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 examples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49066D-979B-4F4A-B760-CEDCEA57EBEE}"/>
              </a:ext>
            </a:extLst>
          </p:cNvPr>
          <p:cNvSpPr txBox="1"/>
          <p:nvPr/>
        </p:nvSpPr>
        <p:spPr>
          <a:xfrm>
            <a:off x="2813946" y="1465319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DF132-4D62-BB4E-9BE1-9B5FCAA084E5}"/>
              </a:ext>
            </a:extLst>
          </p:cNvPr>
          <p:cNvSpPr txBox="1"/>
          <p:nvPr/>
        </p:nvSpPr>
        <p:spPr>
          <a:xfrm>
            <a:off x="3542395" y="2786400"/>
            <a:ext cx="1667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Guessing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99E3B-7943-724B-BB6E-A2E897B55A14}"/>
              </a:ext>
            </a:extLst>
          </p:cNvPr>
          <p:cNvSpPr txBox="1"/>
          <p:nvPr/>
        </p:nvSpPr>
        <p:spPr>
          <a:xfrm>
            <a:off x="6461132" y="1813598"/>
            <a:ext cx="240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AUROC = Area Under ROC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624BB-D4B8-9349-93D1-3F12D9A2454B}"/>
              </a:ext>
            </a:extLst>
          </p:cNvPr>
          <p:cNvSpPr txBox="1"/>
          <p:nvPr/>
        </p:nvSpPr>
        <p:spPr>
          <a:xfrm>
            <a:off x="6464613" y="2417068"/>
            <a:ext cx="2398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Prob[Random Pos ranked</a:t>
            </a:r>
          </a:p>
          <a:p>
            <a:r>
              <a:rPr lang="en-US" dirty="0"/>
              <a:t>higher than random Neg]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DCF47-EAD6-EA44-BB66-C8B0D5C97D68}"/>
              </a:ext>
            </a:extLst>
          </p:cNvPr>
          <p:cNvSpPr txBox="1"/>
          <p:nvPr/>
        </p:nvSpPr>
        <p:spPr>
          <a:xfrm>
            <a:off x="6574143" y="3402500"/>
            <a:ext cx="2045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Agnostic to prevalence!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metrics: PRC (Recall vs. Precision)</a:t>
            </a:r>
            <a:endParaRPr dirty="0"/>
          </a:p>
        </p:txBody>
      </p:sp>
      <p:pic>
        <p:nvPicPr>
          <p:cNvPr id="687" name="Google Shape;687;p34" descr="p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941525"/>
            <a:ext cx="5094634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8" name="Google Shape;688;p34"/>
          <p:cNvCxnSpPr/>
          <p:nvPr/>
        </p:nvCxnSpPr>
        <p:spPr>
          <a:xfrm>
            <a:off x="1600675" y="1502700"/>
            <a:ext cx="4200" cy="25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34"/>
          <p:cNvSpPr/>
          <p:nvPr/>
        </p:nvSpPr>
        <p:spPr>
          <a:xfrm>
            <a:off x="1561975" y="1749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4"/>
          <p:cNvSpPr/>
          <p:nvPr/>
        </p:nvSpPr>
        <p:spPr>
          <a:xfrm>
            <a:off x="1559400" y="2245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4"/>
          <p:cNvSpPr/>
          <p:nvPr/>
        </p:nvSpPr>
        <p:spPr>
          <a:xfrm>
            <a:off x="1559400" y="28174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1561975" y="30203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4"/>
          <p:cNvSpPr/>
          <p:nvPr/>
        </p:nvSpPr>
        <p:spPr>
          <a:xfrm>
            <a:off x="1559400" y="32371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1559400" y="340250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1561975" y="35119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4"/>
          <p:cNvSpPr/>
          <p:nvPr/>
        </p:nvSpPr>
        <p:spPr>
          <a:xfrm>
            <a:off x="1559400" y="3621350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4"/>
          <p:cNvSpPr/>
          <p:nvPr/>
        </p:nvSpPr>
        <p:spPr>
          <a:xfrm>
            <a:off x="1559400" y="374802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1559400" y="3917575"/>
            <a:ext cx="81600" cy="903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1559400" y="15392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1559400" y="1644338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1561975" y="185455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1561975" y="19974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1561975" y="21213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4"/>
          <p:cNvSpPr/>
          <p:nvPr/>
        </p:nvSpPr>
        <p:spPr>
          <a:xfrm>
            <a:off x="1559400" y="236932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4"/>
          <p:cNvSpPr/>
          <p:nvPr/>
        </p:nvSpPr>
        <p:spPr>
          <a:xfrm>
            <a:off x="1559400" y="2671563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4"/>
          <p:cNvSpPr/>
          <p:nvPr/>
        </p:nvSpPr>
        <p:spPr>
          <a:xfrm>
            <a:off x="1561975" y="38402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4"/>
          <p:cNvSpPr/>
          <p:nvPr/>
        </p:nvSpPr>
        <p:spPr>
          <a:xfrm>
            <a:off x="1559400" y="2493300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1559400" y="2617275"/>
            <a:ext cx="81600" cy="903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4"/>
          <p:cNvSpPr txBox="1"/>
          <p:nvPr/>
        </p:nvSpPr>
        <p:spPr>
          <a:xfrm>
            <a:off x="1275150" y="12719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1</a:t>
            </a:r>
            <a:endParaRPr sz="800"/>
          </a:p>
        </p:txBody>
      </p:sp>
      <p:sp>
        <p:nvSpPr>
          <p:cNvPr id="710" name="Google Shape;710;p34"/>
          <p:cNvSpPr txBox="1"/>
          <p:nvPr/>
        </p:nvSpPr>
        <p:spPr>
          <a:xfrm>
            <a:off x="1275150" y="4015125"/>
            <a:ext cx="1172100" cy="1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Score = 0</a:t>
            </a:r>
            <a:endParaRPr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B4EA66-0E8C-6949-AE82-E33DAA6AA77F}"/>
              </a:ext>
            </a:extLst>
          </p:cNvPr>
          <p:cNvSpPr txBox="1"/>
          <p:nvPr/>
        </p:nvSpPr>
        <p:spPr>
          <a:xfrm>
            <a:off x="5143500" y="4762500"/>
            <a:ext cx="3082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 = Sensitivity = True Pos / Pos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05E6BE-8E3D-E043-BD83-BB27AAD3E8B2}"/>
              </a:ext>
            </a:extLst>
          </p:cNvPr>
          <p:cNvSpPr txBox="1"/>
          <p:nvPr/>
        </p:nvSpPr>
        <p:spPr>
          <a:xfrm>
            <a:off x="141077" y="1891255"/>
            <a:ext cx="13003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  <a:p>
            <a:r>
              <a:rPr lang="en-US" dirty="0"/>
              <a:t>= True Pos / </a:t>
            </a:r>
          </a:p>
          <a:p>
            <a:r>
              <a:rPr lang="en-US" dirty="0"/>
              <a:t>Predicted Pos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7EA42B-C647-2242-8906-2CBA1564032B}"/>
              </a:ext>
            </a:extLst>
          </p:cNvPr>
          <p:cNvSpPr txBox="1"/>
          <p:nvPr/>
        </p:nvSpPr>
        <p:spPr>
          <a:xfrm>
            <a:off x="2040947" y="1121632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 examples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BC1C9-695C-1F45-B377-5AC85639CF48}"/>
              </a:ext>
            </a:extLst>
          </p:cNvPr>
          <p:cNvSpPr txBox="1"/>
          <p:nvPr/>
        </p:nvSpPr>
        <p:spPr>
          <a:xfrm>
            <a:off x="2813946" y="1677596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 examples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5419D-2CEB-5847-83CF-6A9126A4761B}"/>
              </a:ext>
            </a:extLst>
          </p:cNvPr>
          <p:cNvSpPr txBox="1"/>
          <p:nvPr/>
        </p:nvSpPr>
        <p:spPr>
          <a:xfrm>
            <a:off x="6461132" y="1813598"/>
            <a:ext cx="2363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AUPRC = Area Under PRC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912E75-71CD-1A4D-BCB0-842C68B6A116}"/>
              </a:ext>
            </a:extLst>
          </p:cNvPr>
          <p:cNvSpPr txBox="1"/>
          <p:nvPr/>
        </p:nvSpPr>
        <p:spPr>
          <a:xfrm>
            <a:off x="6464613" y="2417068"/>
            <a:ext cx="210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Expected precision for</a:t>
            </a:r>
          </a:p>
          <a:p>
            <a:r>
              <a:rPr lang="en-US" dirty="0"/>
              <a:t>Random threshold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F5137-B01A-804C-9CBA-3AB09AB60D9E}"/>
              </a:ext>
            </a:extLst>
          </p:cNvPr>
          <p:cNvSpPr txBox="1"/>
          <p:nvPr/>
        </p:nvSpPr>
        <p:spPr>
          <a:xfrm>
            <a:off x="6574143" y="3402500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 &gt;= prevalence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8492-474B-4F9C-D3ED-B32735C4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Confusion matrix for more than 2 classes</a:t>
            </a:r>
            <a:endParaRPr lang="en-PK" dirty="0"/>
          </a:p>
        </p:txBody>
      </p:sp>
      <p:pic>
        <p:nvPicPr>
          <p:cNvPr id="1026" name="Picture 2" descr="machine learning - Interpreting a confusion matrix for a multiclass  classification? - Cross Validated">
            <a:extLst>
              <a:ext uri="{FF2B5EF4-FFF2-40B4-BE49-F238E27FC236}">
                <a16:creationId xmlns:a16="http://schemas.microsoft.com/office/drawing/2014/main" id="{C4D6636B-9D4D-AFB6-F4F6-DEDA6E1EF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972" y="1384917"/>
            <a:ext cx="5699328" cy="311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 illustrative example of the confusion matrix for a multi-class... |  Download Scientific Diagram">
            <a:extLst>
              <a:ext uri="{FF2B5EF4-FFF2-40B4-BE49-F238E27FC236}">
                <a16:creationId xmlns:a16="http://schemas.microsoft.com/office/drawing/2014/main" id="{0A1E20DF-BBDF-A587-A029-987F4457F5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3"/>
          <a:stretch>
            <a:fillRect/>
          </a:stretch>
        </p:blipFill>
        <p:spPr bwMode="auto">
          <a:xfrm>
            <a:off x="311700" y="2015232"/>
            <a:ext cx="3806452" cy="205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982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>
            <a:spLocks noGrp="1"/>
          </p:cNvSpPr>
          <p:nvPr>
            <p:ph type="title"/>
          </p:nvPr>
        </p:nvSpPr>
        <p:spPr>
          <a:xfrm>
            <a:off x="311700" y="2121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f15c6cd630bf8942c37780dd86cd0f40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2e3acf5cd54823db6264b3c66621dce5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746F56-070B-4954-A9D6-1970F5E390E6}"/>
</file>

<file path=customXml/itemProps2.xml><?xml version="1.0" encoding="utf-8"?>
<ds:datastoreItem xmlns:ds="http://schemas.openxmlformats.org/officeDocument/2006/customXml" ds:itemID="{E571BDB6-1F9B-448E-8884-307D4E737ADE}"/>
</file>

<file path=customXml/itemProps3.xml><?xml version="1.0" encoding="utf-8"?>
<ds:datastoreItem xmlns:ds="http://schemas.openxmlformats.org/officeDocument/2006/customXml" ds:itemID="{F59DA2B2-C0A0-4EE5-A007-90E391645175}"/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1767</Words>
  <Application>Microsoft Office PowerPoint</Application>
  <PresentationFormat>On-screen Show (16:9)</PresentationFormat>
  <Paragraphs>568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Evaluation Metrics Example </vt:lpstr>
      <vt:lpstr>Binary Classification</vt:lpstr>
      <vt:lpstr>Score based models</vt:lpstr>
      <vt:lpstr>Threshold -&gt; Classifier -&gt; Point Metrics</vt:lpstr>
      <vt:lpstr>Point metrics: Confusion Matrix</vt:lpstr>
      <vt:lpstr>Point metrics: True Positives </vt:lpstr>
      <vt:lpstr>Point metrics: True Negatives </vt:lpstr>
      <vt:lpstr>Point metrics: False Positives </vt:lpstr>
      <vt:lpstr>Point metrics: False Negatives </vt:lpstr>
      <vt:lpstr>Point metrics: Accuracy </vt:lpstr>
      <vt:lpstr>Point metrics: Precision </vt:lpstr>
      <vt:lpstr>Point metrics: Positive Recall (Sensitivity) </vt:lpstr>
      <vt:lpstr>Point metrics: Negative Recall (Specificity) </vt:lpstr>
      <vt:lpstr>Point metrics: F1-score </vt:lpstr>
      <vt:lpstr>Point metrics: Changing threshold </vt:lpstr>
      <vt:lpstr>PowerPoint Presentation</vt:lpstr>
      <vt:lpstr>Summary metrics: Rotated ROC (Sen vs. Spec)</vt:lpstr>
      <vt:lpstr>Summary metrics: PRC (Recall vs. Precision)</vt:lpstr>
      <vt:lpstr>Confusion matrix for more than 2 classes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Metrics (Classifiers)</dc:title>
  <cp:lastModifiedBy>Jawad Khan</cp:lastModifiedBy>
  <cp:revision>42</cp:revision>
  <dcterms:modified xsi:type="dcterms:W3CDTF">2025-11-10T13:56:35Z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