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9" r:id="rId2"/>
    <p:sldId id="328" r:id="rId3"/>
    <p:sldId id="342" r:id="rId4"/>
    <p:sldId id="343" r:id="rId5"/>
    <p:sldId id="377" r:id="rId6"/>
    <p:sldId id="378" r:id="rId7"/>
    <p:sldId id="346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79" r:id="rId20"/>
    <p:sldId id="380" r:id="rId21"/>
    <p:sldId id="341" r:id="rId22"/>
    <p:sldId id="348" r:id="rId23"/>
    <p:sldId id="349" r:id="rId24"/>
    <p:sldId id="350" r:id="rId25"/>
    <p:sldId id="344" r:id="rId26"/>
    <p:sldId id="351" r:id="rId27"/>
    <p:sldId id="347" r:id="rId28"/>
    <p:sldId id="352" r:id="rId29"/>
    <p:sldId id="368" r:id="rId30"/>
    <p:sldId id="353" r:id="rId31"/>
    <p:sldId id="354" r:id="rId32"/>
    <p:sldId id="369" r:id="rId33"/>
    <p:sldId id="355" r:id="rId34"/>
    <p:sldId id="356" r:id="rId35"/>
    <p:sldId id="357" r:id="rId36"/>
    <p:sldId id="358" r:id="rId37"/>
    <p:sldId id="359" r:id="rId38"/>
    <p:sldId id="360" r:id="rId39"/>
    <p:sldId id="381" r:id="rId40"/>
    <p:sldId id="362" r:id="rId41"/>
    <p:sldId id="363" r:id="rId42"/>
    <p:sldId id="364" r:id="rId43"/>
    <p:sldId id="382" r:id="rId44"/>
    <p:sldId id="365" r:id="rId45"/>
    <p:sldId id="366" r:id="rId46"/>
    <p:sldId id="367" r:id="rId47"/>
    <p:sldId id="371" r:id="rId48"/>
    <p:sldId id="372" r:id="rId49"/>
    <p:sldId id="373" r:id="rId50"/>
    <p:sldId id="374" r:id="rId51"/>
    <p:sldId id="375" r:id="rId52"/>
    <p:sldId id="376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00686-F4F7-43E0-BCBA-5E38847C1175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4BBF2-8F51-42BC-9900-E7593F469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(ML)</a:t>
            </a:r>
            <a:br>
              <a:rPr lang="en-US" dirty="0"/>
            </a:br>
            <a:r>
              <a:rPr lang="en-US" dirty="0"/>
              <a:t>RIME-832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Muhammad Jawad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C4B4-0A88-E51E-48B9-F7E55343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42457"/>
            <a:ext cx="8229600" cy="1143000"/>
          </a:xfrm>
        </p:spPr>
        <p:txBody>
          <a:bodyPr/>
          <a:lstStyle/>
          <a:p>
            <a:r>
              <a:rPr lang="en-US" dirty="0"/>
              <a:t>Fundamentals of Machine Learning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597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6886-729C-18D6-EED0-5501F253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29CE-5FB5-6895-B200-9F729D08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C54F2-4365-C1A7-78B9-1A43F9A84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How to move from point A to B?</a:t>
            </a:r>
          </a:p>
          <a:p>
            <a:r>
              <a:rPr lang="en-US" dirty="0">
                <a:solidFill>
                  <a:srgbClr val="FF0000"/>
                </a:solidFill>
              </a:rPr>
              <a:t>Photo tagging</a:t>
            </a:r>
          </a:p>
          <a:p>
            <a:r>
              <a:rPr lang="en-US" dirty="0">
                <a:solidFill>
                  <a:srgbClr val="FF0000"/>
                </a:solidFill>
              </a:rPr>
              <a:t>Spam/anti-spam labeling</a:t>
            </a:r>
          </a:p>
          <a:p>
            <a:r>
              <a:rPr lang="en-US" dirty="0">
                <a:solidFill>
                  <a:srgbClr val="FF0000"/>
                </a:solidFill>
              </a:rPr>
              <a:t>Web search</a:t>
            </a:r>
          </a:p>
          <a:p>
            <a:r>
              <a:rPr lang="en-US" dirty="0">
                <a:solidFill>
                  <a:srgbClr val="FF0000"/>
                </a:solidFill>
              </a:rPr>
              <a:t>Autonomous car</a:t>
            </a:r>
          </a:p>
          <a:p>
            <a:r>
              <a:rPr lang="en-US" dirty="0">
                <a:solidFill>
                  <a:srgbClr val="FF0000"/>
                </a:solidFill>
              </a:rPr>
              <a:t>Hand writing recognition</a:t>
            </a:r>
          </a:p>
          <a:p>
            <a:r>
              <a:rPr lang="en-US" dirty="0">
                <a:solidFill>
                  <a:srgbClr val="FF0000"/>
                </a:solidFill>
              </a:rPr>
              <a:t>Computer vision</a:t>
            </a:r>
          </a:p>
          <a:p>
            <a:r>
              <a:rPr lang="en-US" dirty="0">
                <a:solidFill>
                  <a:srgbClr val="FF0000"/>
                </a:solidFill>
              </a:rPr>
              <a:t>Credit card fraud detection</a:t>
            </a:r>
          </a:p>
          <a:p>
            <a:r>
              <a:rPr lang="en-US" dirty="0">
                <a:solidFill>
                  <a:srgbClr val="FF0000"/>
                </a:solidFill>
              </a:rPr>
              <a:t>Language translation</a:t>
            </a:r>
          </a:p>
          <a:p>
            <a:r>
              <a:rPr lang="en-US" dirty="0">
                <a:solidFill>
                  <a:srgbClr val="FF0000"/>
                </a:solidFill>
              </a:rPr>
              <a:t>Product recommendations …..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46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6D8D-E3B2-D7E4-D484-217B229A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E0A4-180D-A610-D62F-CC8A5E4B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Volume of data collected growing day by day</a:t>
            </a:r>
          </a:p>
          <a:p>
            <a:r>
              <a:rPr lang="en-US" dirty="0"/>
              <a:t>Data production will be 44 times greater in 2020 than in 2009</a:t>
            </a:r>
          </a:p>
          <a:p>
            <a:r>
              <a:rPr lang="en-US" dirty="0"/>
              <a:t>Every day, 2.5 quintillion bytes of data are created, with 90 percent of world data created in past 5 years</a:t>
            </a:r>
          </a:p>
          <a:p>
            <a:r>
              <a:rPr lang="en-US" dirty="0"/>
              <a:t>Humans will only be able to look at only a portion of the entire data</a:t>
            </a:r>
          </a:p>
          <a:p>
            <a:r>
              <a:rPr lang="en-US" dirty="0"/>
              <a:t>Data is cheap and abundant; knowledge is scarce and expensive</a:t>
            </a:r>
          </a:p>
          <a:p>
            <a:r>
              <a:rPr lang="en-US" dirty="0"/>
              <a:t>Knowledge discovery is NEEDED to make sense and use of data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96EF9B-264B-35CB-D768-356AC50C8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81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0823-687E-95CF-AA32-16766623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Companies</a:t>
            </a:r>
            <a:endParaRPr lang="en-PK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E8CC8B-50D9-356E-6912-5E774A5CC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17638"/>
            <a:ext cx="8623637" cy="4999210"/>
          </a:xfrm>
        </p:spPr>
      </p:pic>
    </p:spTree>
    <p:extLst>
      <p:ext uri="{BB962C8B-B14F-4D97-AF65-F5344CB8AC3E}">
        <p14:creationId xmlns:p14="http://schemas.microsoft.com/office/powerpoint/2010/main" val="289537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5526-D8AF-DA8D-0FD6-F2C23216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EAAAD0-BBA9-F606-2EAC-26C43B2FC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01045"/>
            <a:ext cx="6553200" cy="6460546"/>
          </a:xfrm>
        </p:spPr>
      </p:pic>
    </p:spTree>
    <p:extLst>
      <p:ext uri="{BB962C8B-B14F-4D97-AF65-F5344CB8AC3E}">
        <p14:creationId xmlns:p14="http://schemas.microsoft.com/office/powerpoint/2010/main" val="11775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AC2F-B763-08F1-3E01-646B19BC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Onion</a:t>
            </a:r>
            <a:endParaRPr lang="en-PK" dirty="0"/>
          </a:p>
        </p:txBody>
      </p:sp>
      <p:pic>
        <p:nvPicPr>
          <p:cNvPr id="1026" name="Picture 2" descr="Subset Stock Illustrations – 2,123 Subset Stock Illustrations, Vectors &amp;  Clipart - Dreamstime">
            <a:extLst>
              <a:ext uri="{FF2B5EF4-FFF2-40B4-BE49-F238E27FC236}">
                <a16:creationId xmlns:a16="http://schemas.microsoft.com/office/drawing/2014/main" id="{A76F9F40-527C-AEF6-B62F-EB242078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49151"/>
            <a:ext cx="6781800" cy="542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E54BF7-1D49-040D-0A95-EAEE067607C6}"/>
              </a:ext>
            </a:extLst>
          </p:cNvPr>
          <p:cNvSpPr txBox="1"/>
          <p:nvPr/>
        </p:nvSpPr>
        <p:spPr>
          <a:xfrm>
            <a:off x="2895600" y="6230249"/>
            <a:ext cx="563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200" dirty="0"/>
              <a:t>https://www.dreamstime.com/illustration/subset.html</a:t>
            </a:r>
          </a:p>
        </p:txBody>
      </p:sp>
    </p:spTree>
    <p:extLst>
      <p:ext uri="{BB962C8B-B14F-4D97-AF65-F5344CB8AC3E}">
        <p14:creationId xmlns:p14="http://schemas.microsoft.com/office/powerpoint/2010/main" val="3165871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0846-7A08-7968-19CE-BE914E45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ML?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3C77F-34F7-70EB-DC0E-930699A93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is the science (and art) of programming computers so they can learn from data.</a:t>
            </a:r>
          </a:p>
          <a:p>
            <a:endParaRPr lang="en-US" dirty="0"/>
          </a:p>
          <a:p>
            <a:r>
              <a:rPr lang="en-US" dirty="0"/>
              <a:t>Field of study that gives computers the ability to learn without being explicitly programmed.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6809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B167-EDA7-BEBF-AE2D-3624FCA0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Approach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FEB4F-4A90-B293-ACC2-2A47DA5DD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computer program is said to learn from </a:t>
            </a:r>
            <a:r>
              <a:rPr lang="en-US" dirty="0">
                <a:solidFill>
                  <a:srgbClr val="3333CC"/>
                </a:solidFill>
              </a:rPr>
              <a:t>experience E</a:t>
            </a:r>
            <a:r>
              <a:rPr lang="en-US" dirty="0"/>
              <a:t> with respect to some </a:t>
            </a:r>
            <a:r>
              <a:rPr lang="en-US" dirty="0">
                <a:solidFill>
                  <a:srgbClr val="3333CC"/>
                </a:solidFill>
              </a:rPr>
              <a:t>task T</a:t>
            </a:r>
            <a:r>
              <a:rPr lang="en-US" dirty="0"/>
              <a:t> and some </a:t>
            </a:r>
            <a:r>
              <a:rPr lang="en-US" dirty="0">
                <a:solidFill>
                  <a:srgbClr val="3333CC"/>
                </a:solidFill>
              </a:rPr>
              <a:t>performance measure P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if its performance on T, as measured by P, improves with experience 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				Tom Mitchell, 1997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81919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B6AF-8FF0-1633-F6F2-80AC5A1A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dirty="0" err="1"/>
              <a:t>Deifinitions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7BD7-F979-CB59-65F6-5189AF4F6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examples that the system uses to learn are called the </a:t>
            </a:r>
            <a:r>
              <a:rPr lang="en-US" dirty="0">
                <a:solidFill>
                  <a:srgbClr val="FF0000"/>
                </a:solidFill>
              </a:rPr>
              <a:t>training set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Each training example is called a </a:t>
            </a:r>
            <a:r>
              <a:rPr lang="en-US" dirty="0">
                <a:solidFill>
                  <a:srgbClr val="FF0000"/>
                </a:solidFill>
              </a:rPr>
              <a:t>training instance (or sample)</a:t>
            </a: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3333CC"/>
                </a:solidFill>
              </a:rPr>
              <a:t>The task T is to flag spam for new emails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the experience E is the training data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the performance measure P needs to be defined</a:t>
            </a:r>
            <a:r>
              <a:rPr lang="en-US" dirty="0"/>
              <a:t>; for example, you can </a:t>
            </a:r>
            <a:r>
              <a:rPr lang="en-US" dirty="0">
                <a:solidFill>
                  <a:srgbClr val="FF0000"/>
                </a:solidFill>
              </a:rPr>
              <a:t>use the ratio of correctly classified emails. This particular performance measure is called accuracy</a:t>
            </a:r>
            <a:r>
              <a:rPr lang="en-US" dirty="0"/>
              <a:t> and it is often used in classification tasks.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53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C894-CD41-2272-7D61-F2F8361B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Machine Learning?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72E22-BED1-7B15-9063-F5431207B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Write a spam filter using traditional programming techniques:</a:t>
            </a:r>
          </a:p>
          <a:p>
            <a:pPr lvl="1" algn="just"/>
            <a:r>
              <a:rPr lang="en-US" dirty="0"/>
              <a:t>1. First you would look at what spam typically looks like. </a:t>
            </a:r>
          </a:p>
          <a:p>
            <a:pPr lvl="1" algn="just"/>
            <a:r>
              <a:rPr lang="en-US" dirty="0"/>
              <a:t>2. You would write a detection algorithm for each of the patterns that you noticed, and your program would flag emails as spam if a number of these patterns are detected.</a:t>
            </a:r>
          </a:p>
          <a:p>
            <a:pPr lvl="1" algn="just"/>
            <a:r>
              <a:rPr lang="en-US" dirty="0"/>
              <a:t> 3. You would test your program, and repeat steps 1 and 2 until it is good enough.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643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A645-68D0-7AB1-8BF5-ADB3189A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1770-36BB-9ADC-331C-69437DFA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5105401"/>
            <a:ext cx="8229600" cy="14779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problem is not trivial, your program will likely become a long list of com plex rules—pretty hard to maintain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50010-A027-3010-B41C-7E11434C6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10" y="76200"/>
            <a:ext cx="8737379" cy="48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20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12FAB-86CF-E45C-C4D2-571844E9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Approach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ABE26-CA79-AF8D-FE8E-41EBFA597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4" y="5527448"/>
            <a:ext cx="8001000" cy="1066800"/>
          </a:xfrm>
        </p:spPr>
        <p:txBody>
          <a:bodyPr/>
          <a:lstStyle/>
          <a:p>
            <a:r>
              <a:rPr lang="en-US" dirty="0"/>
              <a:t>Making decision based on available data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3300D-B4C9-561B-D5DE-D65D2D7B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10" y="1393371"/>
            <a:ext cx="7153780" cy="407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6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97C6-A308-E93E-89CD-BFE0ECEE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Adapting to Change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01C80-3476-B4BA-60C1-C47AD6100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6" y="1676400"/>
            <a:ext cx="885008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2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0EB3-E07F-82D2-CEEA-BDF397AD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Complex Problems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C11F9-D7B2-2E76-6C15-9D16484B3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41" y="1600200"/>
            <a:ext cx="8592859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8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D01A-18CC-C66A-9F7F-187D0C1F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is Good for: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47BC2-01C8-E68A-3D84-B89D83C4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Problems for which existing solutions require a lot of hand-tuning </a:t>
            </a:r>
            <a:r>
              <a:rPr lang="en-US" dirty="0">
                <a:solidFill>
                  <a:srgbClr val="FF0000"/>
                </a:solidFill>
              </a:rPr>
              <a:t>or long lists of rules</a:t>
            </a:r>
            <a:r>
              <a:rPr lang="en-US" dirty="0"/>
              <a:t>: one Machine Learning algorithm can often simplify code and perform bet ter. </a:t>
            </a:r>
          </a:p>
          <a:p>
            <a:endParaRPr lang="en-US" dirty="0"/>
          </a:p>
          <a:p>
            <a:r>
              <a:rPr lang="en-US" dirty="0"/>
              <a:t>Complex problems for which </a:t>
            </a:r>
            <a:r>
              <a:rPr lang="en-US" dirty="0">
                <a:solidFill>
                  <a:srgbClr val="FF0000"/>
                </a:solidFill>
              </a:rPr>
              <a:t>there is no good solution</a:t>
            </a:r>
            <a:r>
              <a:rPr lang="en-US" dirty="0"/>
              <a:t> at all using a traditional approach: the best Machine Learning techniques can find a solution. </a:t>
            </a:r>
          </a:p>
          <a:p>
            <a:endParaRPr lang="en-US" dirty="0"/>
          </a:p>
          <a:p>
            <a:pPr algn="just"/>
            <a:r>
              <a:rPr lang="en-US" dirty="0"/>
              <a:t>Fluctuating environments: a Machine Learning system can adapt to </a:t>
            </a:r>
            <a:r>
              <a:rPr lang="en-US" dirty="0">
                <a:solidFill>
                  <a:srgbClr val="FF0000"/>
                </a:solidFill>
              </a:rPr>
              <a:t>new data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Getting insights </a:t>
            </a:r>
            <a:r>
              <a:rPr lang="en-US" dirty="0"/>
              <a:t>about complex problems and large amounts of data.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05321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C32A-33E9-6B2D-F728-092F4352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  <a:endParaRPr lang="en-PK" dirty="0"/>
          </a:p>
        </p:txBody>
      </p:sp>
      <p:pic>
        <p:nvPicPr>
          <p:cNvPr id="4" name="Picture 2" descr="C:\Users\Hasan\Desktop\Machine Learning in one Image.PNG">
            <a:extLst>
              <a:ext uri="{FF2B5EF4-FFF2-40B4-BE49-F238E27FC236}">
                <a16:creationId xmlns:a16="http://schemas.microsoft.com/office/drawing/2014/main" id="{AC7E436D-EEA8-7C1B-FB7A-79E206EB4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066800"/>
            <a:ext cx="4267200" cy="56727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024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3DFE-7DD1-33F1-041C-F423EA0E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026A9-ABBD-883B-C983-5F59CC715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417638"/>
            <a:ext cx="9067800" cy="53641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supervised learning, the training data you feed to the algorithm includes the desired solutions, </a:t>
            </a:r>
            <a:r>
              <a:rPr lang="en-US" dirty="0">
                <a:solidFill>
                  <a:srgbClr val="FF0000"/>
                </a:solidFill>
              </a:rPr>
              <a:t>called labels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class</a:t>
            </a:r>
            <a:r>
              <a:rPr lang="en-US" dirty="0"/>
              <a:t> is a </a:t>
            </a:r>
            <a:r>
              <a:rPr lang="en-US" dirty="0">
                <a:solidFill>
                  <a:srgbClr val="3333CC"/>
                </a:solidFill>
              </a:rPr>
              <a:t>category or label</a:t>
            </a:r>
            <a:r>
              <a:rPr lang="en-US" dirty="0"/>
              <a:t> that a supervised learning model is trained to predict, such as "cat" or "dog" in an image classification task.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feature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an individual, measurable property or characteristic of a phenomenon being observed. In a dataset, features are the columns that represent the attributes of the data. For example, in a dataset of houses, features might be the number of bedrooms, square footage, and year built.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target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the variable a machine learning model is trying to predict. It's also known as the label or dependent variable. For example, in a model predicting house prices, the target would be the price of the house. In </a:t>
            </a:r>
            <a:r>
              <a:rPr lang="en-US" dirty="0">
                <a:solidFill>
                  <a:srgbClr val="3333CC"/>
                </a:solidFill>
              </a:rPr>
              <a:t>classification tasks</a:t>
            </a:r>
            <a:r>
              <a:rPr lang="en-US" dirty="0"/>
              <a:t>, the target is the class label, and in </a:t>
            </a:r>
            <a:r>
              <a:rPr lang="en-US" dirty="0">
                <a:solidFill>
                  <a:srgbClr val="3333CC"/>
                </a:solidFill>
              </a:rPr>
              <a:t>regression tasks</a:t>
            </a:r>
            <a:r>
              <a:rPr lang="en-US" dirty="0"/>
              <a:t>, it's a continuous value.</a:t>
            </a:r>
          </a:p>
          <a:p>
            <a:endParaRPr lang="en-PK" dirty="0"/>
          </a:p>
          <a:p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767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E6BB24-6714-BD8D-17BC-756D8CBD7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075511"/>
              </p:ext>
            </p:extLst>
          </p:nvPr>
        </p:nvGraphicFramePr>
        <p:xfrm>
          <a:off x="342900" y="965866"/>
          <a:ext cx="8458200" cy="551257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667752716"/>
                    </a:ext>
                  </a:extLst>
                </a:gridCol>
                <a:gridCol w="4038084">
                  <a:extLst>
                    <a:ext uri="{9D8B030D-6E8A-4147-A177-3AD203B41FA5}">
                      <a16:colId xmlns:a16="http://schemas.microsoft.com/office/drawing/2014/main" val="2878427323"/>
                    </a:ext>
                  </a:extLst>
                </a:gridCol>
                <a:gridCol w="3467616">
                  <a:extLst>
                    <a:ext uri="{9D8B030D-6E8A-4147-A177-3AD203B41FA5}">
                      <a16:colId xmlns:a16="http://schemas.microsoft.com/office/drawing/2014/main" val="3306613500"/>
                    </a:ext>
                  </a:extLst>
                </a:gridCol>
              </a:tblGrid>
              <a:tr h="448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Term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Definition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extLst>
                  <a:ext uri="{0D108BD9-81ED-4DB2-BD59-A6C34878D82A}">
                    <a16:rowId xmlns:a16="http://schemas.microsoft.com/office/drawing/2014/main" val="866337357"/>
                  </a:ext>
                </a:extLst>
              </a:tr>
              <a:tr h="672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Class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A category or group that a sample belongs to in a classification problem.</a:t>
                      </a: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In a spam email classifier, classes could be "Spam" or "Not Spam."</a:t>
                      </a:r>
                    </a:p>
                  </a:txBody>
                  <a:tcPr marL="77100" marR="79011" marT="22028" marB="165215" anchor="ctr"/>
                </a:tc>
                <a:extLst>
                  <a:ext uri="{0D108BD9-81ED-4DB2-BD59-A6C34878D82A}">
                    <a16:rowId xmlns:a16="http://schemas.microsoft.com/office/drawing/2014/main" val="763849261"/>
                  </a:ext>
                </a:extLst>
              </a:tr>
              <a:tr h="895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An individual measurable property or characteristic of a sample.</a:t>
                      </a: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In an email dataset, features could include "word count" or "sender domain."</a:t>
                      </a:r>
                    </a:p>
                  </a:txBody>
                  <a:tcPr marL="77100" marR="79011" marT="22028" marB="165215" anchor="ctr"/>
                </a:tc>
                <a:extLst>
                  <a:ext uri="{0D108BD9-81ED-4DB2-BD59-A6C34878D82A}">
                    <a16:rowId xmlns:a16="http://schemas.microsoft.com/office/drawing/2014/main" val="595033479"/>
                  </a:ext>
                </a:extLst>
              </a:tr>
              <a:tr h="895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Label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The output or target variable assigned to a sample, often the class it belongs to in classification.</a:t>
                      </a: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For an email sample, the label might be "Spam" or "Not Spam."</a:t>
                      </a:r>
                    </a:p>
                  </a:txBody>
                  <a:tcPr marL="77100" marR="79011" marT="22028" marB="165215" anchor="ctr"/>
                </a:tc>
                <a:extLst>
                  <a:ext uri="{0D108BD9-81ED-4DB2-BD59-A6C34878D82A}">
                    <a16:rowId xmlns:a16="http://schemas.microsoft.com/office/drawing/2014/main" val="890968380"/>
                  </a:ext>
                </a:extLst>
              </a:tr>
              <a:tr h="895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Sample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A single instance or data point in a dataset, consisting of features and a label/target.</a:t>
                      </a: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A single email with its word count, sender domain, and spam/not spam label.</a:t>
                      </a:r>
                    </a:p>
                  </a:txBody>
                  <a:tcPr marL="77100" marR="79011" marT="22028" marB="165215" anchor="ctr"/>
                </a:tc>
                <a:extLst>
                  <a:ext uri="{0D108BD9-81ED-4DB2-BD59-A6C34878D82A}">
                    <a16:rowId xmlns:a16="http://schemas.microsoft.com/office/drawing/2014/main" val="3830598730"/>
                  </a:ext>
                </a:extLst>
              </a:tr>
              <a:tr h="1118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The variable to be predicted, which can be a class (in classification) or a continuous value (in regression).</a:t>
                      </a:r>
                    </a:p>
                  </a:txBody>
                  <a:tcPr marL="77100" marR="79011" marT="22028" marB="1652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</a:rPr>
                        <a:t>In a spam classifier, the target is "Spam" or "Not Spam"; in a house price predictor, the target is the price (e.g., $300,000).</a:t>
                      </a:r>
                    </a:p>
                  </a:txBody>
                  <a:tcPr marL="77100" marR="79011" marT="22028" marB="165215" anchor="ctr"/>
                </a:tc>
                <a:extLst>
                  <a:ext uri="{0D108BD9-81ED-4DB2-BD59-A6C34878D82A}">
                    <a16:rowId xmlns:a16="http://schemas.microsoft.com/office/drawing/2014/main" val="3758985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48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2244F0-BEDE-2B59-CC20-0B39717DB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263415"/>
              </p:ext>
            </p:extLst>
          </p:nvPr>
        </p:nvGraphicFramePr>
        <p:xfrm>
          <a:off x="482600" y="699732"/>
          <a:ext cx="8178801" cy="5458540"/>
        </p:xfrm>
        <a:graphic>
          <a:graphicData uri="http://schemas.openxmlformats.org/drawingml/2006/table">
            <a:tbl>
              <a:tblPr/>
              <a:tblGrid>
                <a:gridCol w="2840764">
                  <a:extLst>
                    <a:ext uri="{9D8B030D-6E8A-4147-A177-3AD203B41FA5}">
                      <a16:colId xmlns:a16="http://schemas.microsoft.com/office/drawing/2014/main" val="333957938"/>
                    </a:ext>
                  </a:extLst>
                </a:gridCol>
                <a:gridCol w="1520707">
                  <a:extLst>
                    <a:ext uri="{9D8B030D-6E8A-4147-A177-3AD203B41FA5}">
                      <a16:colId xmlns:a16="http://schemas.microsoft.com/office/drawing/2014/main" val="3777492246"/>
                    </a:ext>
                  </a:extLst>
                </a:gridCol>
                <a:gridCol w="998242">
                  <a:extLst>
                    <a:ext uri="{9D8B030D-6E8A-4147-A177-3AD203B41FA5}">
                      <a16:colId xmlns:a16="http://schemas.microsoft.com/office/drawing/2014/main" val="2271207724"/>
                    </a:ext>
                  </a:extLst>
                </a:gridCol>
                <a:gridCol w="1820846">
                  <a:extLst>
                    <a:ext uri="{9D8B030D-6E8A-4147-A177-3AD203B41FA5}">
                      <a16:colId xmlns:a16="http://schemas.microsoft.com/office/drawing/2014/main" val="2515118520"/>
                    </a:ext>
                  </a:extLst>
                </a:gridCol>
                <a:gridCol w="998242">
                  <a:extLst>
                    <a:ext uri="{9D8B030D-6E8A-4147-A177-3AD203B41FA5}">
                      <a16:colId xmlns:a16="http://schemas.microsoft.com/office/drawing/2014/main" val="2413571930"/>
                    </a:ext>
                  </a:extLst>
                </a:gridCol>
              </a:tblGrid>
              <a:tr h="3521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Sample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Class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Label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Target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582475"/>
                  </a:ext>
                </a:extLst>
              </a:tr>
              <a:tr h="8323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review with 50 words, sentiment score 0.8, labeled "Positive"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Positive, Negative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Positive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Word count, Sentiment score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Positive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038426"/>
                  </a:ext>
                </a:extLst>
              </a:tr>
              <a:tr h="8323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An email from "unknown.com", 200 words, labeled "Spam"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Spam, Not Spam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Spam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Sender domain, Email length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Spam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861209"/>
                  </a:ext>
                </a:extLst>
              </a:tr>
              <a:tr h="592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An animal with brown fur, floppy ears, labeled "Dog"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Cat, Dog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Dog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Fur color, Ear shape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Dog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010176"/>
                  </a:ext>
                </a:extLst>
              </a:tr>
              <a:tr h="8323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day with 25°C temperature, 60% humidity, labeled "Medium"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Low, Medium, High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Temperature, Humidity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Medium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80602"/>
                  </a:ext>
                </a:extLst>
              </a:tr>
              <a:tr h="8323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stock with price $100, volume 10,000 shares, labeled "Buy"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Buy, Sell, Hold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Buy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Stock price, Trading volume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Buy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751436"/>
                  </a:ext>
                </a:extLst>
              </a:tr>
              <a:tr h="592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house with 1500 sq ft, 3 rooms, target price $250,000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0-100 (numeric)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1600" b="0" i="0" u="none" strike="noStrike">
                          <a:effectLst/>
                          <a:latin typeface="Arial" panose="020B0604020202020204" pitchFamily="34" charset="0"/>
                        </a:rPr>
                        <a:t>250,000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Square footage, Number of rooms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1600" b="0" i="0" u="none" strike="noStrike">
                          <a:effectLst/>
                          <a:latin typeface="Arial" panose="020B0604020202020204" pitchFamily="34" charset="0"/>
                        </a:rPr>
                        <a:t>250,000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05720"/>
                  </a:ext>
                </a:extLst>
              </a:tr>
              <a:tr h="592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 vehicle with 4 wheels, 1500kg weight, labeled "Car"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Car, Motorcycle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Car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Number of wheels, Weight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Car</a:t>
                      </a:r>
                    </a:p>
                  </a:txBody>
                  <a:tcPr marL="80037" marR="80037" marT="40019" marB="400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623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721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BE9F4-4916-E964-08BE-A37C9E05E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8763000" cy="5867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typical supervised learning task is </a:t>
            </a:r>
            <a:r>
              <a:rPr lang="en-US" dirty="0">
                <a:solidFill>
                  <a:srgbClr val="FF0000"/>
                </a:solidFill>
              </a:rPr>
              <a:t>classification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Task is to predict a target numeric value, given a set of </a:t>
            </a:r>
            <a:r>
              <a:rPr lang="en-US" dirty="0">
                <a:solidFill>
                  <a:srgbClr val="FF0000"/>
                </a:solidFill>
              </a:rPr>
              <a:t>features</a:t>
            </a:r>
            <a:r>
              <a:rPr lang="en-US" dirty="0"/>
              <a:t> called </a:t>
            </a:r>
            <a:r>
              <a:rPr lang="en-US" dirty="0">
                <a:solidFill>
                  <a:srgbClr val="FF0000"/>
                </a:solidFill>
              </a:rPr>
              <a:t>predictors</a:t>
            </a:r>
            <a:r>
              <a:rPr lang="en-US" dirty="0"/>
              <a:t>. This sort of task is called </a:t>
            </a:r>
            <a:r>
              <a:rPr lang="en-US" dirty="0">
                <a:solidFill>
                  <a:srgbClr val="FF0000"/>
                </a:solidFill>
              </a:rPr>
              <a:t>regression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attribute</a:t>
            </a:r>
            <a:r>
              <a:rPr lang="en-US" dirty="0"/>
              <a:t> is a data type (e.g., “Class A” or “Class B”), while a </a:t>
            </a:r>
            <a:r>
              <a:rPr lang="en-US" dirty="0">
                <a:solidFill>
                  <a:srgbClr val="FF0000"/>
                </a:solidFill>
              </a:rPr>
              <a:t>feature</a:t>
            </a:r>
            <a:r>
              <a:rPr lang="en-US" dirty="0"/>
              <a:t> has several meanings depending on the context, but generally means an </a:t>
            </a:r>
            <a:r>
              <a:rPr lang="en-US" dirty="0">
                <a:solidFill>
                  <a:srgbClr val="3333CC"/>
                </a:solidFill>
              </a:rPr>
              <a:t>attribute plus its value </a:t>
            </a:r>
            <a:r>
              <a:rPr lang="en-US" dirty="0"/>
              <a:t>(e.g., “Class A = 15,000”). Many people use the words attribute and feature inter changeably</a:t>
            </a:r>
          </a:p>
        </p:txBody>
      </p:sp>
    </p:spTree>
    <p:extLst>
      <p:ext uri="{BB962C8B-B14F-4D97-AF65-F5344CB8AC3E}">
        <p14:creationId xmlns:p14="http://schemas.microsoft.com/office/powerpoint/2010/main" val="957934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B9DC-2355-AD40-A759-F02E1EE1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9B03-38F4-F519-C05B-D284E844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12A9-99F1-7545-554A-D9C717B45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Most common type of ML</a:t>
            </a:r>
          </a:p>
          <a:p>
            <a:r>
              <a:rPr lang="en-US" dirty="0"/>
              <a:t>Motivational housing price prediction: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Classification or regression.</a:t>
            </a:r>
          </a:p>
          <a:p>
            <a:r>
              <a:rPr lang="en-US" dirty="0"/>
              <a:t>Why it is supervised?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6F40E2-DC28-D4DE-8F60-14057932B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667000"/>
            <a:ext cx="636270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1516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5A38-A219-0BC7-A87F-E6C25D1B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1328-F597-4400-A943-FE822A92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5F855-5483-2236-DBC0-BB9368CA0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3DC0FF-9D9F-B548-FA7D-062A451E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8738" y="2438400"/>
            <a:ext cx="6486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8483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D4F97-DD4C-469F-3CE3-5E01DBBC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D5C6-B4A6-92BF-D260-265B67DF3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D655-EA28-65EE-BA4C-4A276C2D6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more features help?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D109E0-029A-4927-3235-04D6185E8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743200"/>
            <a:ext cx="4333875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21221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D58A-C1EC-A3F8-F219-723652CB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vs Regression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6A5F7-2097-0DF3-313C-65A77FB7C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71" y="1417638"/>
            <a:ext cx="6661231" cy="2186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E8ECD8-94D8-B8DB-34B1-F9DD58569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078209"/>
            <a:ext cx="5384975" cy="27025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A4AA7E-34D6-A767-5498-7188AE9805C3}"/>
              </a:ext>
            </a:extLst>
          </p:cNvPr>
          <p:cNvSpPr txBox="1"/>
          <p:nvPr/>
        </p:nvSpPr>
        <p:spPr>
          <a:xfrm>
            <a:off x="7035473" y="2511085"/>
            <a:ext cx="1447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Classification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26E1E-5285-7F77-5AE6-430D0FBA73D4}"/>
              </a:ext>
            </a:extLst>
          </p:cNvPr>
          <p:cNvSpPr txBox="1"/>
          <p:nvPr/>
        </p:nvSpPr>
        <p:spPr>
          <a:xfrm>
            <a:off x="6981045" y="5049258"/>
            <a:ext cx="1447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9456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239D-7061-9FB0-3ADF-1D5FBABF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8D11-32F5-D56E-CB58-4B2F2687C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</a:t>
            </a:r>
            <a:r>
              <a:rPr lang="en-US" dirty="0" err="1"/>
              <a:t>vs</a:t>
            </a:r>
            <a:r>
              <a:rPr lang="en-US" dirty="0"/>
              <a:t> Regression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0024FE6-6C1A-6134-C66F-8F4E20AA4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5" y="1885950"/>
            <a:ext cx="8667750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3613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3B51-DBF4-07C9-89B5-CF66E5F7B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Algorithms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209D9-C139-D7B7-7C16-0983A69E4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  <a:p>
            <a:r>
              <a:rPr lang="en-US" dirty="0"/>
              <a:t>Linear Regression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Support Vector Machines (SVMs)</a:t>
            </a:r>
          </a:p>
          <a:p>
            <a:r>
              <a:rPr lang="en-US" dirty="0"/>
              <a:t>Decision Trees and Random Forests</a:t>
            </a:r>
          </a:p>
          <a:p>
            <a:r>
              <a:rPr lang="en-US" dirty="0"/>
              <a:t>Neural networks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14452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A1D5-4DDC-3E8C-269F-85AFB50F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7A5F2-6028-F655-5189-CA051A46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unsupervised learning, the training data is unlabeled. The system tries to learn without a teacher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E84FE-E694-8812-3C57-95C2DE2D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3429000"/>
            <a:ext cx="5867400" cy="299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84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D010A-D32E-1CB6-0A29-CC8CAECA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DD08-CDF6-AAF7-F3FB-A528ECB9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E971-FA86-7519-038B-795432AB1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  <a:p>
            <a:r>
              <a:rPr lang="en-US" dirty="0"/>
              <a:t>Finds inherent data structure</a:t>
            </a:r>
          </a:p>
          <a:p>
            <a:endParaRPr lang="en-US" dirty="0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208DA27E-52B6-060B-3C2A-2D58D47BC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1975" y="2752725"/>
            <a:ext cx="80486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0948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CCE31-A4BF-F3DF-40E0-95CF0B7E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Algorithms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756D-6F0D-BDB5-6629-E6442AE34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6934200" cy="51054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dirty="0"/>
              <a:t>Clustering </a:t>
            </a:r>
          </a:p>
          <a:p>
            <a:pPr marL="0" indent="0">
              <a:buNone/>
            </a:pPr>
            <a:r>
              <a:rPr lang="en-US" dirty="0"/>
              <a:t>	—K-Means </a:t>
            </a:r>
          </a:p>
          <a:p>
            <a:pPr marL="0" indent="0">
              <a:buNone/>
            </a:pPr>
            <a:r>
              <a:rPr lang="en-US" dirty="0"/>
              <a:t>	—DBSCAN </a:t>
            </a:r>
          </a:p>
          <a:p>
            <a:pPr marL="0" indent="0">
              <a:buNone/>
            </a:pPr>
            <a:r>
              <a:rPr lang="en-US" dirty="0"/>
              <a:t>	—Hierarchical Cluster Analysis (HCA)</a:t>
            </a:r>
          </a:p>
          <a:p>
            <a:pPr marL="0" indent="0">
              <a:buNone/>
            </a:pPr>
            <a:r>
              <a:rPr lang="en-US" sz="4500" dirty="0"/>
              <a:t>Anomaly detection and novelty detection </a:t>
            </a:r>
          </a:p>
          <a:p>
            <a:pPr marL="0" indent="0">
              <a:buNone/>
            </a:pPr>
            <a:r>
              <a:rPr lang="en-US" dirty="0"/>
              <a:t>	—One-class SVM </a:t>
            </a:r>
          </a:p>
          <a:p>
            <a:pPr marL="0" indent="0">
              <a:buNone/>
            </a:pPr>
            <a:r>
              <a:rPr lang="en-US" dirty="0"/>
              <a:t>	—Isolation Forest</a:t>
            </a:r>
          </a:p>
          <a:p>
            <a:pPr marL="0" indent="0">
              <a:buNone/>
            </a:pPr>
            <a:r>
              <a:rPr lang="en-US" dirty="0"/>
              <a:t>	—</a:t>
            </a:r>
            <a:r>
              <a:rPr lang="en-US" dirty="0" err="1"/>
              <a:t>Neurla</a:t>
            </a:r>
            <a:r>
              <a:rPr lang="en-US" dirty="0"/>
              <a:t> Networks (e.g. Auto encoders)</a:t>
            </a:r>
          </a:p>
          <a:p>
            <a:pPr marL="0" indent="0">
              <a:buNone/>
            </a:pPr>
            <a:r>
              <a:rPr lang="en-US" sz="4400" dirty="0"/>
              <a:t>Visualization and dimensionality reduction </a:t>
            </a:r>
          </a:p>
          <a:p>
            <a:pPr marL="0" indent="0">
              <a:buNone/>
            </a:pPr>
            <a:r>
              <a:rPr lang="en-US" dirty="0"/>
              <a:t>	—Principal Component Analysis (PCA) </a:t>
            </a:r>
          </a:p>
          <a:p>
            <a:pPr marL="0" indent="0">
              <a:buNone/>
            </a:pPr>
            <a:r>
              <a:rPr lang="en-US" dirty="0"/>
              <a:t>	—Kernel PCA </a:t>
            </a:r>
          </a:p>
          <a:p>
            <a:pPr marL="0" indent="0">
              <a:buNone/>
            </a:pPr>
            <a:r>
              <a:rPr lang="en-US" dirty="0"/>
              <a:t>	—Locally-Linear Embedding (LLE) </a:t>
            </a:r>
          </a:p>
          <a:p>
            <a:pPr marL="0" indent="0">
              <a:buNone/>
            </a:pPr>
            <a:r>
              <a:rPr lang="en-US" dirty="0"/>
              <a:t>	—t-distributed Stochastic Neighbor Embedding (t-SNE) </a:t>
            </a:r>
          </a:p>
          <a:p>
            <a:pPr marL="0" indent="0">
              <a:buNone/>
            </a:pPr>
            <a:r>
              <a:rPr lang="en-US" sz="4400" dirty="0"/>
              <a:t>Association rule learning </a:t>
            </a:r>
          </a:p>
          <a:p>
            <a:pPr marL="0" indent="0">
              <a:buNone/>
            </a:pPr>
            <a:r>
              <a:rPr lang="en-US" dirty="0"/>
              <a:t>	—</a:t>
            </a:r>
            <a:r>
              <a:rPr lang="en-US" dirty="0" err="1"/>
              <a:t>Apriori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—Eclat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06062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B6314-C036-389A-A9DD-F2A8A065E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0"/>
            <a:ext cx="4419600" cy="2164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BFFC1-5910-D729-3815-0531FC762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28003"/>
            <a:ext cx="4598602" cy="2936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A20645-65D6-9AF4-B97E-F655160D98DD}"/>
              </a:ext>
            </a:extLst>
          </p:cNvPr>
          <p:cNvSpPr txBox="1"/>
          <p:nvPr/>
        </p:nvSpPr>
        <p:spPr>
          <a:xfrm>
            <a:off x="1371600" y="3364136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Clustering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63969-61BD-4277-1D53-BD98455CA2F7}"/>
              </a:ext>
            </a:extLst>
          </p:cNvPr>
          <p:cNvSpPr txBox="1"/>
          <p:nvPr/>
        </p:nvSpPr>
        <p:spPr>
          <a:xfrm>
            <a:off x="4800600" y="3429000"/>
            <a:ext cx="426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Visualization and dimensionality reduction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67002F-8BDB-E5A0-FF9C-8E5BC5B36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974769"/>
            <a:ext cx="4925179" cy="23801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868976-D6F0-B8DE-AD74-22F074B27C41}"/>
              </a:ext>
            </a:extLst>
          </p:cNvPr>
          <p:cNvSpPr txBox="1"/>
          <p:nvPr/>
        </p:nvSpPr>
        <p:spPr>
          <a:xfrm>
            <a:off x="1600200" y="6226936"/>
            <a:ext cx="4593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Anomaly detection and novelty detection </a:t>
            </a:r>
          </a:p>
        </p:txBody>
      </p:sp>
    </p:spTree>
    <p:extLst>
      <p:ext uri="{BB962C8B-B14F-4D97-AF65-F5344CB8AC3E}">
        <p14:creationId xmlns:p14="http://schemas.microsoft.com/office/powerpoint/2010/main" val="1632489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79BB-0439-5FBA-C73B-55BEDF85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70C7-442A-7806-0D67-0112F0A4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127D-F9AC-A217-A486-770F1BB7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Google news example</a:t>
            </a:r>
          </a:p>
          <a:p>
            <a:r>
              <a:rPr lang="en-US" dirty="0"/>
              <a:t>Genomics example: If an individual has a certain type of gene or not.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Market Segmentation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4A43EED-8505-9BCF-8844-B7E595DCC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2962275"/>
            <a:ext cx="847725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245645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E811-F89E-93AE-3425-0C8390E8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Semisupervised</a:t>
            </a:r>
            <a:r>
              <a:rPr lang="en-US" dirty="0"/>
              <a:t>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C0DBE-828E-6ABC-003E-6C49CD7D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Partially labeled training data, usually a lot of </a:t>
            </a:r>
            <a:r>
              <a:rPr lang="en-US" dirty="0">
                <a:solidFill>
                  <a:srgbClr val="FF0000"/>
                </a:solidFill>
              </a:rPr>
              <a:t>unlabeled data and a little bit of labeled data</a:t>
            </a:r>
            <a:r>
              <a:rPr lang="en-US" dirty="0"/>
              <a:t>. This is called </a:t>
            </a:r>
            <a:r>
              <a:rPr lang="en-US" dirty="0" err="1"/>
              <a:t>semisupervised</a:t>
            </a:r>
            <a:r>
              <a:rPr lang="en-US" dirty="0"/>
              <a:t> learning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A9357-0583-8CD5-1794-CF77707E7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76600"/>
            <a:ext cx="6705600" cy="336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7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05C-27D4-2499-570B-69834AE7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0E5A-4E9A-6AA7-B175-29FF0D299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learning system, called an </a:t>
            </a:r>
            <a:r>
              <a:rPr lang="en-US" dirty="0">
                <a:solidFill>
                  <a:srgbClr val="FF0000"/>
                </a:solidFill>
              </a:rPr>
              <a:t>agent</a:t>
            </a:r>
            <a:r>
              <a:rPr lang="en-US" dirty="0"/>
              <a:t> in this context, can observe the </a:t>
            </a:r>
            <a:r>
              <a:rPr lang="en-US" dirty="0">
                <a:solidFill>
                  <a:srgbClr val="FF0000"/>
                </a:solidFill>
              </a:rPr>
              <a:t>environment</a:t>
            </a:r>
            <a:r>
              <a:rPr lang="en-US" dirty="0"/>
              <a:t>, select and perform </a:t>
            </a:r>
            <a:r>
              <a:rPr lang="en-US" dirty="0">
                <a:solidFill>
                  <a:srgbClr val="FF0000"/>
                </a:solidFill>
              </a:rPr>
              <a:t>actions</a:t>
            </a:r>
            <a:r>
              <a:rPr lang="en-US" dirty="0"/>
              <a:t>, and get </a:t>
            </a:r>
            <a:r>
              <a:rPr lang="en-US" dirty="0">
                <a:solidFill>
                  <a:srgbClr val="3333CC"/>
                </a:solidFill>
              </a:rPr>
              <a:t>rewards in return (or penalties in the form of negative rewards)</a:t>
            </a:r>
          </a:p>
          <a:p>
            <a:r>
              <a:rPr lang="en-US" dirty="0"/>
              <a:t>It must then learn by itself what is the best strategy, called a </a:t>
            </a:r>
            <a:r>
              <a:rPr lang="en-US" dirty="0">
                <a:solidFill>
                  <a:srgbClr val="FF0000"/>
                </a:solidFill>
              </a:rPr>
              <a:t>policy</a:t>
            </a:r>
            <a:r>
              <a:rPr lang="en-US" dirty="0"/>
              <a:t>, to get the most reward over time. A policy defines what action the agent should choose when it is in a given situation</a:t>
            </a:r>
            <a:endParaRPr lang="en-US" dirty="0">
              <a:solidFill>
                <a:srgbClr val="3333CC"/>
              </a:solidFill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68564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4872-D7F4-EFB5-F24D-6D88AE82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2050" name="Picture 2" descr="A brief schema of Reinforcement Learning [26]. ">
            <a:extLst>
              <a:ext uri="{FF2B5EF4-FFF2-40B4-BE49-F238E27FC236}">
                <a16:creationId xmlns:a16="http://schemas.microsoft.com/office/drawing/2014/main" id="{6A1D475E-79A7-164C-4DBE-F27B32C91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23" y="152400"/>
            <a:ext cx="6848154" cy="312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4EF698-F623-2D34-C979-338E9696BC7E}"/>
              </a:ext>
            </a:extLst>
          </p:cNvPr>
          <p:cNvSpPr txBox="1"/>
          <p:nvPr/>
        </p:nvSpPr>
        <p:spPr>
          <a:xfrm>
            <a:off x="1066800" y="3277968"/>
            <a:ext cx="624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100" dirty="0"/>
              <a:t>https://www.researchgate.net/figure/A-brief-schema-of-Reinforcement-Learning-26_fig3_318931340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911F7B-88BF-CADB-BD57-00E94ED0A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656391"/>
            <a:ext cx="4499108" cy="306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5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DD51-BB99-8F50-5C16-DF729422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and Online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A6BDF-101A-E566-AA79-29990E6DE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Another criterion used to classify Machine Learning systems is whether or not the system can learn </a:t>
            </a:r>
            <a:r>
              <a:rPr lang="en-US" dirty="0">
                <a:solidFill>
                  <a:srgbClr val="FF0000"/>
                </a:solidFill>
              </a:rPr>
              <a:t>incrementally from a stream of incoming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4568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AF3D-708A-11EA-4699-2E4A1FA6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16CF-97CD-F452-1C07-772B9531C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batch learning, the system is incapable of learning incrementally: it must be </a:t>
            </a:r>
            <a:r>
              <a:rPr lang="en-US" dirty="0">
                <a:solidFill>
                  <a:srgbClr val="FF0000"/>
                </a:solidFill>
              </a:rPr>
              <a:t>trained using all the available data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This will generally take a lot of time and computing resources, so </a:t>
            </a:r>
            <a:r>
              <a:rPr lang="en-US" dirty="0">
                <a:solidFill>
                  <a:srgbClr val="FF0000"/>
                </a:solidFill>
              </a:rPr>
              <a:t>it is typically done offline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First the system is trained, and then it is launched into production and runs without learning anymore; it just applies what it has learned. </a:t>
            </a:r>
            <a:r>
              <a:rPr lang="en-US" dirty="0">
                <a:solidFill>
                  <a:srgbClr val="FF0000"/>
                </a:solidFill>
              </a:rPr>
              <a:t>This is called offline learning</a:t>
            </a:r>
            <a:endParaRPr lang="en-PK" dirty="0">
              <a:solidFill>
                <a:srgbClr val="FF0000"/>
              </a:solidFill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1260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F148-B193-6FC6-1BBB-A500C379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7977-CE63-2C79-93C4-DC75BC60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7630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In online learning, you train the system incrementally by feeding it data </a:t>
            </a:r>
            <a:r>
              <a:rPr lang="en-US" sz="2000" dirty="0">
                <a:solidFill>
                  <a:srgbClr val="FF0000"/>
                </a:solidFill>
              </a:rPr>
              <a:t>instances sequentially</a:t>
            </a:r>
            <a:r>
              <a:rPr lang="en-US" sz="2000" dirty="0"/>
              <a:t>, either individually or by small groups called </a:t>
            </a:r>
            <a:r>
              <a:rPr lang="en-US" sz="2000" dirty="0">
                <a:solidFill>
                  <a:srgbClr val="FF0000"/>
                </a:solidFill>
              </a:rPr>
              <a:t>mini-batches</a:t>
            </a:r>
            <a:r>
              <a:rPr lang="en-US" sz="2000" dirty="0"/>
              <a:t>. </a:t>
            </a:r>
          </a:p>
          <a:p>
            <a:r>
              <a:rPr lang="en-US" sz="2000" dirty="0"/>
              <a:t>Each learning step is fast and cheap, so the system can learn about new data on the fly</a:t>
            </a:r>
            <a:endParaRPr lang="en-PK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CE33D5-0B36-9C1A-E0AC-B01EDDCD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048000"/>
            <a:ext cx="6724996" cy="3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90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8059CC-4427-1155-C6C9-04DFB3D51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37953"/>
              </p:ext>
            </p:extLst>
          </p:nvPr>
        </p:nvGraphicFramePr>
        <p:xfrm>
          <a:off x="720406" y="643467"/>
          <a:ext cx="7703189" cy="5571070"/>
        </p:xfrm>
        <a:graphic>
          <a:graphicData uri="http://schemas.openxmlformats.org/drawingml/2006/table">
            <a:tbl>
              <a:tblPr/>
              <a:tblGrid>
                <a:gridCol w="2495174">
                  <a:extLst>
                    <a:ext uri="{9D8B030D-6E8A-4147-A177-3AD203B41FA5}">
                      <a16:colId xmlns:a16="http://schemas.microsoft.com/office/drawing/2014/main" val="3826885155"/>
                    </a:ext>
                  </a:extLst>
                </a:gridCol>
                <a:gridCol w="2588450">
                  <a:extLst>
                    <a:ext uri="{9D8B030D-6E8A-4147-A177-3AD203B41FA5}">
                      <a16:colId xmlns:a16="http://schemas.microsoft.com/office/drawing/2014/main" val="3527111488"/>
                    </a:ext>
                  </a:extLst>
                </a:gridCol>
                <a:gridCol w="2619565">
                  <a:extLst>
                    <a:ext uri="{9D8B030D-6E8A-4147-A177-3AD203B41FA5}">
                      <a16:colId xmlns:a16="http://schemas.microsoft.com/office/drawing/2014/main" val="2104625412"/>
                    </a:ext>
                  </a:extLst>
                </a:gridCol>
              </a:tblGrid>
              <a:tr h="367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Example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Batch Learning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Online Learning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06317"/>
                  </a:ext>
                </a:extLst>
              </a:tr>
              <a:tr h="1088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Email Spam Filter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Train a model on a large dataset of labeled emails (spam/not spam) all at once.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Continuously update the model as new emails arrive, adapting to new spam patterns.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148668"/>
                  </a:ext>
                </a:extLst>
              </a:tr>
              <a:tr h="1088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Image Classification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Train a neural network on a fixed dataset of labeled images (e.g., ImageNet).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Update the model incrementally as new images are labeled and added over time.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105888"/>
                  </a:ext>
                </a:extLst>
              </a:tr>
              <a:tr h="848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Stock Price Prediction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 historical stock data from the past year to train a predictive model.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Update the model daily with new stock prices to refine predictions.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842789"/>
                  </a:ext>
                </a:extLst>
              </a:tr>
              <a:tr h="1088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Recommendation System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Build a model using a complete dataset of user interactions (e.g., movie ratings).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Adapt recommendations in real-time as users interact with the system.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667735"/>
                  </a:ext>
                </a:extLst>
              </a:tr>
              <a:tr h="1088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Credit Risk Assessment</a:t>
                      </a:r>
                      <a:endParaRPr lang="en-US" sz="1600"/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Train a model on a dataset of past loan applications and their outcomes.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Update the model as new loan applications and repayment data are received.</a:t>
                      </a:r>
                    </a:p>
                  </a:txBody>
                  <a:tcPr marL="83172" marR="83172" marT="41587" marB="41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0179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B4D5E8-AB13-2B6C-CCC2-14023C4A7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84" y="575087"/>
            <a:ext cx="11967060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vs Online Learning Examples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031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1AB2-8776-E28D-72E5-85036A8F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Instance-Based Versus Model-Based Learning</a:t>
            </a:r>
            <a:endParaRPr lang="en-PK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DD8E6-34B1-B3A1-B6D3-CE8DEB188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more way to categorize Machine Learning systems is by how they </a:t>
            </a:r>
            <a:r>
              <a:rPr lang="en-US" dirty="0">
                <a:solidFill>
                  <a:srgbClr val="FF0000"/>
                </a:solidFill>
              </a:rPr>
              <a:t>generalize</a:t>
            </a:r>
            <a:r>
              <a:rPr lang="en-US" dirty="0"/>
              <a:t>.</a:t>
            </a:r>
          </a:p>
          <a:p>
            <a:r>
              <a:rPr lang="en-US" dirty="0"/>
              <a:t>Given a number of training examples, the system needs to be able to </a:t>
            </a:r>
            <a:r>
              <a:rPr lang="en-US" dirty="0">
                <a:solidFill>
                  <a:srgbClr val="FF0000"/>
                </a:solidFill>
              </a:rPr>
              <a:t>generalize to examples it has never seen before</a:t>
            </a:r>
          </a:p>
          <a:p>
            <a:r>
              <a:rPr lang="en-US" dirty="0"/>
              <a:t>Having a good performance measure on the training data is good, but insufficient; the true goal is to </a:t>
            </a:r>
            <a:r>
              <a:rPr lang="en-US" dirty="0">
                <a:solidFill>
                  <a:srgbClr val="FF0000"/>
                </a:solidFill>
              </a:rPr>
              <a:t>perform well on new instances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2171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483B-5635-512C-B0E6-556B6B85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Instance-based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6EB6A-6962-86F7-9D56-FF6B21E8D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learns the examples by heart, then generalizes to new cases by </a:t>
            </a:r>
            <a:r>
              <a:rPr lang="en-US" dirty="0">
                <a:solidFill>
                  <a:srgbClr val="FF0000"/>
                </a:solidFill>
              </a:rPr>
              <a:t>comparing them to the learned examples</a:t>
            </a:r>
            <a:r>
              <a:rPr lang="en-US" dirty="0"/>
              <a:t> (or a subset of them), using a similarity measure.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A4E5B-3527-74A1-BD02-48E75B489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863181"/>
            <a:ext cx="5797848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55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7A9F-DC2A-B94B-9DB6-467D47B5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60337"/>
            <a:ext cx="8229600" cy="1143000"/>
          </a:xfrm>
        </p:spPr>
        <p:txBody>
          <a:bodyPr/>
          <a:lstStyle/>
          <a:p>
            <a:r>
              <a:rPr lang="en-US" dirty="0"/>
              <a:t>Model-based learning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12F6-4821-1DBE-AAEE-B11A090E4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3337"/>
            <a:ext cx="8229600" cy="4525963"/>
          </a:xfrm>
        </p:spPr>
        <p:txBody>
          <a:bodyPr/>
          <a:lstStyle/>
          <a:p>
            <a:pPr algn="just"/>
            <a:r>
              <a:rPr lang="en-US" dirty="0"/>
              <a:t>Another way to generalize from a set of examples is to </a:t>
            </a:r>
            <a:r>
              <a:rPr lang="en-US" dirty="0">
                <a:solidFill>
                  <a:srgbClr val="FF0000"/>
                </a:solidFill>
              </a:rPr>
              <a:t>build a model of these examples, then use that model to make predictions. 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3F2C3-C17B-1670-8F3D-C349501FE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85" y="3385308"/>
            <a:ext cx="6829627" cy="347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49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51C6BE-FF71-1C9F-471C-4AA0909AFD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0786672"/>
              </p:ext>
            </p:extLst>
          </p:nvPr>
        </p:nvGraphicFramePr>
        <p:xfrm>
          <a:off x="895982" y="643467"/>
          <a:ext cx="7352035" cy="5571069"/>
        </p:xfrm>
        <a:graphic>
          <a:graphicData uri="http://schemas.openxmlformats.org/drawingml/2006/table">
            <a:tbl>
              <a:tblPr/>
              <a:tblGrid>
                <a:gridCol w="2392001">
                  <a:extLst>
                    <a:ext uri="{9D8B030D-6E8A-4147-A177-3AD203B41FA5}">
                      <a16:colId xmlns:a16="http://schemas.microsoft.com/office/drawing/2014/main" val="3740276603"/>
                    </a:ext>
                  </a:extLst>
                </a:gridCol>
                <a:gridCol w="2509993">
                  <a:extLst>
                    <a:ext uri="{9D8B030D-6E8A-4147-A177-3AD203B41FA5}">
                      <a16:colId xmlns:a16="http://schemas.microsoft.com/office/drawing/2014/main" val="2895374064"/>
                    </a:ext>
                  </a:extLst>
                </a:gridCol>
                <a:gridCol w="2450041">
                  <a:extLst>
                    <a:ext uri="{9D8B030D-6E8A-4147-A177-3AD203B41FA5}">
                      <a16:colId xmlns:a16="http://schemas.microsoft.com/office/drawing/2014/main" val="1471413078"/>
                    </a:ext>
                  </a:extLst>
                </a:gridCol>
              </a:tblGrid>
              <a:tr h="352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Example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Instance-Based Learning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Model-Based Learning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657308"/>
                  </a:ext>
                </a:extLst>
              </a:tr>
              <a:tr h="1274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Email Spam Filter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Classify emails as spam/not spam by comparing them to stored examples of labeled emails using k-NN.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Train a logistic regression model on labeled emails to predict spam probability.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95713"/>
                  </a:ext>
                </a:extLst>
              </a:tr>
              <a:tr h="104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Image Classification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Identify image categories by finding the most similar labeled images in a dataset (e.g., using k-NN).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Train a convolutional neural network to learn features and classify images.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671495"/>
                  </a:ext>
                </a:extLst>
              </a:tr>
              <a:tr h="104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Stock Price Prediction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Predict stock prices by finding similar historical patterns using nearest neighbors.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Train a regression model (e.g., linear regression) on historical data to predict prices.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920646"/>
                  </a:ext>
                </a:extLst>
              </a:tr>
              <a:tr h="104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Recommendation System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Recommend items by finding users with similar preferences based on stored user data.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Train a matrix factorization model to predict user preferences for items.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78851"/>
                  </a:ext>
                </a:extLst>
              </a:tr>
              <a:tr h="813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Credit Risk Assessment</a:t>
                      </a:r>
                      <a:endParaRPr lang="en-US" sz="1500"/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Assess risk by comparing new loan applications to similar past applications.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Train a decision tree model on past loan data to predict default probability.</a:t>
                      </a:r>
                    </a:p>
                  </a:txBody>
                  <a:tcPr marL="79733" marR="79733" marT="39867" marB="398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72576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7ACC5DE-BBF0-F363-79B0-75E5507F1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384" y="198653"/>
            <a:ext cx="346761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 vs Model Based Learning Examples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664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7E6E-FF7D-0A96-A3BB-0FFFBD44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B05B-73F0-6C2E-AC3A-C9F26834A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" y="1295400"/>
            <a:ext cx="8865404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Suppose you want to know if </a:t>
            </a:r>
            <a:r>
              <a:rPr lang="en-US" sz="2400" dirty="0">
                <a:solidFill>
                  <a:srgbClr val="FF0000"/>
                </a:solidFill>
              </a:rPr>
              <a:t>money makes people happy</a:t>
            </a:r>
            <a:r>
              <a:rPr lang="en-US" sz="2400" dirty="0"/>
              <a:t>, so you download the </a:t>
            </a:r>
            <a:r>
              <a:rPr lang="en-US" sz="2400" dirty="0">
                <a:solidFill>
                  <a:srgbClr val="FF0000"/>
                </a:solidFill>
              </a:rPr>
              <a:t>Better Life Index data </a:t>
            </a:r>
            <a:r>
              <a:rPr lang="en-US" sz="2400" dirty="0"/>
              <a:t>from the </a:t>
            </a:r>
            <a:r>
              <a:rPr lang="en-US" sz="2400" dirty="0">
                <a:solidFill>
                  <a:srgbClr val="FF0000"/>
                </a:solidFill>
              </a:rPr>
              <a:t>OECD’s website</a:t>
            </a:r>
            <a:r>
              <a:rPr lang="en-US" sz="2400" dirty="0"/>
              <a:t> as well as stats about </a:t>
            </a:r>
            <a:r>
              <a:rPr lang="en-US" sz="2400" dirty="0">
                <a:solidFill>
                  <a:srgbClr val="FF0000"/>
                </a:solidFill>
              </a:rPr>
              <a:t>GDP per capita from the IMF’s website</a:t>
            </a:r>
            <a:r>
              <a:rPr lang="en-US" sz="2400" dirty="0"/>
              <a:t>. Then you join the tables and sort by GDP per capita. </a:t>
            </a: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B9621-A64D-BB13-9116-6738CEAA1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64" y="3343924"/>
            <a:ext cx="5029200" cy="2477438"/>
          </a:xfrm>
          <a:prstGeom prst="rect">
            <a:avLst/>
          </a:prstGeom>
        </p:spPr>
      </p:pic>
      <p:pic>
        <p:nvPicPr>
          <p:cNvPr id="1026" name="Picture 2" descr="Regression Equation: What it is and How ...">
            <a:extLst>
              <a:ext uri="{FF2B5EF4-FFF2-40B4-BE49-F238E27FC236}">
                <a16:creationId xmlns:a16="http://schemas.microsoft.com/office/drawing/2014/main" id="{6F5CCA9A-E597-9651-2BEA-11D1711AA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746" y="2914604"/>
            <a:ext cx="2937121" cy="236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Linear Regression Formula">
            <a:extLst>
              <a:ext uri="{FF2B5EF4-FFF2-40B4-BE49-F238E27FC236}">
                <a16:creationId xmlns:a16="http://schemas.microsoft.com/office/drawing/2014/main" id="{09EBF33D-B92A-F8E3-8FFB-94F88B789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438" y="5276049"/>
            <a:ext cx="3102429" cy="142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5907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2702-D092-61B7-3973-63959F749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07295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Although the data is noisy (i.e., partly random), </a:t>
            </a:r>
            <a:r>
              <a:rPr lang="en-US" sz="2400" dirty="0">
                <a:solidFill>
                  <a:srgbClr val="FF0000"/>
                </a:solidFill>
              </a:rPr>
              <a:t>it looks like life satisfaction goes up more or less linearly as the country’s GDP per cap </a:t>
            </a:r>
            <a:r>
              <a:rPr lang="en-US" sz="2400" dirty="0" err="1">
                <a:solidFill>
                  <a:srgbClr val="FF0000"/>
                </a:solidFill>
              </a:rPr>
              <a:t>ita</a:t>
            </a:r>
            <a:r>
              <a:rPr lang="en-US" sz="2400" dirty="0">
                <a:solidFill>
                  <a:srgbClr val="FF0000"/>
                </a:solidFill>
              </a:rPr>
              <a:t> increases</a:t>
            </a:r>
            <a:r>
              <a:rPr lang="en-US" sz="2400" dirty="0"/>
              <a:t>. So you decide to </a:t>
            </a:r>
            <a:r>
              <a:rPr lang="en-US" sz="2400" dirty="0">
                <a:solidFill>
                  <a:srgbClr val="3333CC"/>
                </a:solidFill>
              </a:rPr>
              <a:t>model life satisfaction as a linear function of GDP per capita</a:t>
            </a:r>
            <a:r>
              <a:rPr lang="en-US" sz="2400" dirty="0"/>
              <a:t>.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This step is called model selection: </a:t>
            </a:r>
            <a:r>
              <a:rPr lang="en-US" sz="2400" dirty="0"/>
              <a:t>you selected a linear model of life satisfaction with just one attribute, GDP per capita</a:t>
            </a: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B8D9D-5B53-5F49-769F-4B089212D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2855251"/>
            <a:ext cx="6705600" cy="368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602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7B39-45A2-B44E-F863-3209E784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linear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EC73E-7C97-9A79-E6A4-970C58151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life_satisfaction</a:t>
            </a:r>
            <a:r>
              <a:rPr lang="en-US" dirty="0"/>
              <a:t> = θ0 + θ1 × </a:t>
            </a:r>
            <a:r>
              <a:rPr lang="en-US" dirty="0" err="1"/>
              <a:t>GDP_per_capita</a:t>
            </a:r>
            <a:endParaRPr lang="en-US" dirty="0"/>
          </a:p>
          <a:p>
            <a:r>
              <a:rPr lang="en-US" dirty="0"/>
              <a:t>This model has two model parameters, θ0 and θ1, By tweaking these parameters, you can make your model represent any linear function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8D7E7-DED1-23CC-6BBF-1AF44E13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730546"/>
            <a:ext cx="5550185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369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32711-31CF-4313-31FD-4DA21776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4186-825E-7792-96A9-2D7A51F1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4ACB-0247-40B4-578C-B59816BD1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Formally, we can find </a:t>
            </a:r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and</a:t>
            </a:r>
            <a:r>
              <a:rPr lang="el-GR" dirty="0"/>
              <a:t> θ</a:t>
            </a:r>
            <a:r>
              <a:rPr lang="en-US" baseline="-25000" dirty="0"/>
              <a:t>1 </a:t>
            </a:r>
            <a:r>
              <a:rPr lang="en-US" dirty="0"/>
              <a:t>by using the following cost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Where are the parameters </a:t>
            </a:r>
            <a:r>
              <a:rPr lang="el-GR" dirty="0"/>
              <a:t>θ</a:t>
            </a:r>
            <a:r>
              <a:rPr lang="en-US" baseline="-25000" dirty="0"/>
              <a:t>0 </a:t>
            </a:r>
            <a:r>
              <a:rPr lang="en-US" dirty="0"/>
              <a:t>and</a:t>
            </a:r>
            <a:r>
              <a:rPr lang="el-GR" dirty="0"/>
              <a:t> θ</a:t>
            </a:r>
            <a:r>
              <a:rPr lang="en-US" baseline="-25000" dirty="0"/>
              <a:t>1 </a:t>
            </a:r>
            <a:r>
              <a:rPr lang="en-US" dirty="0"/>
              <a:t>in the equation?</a:t>
            </a:r>
          </a:p>
          <a:p>
            <a:r>
              <a:rPr lang="en-US" dirty="0"/>
              <a:t>Loss known as squared error function (most common for regression problems)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140FA9F6-358F-26B3-78DF-ED19346BD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AEABDEF-10E1-F280-F374-16F68AC18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7D99420-8376-D776-D86C-3CB8676B2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110BB344-5BDA-EF51-EDCC-96B26D244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62200" y="2514600"/>
            <a:ext cx="4540250" cy="990600"/>
          </a:xfrm>
          <a:prstGeom prst="rect">
            <a:avLst/>
          </a:prstGeom>
          <a:noFill/>
        </p:spPr>
      </p:pic>
      <p:sp>
        <p:nvSpPr>
          <p:cNvPr id="11270" name="Rectangle 6">
            <a:extLst>
              <a:ext uri="{FF2B5EF4-FFF2-40B4-BE49-F238E27FC236}">
                <a16:creationId xmlns:a16="http://schemas.microsoft.com/office/drawing/2014/main" id="{B0B45F74-2CF6-E34C-095F-8AFCBBA64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E47AF27B-5838-BD01-8C6E-2AF0C9CA4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71" name="Picture 7">
            <a:extLst>
              <a:ext uri="{FF2B5EF4-FFF2-40B4-BE49-F238E27FC236}">
                <a16:creationId xmlns:a16="http://schemas.microsoft.com/office/drawing/2014/main" id="{3CF66D12-CED5-7F5F-3792-4A5E12EA4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9000" y="3733800"/>
            <a:ext cx="2209800" cy="690563"/>
          </a:xfrm>
          <a:prstGeom prst="rect">
            <a:avLst/>
          </a:prstGeom>
          <a:noFill/>
        </p:spPr>
      </p:pic>
      <p:sp>
        <p:nvSpPr>
          <p:cNvPr id="11273" name="Rectangle 9">
            <a:extLst>
              <a:ext uri="{FF2B5EF4-FFF2-40B4-BE49-F238E27FC236}">
                <a16:creationId xmlns:a16="http://schemas.microsoft.com/office/drawing/2014/main" id="{F149C9F4-EB05-BFB9-F7F8-7A5A115ED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1374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D1D2D-9C42-A717-B89D-350CF42B3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6B299B8-80C6-9390-9A1C-7A5CC633E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4600" y="4648200"/>
            <a:ext cx="4540250" cy="9906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0AFD7-CF4F-A569-DAEB-A816A688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Regression with ONE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5C8D4-F2B1-747C-D316-045CB15BD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  <a:p>
            <a:pPr>
              <a:buNone/>
            </a:pPr>
            <a:r>
              <a:rPr lang="en-US" dirty="0"/>
              <a:t>Hypothesis</a:t>
            </a:r>
          </a:p>
          <a:p>
            <a:pPr>
              <a:buNone/>
            </a:pPr>
            <a:r>
              <a:rPr lang="en-US" dirty="0"/>
              <a:t>				h</a:t>
            </a:r>
            <a:r>
              <a:rPr lang="el-GR" baseline="-25000" dirty="0"/>
              <a:t>θ</a:t>
            </a:r>
            <a:r>
              <a:rPr lang="en-US" dirty="0"/>
              <a:t>(x) = </a:t>
            </a:r>
            <a:r>
              <a:rPr lang="el-GR" dirty="0"/>
              <a:t>θ</a:t>
            </a:r>
            <a:r>
              <a:rPr lang="en-US" baseline="-25000" dirty="0"/>
              <a:t>0</a:t>
            </a:r>
            <a:r>
              <a:rPr lang="en-US" dirty="0"/>
              <a:t>+</a:t>
            </a:r>
            <a:r>
              <a:rPr lang="el-GR" dirty="0"/>
              <a:t> θ</a:t>
            </a:r>
            <a:r>
              <a:rPr lang="en-US" baseline="-25000" dirty="0"/>
              <a:t>1</a:t>
            </a:r>
            <a:r>
              <a:rPr lang="en-US" dirty="0"/>
              <a:t>x</a:t>
            </a:r>
          </a:p>
          <a:p>
            <a:pPr>
              <a:buNone/>
            </a:pPr>
            <a:r>
              <a:rPr lang="en-US" dirty="0"/>
              <a:t>Parameters</a:t>
            </a:r>
          </a:p>
          <a:p>
            <a:pPr>
              <a:buNone/>
            </a:pPr>
            <a:r>
              <a:rPr lang="en-US" dirty="0"/>
              <a:t>				</a:t>
            </a:r>
            <a:r>
              <a:rPr lang="el-GR" dirty="0"/>
              <a:t> θ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l-GR" dirty="0"/>
              <a:t>θ</a:t>
            </a:r>
            <a:r>
              <a:rPr lang="en-US" baseline="-25000" dirty="0"/>
              <a:t>1</a:t>
            </a:r>
            <a:endParaRPr lang="en-US" dirty="0"/>
          </a:p>
          <a:p>
            <a:pPr>
              <a:buNone/>
            </a:pPr>
            <a:r>
              <a:rPr lang="en-US" dirty="0"/>
              <a:t>Cost Function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Goal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35D773F6-745D-4191-6645-8799D438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81400" y="6019800"/>
            <a:ext cx="2209800" cy="6905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215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6FEC-A6F2-BAD0-7FF0-6643D331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7542F-CB13-AC90-5F6F-E49985FC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 feed it your training examples and it finds the parameters that make the linear model fit best to your data. This is called </a:t>
            </a:r>
            <a:r>
              <a:rPr lang="en-US" sz="2400" dirty="0">
                <a:solidFill>
                  <a:srgbClr val="FF0000"/>
                </a:solidFill>
              </a:rPr>
              <a:t>training the model</a:t>
            </a:r>
            <a:r>
              <a:rPr lang="en-US" sz="2400" dirty="0"/>
              <a:t>. In our case the algorithm finds that the optimal parameter values are θ0 = 4.85 and θ1 = 4.91 × 10–5</a:t>
            </a:r>
            <a:r>
              <a:rPr lang="en-US" dirty="0"/>
              <a:t>.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5C880B-6953-F018-F806-56D48599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254272"/>
            <a:ext cx="6139543" cy="332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907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7D10-10CB-7388-8438-F899AD21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Python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EA8D2-03CD-C4BA-86B3-E4709D5F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63418"/>
            <a:ext cx="6333532" cy="521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054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8638-D496-4B41-BFE3-1D378F50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4DBEC-F613-502D-96C2-84F3CDAEE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C484F-577B-475C-5D5A-048784855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29862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020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2197DD-EF81-DFE6-5DA0-9DE318151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474" y="2438400"/>
            <a:ext cx="5404526" cy="25972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982A8F-54E4-6F81-D3CD-0C111C61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dirty="0" err="1"/>
              <a:t>Challanges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7AA35-4371-B229-DC48-668FB842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600200"/>
            <a:ext cx="8447314" cy="4983162"/>
          </a:xfrm>
        </p:spPr>
        <p:txBody>
          <a:bodyPr>
            <a:normAutofit fontScale="4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Insufficient Quantity of Training Data</a:t>
            </a:r>
          </a:p>
          <a:p>
            <a:pPr lvl="1"/>
            <a:r>
              <a:rPr lang="en-US" dirty="0"/>
              <a:t>The Unreasonable Effectiveness of Data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Nonrepresentative Training Data</a:t>
            </a:r>
          </a:p>
          <a:p>
            <a:pPr lvl="1"/>
            <a:r>
              <a:rPr lang="en-US" dirty="0"/>
              <a:t>Ethical issues and Sampling Bias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Poor-Quality Data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Irrelevant Features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Overfitting the Training Data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Underfitting the Training Data</a:t>
            </a:r>
          </a:p>
          <a:p>
            <a:endParaRPr lang="en-US" dirty="0"/>
          </a:p>
          <a:p>
            <a:r>
              <a:rPr lang="en-US" dirty="0"/>
              <a:t>Testing and Validating</a:t>
            </a:r>
          </a:p>
          <a:p>
            <a:endParaRPr lang="en-US" dirty="0"/>
          </a:p>
          <a:p>
            <a:r>
              <a:rPr lang="en-US" dirty="0"/>
              <a:t>Hyperparameter Tuning and Model Selection</a:t>
            </a:r>
          </a:p>
          <a:p>
            <a:endParaRPr lang="en-US" dirty="0"/>
          </a:p>
          <a:p>
            <a:r>
              <a:rPr lang="en-US" dirty="0"/>
              <a:t>Data Mismatch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B35DA-BB82-461F-B2E8-C4D559D47A82}"/>
              </a:ext>
            </a:extLst>
          </p:cNvPr>
          <p:cNvSpPr txBox="1"/>
          <p:nvPr/>
        </p:nvSpPr>
        <p:spPr>
          <a:xfrm>
            <a:off x="4332514" y="499619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100" dirty="0"/>
              <a:t>https://www.geeksforgeeks.org/deep-learning/challenges-in-deep-learning/</a:t>
            </a:r>
          </a:p>
        </p:txBody>
      </p:sp>
    </p:spTree>
    <p:extLst>
      <p:ext uri="{BB962C8B-B14F-4D97-AF65-F5344CB8AC3E}">
        <p14:creationId xmlns:p14="http://schemas.microsoft.com/office/powerpoint/2010/main" val="359484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0" ma:contentTypeDescription="Create a new document." ma:contentTypeScope="" ma:versionID="2e67d1ea863b1a30a65a0dcbaf538e4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1AC1CE-E053-4109-B352-CBF135DE06E0}"/>
</file>

<file path=customXml/itemProps2.xml><?xml version="1.0" encoding="utf-8"?>
<ds:datastoreItem xmlns:ds="http://schemas.openxmlformats.org/officeDocument/2006/customXml" ds:itemID="{4CDCE37B-AB28-4B58-9ABA-7F2128A1BC45}"/>
</file>

<file path=customXml/itemProps3.xml><?xml version="1.0" encoding="utf-8"?>
<ds:datastoreItem xmlns:ds="http://schemas.openxmlformats.org/officeDocument/2006/customXml" ds:itemID="{DA61C757-344F-46DB-8018-F6C7303E5392}"/>
</file>

<file path=docProps/app.xml><?xml version="1.0" encoding="utf-8"?>
<Properties xmlns="http://schemas.openxmlformats.org/officeDocument/2006/extended-properties" xmlns:vt="http://schemas.openxmlformats.org/officeDocument/2006/docPropsVTypes">
  <TotalTime>7851</TotalTime>
  <Words>2467</Words>
  <Application>Microsoft Office PowerPoint</Application>
  <PresentationFormat>On-screen Show (4:3)</PresentationFormat>
  <Paragraphs>292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Machine Learning (ML) RIME-832</vt:lpstr>
      <vt:lpstr>Fundamentals of Machine Learning</vt:lpstr>
      <vt:lpstr>History</vt:lpstr>
      <vt:lpstr>PowerPoint Presentation</vt:lpstr>
      <vt:lpstr>AI Companies</vt:lpstr>
      <vt:lpstr>PowerPoint Presentation</vt:lpstr>
      <vt:lpstr>AI Onion</vt:lpstr>
      <vt:lpstr>What is ML?</vt:lpstr>
      <vt:lpstr>Engineering Approach</vt:lpstr>
      <vt:lpstr>Some Deifinitions</vt:lpstr>
      <vt:lpstr>Why Use Machine Learning?</vt:lpstr>
      <vt:lpstr>PowerPoint Presentation</vt:lpstr>
      <vt:lpstr>Machine Learning Approach</vt:lpstr>
      <vt:lpstr>Adapting to Change</vt:lpstr>
      <vt:lpstr>For Complex Problems</vt:lpstr>
      <vt:lpstr>Machine Learning is Good for:</vt:lpstr>
      <vt:lpstr>Types of Machine Learning</vt:lpstr>
      <vt:lpstr>Supervised learning</vt:lpstr>
      <vt:lpstr>PowerPoint Presentation</vt:lpstr>
      <vt:lpstr>PowerPoint Presentation</vt:lpstr>
      <vt:lpstr>PowerPoint Presentation</vt:lpstr>
      <vt:lpstr>Supervised Learning</vt:lpstr>
      <vt:lpstr>Supervised Learning</vt:lpstr>
      <vt:lpstr>Supervised Learning</vt:lpstr>
      <vt:lpstr>Classification vs Regression</vt:lpstr>
      <vt:lpstr>Classification vs Regression</vt:lpstr>
      <vt:lpstr>Supervised Learning Algorithms</vt:lpstr>
      <vt:lpstr>Unsupervised learning</vt:lpstr>
      <vt:lpstr>Unsupervised Learning</vt:lpstr>
      <vt:lpstr>Unsupervised Algorithms</vt:lpstr>
      <vt:lpstr>PowerPoint Presentation</vt:lpstr>
      <vt:lpstr>Unsupervised Learning</vt:lpstr>
      <vt:lpstr>Semisupervised learning</vt:lpstr>
      <vt:lpstr>Reinforcement Learning</vt:lpstr>
      <vt:lpstr>PowerPoint Presentation</vt:lpstr>
      <vt:lpstr>Batch and Online Learning</vt:lpstr>
      <vt:lpstr>Batch learning</vt:lpstr>
      <vt:lpstr>Online learning</vt:lpstr>
      <vt:lpstr>PowerPoint Presentation</vt:lpstr>
      <vt:lpstr>Instance-Based Versus Model-Based Learning</vt:lpstr>
      <vt:lpstr>Instance-based learning</vt:lpstr>
      <vt:lpstr>Model-based learning</vt:lpstr>
      <vt:lpstr>PowerPoint Presentation</vt:lpstr>
      <vt:lpstr>Example</vt:lpstr>
      <vt:lpstr>PowerPoint Presentation</vt:lpstr>
      <vt:lpstr>A simple linear model</vt:lpstr>
      <vt:lpstr>Linear Regression with ONE variable</vt:lpstr>
      <vt:lpstr>Linear Regression with ONE variable</vt:lpstr>
      <vt:lpstr>PowerPoint Presentation</vt:lpstr>
      <vt:lpstr>Implementation in Python</vt:lpstr>
      <vt:lpstr>PowerPoint Presentation</vt:lpstr>
      <vt:lpstr>Main Challanges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RIME-314</dc:title>
  <dc:creator>Hasan</dc:creator>
  <cp:lastModifiedBy>Jawad Khan</cp:lastModifiedBy>
  <cp:revision>207</cp:revision>
  <dcterms:created xsi:type="dcterms:W3CDTF">2006-08-16T00:00:00Z</dcterms:created>
  <dcterms:modified xsi:type="dcterms:W3CDTF">2025-09-15T15:14:50Z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