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43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41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80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39.xml" ContentType="application/vnd.openxmlformats-officedocument.presentationml.tags+xml"/>
  <Override PartName="/ppt/tags/tag81.xml" ContentType="application/vnd.openxmlformats-officedocument.presentationml.tags+xml"/>
  <Override PartName="/ppt/tags/tag30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docProps/core.xml" ContentType="application/vnd.openxmlformats-package.core-properties+xml"/>
  <Override PartName="/ppt/tags/tag21.xml" ContentType="application/vnd.openxmlformats-officedocument.presentationml.tags+xml"/>
  <Override PartName="/docProps/app.xml" ContentType="application/vnd.openxmlformats-officedocument.extended-propertie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38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40.xml" ContentType="application/vnd.openxmlformats-officedocument.presentationml.tags+xml"/>
  <Override PartName="/ppt/tags/tag75.xml" ContentType="application/vnd.openxmlformats-officedocument.presentationml.tags+xml"/>
  <Override PartName="/ppt/tags/tag42.xml" ContentType="application/vnd.openxmlformats-officedocument.presentationml.tags+xml"/>
  <Override PartName="/ppt/tags/tag66.xml" ContentType="application/vnd.openxmlformats-officedocument.presentationml.tags+xml"/>
  <Override PartName="/ppt/tags/tag37.xml" ContentType="application/vnd.openxmlformats-officedocument.presentationml.tags+xml"/>
  <Override PartName="/ppt/tags/tag36.xml" ContentType="application/vnd.openxmlformats-officedocument.presentationml.tags+xml"/>
  <Override PartName="/ppt/tags/tag35.xml" ContentType="application/vnd.openxmlformats-officedocument.presentationml.tags+xml"/>
  <Override PartName="/ppt/tags/tag34.xml" ContentType="application/vnd.openxmlformats-officedocument.presentationml.tags+xml"/>
  <Override PartName="/ppt/tags/tag33.xml" ContentType="application/vnd.openxmlformats-officedocument.presentationml.tags+xml"/>
  <Override PartName="/ppt/tags/tag32.xml" ContentType="application/vnd.openxmlformats-officedocument.presentationml.tags+xml"/>
  <Override PartName="/ppt/tags/tag31.xml" ContentType="application/vnd.openxmlformats-officedocument.presentationml.tags+xml"/>
  <Override PartName="/ppt/tags/tag29.xml" ContentType="application/vnd.openxmlformats-officedocument.presentationml.tags+xml"/>
  <Override PartName="/ppt/tags/tag28.xml" ContentType="application/vnd.openxmlformats-officedocument.presentationml.tags+xml"/>
  <Override PartName="/ppt/tags/tag27.xml" ContentType="application/vnd.openxmlformats-officedocument.presentationml.tags+xml"/>
  <Override PartName="/ppt/tags/tag26.xml" ContentType="application/vnd.openxmlformats-officedocument.presentationml.tags+xml"/>
  <Override PartName="/ppt/tags/tag25.xml" ContentType="application/vnd.openxmlformats-officedocument.presentationml.tags+xml"/>
  <Override PartName="/ppt/tags/tag24.xml" ContentType="application/vnd.openxmlformats-officedocument.presentationml.tags+xml"/>
  <Override PartName="/ppt/tags/tag23.xml" ContentType="application/vnd.openxmlformats-officedocument.presentationml.tags+xml"/>
  <Override PartName="/ppt/tags/tag22.xml" ContentType="application/vnd.openxmlformats-officedocument.presentationml.tags+xml"/>
  <Override PartName="/ppt/tags/tag20.xml" ContentType="application/vnd.openxmlformats-officedocument.presentationml.tags+xml"/>
  <Override PartName="/ppt/tags/tag19.xml" ContentType="application/vnd.openxmlformats-officedocument.presentationml.tags+xml"/>
  <Override PartName="/ppt/tags/tag18.xml" ContentType="application/vnd.openxmlformats-officedocument.presentationml.tags+xml"/>
  <Override PartName="/ppt/tags/tag17.xml" ContentType="application/vnd.openxmlformats-officedocument.presentationml.tags+xml"/>
  <Override PartName="/ppt/tags/tag49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9" r:id="rId2"/>
    <p:sldId id="328" r:id="rId3"/>
    <p:sldId id="272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4" r:id="rId12"/>
    <p:sldId id="283" r:id="rId13"/>
    <p:sldId id="285" r:id="rId14"/>
    <p:sldId id="286" r:id="rId15"/>
    <p:sldId id="287" r:id="rId16"/>
    <p:sldId id="288" r:id="rId17"/>
    <p:sldId id="289" r:id="rId18"/>
    <p:sldId id="292" r:id="rId19"/>
    <p:sldId id="293" r:id="rId20"/>
    <p:sldId id="295" r:id="rId21"/>
    <p:sldId id="298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5" r:id="rId35"/>
    <p:sldId id="316" r:id="rId36"/>
    <p:sldId id="317" r:id="rId37"/>
    <p:sldId id="318" r:id="rId38"/>
    <p:sldId id="319" r:id="rId39"/>
    <p:sldId id="320" r:id="rId40"/>
    <p:sldId id="321" r:id="rId41"/>
    <p:sldId id="322" r:id="rId42"/>
    <p:sldId id="323" r:id="rId43"/>
    <p:sldId id="324" r:id="rId44"/>
    <p:sldId id="325" r:id="rId45"/>
    <p:sldId id="327" r:id="rId46"/>
    <p:sldId id="326" r:id="rId47"/>
    <p:sldId id="260" r:id="rId48"/>
    <p:sldId id="262" r:id="rId49"/>
    <p:sldId id="263" r:id="rId50"/>
    <p:sldId id="264" r:id="rId51"/>
    <p:sldId id="265" r:id="rId52"/>
    <p:sldId id="266" r:id="rId53"/>
    <p:sldId id="267" r:id="rId54"/>
    <p:sldId id="268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customXml" Target="../customXml/item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3:00:48.402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7939 12260 3683,'-20'0'448,"20"0"353,-20 0 801,20 0 736,-19 0-865,19 0-576,0 0 96,0 0 160,0 0-96,0 0-160,-20 0-128,20-20-225,0 20-63,0 0-161,0 0-224,0 20 32,0-20-64,0 0 32,20 0 193,-1 0-193,1 0 160,20 0-256,-19 0 128,17 0 32,23 0-32,-22 0 1,21 20-65,-21-20-32,1 0 0,-1 0-64,1 0 64,0 20-32,-21-20-64,1 0 0,0 0-289,-20 0-416,0 0-544,0-20-1826,-20 20-7431</inkml:trace>
  <inkml:trace contextRef="#ctx0" brushRef="#br0" timeOffset="929.05">19274 11486 10537,'-19'0'833,"19"-21"288,0 21 929,-20 0-288,20 0-673,20 0-577,-20 0-31,19 0 31,1 0-63,20 0-225,-1 0-160,1 0 32,21 0-96,-2 0-96,-19 0-32,19 0-192,0 0-193,1 0-608,-21 0-1313,-19 0-2723</inkml:trace>
  <inkml:trace contextRef="#ctx0" brushRef="#br0" timeOffset="2466.14">2084 7829 9577,'0'0'-193,"0"0"-63,0 0 288,0 0 385,0 0 447,18 0-255,23 0-97,17 0-31,23 0-1,-2 0-63,20 0-129,21 0 96,-21 0-223,19 0-1,1 0-32,1 0-32,-1 0 0,-20-20-64,0 20 64,1-20-64,-41 20 0,1-20-64,-40 20-897,-1 0-3715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3:03:25.6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17646 8485 8359,'0'0'289,"0"0"-65,-19 0 1153,19 0 257,0-21-193,0 21-384,0 0-256,0 0 0,0 0-161,0 0-223,0 0-289,19 0-128,1 0 96,0 21 0,21-1-96,18 19 96,1-19-96,-1 39 96,20-19-96,0 20 0,2 0 0,-2-1-96,0-19 64,-20 19 32,21-19-64,-21-20 0,-18 0-64,-3 0-161,3 0-319,-41-20-193,20 0-352,-20 0-64,0 0-1634,-20-20-1985</inkml:trace>
  <inkml:trace contextRef="#ctx0" brushRef="#br0" timeOffset="491.02">18282 8464 3203,'20'0'1249,"-20"0"-320,0 0 864,0 0-95,-20 0-865,-1 0 192,-17 0-128,-23 0-289,2 0-127,-20 0-193,19 21 0,-19-21 128,20 0-159,-2 0-161,2 20-32,19-20 64,20 0 32,1 0-96,-1 0-64,20 19-32,0-19 160,20 0 257,-1 20-97,1-20-64,0 20 128,0 0-63,19 0 63,-19 20-96,1 0-192,19-21-64,-1 21 0,-19 0-128,0-1-224,20-19-321,-21 20-480,1-20-1601,-20 0-4677</inkml:trace>
  <inkml:trace contextRef="#ctx0" brushRef="#br0" timeOffset="2688.15">10956 5643 352,'0'0'993,"0"0"-128,0 0 256,0 0-224,0 0-33,0 0 97,0 0 32,0 0 128,0 0-96,0 0 32,0 0-256,0 0-192,0-20-97,0 20-64,0 0-159,0-20-97,0 20 0,-20 0-96,20-19 32,-19 19-96,-1 0 32,0 0 0,0-20-32,0 20-32,-19 0 0,-1 0-32,1 0 0,-1 0 0,-1 20 32,3-1-64,-3-19 64,21 20-32,-19 0 0,19 21-64,0-22 96,0 1 0,1 19 0,19 2 0,0-22 0,19 20 64,1 2 0,0-2 32,0 1-64,19-20-64,2 19 96,-1-19-32,19 0 33,-19 0 63,19 0 96,-19-20 32,-1 0-96,21-20-32,-21 20-32,2-20 33,-3 0 31,3 0 32,-1-19 32,-21 19 96,1 0 97,0-20-129,-20 21-32,0-22 97,-20 22-129,0-20-128,1-2-64,-21 2-32,-1 19 0,3-20 0,-3 20 0,2 0 32,-1 20-32,0-20-32,21 20 0,-1 0-32,0 0-192,0 0-1026,20 20-1536,-20 20-3684</inkml:trace>
  <inkml:trace contextRef="#ctx0" brushRef="#br0" timeOffset="3930.22">11434 9856 4260,'18'-20'1473,"-18"20"-288,0 0 833,0 0 352,0 0-768,0 0-641,0 0-545,-18 0-256,18 0 321,0 20 31,-20-20-160,20 20-95,-21 20-65,1-1 0,-18 1 64,-3 20-160,-18 19 97,-1 1-1,-19 19-96,-20 20 0,-1 20 0,1 1-32,20 18-32,-20-18 32,18-21-64,2 0 96,20-20 0,-1-20-96,21 1-64,-21-40 32,39 20-64,-17-20-448,38-21-673,0 1-1186,0-20-2369</inkml:trace>
  <inkml:trace contextRef="#ctx0" brushRef="#br0" timeOffset="4450.25">10857 9916 8680,'-39'19'833,"39"1"-385,0-20 545,0 0 448,0 0-160,19 0-288,21-20-416,19 20-193,2-40-95,18 21-33,20-1-32,-20 0-128,-19 0-96,-1 20 32,2-20-32,-43 20 0,3 0-96,-1 20 128,-20 0 32,0 0 64,-20 19 0,20 1 1,-21 20-33,21 0-64,0-21-64,0 21-321,0 0-1248,21-1-2435</inkml:trace>
  <inkml:trace contextRef="#ctx0" brushRef="#br0" timeOffset="6714.38">11612 5365 1345,'20'0'704,"-20"-20"-607,0 20 1344,0 0 865,0 0-352,0 0-929,-20-19-160,20 19 64,0 0-161,-20 0-159,20 0-97,-20-20 1,0 20-129,1 0-128,-1 0 1,-20-21 63,19 21-64,-17 0-256,-3 0 0,3 21 32,-3-1 32,1-1-32,21 1-32,-21 20 0,20 0-32,0-21-32,0 41 32,20-20 32,0-1 0,20 21 0,20-20 32,0-1-32,-1 22 0,22-42 96,-3 20-96,1-18 64,2-21 65,-2 0 95,1 0 128,-1-21-64,0-18-159,-19 0 63,1-2-256,-3 2 160,-17-21-64,-21 1-32,0 19 0,-21-20 0,-17 21 0,-3-1 32,-18 19 32,-1 2-64,1 19-96,-1 0-993,1 0-2210</inkml:trace>
  <inkml:trace contextRef="#ctx0" brushRef="#br0" timeOffset="9141.52">17765 8544 1281,'0'0'865,"0"0"576,0 0 32,0 0-512,0 0-608,-20 0-161,20 0 192,0-20 97,0 20 159,0 0-31,0 0-129,0 0 97,0 0-129,-18 0-63,18 0 127,0 0-160,-21-19 1,21 19-33,0 0 192,0 0 33,0 0-33,-20 0 1,20 0-161,0 0-31,0 0-97,0 0-160,0 0 0,0 0 128,20 19-64,-20-19 64,21 20-63,17-20-1,3 20-128,-1 20 96,19-21-64,0 21-64,1 0 0,19 0-32,-20 0 128,2 19-128,-2-19 0,1 19 32,-1-19 0,-19 0 64,19 0 0,0-20-32,-39-1 0,21-19 32,-21 0-32,-20 0-32,0 0-129,0 0-255,0-19-545,-20 19-608,-1-20-1570,1 0-3908</inkml:trace>
  <inkml:trace contextRef="#ctx0" brushRef="#br0" timeOffset="9661.55">18261 8485 2914,'21'0'1986,"-1"0"-1954,0 0 897,0 0 769,-1 0-321,-19 0-768,20 0-289,-20 0 64,0 0 33,0 0 640,-20 0-417,1 0-448,-21 20-31,-1-20 223,-17 0 64,-1 19-63,-22-19-129,2 0-160,0 0 32,20 0-96,-1 0 32,19 0-32,2 0 64,19 0-64,20 0 32,-20 0-96,20 20 0,0-20 128,20 0 225,0 20 31,1 0 32,-3 19 1,23-18-65,-1 19-96,-20-1 33,19 1-193,1 0-64,-1-1 0,-19 1-64,20 0-353,-20-21-448,-20 21-672,19-20-1025,-19 0-2980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3:49:38.167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6253 1649 352,'-21'20'608,"21"-20"449,-20 0 97,20 0 31,0-20-224,-20 20-161,20 0 65,0 0-64,0 0-417,0 0 33,20 0 351,0 0-127,19 0-289,22 0-127,18 0-65,20 0 384,0 0 161,41 0-161,-2-20-223,21 20-33,-1 0-32,2 0-128,-2 0-192,-18 0-288,-41 0-161,-20 0-928,-20 20-1698,-19-20-3587</inkml:trace>
  <inkml:trace contextRef="#ctx0" brushRef="#br0" timeOffset="943.05">18381 1550 4035,'-59'0'32,"39"0"673,0 0 1025,-1 0-161,3 0-160,18 0-223,0 0-482,0 0-31,0 0 128,18 0-129,23 0-351,18 0-97,1 0-64,60 0-96,18 0 32,41 0-32,20 0-32,38 20 0,2-1 32,18 1 32,2 0 0,-20 20-63,18-20-1,-38-20 0,-1 19-32,-19-19 0,-21 0-417,-38 0-2466,-41 0-5348</inkml:trace>
  <inkml:trace contextRef="#ctx0" brushRef="#br1" timeOffset="6114.34">19950 7670 1953,'-20'-20'801,"20"20"673,-21 0 127,21 0 1,-20-21-65,20 21-320,-18 0-96,18 0 0,-20 0-64,20 0-256,0 0-288,0 0-129,0 0-64,0 0 33,20 0 31,-20 0-32,38 21-192,3-21 129,-2 20-97,1-20 32,19 20-160,1 0 32,-1 0-96,2-1 0,-2 1 0,-19 0 0,19 0-64,-19-20-32,-20 20 0,-1-20-128,-19 0-353,0 0-608,-19 0-1153,-1-20-1057,-20 20-3620</inkml:trace>
  <inkml:trace contextRef="#ctx0" brushRef="#br1" timeOffset="6438.36">20327 7510 9256,'0'-39'481,"0"19"63,0 20 898,0-20-65,0 20-704,0 0-385,0 0-160,-21 20 352,3 20 65,-2-1-65,-21 22-63,1-23-129,1 23-192,-21-2 0,1 1-32,19-1-32,1-19-64,19-20-320,20 0-897,-21 0-2178,21-20-8040</inkml:trace>
  <inkml:trace contextRef="#ctx0" brushRef="#br0" timeOffset="18870.07">20168 7908 448,'0'0'512,"0"0"-159,0 0 63,0 0 385,0 0 96,0 0-64,0 0 127,0 0-127,0 0 128,0 0-96,0 0-64,0 20-129,0-20-95,0 0-161,19 20-224,-19-20 1,0 20-1,0-20-64,0 19-32,0-19 0,0 21-32,0-21 64,0 20-96,0-20 0,0 19 0,20-19-32,-20 20 32,0 0 0,0-20 1,0 20-33,0 0 32,0 0-32,0 0 32,0-1 128,0 2 32,20-2-96,-20 1-32,0 0-32,20 0-32,-20 0 32,0 0-32,0-20 32,-20 19-32,20 1 0,0 1 0,0-2 64,0 21-64,0-21 0,0 2-64,0-1 32,0-1 128,-20 1-160,20 0 64,0 0 64,0 0-64,0-1 0,0 2 0,0-2 0,0 2-64,0-2 64,0 1 64,0 0-128,0 0 64,0 0 0,0 0 0,0-1-32,0 1 0,20 0 0,-20 0 32,0 0 0,0 0 0,20-1-32,-20 2 0,0-2 32,0 1 0,0 20 0,0-20 32,0 0-32,0-1 0,0 2 0,-20-2 0,20 21-32,0 0 0,-20-20 0,20 19 0,0-19 32,0 0 0,-20 20-32,20-20 32,0-1 32,-19 1-32,19 1-32,0-2 32,0 21-64,0-21-128,0 2 31,0-1 97,0 0 32,0 0 64,0-1-128,0 2 96,0-2-32,0 1 0,0 0 64,-20 0-32,20 20 0,0-21-32,0-19-32,0 20 128,0 0-32,0 0-32,20-20 0,-20 20 0,0-20 0,0 20 32,0-1-32,0-19 64,0 21 65,0-2-65,-20 1-32,20 0 0,0-20-32,0 20 128,0 0-32,0 0-32,0 0 320,0-1-31,0 1-321,20 1 192,-20-2 96,0 1-96,0 0-63,0 20-33,0-20-32,19-1-32,-19 1 0,0 0-32,0 0 32,0 0 32,0 0-96,0-1 64,0 2 32,0-2 192,0 1-159,0 0-33,0 0 64,0 19-128,0-18 0,0-2-32,20-19 32,-20 20-64,0 1 0,0-21 32,0 19-32,0-19-96,20 20 0,-20-20-65,0 0-95,0 0-320,20 0-706,-20 0-1280,0 0-4100</inkml:trace>
  <inkml:trace contextRef="#ctx0" brushRef="#br0" timeOffset="20926.19">20049 7789 928,'0'0'961,"0"0"-480,-20 0-97,20 0 33,-20 0-257,20 0-64,-20 0-64,1 0 384,19 0 129,-20 0-65,0 0-128,-1 0-63,1 0-65,2 0-64,-23 0-32,21 0-32,-19 0-64,19 0-32,-20 0 32,1 0 0,19 0 0,-40 0-64,21 0 96,-1 0-31,-19 0 95,-2 0-96,22 0 32,-21 0-32,21 0 0,-21 0 64,1 0-64,-2 0 128,2 0 0,1 0 481,-23 0 256,22 0-257,0 0-319,-21 0 159,21 0-128,-20 0-288,18 0 0,-18 0-64,20 0 33,-22 0-66,2 0 66,-20 0-66,20 0 33,0 0 65,-20 0-33,18 0 0,2 0 32,0 0-32,0-20 32,0 20-64,-2 0 0,22 0 64,-20-20 0,-20 20-128,20 0 0,-2 0-32,-18-19-64,20 19-1,-20 0-63,0 0 128,20 0 64,-21-20 32,1 20 0,0 0 64,0 0-32,0 0 0,18 0 0,-18-20 0,20 20 0,0 0 0,-21 0-64,21 0 0,19-20 128,-19 20-96,0 0 0,0 0 0,-2-20 0,2 20 225,0 0-225,0 0-33,0 0 33,18 0 33,-18 0-66,20 0 1,-1 0-128,1 0 96,19 0 32,-19 0 32,18 0 0,1 0 160,21 0-96,-1 0-32,0 0-192,20 20-1794,0-20-6213</inkml:trace>
  <inkml:trace contextRef="#ctx0" brushRef="#br0" timeOffset="24572.4">10401 6359 3843,'0'0'1858,"0"0"-1826,0 0-128,-20 20 608,20-1 481,0 21-32,0 20 641,0-1-321,0 2-705,0 17 289,0 2-192,20-20-577,-20 19 0,20-39 0,-1-1-96,1 1 0,0 0 0,-20-21-352,20 2-545,1-21-672,-21 0-1442,18 0-2819</inkml:trace>
  <inkml:trace contextRef="#ctx0" brushRef="#br0" timeOffset="24940.42">10104 6796 7815,'0'-20'801,"0"0"-257,38 0 321,-18 1-96,21-21-65,18 0-159,0 0-225,-19-20-160,20 21-64,-21-1-96,-19-20 97,0 41-194,1-22 1,-3 41 0,-18-19 64,0 19-160,0 19 384,0 22 32,0-2-127,0 1-1,0 0 0,20-1-417,1 1-1024,-1 1-2146,0-3-4259</inkml:trace>
  <inkml:trace contextRef="#ctx0" brushRef="#br0" timeOffset="25942.48">9707 7093 9673,'-20'0'160,"20"0"-320,0 21 32,0 19 320,0-1 384,20 21 65,-20 19-65,0 20 65,0 0-289,0-19-63,0 0 31,0-21-224,0-19 0,0-20 64,18 0-96,-18-20 161,0 0 95,20-20-320,1 0-352,-21-20-33,20 21 33,0-21-1,-20 0-223,19 19 63,1 2 385,0 0 96,0 19 128,-20 0 129,20 0 255,-20 19 1,19 21-193,-19-20-160,0 20-96,0-1-32,20-19-352,-20 0-577,0 0-577,20 0-480,0 0-2850</inkml:trace>
  <inkml:trace contextRef="#ctx0" brushRef="#br0" timeOffset="26245.5">10083 7312 11530,'-20'0'225,"20"20"-353,-20 0 224,20 0 352,-20 19-96,20 1-63,0 19-97,0 1 96,0-20-128,0 20-96,20-20 193,0-1-386,0-19-127,1 0-513,-3 0 129,2-20-866,0 0-896,1-20-2018</inkml:trace>
  <inkml:trace contextRef="#ctx0" brushRef="#br0" timeOffset="26389.5">10203 7591 7879,'18'19'1281,"-18"0"0,21 2-576,-1-1-481,0 0-224,0 0-800,19 0-674,-19-1-256,0-19-1152,20 0-1601</inkml:trace>
  <inkml:trace contextRef="#ctx0" brushRef="#br0" timeOffset="26555.51">10401 7591 4356,'-60'38'5060,"40"-17"-4867,-19-1 159,19 20 1314,-21-1-674,41 1-895,-18 0-65,18-20-833,18-1-1313,3-19-577,-1 0-3074</inkml:trace>
  <inkml:trace contextRef="#ctx0" brushRef="#br0" timeOffset="26772.53">10401 7292 12619,'20'0'385,"-1"20"-449,1 0 736,0 20 802,-20-1-834,20 41-319,1-20-161,-21-1-128,0 21 96,0-21-384,0-19-33,0 20-351,0-21-866,0 1-736,-21-20-1601</inkml:trace>
  <inkml:trace contextRef="#ctx0" brushRef="#br0" timeOffset="27220.55">10778 7570 8007,'-20'0'1698,"20"0"-673,0 0 1025,0 0-289,0 0-896,20 0-416,20 0 31,-21 0-224,21 0-224,0 0-128,-1-19-448,-19 19-898,1 0-2369,-1 0-5350</inkml:trace>
  <inkml:trace contextRef="#ctx0" brushRef="#br0" timeOffset="27363.56">10798 7690 14189,'0'20'128,"20"0"-256,-1-20 320,21 0 0,0 0-96,-1 0-1313,-19 0-3779</inkml:trace>
  <inkml:trace contextRef="#ctx0" brushRef="#br0" timeOffset="28489.62">11335 7629 11274,'-21'0'1089,"21"0"-352,0 0 384,0 0-160,0 0-545,21 0-224,-21 0-127,38 0-1,-18 0-257,1 0-768,-1 21-1153,-2-21-2338</inkml:trace>
  <inkml:trace contextRef="#ctx0" brushRef="#br0" timeOffset="29715.69">11948 7372 6085,'-18'-20'545,"18"0"-225,0 0 1346,0 20-705,-20-20-97,20 20-511,-20-20-193,-1 20-64,1 20 0,2 0 0,-3 0-32,1 20 64,-20-1-64,40 1 65,-19 0-129,19-21 96,19 1-96,1 1 64,0-2 0,21-19 32,-23 0-96,2 0 0,21-19 64,-21-2-32,-20 21 32,18-20-32,-18 1-32,0-1 32,0 0 0,0 20-32,0-20 64,0 20 96,-18 0 64,18 20 225,0 20 63,0-21-255,0 22-97,0-1-128,0-2 64,0-17-545,18 19-960,3-20-1121,-21 0-1634</inkml:trace>
  <inkml:trace contextRef="#ctx0" brushRef="#br0" timeOffset="30046.71">12248 7491 13356,'-20'0'-224,"20"0"128,-21 19 384,1 1 64,0 1-287,1 19-65,19-2-33,0-17-191,0-1-160,19 20-417,21-40-320,-19 20 641,-1-20 319,18 0 161,-17 0 0,-1-20 257,0 0 191,-1 0 161,-19 0-257,0-1-32,0 2-224,-19 0 225,-1-2-161,0 2-128,-1 19-64,1-21-256,2 21-1090,-2 0-2049</inkml:trace>
  <inkml:trace contextRef="#ctx0" brushRef="#br0" timeOffset="30335.73">12525 7570 7719,'0'40'288,"-20"-21"545,20 22 1057,0-21-673,20 0-609,0 0-383,-1-20-1,1 19 96,20-19 129,-1-19-129,1-1-224,-19 0 64,17-20 224,-38 19 65,0 2-161,0-21-224,-18 21-64,-23 19-32,-17-21-32,17 21-64,-18 0-384,19 21-770,0-2-2882</inkml:trace>
  <inkml:trace contextRef="#ctx0" brushRef="#br0" timeOffset="30912.76">10738 8505 10634,'-19'0'993,"-1"-20"1121,20 20-225,20 0-800,-20 0-736,19 0 31,21 0-320,-20 0-192,19 0-320,1 0-674,0 0-1216,-21 20-2242</inkml:trace>
  <inkml:trace contextRef="#ctx0" brushRef="#br0" timeOffset="31300.79">11314 8386 2530,'21'-21'4100,"-21"1"-3171,-21 20 1473,21 0-608,-20-19-641,0 19-513,0 19-480,1 1-95,-1 20 127,20-20-64,0 19-64,20 2-32,-1-2-160,21-19-225,1 0-31,-3-20 128,3 20 192,-21-20-32,19-20 128,-19 20 32,0-20 32,-20 0 128,0-19 257,0 19-1,-20-1-224,-21 2 225,23-21 95,-23 21-63,21 19-161,-18-21-320,17 21-32,1 0 0,20 0-224,0 0-513,0 21-864,20-2-1634,1-19-3171</inkml:trace>
  <inkml:trace contextRef="#ctx0" brushRef="#br0" timeOffset="31482.8">11691 8505 2146,'20'19'11915,"-20"-19"-11691,20 20 929,-20-20-96,0 0-737,0 20-223,0-20-226,19 20-255,-19-20-609,20 0-1377,0 0-2627</inkml:trace>
  <inkml:trace contextRef="#ctx0" brushRef="#br0" timeOffset="31720.81">11969 8207 12299,'0'19'897,"0"1"-577,0 0 1218,0 20-193,0-1-480,0 2-513,0 18-32,0 1-159,0-1-1,0-19-192,0 0 32,0 0-545,20-1-352,0-19-416,0-20-1057,0 20-2499</inkml:trace>
  <inkml:trace contextRef="#ctx0" brushRef="#br0" timeOffset="31922.82">12248 8485 12427,'18'39'961,"2"-39"-641,1 40 1218,-1-20-33,0 0-704,19-1-481,-19 2-352,20-2-288,-21 21-1378,1-20-2690,0-20-6886</inkml:trace>
  <inkml:trace contextRef="#ctx0" brushRef="#br0" timeOffset="32081.83">12485 8564 13676,'-39'40'993,"19"-21"-897,0 21 193,0 0 191,0 0-480,-19 0-2498,39-1-8777</inkml:trace>
  <inkml:trace contextRef="#ctx0" brushRef="#br1" timeOffset="41448.37">20604 7629 6470,'0'0'4996,"0"0"-4163,0-19-320,20 19 640,20-19-64,-1 19-417,2-21-255,38 2-225,0-2 0,1 1-32,-1 20-64,0-19-96,1-1-32,-20 20 32,-1-20-160,1 0-64,-41 20-321,1 0-800,0-20-609,-20 20-1697,-20 0-5061</inkml:trace>
  <inkml:trace contextRef="#ctx0" brushRef="#br1" timeOffset="41765.38">20883 7372 10537,'19'0'577,"-19"0"-577,0 0 480,0 19 225,-39 1-385,19 20-223,-39-20-1,19 19-128,-1 2 160,-18-1-96,19-2 160,21-17 192,-1-1-127,20-20 223,20 20 289,-1-20-97,41 20-159,-21-20-225,22 0-160,18 0-128,0 0 64,0 0-96,-19 0-320,-1 0-897,-18 0-2435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3:50:40.1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19592 8186 1985,'0'-19'801,"-19"19"961,19-20 64,0 20-417,0 0-224,0 0-128,0 0-128,0 0 32,0 0-257,0 0-223,0 0-417,0 0-64,0 0 288,19 20-32,1-1 225,0 21-193,0 0 97,0 0-97,-1-1-32,21 2-128,-20 18 32,0-19-128,-1-20 64,1 19-128,0-19 32,1 0-64,-1 0-128,-20-1-480,18-19-449,-18 0-1090,0 0-960,0 0-3619</inkml:trace>
  <inkml:trace contextRef="#ctx0" brushRef="#br0" timeOffset="433.02">19652 8544 5701,'0'0'1153,"-20"0"160,20 0-416,0 0-128,0 0-161,-20 0-415,20 0-1,0-20 96,-20 20 225,20-19 127,0 19-223,0-20-193,0-20-128,0 20 0,0-19-96,0-2 0,0 2 0,0-1 64,-19 0-96,19 21 288,0-21 161,19 40-129,-19-20-192,0 20-96,20-20 32,-20 20-32,20 0 64,0 0-64,0-20 32,-1 20-64,1 0 0,0 0-32,0 0-256,19 20-545,-19-20-705,0 20-672,1-20-2338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3:51:07.53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FF00"/>
    </inkml:brush>
  </inkml:definitions>
  <inkml:trace contextRef="#ctx0" brushRef="#br0">17964 5842 256,'0'0'544,"0"0"385,0 0-32,-19 0-96,19 0 32,0 0-129,0 0 1,0 0-353,0 0 289,0 0 128,-20 0 31,20 0-127,0 0-64,0 19-65,-20-19 129,20 0-97,-20 0 97,20 0-225,0 0-224,0 0 33,0 0 31,-20 0 32,20 0-31,0 0 127,20 0-96,-20 0 1,0 0-225,0 0 64,0 0-64,0 0 128,0 0-32,20 0-64,-20 0 1,20-19-33,19 19-32,1 0-64,19-20 0,1 20-128,-1-19 31,20-1 65,2-1 32,-2 1 0,0 1 0,20 19-32,-19-20 0,-20 20-96,-1 0-320,-19 0-609,-20 0 192,-1 0 577,-19 0-385,0 0-96,-19 0-480,-1 0-961,0 20-288,-20-20-2275</inkml:trace>
  <inkml:trace contextRef="#ctx0" brushRef="#br0" timeOffset="527.03">18203 5584 2146,'20'-20'4035,"-20"20"-3490,0-20 1473,20 20 256,-20 0-929,0 0-640,0 0 0,0 0-193,-20 20-480,0-20-64,-21 39 32,23-19 0,-23 20 0,1 0-32,1-1 0,-1-19-128,20 21 32,1-22 64,-1 1 64,20-1 64,0-19-64,0 0-32,0 21 96,0-21 64,0 0 64,20 0 64,-1 20 161,21-20-33,0 0-96,-1 19-160,1-19-64,19 0-64,-18 20-192,-3-20-320,3 0-513,-21 20-641,0-20-1377,-1 20-5028</inkml:trace>
  <inkml:trace contextRef="#ctx0" brushRef="#br0" timeOffset="3834.21">8952 5544 7431,'-20'0'960,"20"0"578,0 0-353,0 0-416,0 0-353,0 0 129,0 0 223,20 20-95,0 0-225,0-1-191,-1 1 95,21 20-160,-20 0-96,39 19-64,-19-18 32,-1 17 0,21-17-32,-21-2-32,2 1 0,-21 0-96,0-21 32,19 1-128,-39 20-224,20-20-321,0-20-640,-20 20-1282,0 0-1601</inkml:trace>
  <inkml:trace contextRef="#ctx0" brushRef="#br0" timeOffset="4339.24">8911 6179 5765,'0'0'865,"-18"0"-513,18-19 321,0 19 512,0 0-384,0-20-97,0 20-255,0-20 127,0 0-159,0 0-65,0 20-128,0-20-64,0-19-128,0 19 32,18 0 33,-18-20-33,0 1 64,0-21-32,0 21 32,0-2-64,0-18-32,0 19-32,-18 0 64,18 1 96,0-1 0,0 40 321,0-20-289,0 20-64,18 0 0,3 0 193,-1 20-193,20-20-32,-21 20-32,21-20 32,19 20-32,-19-20-32,19 19 64,1-19-32,-21 0-96,2 0-384,-1 0-545,-22 0-1377,-18-19-2755</inkml:trace>
  <inkml:trace contextRef="#ctx0" brushRef="#br1" timeOffset="25415.45">4108 10393 6598,'0'0'2338,"0"0"-1441,0 0 1249,0 0 160,0 0-1345,0 19-769,0 1-32,0 20 161,0 20 159,0 0-128,0-1-127,0 1-97,0-1-32,0-19-32,0-1-96,0 1-32,0-20-128,19 0-321,-19 0-384,20-20-608,-20-20-1442,0 20-2722</inkml:trace>
  <inkml:trace contextRef="#ctx0" brushRef="#br1" timeOffset="25725.47">3949 10532 12619,'-20'19'321,"20"-19"-353,0-19 736,0 19 706,20 0-1090,-20-21-224,20 2-32,20-1 0,-21 0 0,21 0-32,-20 0 32,0 1-64,-1-2 0,1 2-32,0 19-32,0 0-32,1 19 64,-21 2 96,18 18 64,2 1-32,-20-1-64,21 1-64,-1 1-64,0-2-256,-2-19-1025,3-1-2819</inkml:trace>
  <inkml:trace contextRef="#ctx0" brushRef="#br1" timeOffset="26172.49">3671 11346 13004,'0'40'-64,"0"-1"64,0-18 256,20 19 353,-20-21-449,19 21-160,-19-20-128,20 0-193,-20-20-672,0 20-1025,20-20-1281</inkml:trace>
  <inkml:trace contextRef="#ctx0" brushRef="#br1" timeOffset="26455.51">3770 11207 10730,'59'0'704,"-39"0"-415,21 0 95,-2 0 225,-19 0-129,0 20-128,0 20-159,0-20-1,-20 19 96,-20 1 449,0 19 127,0-19-31,0 21-224,20-42-417,-19 1 256,19 0-416,0 0-160,19-20 160,1 20 0,20-20-288,-1 0-96,-19-20-225,20 20-480,-1-20-1473,1 20-3428</inkml:trace>
  <inkml:trace contextRef="#ctx0" brushRef="#br1" timeOffset="26886.53">4325 11247 11659,'0'0'64,"0"0"0,0 0 865,21-20-257,-1 0-544,-20 20-128,20-19 0,0 19 0,-20 0 0,0 0-32,0 0-256,-20 0 0,0 19 64,0 1 159,-19 0 33,19 0 32,0 19 0,20-19 97,0 20 31,0-20 32,20 0-64,0-1 128,19 2 0,1-2-128,-20-19-64,19 21 32,-19-21-64,0 0 65,-20 0 95,0 0 576,0 19 33,-20-19-545,0 21-160,-19-21-160,19 19-320,-20-19-673,19 20-993,21-20-1025,-18 0-2050</inkml:trace>
  <inkml:trace contextRef="#ctx0" brushRef="#br1" timeOffset="27197.55">4704 11207 10730,'20'0'1025,"-20"0"-2146,-20 20 928,20 20 1218,-20-20-320,20 19-609,0 1-64,0 0 256,20-21-31,0 2-65,19-2-32,1-19-64,-20 0 192,19-19 257,1-2 192,-20 2-257,-1-21 353,1 0-257,-20 20-31,0-19-193,-20 19 33,-19-20-482,-1 40-191,-19-19-96,-2 38-289,3 1-1985,-1 0-5606</inkml:trace>
  <inkml:trace contextRef="#ctx0" brushRef="#br1" timeOffset="28827.64">4127 10273 10826,'0'0'1281,"0"0"-1441,0 0 192,0-20 384,0 20 33,0 0-481,0-19 64,0 19-32,0-20 96,0 20-224,0-21-1538,0 2-3235</inkml:trace>
  <inkml:trace contextRef="#ctx0" brushRef="#br1" timeOffset="28986.65">4127 9796 10762,'-19'-39'384,"19"19"-416,-20-20 224,20 20-96,0-19-544,-20 18-1538,20-18-512,0-1-866</inkml:trace>
  <inkml:trace contextRef="#ctx0" brushRef="#br1" timeOffset="29144.66">4108 9140 3331,'0'-59'3971,"-20"19"-3490,20 20 63,0 0-448,0-19-320,-20 18-416,20 2-321,0-21-128,0 20-257,0 0-864</inkml:trace>
  <inkml:trace contextRef="#ctx0" brushRef="#br1" timeOffset="29296.67">4048 8505 10281,'0'-60'1025,"0"40"-833,-20-19 225,20-2 384,0 22-609,0-21-737,0 20-1345,0-20-800,0 21-930</inkml:trace>
  <inkml:trace contextRef="#ctx0" brushRef="#br1" timeOffset="29433.68">4028 7908 1889,'0'-20'6534,"0"0"-6501,0 1-33,0 19 416,0 0 64,0-20-640,0 20-673,0 0-224,0 0-3491</inkml:trace>
  <inkml:trace contextRef="#ctx0" brushRef="#br1" timeOffset="29612.69">4088 7789 10313,'0'0'128,"0"0"-96,-20 0 225,20-20 511,0 20-736,0 0-352,0 0-609,0 0-192,0 0-512,0 0-1442</inkml:trace>
  <inkml:trace contextRef="#ctx0" brushRef="#br1" timeOffset="29714.69">4009 7749 448,'-20'0'480,"0"0"-319,20 0-738</inkml:trace>
  <inkml:trace contextRef="#ctx0" brushRef="#br1" timeOffset="29944.71">3811 7769 160,'-41'0'1569,"21"0"-736,0 0-353,0 0 129,1 0-161,-1-20-191,0 20-385,0 0-673,0 0-320,1 0 384,-1 0 225,20 0-1,-20 0 225</inkml:trace>
  <inkml:trace contextRef="#ctx0" brushRef="#br1" timeOffset="31229.78">3730 7730 11530,'0'0'1474,"0"0"-1346,0 0 1121,0-20 609,0 20-993,0 0-801,0 0 32,-20 0 0,20-20-224,-19 20-449,-1 0-288,0 0-127,0 0-290,0 0-704,1 0-384,-21 20-577,20-20-1889</inkml:trace>
  <inkml:trace contextRef="#ctx0" brushRef="#br1" timeOffset="31350.79">3175 7789 6245,'-20'-20'0,"20"20"-2722</inkml:trace>
  <inkml:trace contextRef="#ctx0" brushRef="#br1" timeOffset="31568.8">2659 7749 3779,'-40'-19'-897,"19"19"545,-17 0 320,17 0 352,-19 0-288,22 0-736</inkml:trace>
  <inkml:trace contextRef="#ctx0" brushRef="#br1" timeOffset="31935.82">2084 7769 5765,'0'0'3107,"0"0"-2146,18 0 736,2 0-800,1-20 64,19 20-512,-1-19-417,1 19-32,-1 0-64,21 0-353,-21 0-800,1 0-1217,-20 0-3780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00686-F4F7-43E0-BCBA-5E38847C1175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4BBF2-8F51-42BC-9900-E7593F469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4BCD14-5A93-4938-87CE-709050061C51}" type="slidenum">
              <a:rPr lang="en-US" smtClean="0">
                <a:solidFill>
                  <a:prstClr val="black"/>
                </a:solidFill>
                <a:latin typeface="Arial" pitchFamily="34" charset="0"/>
              </a:rPr>
              <a:pPr/>
              <a:t>18</a:t>
            </a:fld>
            <a:endParaRPr lang="en-US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505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1B15-6F5C-47EB-9972-9BA42C6AE2E6}" type="slidenum">
              <a:rPr lang="en-US" smtClean="0">
                <a:solidFill>
                  <a:prstClr val="black"/>
                </a:solidFill>
                <a:latin typeface="Arial" pitchFamily="34" charset="0"/>
              </a:rPr>
              <a:pPr/>
              <a:t>19</a:t>
            </a:fld>
            <a:endParaRPr lang="en-US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722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52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Pop-up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421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52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52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52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52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emf"/><Relationship Id="rId4" Type="http://schemas.openxmlformats.org/officeDocument/2006/relationships/customXml" Target="../ink/ink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emf"/><Relationship Id="rId4" Type="http://schemas.openxmlformats.org/officeDocument/2006/relationships/customXml" Target="../ink/ink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3.xml"/><Relationship Id="rId7" Type="http://schemas.openxmlformats.org/officeDocument/2006/relationships/image" Target="../media/image14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3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19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36.emf"/><Relationship Id="rId3" Type="http://schemas.openxmlformats.org/officeDocument/2006/relationships/tags" Target="../tags/tag10.xml"/><Relationship Id="rId7" Type="http://schemas.openxmlformats.org/officeDocument/2006/relationships/image" Target="../media/image23.png"/><Relationship Id="rId12" Type="http://schemas.openxmlformats.org/officeDocument/2006/relationships/customXml" Target="../ink/ink3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26.png"/><Relationship Id="rId4" Type="http://schemas.openxmlformats.org/officeDocument/2006/relationships/tags" Target="../tags/tag11.xml"/><Relationship Id="rId9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14.xml"/><Relationship Id="rId7" Type="http://schemas.openxmlformats.org/officeDocument/2006/relationships/image" Target="../media/image29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28.png"/><Relationship Id="rId11" Type="http://schemas.openxmlformats.org/officeDocument/2006/relationships/image" Target="../media/image27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26.png"/><Relationship Id="rId4" Type="http://schemas.openxmlformats.org/officeDocument/2006/relationships/tags" Target="../tags/tag15.xml"/><Relationship Id="rId9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41.emf"/><Relationship Id="rId3" Type="http://schemas.openxmlformats.org/officeDocument/2006/relationships/tags" Target="../tags/tag18.xml"/><Relationship Id="rId7" Type="http://schemas.openxmlformats.org/officeDocument/2006/relationships/image" Target="../media/image31.png"/><Relationship Id="rId12" Type="http://schemas.openxmlformats.org/officeDocument/2006/relationships/customXml" Target="../ink/ink4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30.png"/><Relationship Id="rId11" Type="http://schemas.openxmlformats.org/officeDocument/2006/relationships/image" Target="../media/image27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26.png"/><Relationship Id="rId4" Type="http://schemas.openxmlformats.org/officeDocument/2006/relationships/tags" Target="../tags/tag19.xml"/><Relationship Id="rId9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22.xml"/><Relationship Id="rId7" Type="http://schemas.openxmlformats.org/officeDocument/2006/relationships/image" Target="../media/image33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32.png"/><Relationship Id="rId11" Type="http://schemas.openxmlformats.org/officeDocument/2006/relationships/image" Target="../media/image27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26.png"/><Relationship Id="rId4" Type="http://schemas.openxmlformats.org/officeDocument/2006/relationships/tags" Target="../tags/tag23.xml"/><Relationship Id="rId9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26.xml"/><Relationship Id="rId7" Type="http://schemas.openxmlformats.org/officeDocument/2006/relationships/image" Target="../media/image35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34.png"/><Relationship Id="rId11" Type="http://schemas.openxmlformats.org/officeDocument/2006/relationships/image" Target="../media/image27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26.png"/><Relationship Id="rId4" Type="http://schemas.openxmlformats.org/officeDocument/2006/relationships/tags" Target="../tags/tag27.xml"/><Relationship Id="rId9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30.xml"/><Relationship Id="rId7" Type="http://schemas.openxmlformats.org/officeDocument/2006/relationships/image" Target="../media/image37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36.png"/><Relationship Id="rId11" Type="http://schemas.openxmlformats.org/officeDocument/2006/relationships/image" Target="../media/image27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26.png"/><Relationship Id="rId4" Type="http://schemas.openxmlformats.org/officeDocument/2006/relationships/tags" Target="../tags/tag31.xml"/><Relationship Id="rId9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34.xml"/><Relationship Id="rId7" Type="http://schemas.openxmlformats.org/officeDocument/2006/relationships/image" Target="../media/image39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38.png"/><Relationship Id="rId11" Type="http://schemas.openxmlformats.org/officeDocument/2006/relationships/image" Target="../media/image27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26.png"/><Relationship Id="rId4" Type="http://schemas.openxmlformats.org/officeDocument/2006/relationships/tags" Target="../tags/tag35.xml"/><Relationship Id="rId9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38.xml"/><Relationship Id="rId7" Type="http://schemas.openxmlformats.org/officeDocument/2006/relationships/image" Target="../media/image41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40.png"/><Relationship Id="rId11" Type="http://schemas.openxmlformats.org/officeDocument/2006/relationships/image" Target="../media/image27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26.png"/><Relationship Id="rId4" Type="http://schemas.openxmlformats.org/officeDocument/2006/relationships/tags" Target="../tags/tag39.xml"/><Relationship Id="rId9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54.emf"/><Relationship Id="rId3" Type="http://schemas.openxmlformats.org/officeDocument/2006/relationships/tags" Target="../tags/tag42.xml"/><Relationship Id="rId7" Type="http://schemas.openxmlformats.org/officeDocument/2006/relationships/image" Target="../media/image43.png"/><Relationship Id="rId12" Type="http://schemas.openxmlformats.org/officeDocument/2006/relationships/customXml" Target="../ink/ink5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42.png"/><Relationship Id="rId11" Type="http://schemas.openxmlformats.org/officeDocument/2006/relationships/image" Target="../media/image27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26.png"/><Relationship Id="rId4" Type="http://schemas.openxmlformats.org/officeDocument/2006/relationships/tags" Target="../tags/tag43.xml"/><Relationship Id="rId9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" Type="http://schemas.openxmlformats.org/officeDocument/2006/relationships/tags" Target="../tags/tag48.xml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notesSlide" Target="../notesSlides/notesSlide3.xml"/><Relationship Id="rId5" Type="http://schemas.openxmlformats.org/officeDocument/2006/relationships/tags" Target="../tags/tag51.xml"/><Relationship Id="rId15" Type="http://schemas.openxmlformats.org/officeDocument/2006/relationships/image" Target="../media/image67.png"/><Relationship Id="rId10" Type="http://schemas.openxmlformats.org/officeDocument/2006/relationships/slideLayout" Target="../slideLayouts/slideLayout7.xml"/><Relationship Id="rId19" Type="http://schemas.openxmlformats.org/officeDocument/2006/relationships/image" Target="../media/image71.png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image" Target="../media/image66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3" Type="http://schemas.openxmlformats.org/officeDocument/2006/relationships/tags" Target="../tags/tag58.xml"/><Relationship Id="rId21" Type="http://schemas.openxmlformats.org/officeDocument/2006/relationships/image" Target="../media/image81.png"/><Relationship Id="rId7" Type="http://schemas.openxmlformats.org/officeDocument/2006/relationships/tags" Target="../tags/tag62.xml"/><Relationship Id="rId12" Type="http://schemas.openxmlformats.org/officeDocument/2006/relationships/notesSlide" Target="../notesSlides/notesSlide4.xml"/><Relationship Id="rId17" Type="http://schemas.openxmlformats.org/officeDocument/2006/relationships/image" Target="../media/image77.png"/><Relationship Id="rId2" Type="http://schemas.openxmlformats.org/officeDocument/2006/relationships/tags" Target="../tags/tag57.xml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slideLayout" Target="../slideLayouts/slideLayout7.xml"/><Relationship Id="rId24" Type="http://schemas.openxmlformats.org/officeDocument/2006/relationships/image" Target="../media/image84.emf"/><Relationship Id="rId5" Type="http://schemas.openxmlformats.org/officeDocument/2006/relationships/tags" Target="../tags/tag60.xml"/><Relationship Id="rId15" Type="http://schemas.openxmlformats.org/officeDocument/2006/relationships/image" Target="../media/image75.png"/><Relationship Id="rId23" Type="http://schemas.openxmlformats.org/officeDocument/2006/relationships/image" Target="../media/image83.emf"/><Relationship Id="rId10" Type="http://schemas.openxmlformats.org/officeDocument/2006/relationships/tags" Target="../tags/tag65.xml"/><Relationship Id="rId19" Type="http://schemas.openxmlformats.org/officeDocument/2006/relationships/image" Target="../media/image79.png"/><Relationship Id="rId4" Type="http://schemas.openxmlformats.org/officeDocument/2006/relationships/tags" Target="../tags/tag59.xml"/><Relationship Id="rId9" Type="http://schemas.openxmlformats.org/officeDocument/2006/relationships/tags" Target="../tags/tag64.xml"/><Relationship Id="rId14" Type="http://schemas.openxmlformats.org/officeDocument/2006/relationships/image" Target="../media/image74.png"/><Relationship Id="rId22" Type="http://schemas.openxmlformats.org/officeDocument/2006/relationships/image" Target="../media/image82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tags" Target="../tags/tag68.xml"/><Relationship Id="rId7" Type="http://schemas.openxmlformats.org/officeDocument/2006/relationships/image" Target="../media/image85.pn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82.png"/><Relationship Id="rId5" Type="http://schemas.openxmlformats.org/officeDocument/2006/relationships/notesSlide" Target="../notesSlides/notesSlide5.xml"/><Relationship Id="rId10" Type="http://schemas.openxmlformats.org/officeDocument/2006/relationships/image" Target="../media/image87.emf"/><Relationship Id="rId4" Type="http://schemas.openxmlformats.org/officeDocument/2006/relationships/slideLayout" Target="../slideLayouts/slideLayout7.xml"/><Relationship Id="rId9" Type="http://schemas.openxmlformats.org/officeDocument/2006/relationships/oleObject" Target="../embeddings/oleObject1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85.png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image" Target="../media/image90.pn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image" Target="../media/image89.png"/><Relationship Id="rId5" Type="http://schemas.openxmlformats.org/officeDocument/2006/relationships/tags" Target="../tags/tag73.xml"/><Relationship Id="rId10" Type="http://schemas.openxmlformats.org/officeDocument/2006/relationships/image" Target="../media/image88.png"/><Relationship Id="rId4" Type="http://schemas.openxmlformats.org/officeDocument/2006/relationships/tags" Target="../tags/tag72.xml"/><Relationship Id="rId9" Type="http://schemas.openxmlformats.org/officeDocument/2006/relationships/notesSlide" Target="../notesSlides/notesSlide6.xml"/><Relationship Id="rId14" Type="http://schemas.openxmlformats.org/officeDocument/2006/relationships/image" Target="../media/image91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image" Target="../media/image86.png"/><Relationship Id="rId5" Type="http://schemas.openxmlformats.org/officeDocument/2006/relationships/image" Target="../media/image82.png"/><Relationship Id="rId4" Type="http://schemas.openxmlformats.org/officeDocument/2006/relationships/notesSlide" Target="../notesSlides/notesSlide7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tags" Target="../tags/tag80.xml"/><Relationship Id="rId7" Type="http://schemas.openxmlformats.org/officeDocument/2006/relationships/image" Target="../media/image92.pn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86.png"/><Relationship Id="rId4" Type="http://schemas.openxmlformats.org/officeDocument/2006/relationships/tags" Target="../tags/tag81.xml"/><Relationship Id="rId9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(ML)</a:t>
            </a:r>
            <a:br>
              <a:rPr lang="en-US" dirty="0"/>
            </a:br>
            <a:r>
              <a:rPr lang="en-US" dirty="0"/>
              <a:t>RIME-832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Muhammad Jawad Khan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EC4B4-0A88-E51E-48B9-F7E553432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42456"/>
            <a:ext cx="9144000" cy="1415144"/>
          </a:xfrm>
        </p:spPr>
        <p:txBody>
          <a:bodyPr>
            <a:normAutofit/>
          </a:bodyPr>
          <a:lstStyle/>
          <a:p>
            <a:r>
              <a:rPr lang="en-US" dirty="0"/>
              <a:t>Regression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65976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with ONE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we have a dataset with living area and prices of houses in US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410313"/>
            <a:ext cx="4071594" cy="215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2400" y="2760306"/>
            <a:ext cx="5181600" cy="4097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with ONE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en-US" dirty="0"/>
              <a:t>Supervised/unsupervised?</a:t>
            </a:r>
          </a:p>
          <a:p>
            <a:r>
              <a:rPr lang="en-US" dirty="0"/>
              <a:t>Classification/regression/clustering?</a:t>
            </a:r>
          </a:p>
          <a:p>
            <a:r>
              <a:rPr lang="en-US" b="1" dirty="0"/>
              <a:t>Notations:</a:t>
            </a:r>
          </a:p>
          <a:p>
            <a:pPr lvl="1"/>
            <a:r>
              <a:rPr lang="en-US" dirty="0"/>
              <a:t>m = number of training examples</a:t>
            </a:r>
          </a:p>
          <a:p>
            <a:pPr lvl="1"/>
            <a:r>
              <a:rPr lang="en-US" dirty="0" err="1"/>
              <a:t>x’s</a:t>
            </a:r>
            <a:r>
              <a:rPr lang="en-US" dirty="0"/>
              <a:t> = </a:t>
            </a:r>
            <a:r>
              <a:rPr lang="en-US" b="1" i="1" dirty="0"/>
              <a:t>input</a:t>
            </a:r>
            <a:r>
              <a:rPr lang="en-US" dirty="0"/>
              <a:t> variable/feature</a:t>
            </a:r>
          </a:p>
          <a:p>
            <a:pPr lvl="1"/>
            <a:r>
              <a:rPr lang="en-US" dirty="0" err="1"/>
              <a:t>y’s</a:t>
            </a:r>
            <a:r>
              <a:rPr lang="en-US" dirty="0"/>
              <a:t> = </a:t>
            </a:r>
            <a:r>
              <a:rPr lang="en-US" b="1" i="1" dirty="0"/>
              <a:t>output</a:t>
            </a:r>
            <a:r>
              <a:rPr lang="en-US" dirty="0"/>
              <a:t>/target variable</a:t>
            </a:r>
          </a:p>
          <a:p>
            <a:pPr lvl="1"/>
            <a:r>
              <a:rPr lang="en-US" dirty="0"/>
              <a:t>(</a:t>
            </a:r>
            <a:r>
              <a:rPr lang="en-US" dirty="0" err="1"/>
              <a:t>x,y</a:t>
            </a:r>
            <a:r>
              <a:rPr lang="en-US" dirty="0"/>
              <a:t>)=one </a:t>
            </a:r>
            <a:r>
              <a:rPr lang="en-US" b="1" i="1" dirty="0"/>
              <a:t>training example</a:t>
            </a:r>
          </a:p>
          <a:p>
            <a:pPr lvl="1"/>
            <a:r>
              <a:rPr lang="en-US" dirty="0"/>
              <a:t>(x</a:t>
            </a:r>
            <a:r>
              <a:rPr lang="en-US" baseline="30000" dirty="0"/>
              <a:t>(</a:t>
            </a:r>
            <a:r>
              <a:rPr lang="en-US" baseline="30000" dirty="0" err="1"/>
              <a:t>i</a:t>
            </a:r>
            <a:r>
              <a:rPr lang="en-US" baseline="30000" dirty="0"/>
              <a:t>),</a:t>
            </a:r>
            <a:r>
              <a:rPr lang="en-US" dirty="0"/>
              <a:t>y</a:t>
            </a:r>
            <a:r>
              <a:rPr lang="en-US" baseline="30000" dirty="0"/>
              <a:t>(</a:t>
            </a:r>
            <a:r>
              <a:rPr lang="en-US" baseline="30000" dirty="0" err="1"/>
              <a:t>i</a:t>
            </a:r>
            <a:r>
              <a:rPr lang="en-US" baseline="30000" dirty="0"/>
              <a:t>)</a:t>
            </a:r>
            <a:r>
              <a:rPr lang="en-US" dirty="0"/>
              <a:t>)= </a:t>
            </a:r>
            <a:r>
              <a:rPr lang="en-US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training example</a:t>
            </a:r>
          </a:p>
          <a:p>
            <a:pPr lvl="1"/>
            <a:r>
              <a:rPr lang="en-US" dirty="0"/>
              <a:t>{(x</a:t>
            </a:r>
            <a:r>
              <a:rPr lang="en-US" baseline="30000" dirty="0"/>
              <a:t>(</a:t>
            </a:r>
            <a:r>
              <a:rPr lang="en-US" baseline="30000" dirty="0" err="1"/>
              <a:t>i</a:t>
            </a:r>
            <a:r>
              <a:rPr lang="en-US" baseline="30000" dirty="0"/>
              <a:t>),</a:t>
            </a:r>
            <a:r>
              <a:rPr lang="en-US" dirty="0"/>
              <a:t>y</a:t>
            </a:r>
            <a:r>
              <a:rPr lang="en-US" baseline="30000" dirty="0"/>
              <a:t>(</a:t>
            </a:r>
            <a:r>
              <a:rPr lang="en-US" baseline="30000" dirty="0" err="1"/>
              <a:t>i</a:t>
            </a:r>
            <a:r>
              <a:rPr lang="en-US" baseline="30000" dirty="0"/>
              <a:t>)</a:t>
            </a:r>
            <a:r>
              <a:rPr lang="en-US" dirty="0"/>
              <a:t>);</a:t>
            </a:r>
            <a:r>
              <a:rPr lang="en-US" dirty="0" err="1"/>
              <a:t>i</a:t>
            </a:r>
            <a:r>
              <a:rPr lang="en-US" dirty="0"/>
              <a:t>=1,…….,m} = </a:t>
            </a:r>
            <a:r>
              <a:rPr lang="en-US" b="1" i="1" dirty="0"/>
              <a:t>training set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2100228"/>
            <a:ext cx="4419599" cy="4162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Supervised Learning Formal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534400" cy="4525963"/>
          </a:xfrm>
        </p:spPr>
        <p:txBody>
          <a:bodyPr/>
          <a:lstStyle/>
          <a:p>
            <a:r>
              <a:rPr lang="en-US" dirty="0"/>
              <a:t>Learning algorithm outputs a function </a:t>
            </a:r>
            <a:r>
              <a:rPr lang="en-US" b="1" i="1" dirty="0"/>
              <a:t>h, </a:t>
            </a:r>
            <a:r>
              <a:rPr lang="en-US" dirty="0"/>
              <a:t>also called as hypothesis.</a:t>
            </a:r>
          </a:p>
          <a:p>
            <a:r>
              <a:rPr lang="en-US" b="1" i="1" dirty="0"/>
              <a:t>h </a:t>
            </a:r>
            <a:r>
              <a:rPr lang="en-US" dirty="0"/>
              <a:t>takes as input (x), the size</a:t>
            </a:r>
          </a:p>
          <a:p>
            <a:pPr>
              <a:buNone/>
            </a:pPr>
            <a:r>
              <a:rPr lang="en-US" dirty="0"/>
              <a:t>of the house and outputs </a:t>
            </a:r>
          </a:p>
          <a:p>
            <a:pPr>
              <a:buNone/>
            </a:pPr>
            <a:r>
              <a:rPr lang="en-US" dirty="0"/>
              <a:t>the estimated value of y </a:t>
            </a:r>
          </a:p>
          <a:p>
            <a:r>
              <a:rPr lang="en-US" b="1" i="1" dirty="0"/>
              <a:t>h </a:t>
            </a:r>
            <a:r>
              <a:rPr lang="en-US" dirty="0"/>
              <a:t>maps input x to output y</a:t>
            </a:r>
          </a:p>
          <a:p>
            <a:r>
              <a:rPr lang="en-US" b="1" i="1" dirty="0"/>
              <a:t>How to represent h?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with ONE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 choice of </a:t>
            </a:r>
            <a:r>
              <a:rPr lang="en-US" i="1" dirty="0"/>
              <a:t>h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				h</a:t>
            </a:r>
            <a:r>
              <a:rPr lang="el-GR" baseline="-25000" dirty="0"/>
              <a:t>θ</a:t>
            </a:r>
            <a:r>
              <a:rPr lang="en-US" dirty="0"/>
              <a:t>(x) = </a:t>
            </a:r>
            <a:r>
              <a:rPr lang="el-GR" dirty="0"/>
              <a:t>θ</a:t>
            </a:r>
            <a:r>
              <a:rPr lang="en-US" baseline="-25000" dirty="0"/>
              <a:t>0</a:t>
            </a:r>
            <a:r>
              <a:rPr lang="en-US" dirty="0"/>
              <a:t>+</a:t>
            </a:r>
            <a:r>
              <a:rPr lang="el-GR" dirty="0"/>
              <a:t> θ</a:t>
            </a:r>
            <a:r>
              <a:rPr lang="en-US" baseline="-25000" dirty="0"/>
              <a:t>1</a:t>
            </a:r>
            <a:r>
              <a:rPr lang="en-US" dirty="0"/>
              <a:t>x</a:t>
            </a:r>
          </a:p>
          <a:p>
            <a:pPr>
              <a:buNone/>
            </a:pPr>
            <a:r>
              <a:rPr lang="en-US" dirty="0"/>
              <a:t>	Shorthand notation of h</a:t>
            </a:r>
            <a:r>
              <a:rPr lang="el-GR" baseline="-25000" dirty="0"/>
              <a:t>θ</a:t>
            </a:r>
            <a:r>
              <a:rPr lang="en-US" dirty="0"/>
              <a:t>(x) is h(x).</a:t>
            </a:r>
          </a:p>
          <a:p>
            <a:r>
              <a:rPr lang="en-US" dirty="0"/>
              <a:t>What is this function?</a:t>
            </a:r>
          </a:p>
          <a:p>
            <a:r>
              <a:rPr lang="en-US" dirty="0"/>
              <a:t>This model is known as …..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with ONE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334000"/>
          </a:xfrm>
        </p:spPr>
        <p:txBody>
          <a:bodyPr>
            <a:normAutofit/>
          </a:bodyPr>
          <a:lstStyle/>
          <a:p>
            <a:r>
              <a:rPr lang="en-US" dirty="0"/>
              <a:t>We have a training set with m training examples and the following hypothesis</a:t>
            </a:r>
          </a:p>
          <a:p>
            <a:pPr>
              <a:buNone/>
            </a:pPr>
            <a:r>
              <a:rPr lang="en-US" dirty="0"/>
              <a:t>				h</a:t>
            </a:r>
            <a:r>
              <a:rPr lang="el-GR" baseline="-25000" dirty="0"/>
              <a:t>θ</a:t>
            </a:r>
            <a:r>
              <a:rPr lang="en-US" dirty="0"/>
              <a:t>(x) = </a:t>
            </a:r>
            <a:r>
              <a:rPr lang="el-GR" dirty="0"/>
              <a:t>θ</a:t>
            </a:r>
            <a:r>
              <a:rPr lang="en-US" baseline="-25000" dirty="0"/>
              <a:t>0</a:t>
            </a:r>
            <a:r>
              <a:rPr lang="en-US" dirty="0"/>
              <a:t>+</a:t>
            </a:r>
            <a:r>
              <a:rPr lang="el-GR" dirty="0"/>
              <a:t> θ</a:t>
            </a:r>
            <a:r>
              <a:rPr lang="en-US" baseline="-25000" dirty="0"/>
              <a:t>1</a:t>
            </a:r>
            <a:r>
              <a:rPr lang="en-US" dirty="0"/>
              <a:t>x</a:t>
            </a:r>
          </a:p>
          <a:p>
            <a:r>
              <a:rPr lang="en-US" dirty="0"/>
              <a:t>What are </a:t>
            </a:r>
            <a:r>
              <a:rPr lang="el-GR" dirty="0"/>
              <a:t>θ</a:t>
            </a:r>
            <a:r>
              <a:rPr lang="en-US" dirty="0"/>
              <a:t>’s and what values to choose for them?</a:t>
            </a:r>
          </a:p>
          <a:p>
            <a:r>
              <a:rPr lang="en-US" dirty="0"/>
              <a:t>What happens when</a:t>
            </a:r>
          </a:p>
          <a:p>
            <a:pPr lvl="1"/>
            <a:r>
              <a:rPr lang="el-GR" dirty="0"/>
              <a:t>Θ</a:t>
            </a:r>
            <a:r>
              <a:rPr lang="en-US" baseline="-25000" dirty="0"/>
              <a:t>0 </a:t>
            </a:r>
            <a:r>
              <a:rPr lang="en-US" dirty="0"/>
              <a:t>= 1.5 and</a:t>
            </a:r>
            <a:r>
              <a:rPr lang="el-GR" dirty="0"/>
              <a:t> θ</a:t>
            </a:r>
            <a:r>
              <a:rPr lang="en-US" baseline="-25000" dirty="0"/>
              <a:t>1</a:t>
            </a:r>
            <a:r>
              <a:rPr lang="en-US" dirty="0"/>
              <a:t> = 0</a:t>
            </a:r>
          </a:p>
          <a:p>
            <a:pPr lvl="1"/>
            <a:r>
              <a:rPr lang="el-GR" dirty="0"/>
              <a:t>Θ</a:t>
            </a:r>
            <a:r>
              <a:rPr lang="en-US" baseline="-25000" dirty="0"/>
              <a:t>0 </a:t>
            </a:r>
            <a:r>
              <a:rPr lang="en-US" dirty="0"/>
              <a:t>= 0 and</a:t>
            </a:r>
            <a:r>
              <a:rPr lang="el-GR" dirty="0"/>
              <a:t> θ</a:t>
            </a:r>
            <a:r>
              <a:rPr lang="en-US" baseline="-25000" dirty="0"/>
              <a:t>1</a:t>
            </a:r>
            <a:r>
              <a:rPr lang="en-US" dirty="0"/>
              <a:t> = 0.5</a:t>
            </a:r>
          </a:p>
          <a:p>
            <a:pPr lvl="1"/>
            <a:r>
              <a:rPr lang="el-GR" dirty="0"/>
              <a:t>Θ</a:t>
            </a:r>
            <a:r>
              <a:rPr lang="en-US" baseline="-25000" dirty="0"/>
              <a:t>0 </a:t>
            </a:r>
            <a:r>
              <a:rPr lang="en-US" dirty="0"/>
              <a:t>= 1 and</a:t>
            </a:r>
            <a:r>
              <a:rPr lang="el-GR" dirty="0"/>
              <a:t> θ</a:t>
            </a:r>
            <a:r>
              <a:rPr lang="en-US" baseline="-25000" dirty="0"/>
              <a:t>1</a:t>
            </a:r>
            <a:r>
              <a:rPr lang="en-US" dirty="0"/>
              <a:t> = 0.5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with ONE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fit best possible straight line to our data?</a:t>
            </a:r>
          </a:p>
          <a:p>
            <a:r>
              <a:rPr lang="en-US" dirty="0"/>
              <a:t>Solution: choose the values of </a:t>
            </a:r>
            <a:r>
              <a:rPr lang="el-GR" dirty="0"/>
              <a:t>Θ</a:t>
            </a:r>
            <a:r>
              <a:rPr lang="en-US" baseline="-25000" dirty="0"/>
              <a:t>0 </a:t>
            </a:r>
            <a:r>
              <a:rPr lang="en-US" dirty="0"/>
              <a:t>and</a:t>
            </a:r>
            <a:r>
              <a:rPr lang="el-GR" dirty="0"/>
              <a:t> θ</a:t>
            </a:r>
            <a:r>
              <a:rPr lang="en-US" baseline="-25000" dirty="0"/>
              <a:t>1 </a:t>
            </a:r>
            <a:r>
              <a:rPr lang="en-US" dirty="0"/>
              <a:t>,so that h</a:t>
            </a:r>
            <a:r>
              <a:rPr lang="el-GR" baseline="-25000" dirty="0"/>
              <a:t>θ</a:t>
            </a:r>
            <a:r>
              <a:rPr lang="en-US" dirty="0"/>
              <a:t>(x) is close to </a:t>
            </a:r>
            <a:r>
              <a:rPr lang="en-US" i="1" dirty="0"/>
              <a:t>y</a:t>
            </a:r>
            <a:r>
              <a:rPr lang="en-US" dirty="0"/>
              <a:t>, for our training examples. 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3886200"/>
            <a:ext cx="3209925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with ONE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Formally, we can find </a:t>
            </a:r>
            <a:r>
              <a:rPr lang="el-GR" dirty="0"/>
              <a:t>θ</a:t>
            </a:r>
            <a:r>
              <a:rPr lang="en-US" baseline="-25000" dirty="0"/>
              <a:t>0 </a:t>
            </a:r>
            <a:r>
              <a:rPr lang="en-US" dirty="0"/>
              <a:t>and</a:t>
            </a:r>
            <a:r>
              <a:rPr lang="el-GR" dirty="0"/>
              <a:t> θ</a:t>
            </a:r>
            <a:r>
              <a:rPr lang="en-US" baseline="-25000" dirty="0"/>
              <a:t>1 </a:t>
            </a:r>
            <a:r>
              <a:rPr lang="en-US" dirty="0"/>
              <a:t>by using the following cost function: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Where are the parameters </a:t>
            </a:r>
            <a:r>
              <a:rPr lang="el-GR" dirty="0"/>
              <a:t>θ</a:t>
            </a:r>
            <a:r>
              <a:rPr lang="en-US" baseline="-25000" dirty="0"/>
              <a:t>0 </a:t>
            </a:r>
            <a:r>
              <a:rPr lang="en-US" dirty="0"/>
              <a:t>and</a:t>
            </a:r>
            <a:r>
              <a:rPr lang="el-GR" dirty="0"/>
              <a:t> θ</a:t>
            </a:r>
            <a:r>
              <a:rPr lang="en-US" baseline="-25000" dirty="0"/>
              <a:t>1 </a:t>
            </a:r>
            <a:r>
              <a:rPr lang="en-US" dirty="0"/>
              <a:t>in the equation?</a:t>
            </a:r>
          </a:p>
          <a:p>
            <a:r>
              <a:rPr lang="en-US" dirty="0"/>
              <a:t>Loss known as squared error function (most common for regression problems)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0" y="10572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62200" y="2514600"/>
            <a:ext cx="4540250" cy="990600"/>
          </a:xfrm>
          <a:prstGeom prst="rect">
            <a:avLst/>
          </a:prstGeom>
          <a:noFill/>
        </p:spPr>
      </p:pic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0" y="11430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29000" y="3733800"/>
            <a:ext cx="2209800" cy="690563"/>
          </a:xfrm>
          <a:prstGeom prst="rect">
            <a:avLst/>
          </a:prstGeom>
          <a:noFill/>
        </p:spPr>
      </p:pic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0" y="8382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14600" y="4648200"/>
            <a:ext cx="4540250" cy="9906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with ONE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/>
          </a:bodyPr>
          <a:lstStyle/>
          <a:p>
            <a:r>
              <a:rPr lang="en-US" dirty="0"/>
              <a:t>Summary</a:t>
            </a:r>
          </a:p>
          <a:p>
            <a:pPr>
              <a:buNone/>
            </a:pPr>
            <a:r>
              <a:rPr lang="en-US" dirty="0"/>
              <a:t>Hypothesis</a:t>
            </a:r>
          </a:p>
          <a:p>
            <a:pPr>
              <a:buNone/>
            </a:pPr>
            <a:r>
              <a:rPr lang="en-US" dirty="0"/>
              <a:t>				h</a:t>
            </a:r>
            <a:r>
              <a:rPr lang="el-GR" baseline="-25000" dirty="0"/>
              <a:t>θ</a:t>
            </a:r>
            <a:r>
              <a:rPr lang="en-US" dirty="0"/>
              <a:t>(x) = </a:t>
            </a:r>
            <a:r>
              <a:rPr lang="el-GR" dirty="0"/>
              <a:t>θ</a:t>
            </a:r>
            <a:r>
              <a:rPr lang="en-US" baseline="-25000" dirty="0"/>
              <a:t>0</a:t>
            </a:r>
            <a:r>
              <a:rPr lang="en-US" dirty="0"/>
              <a:t>+</a:t>
            </a:r>
            <a:r>
              <a:rPr lang="el-GR" dirty="0"/>
              <a:t> θ</a:t>
            </a:r>
            <a:r>
              <a:rPr lang="en-US" baseline="-25000" dirty="0"/>
              <a:t>1</a:t>
            </a:r>
            <a:r>
              <a:rPr lang="en-US" dirty="0"/>
              <a:t>x</a:t>
            </a:r>
          </a:p>
          <a:p>
            <a:pPr>
              <a:buNone/>
            </a:pPr>
            <a:r>
              <a:rPr lang="en-US" dirty="0"/>
              <a:t>Parameters</a:t>
            </a:r>
          </a:p>
          <a:p>
            <a:pPr>
              <a:buNone/>
            </a:pPr>
            <a:r>
              <a:rPr lang="en-US" dirty="0"/>
              <a:t>				</a:t>
            </a:r>
            <a:r>
              <a:rPr lang="el-GR" dirty="0"/>
              <a:t> θ</a:t>
            </a:r>
            <a:r>
              <a:rPr lang="en-US" baseline="-25000" dirty="0"/>
              <a:t>0</a:t>
            </a:r>
            <a:r>
              <a:rPr lang="en-US" dirty="0"/>
              <a:t>,</a:t>
            </a:r>
            <a:r>
              <a:rPr lang="el-GR" dirty="0"/>
              <a:t>θ</a:t>
            </a:r>
            <a:r>
              <a:rPr lang="en-US" baseline="-25000" dirty="0"/>
              <a:t>1</a:t>
            </a:r>
            <a:endParaRPr lang="en-US" dirty="0"/>
          </a:p>
          <a:p>
            <a:pPr>
              <a:buNone/>
            </a:pPr>
            <a:r>
              <a:rPr lang="en-US" dirty="0"/>
              <a:t>Cost Function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Goal</a:t>
            </a: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81400" y="6019800"/>
            <a:ext cx="2209800" cy="6905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Contour Plot</a:t>
            </a:r>
          </a:p>
        </p:txBody>
      </p:sp>
      <p:sp>
        <p:nvSpPr>
          <p:cNvPr id="2050" name="AutoShape 2" descr="Image result for contour plo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Image result for contour plo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5" name="Picture 7" descr="http://www.astro.umd.edu/~cychen/MATLAB/ContourPlots_0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447800"/>
            <a:ext cx="6705600" cy="5029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with ONE variable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762125"/>
            <a:ext cx="5943600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with ONE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automatically find the best set of parameters?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</a:t>
            </a:r>
          </a:p>
          <a:p>
            <a:pPr>
              <a:buNone/>
            </a:pPr>
            <a:r>
              <a:rPr lang="en-US" dirty="0"/>
              <a:t>				J(</a:t>
            </a:r>
            <a:r>
              <a:rPr lang="el-GR" dirty="0"/>
              <a:t>θ</a:t>
            </a:r>
            <a:r>
              <a:rPr lang="en-US" baseline="-25000" dirty="0"/>
              <a:t>0</a:t>
            </a:r>
            <a:r>
              <a:rPr lang="en-US" dirty="0"/>
              <a:t>,</a:t>
            </a:r>
            <a:r>
              <a:rPr lang="el-GR" dirty="0"/>
              <a:t>θ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r>
              <a:rPr lang="en-US" dirty="0"/>
              <a:t>Goal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general algorithm to estimate parameters (</a:t>
            </a:r>
            <a:r>
              <a:rPr lang="el-GR" dirty="0"/>
              <a:t>θ</a:t>
            </a:r>
            <a:r>
              <a:rPr lang="en-US" baseline="-25000" dirty="0"/>
              <a:t>0</a:t>
            </a:r>
            <a:r>
              <a:rPr lang="en-US" dirty="0"/>
              <a:t>,</a:t>
            </a:r>
            <a:r>
              <a:rPr lang="el-GR" dirty="0"/>
              <a:t>θ</a:t>
            </a:r>
            <a:r>
              <a:rPr lang="en-US" baseline="-25000" dirty="0"/>
              <a:t>1</a:t>
            </a:r>
            <a:r>
              <a:rPr lang="en-US" dirty="0"/>
              <a:t>,</a:t>
            </a:r>
            <a:r>
              <a:rPr lang="el-GR" dirty="0"/>
              <a:t> θ</a:t>
            </a:r>
            <a:r>
              <a:rPr lang="en-US" baseline="-25000" dirty="0"/>
              <a:t>2</a:t>
            </a:r>
            <a:r>
              <a:rPr lang="en-US" dirty="0"/>
              <a:t>,…………..,</a:t>
            </a:r>
            <a:r>
              <a:rPr lang="el-GR" dirty="0"/>
              <a:t>θ</a:t>
            </a:r>
            <a:r>
              <a:rPr lang="en-US" baseline="-25000" dirty="0"/>
              <a:t>n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95600" y="3657600"/>
            <a:ext cx="2209800" cy="6905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Intuition</a:t>
            </a:r>
          </a:p>
        </p:txBody>
      </p:sp>
      <p:pic>
        <p:nvPicPr>
          <p:cNvPr id="1028" name="Picture 4" descr="C:\Users\Hasan\Desktop\main-qimg-1ec77cdbb354c3b9d439fbe436dc5d4f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2590799"/>
            <a:ext cx="7086600" cy="39115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Intuition</a:t>
            </a:r>
          </a:p>
        </p:txBody>
      </p:sp>
      <p:pic>
        <p:nvPicPr>
          <p:cNvPr id="2050" name="Picture 2" descr="C:\Users\Hasan\Desktop\350px-Gradient_descent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1600200"/>
            <a:ext cx="5029200" cy="538842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 dirty="0"/>
              <a:t>Problems:</a:t>
            </a:r>
          </a:p>
          <a:p>
            <a:pPr lvl="1"/>
            <a:r>
              <a:rPr lang="en-US" dirty="0"/>
              <a:t>Starting point/initial value of parameter</a:t>
            </a:r>
          </a:p>
          <a:p>
            <a:pPr lvl="1"/>
            <a:r>
              <a:rPr lang="en-US" dirty="0"/>
              <a:t>Local minima/global minima</a:t>
            </a:r>
          </a:p>
          <a:p>
            <a:pPr lvl="1"/>
            <a:endParaRPr lang="en-US" dirty="0"/>
          </a:p>
        </p:txBody>
      </p:sp>
      <p:pic>
        <p:nvPicPr>
          <p:cNvPr id="3074" name="Picture 2" descr="C:\Users\Hasan\Desktop\bprop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32000" y="3048000"/>
            <a:ext cx="5080000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681038"/>
            <a:ext cx="7677150" cy="537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7191" name="AutoShape 7"/>
          <p:cNvSpPr>
            <a:spLocks noChangeArrowheads="1"/>
          </p:cNvSpPr>
          <p:nvPr/>
        </p:nvSpPr>
        <p:spPr bwMode="auto">
          <a:xfrm>
            <a:off x="3790950" y="2698749"/>
            <a:ext cx="2286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2" name="AutoShape 8"/>
          <p:cNvSpPr>
            <a:spLocks noChangeArrowheads="1"/>
          </p:cNvSpPr>
          <p:nvPr/>
        </p:nvSpPr>
        <p:spPr bwMode="auto">
          <a:xfrm>
            <a:off x="3829050" y="2989261"/>
            <a:ext cx="2286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3" name="AutoShape 9"/>
          <p:cNvSpPr>
            <a:spLocks noChangeArrowheads="1"/>
          </p:cNvSpPr>
          <p:nvPr/>
        </p:nvSpPr>
        <p:spPr bwMode="auto">
          <a:xfrm>
            <a:off x="3810000" y="3284536"/>
            <a:ext cx="2286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4" name="AutoShape 10"/>
          <p:cNvSpPr>
            <a:spLocks noChangeArrowheads="1"/>
          </p:cNvSpPr>
          <p:nvPr/>
        </p:nvSpPr>
        <p:spPr bwMode="auto">
          <a:xfrm>
            <a:off x="3581400" y="3589336"/>
            <a:ext cx="2286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5" name="AutoShape 11"/>
          <p:cNvSpPr>
            <a:spLocks noChangeArrowheads="1"/>
          </p:cNvSpPr>
          <p:nvPr/>
        </p:nvSpPr>
        <p:spPr bwMode="auto">
          <a:xfrm>
            <a:off x="3657600" y="3894136"/>
            <a:ext cx="2286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6" name="AutoShape 12"/>
          <p:cNvSpPr>
            <a:spLocks noChangeArrowheads="1"/>
          </p:cNvSpPr>
          <p:nvPr/>
        </p:nvSpPr>
        <p:spPr bwMode="auto">
          <a:xfrm>
            <a:off x="3962400" y="3970336"/>
            <a:ext cx="2286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7" name="AutoShape 13"/>
          <p:cNvSpPr>
            <a:spLocks noChangeArrowheads="1"/>
          </p:cNvSpPr>
          <p:nvPr/>
        </p:nvSpPr>
        <p:spPr bwMode="auto">
          <a:xfrm>
            <a:off x="4114800" y="4198936"/>
            <a:ext cx="2286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8" name="AutoShape 14"/>
          <p:cNvSpPr>
            <a:spLocks noChangeArrowheads="1"/>
          </p:cNvSpPr>
          <p:nvPr/>
        </p:nvSpPr>
        <p:spPr bwMode="auto">
          <a:xfrm>
            <a:off x="4038600" y="4503736"/>
            <a:ext cx="2286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477199" name="AutoShape 15"/>
          <p:cNvCxnSpPr>
            <a:cxnSpLocks noChangeShapeType="1"/>
          </p:cNvCxnSpPr>
          <p:nvPr/>
        </p:nvCxnSpPr>
        <p:spPr bwMode="auto">
          <a:xfrm>
            <a:off x="3692525" y="3703636"/>
            <a:ext cx="76200" cy="3048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0" name="AutoShape 16"/>
          <p:cNvCxnSpPr>
            <a:cxnSpLocks noChangeShapeType="1"/>
          </p:cNvCxnSpPr>
          <p:nvPr/>
        </p:nvCxnSpPr>
        <p:spPr bwMode="auto">
          <a:xfrm flipH="1">
            <a:off x="3692525" y="3398836"/>
            <a:ext cx="228600" cy="3048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1" name="AutoShape 17"/>
          <p:cNvCxnSpPr>
            <a:cxnSpLocks noChangeShapeType="1"/>
          </p:cNvCxnSpPr>
          <p:nvPr/>
        </p:nvCxnSpPr>
        <p:spPr bwMode="auto">
          <a:xfrm>
            <a:off x="3775075" y="4008436"/>
            <a:ext cx="304800" cy="762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2" name="AutoShape 18"/>
          <p:cNvCxnSpPr>
            <a:cxnSpLocks noChangeShapeType="1"/>
          </p:cNvCxnSpPr>
          <p:nvPr/>
        </p:nvCxnSpPr>
        <p:spPr bwMode="auto">
          <a:xfrm>
            <a:off x="4068763" y="4084636"/>
            <a:ext cx="152400" cy="228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3" name="AutoShape 19"/>
          <p:cNvCxnSpPr>
            <a:cxnSpLocks noChangeShapeType="1"/>
          </p:cNvCxnSpPr>
          <p:nvPr/>
        </p:nvCxnSpPr>
        <p:spPr bwMode="auto">
          <a:xfrm flipH="1">
            <a:off x="4144963" y="4313236"/>
            <a:ext cx="76200" cy="3048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477204" name="Line 20"/>
          <p:cNvSpPr>
            <a:spLocks noChangeShapeType="1"/>
          </p:cNvSpPr>
          <p:nvPr/>
        </p:nvSpPr>
        <p:spPr bwMode="auto">
          <a:xfrm>
            <a:off x="3905252" y="2813049"/>
            <a:ext cx="42863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205" name="Line 21"/>
          <p:cNvSpPr>
            <a:spLocks noChangeShapeType="1"/>
          </p:cNvSpPr>
          <p:nvPr/>
        </p:nvSpPr>
        <p:spPr bwMode="auto">
          <a:xfrm flipH="1">
            <a:off x="3924302" y="3113087"/>
            <a:ext cx="23813" cy="2809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0196" name="Text Box 22"/>
          <p:cNvSpPr txBox="1">
            <a:spLocks noChangeArrowheads="1"/>
          </p:cNvSpPr>
          <p:nvPr/>
        </p:nvSpPr>
        <p:spPr bwMode="auto">
          <a:xfrm>
            <a:off x="6772276" y="4952999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endParaRPr lang="en-US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50197" name="Text Box 23"/>
          <p:cNvSpPr txBox="1">
            <a:spLocks noChangeArrowheads="1"/>
          </p:cNvSpPr>
          <p:nvPr/>
        </p:nvSpPr>
        <p:spPr bwMode="auto">
          <a:xfrm>
            <a:off x="2751138" y="5332412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endParaRPr lang="en-US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596286" y="3173093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J(</a:t>
            </a:r>
            <a:r>
              <a:rPr lang="en-US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r>
              <a:rPr lang="en-US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,</a:t>
            </a:r>
            <a:r>
              <a:rPr lang="en-US" baseline="-250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r>
              <a:rPr lang="en-US" dirty="0">
                <a:solidFill>
                  <a:prstClr val="black"/>
                </a:solidFill>
              </a:rPr>
              <a:t>)</a:t>
            </a:r>
            <a:endParaRPr lang="en-US" baseline="-25000" dirty="0">
              <a:solidFill>
                <a:prstClr val="black"/>
              </a:solidFill>
              <a:latin typeface="Symbol" pitchFamily="18" charset="2"/>
              <a:sym typeface="Symbol" pitchFamily="18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750240" y="2796840"/>
              <a:ext cx="6381720" cy="16315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743400" y="3717600"/>
                <a:ext cx="6395400" cy="220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436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191" grpId="0" animBg="1"/>
      <p:bldP spid="477192" grpId="0" animBg="1"/>
      <p:bldP spid="477193" grpId="0" animBg="1"/>
      <p:bldP spid="477194" grpId="0" animBg="1"/>
      <p:bldP spid="477195" grpId="0" animBg="1"/>
      <p:bldP spid="477196" grpId="0" animBg="1"/>
      <p:bldP spid="477197" grpId="0" animBg="1"/>
      <p:bldP spid="477198" grpId="0" animBg="1"/>
      <p:bldP spid="477204" grpId="0" animBg="1"/>
      <p:bldP spid="47720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681038"/>
            <a:ext cx="7677150" cy="537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2751138" y="5324475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endParaRPr lang="en-US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6772276" y="4945061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endParaRPr lang="en-US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479239" name="AutoShape 7"/>
          <p:cNvSpPr>
            <a:spLocks noChangeArrowheads="1"/>
          </p:cNvSpPr>
          <p:nvPr/>
        </p:nvSpPr>
        <p:spPr bwMode="auto">
          <a:xfrm>
            <a:off x="3986213" y="2566987"/>
            <a:ext cx="2286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0" name="AutoShape 8"/>
          <p:cNvSpPr>
            <a:spLocks noChangeArrowheads="1"/>
          </p:cNvSpPr>
          <p:nvPr/>
        </p:nvSpPr>
        <p:spPr bwMode="auto">
          <a:xfrm>
            <a:off x="4243388" y="2876549"/>
            <a:ext cx="2286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1" name="AutoShape 9"/>
          <p:cNvSpPr>
            <a:spLocks noChangeArrowheads="1"/>
          </p:cNvSpPr>
          <p:nvPr/>
        </p:nvSpPr>
        <p:spPr bwMode="auto">
          <a:xfrm>
            <a:off x="4529138" y="3000373"/>
            <a:ext cx="2286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2" name="AutoShape 10"/>
          <p:cNvSpPr>
            <a:spLocks noChangeArrowheads="1"/>
          </p:cNvSpPr>
          <p:nvPr/>
        </p:nvSpPr>
        <p:spPr bwMode="auto">
          <a:xfrm>
            <a:off x="4876800" y="3276599"/>
            <a:ext cx="2286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3" name="AutoShape 11"/>
          <p:cNvSpPr>
            <a:spLocks noChangeArrowheads="1"/>
          </p:cNvSpPr>
          <p:nvPr/>
        </p:nvSpPr>
        <p:spPr bwMode="auto">
          <a:xfrm>
            <a:off x="5257800" y="3505199"/>
            <a:ext cx="2286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4" name="AutoShape 12"/>
          <p:cNvSpPr>
            <a:spLocks noChangeArrowheads="1"/>
          </p:cNvSpPr>
          <p:nvPr/>
        </p:nvSpPr>
        <p:spPr bwMode="auto">
          <a:xfrm>
            <a:off x="5638800" y="3657599"/>
            <a:ext cx="2286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5" name="AutoShape 13"/>
          <p:cNvSpPr>
            <a:spLocks noChangeArrowheads="1"/>
          </p:cNvSpPr>
          <p:nvPr/>
        </p:nvSpPr>
        <p:spPr bwMode="auto">
          <a:xfrm>
            <a:off x="6019800" y="3809999"/>
            <a:ext cx="2286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479246" name="AutoShape 14"/>
          <p:cNvCxnSpPr>
            <a:cxnSpLocks noChangeShapeType="1"/>
          </p:cNvCxnSpPr>
          <p:nvPr/>
        </p:nvCxnSpPr>
        <p:spPr bwMode="auto">
          <a:xfrm>
            <a:off x="4976813" y="3390899"/>
            <a:ext cx="381000" cy="228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9247" name="AutoShape 15"/>
          <p:cNvCxnSpPr>
            <a:cxnSpLocks noChangeShapeType="1"/>
          </p:cNvCxnSpPr>
          <p:nvPr/>
        </p:nvCxnSpPr>
        <p:spPr bwMode="auto">
          <a:xfrm>
            <a:off x="5368925" y="3619499"/>
            <a:ext cx="381000" cy="1524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9248" name="AutoShape 16"/>
          <p:cNvCxnSpPr>
            <a:cxnSpLocks noChangeShapeType="1"/>
          </p:cNvCxnSpPr>
          <p:nvPr/>
        </p:nvCxnSpPr>
        <p:spPr bwMode="auto">
          <a:xfrm>
            <a:off x="5749925" y="3771899"/>
            <a:ext cx="381000" cy="1524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479249" name="Line 17"/>
          <p:cNvSpPr>
            <a:spLocks noChangeShapeType="1"/>
          </p:cNvSpPr>
          <p:nvPr/>
        </p:nvSpPr>
        <p:spPr bwMode="auto">
          <a:xfrm>
            <a:off x="4100513" y="2686049"/>
            <a:ext cx="247650" cy="30003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50" name="Line 18"/>
          <p:cNvSpPr>
            <a:spLocks noChangeShapeType="1"/>
          </p:cNvSpPr>
          <p:nvPr/>
        </p:nvSpPr>
        <p:spPr bwMode="auto">
          <a:xfrm>
            <a:off x="4348163" y="2990849"/>
            <a:ext cx="290512" cy="13335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51" name="AutoShape 19"/>
          <p:cNvSpPr>
            <a:spLocks noChangeArrowheads="1"/>
          </p:cNvSpPr>
          <p:nvPr/>
        </p:nvSpPr>
        <p:spPr bwMode="auto">
          <a:xfrm>
            <a:off x="3790950" y="2690812"/>
            <a:ext cx="2286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52" name="Line 20"/>
          <p:cNvSpPr>
            <a:spLocks noChangeShapeType="1"/>
          </p:cNvSpPr>
          <p:nvPr/>
        </p:nvSpPr>
        <p:spPr bwMode="auto">
          <a:xfrm>
            <a:off x="4643439" y="3128964"/>
            <a:ext cx="333375" cy="2619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596286" y="3177856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J(</a:t>
            </a:r>
            <a:r>
              <a:rPr lang="en-US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r>
              <a:rPr lang="en-US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,</a:t>
            </a:r>
            <a:r>
              <a:rPr lang="en-US" baseline="-250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r>
              <a:rPr lang="en-US" dirty="0">
                <a:solidFill>
                  <a:prstClr val="black"/>
                </a:solidFill>
              </a:rPr>
              <a:t>)</a:t>
            </a:r>
            <a:endParaRPr lang="en-US" baseline="-25000" dirty="0">
              <a:solidFill>
                <a:prstClr val="black"/>
              </a:solidFill>
              <a:latin typeface="Symbol" pitchFamily="18" charset="2"/>
              <a:sym typeface="Symbol" pitchFamily="18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3665880" y="1902600"/>
              <a:ext cx="3044880" cy="23040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3655800" y="2525280"/>
                <a:ext cx="3064320" cy="309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416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9" grpId="0" animBg="1"/>
      <p:bldP spid="479240" grpId="0" animBg="1"/>
      <p:bldP spid="479241" grpId="0" animBg="1"/>
      <p:bldP spid="479242" grpId="0" animBg="1"/>
      <p:bldP spid="479243" grpId="0" animBg="1"/>
      <p:bldP spid="479244" grpId="0" animBg="1"/>
      <p:bldP spid="479245" grpId="0" animBg="1"/>
      <p:bldP spid="479249" grpId="0" animBg="1"/>
      <p:bldP spid="479250" grpId="0" animBg="1"/>
      <p:bldP spid="479251" grpId="0" animBg="1"/>
      <p:bldP spid="47925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283" y="1530533"/>
            <a:ext cx="4220717" cy="169526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230" y="2190425"/>
            <a:ext cx="2731770" cy="408432"/>
          </a:xfrm>
          <a:prstGeom prst="rect">
            <a:avLst/>
          </a:prstGeom>
        </p:spPr>
      </p:pic>
      <p:cxnSp>
        <p:nvCxnSpPr>
          <p:cNvPr id="30" name="Straight Connector 29"/>
          <p:cNvCxnSpPr/>
          <p:nvPr/>
        </p:nvCxnSpPr>
        <p:spPr>
          <a:xfrm>
            <a:off x="609600" y="3733800"/>
            <a:ext cx="7696200" cy="0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13466" y="3835401"/>
            <a:ext cx="3905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Correct: Simultaneous update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582363"/>
            <a:ext cx="3810000" cy="1589837"/>
          </a:xfrm>
          <a:prstGeom prst="rect">
            <a:avLst/>
          </a:prstGeom>
        </p:spPr>
      </p:pic>
      <p:cxnSp>
        <p:nvCxnSpPr>
          <p:cNvPr id="39" name="Straight Connector 38"/>
          <p:cNvCxnSpPr/>
          <p:nvPr/>
        </p:nvCxnSpPr>
        <p:spPr>
          <a:xfrm>
            <a:off x="4457700" y="3835400"/>
            <a:ext cx="0" cy="2540000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704466" y="3835401"/>
            <a:ext cx="1391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Incorrect: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111" y="4582363"/>
            <a:ext cx="3488889" cy="1519123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Gradient Descent Algorithm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6193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981200"/>
            <a:ext cx="360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Gradient descent algorithm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18" y="3160776"/>
            <a:ext cx="3970782" cy="2554224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3657600"/>
            <a:ext cx="2341626" cy="40843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049588" y="1976735"/>
            <a:ext cx="3256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Linear Regression Model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614480"/>
            <a:ext cx="4475226" cy="79572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4419600" y="2057400"/>
            <a:ext cx="0" cy="4572000"/>
          </a:xfrm>
          <a:prstGeom prst="line">
            <a:avLst/>
          </a:prstGeom>
          <a:ln w="12700">
            <a:solidFill>
              <a:schemeClr val="tx1">
                <a:alpha val="5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Gradient Descent for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13999047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/>
              <a:t>Gradient Descent for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key is the derivative term …..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/>
              <a:t>Gradient Descent for Linear Regression</a:t>
            </a:r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506" y="2057400"/>
            <a:ext cx="8722894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/>
              <a:t>Gradient Descent for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US" dirty="0"/>
              <a:t>Cost function of linear regression is bowl shaped also known as convex functions</a:t>
            </a:r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2409825"/>
            <a:ext cx="5676900" cy="44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1173843"/>
            <a:ext cx="4388757" cy="43887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1173843"/>
            <a:ext cx="4388757" cy="438875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79400"/>
            <a:ext cx="678942" cy="408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771567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9" y="889001"/>
            <a:ext cx="519391" cy="2971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79400"/>
            <a:ext cx="1076706" cy="408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2" y="771567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889000"/>
            <a:ext cx="515722" cy="2926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/>
              <p14:cNvContentPartPr/>
              <p14:nvPr/>
            </p14:nvContentPartPr>
            <p14:xfrm>
              <a:off x="2229120" y="558000"/>
              <a:ext cx="5546520" cy="32695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2223000" y="732480"/>
                <a:ext cx="5556600" cy="438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1532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1173843"/>
            <a:ext cx="4388756" cy="43887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1173843"/>
            <a:ext cx="4388757" cy="43887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79400"/>
            <a:ext cx="678942" cy="408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771567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9" y="889001"/>
            <a:ext cx="519391" cy="2971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79400"/>
            <a:ext cx="1076706" cy="408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2" y="771567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889000"/>
            <a:ext cx="515722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9187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1173843"/>
            <a:ext cx="4388756" cy="43887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1173843"/>
            <a:ext cx="4388756" cy="43887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79400"/>
            <a:ext cx="678942" cy="408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771567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9" y="889001"/>
            <a:ext cx="519391" cy="2971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79400"/>
            <a:ext cx="1076706" cy="408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2" y="771567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889000"/>
            <a:ext cx="515722" cy="2926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/>
              <p14:cNvContentPartPr/>
              <p14:nvPr/>
            </p14:nvContentPartPr>
            <p14:xfrm>
              <a:off x="7046280" y="2918520"/>
              <a:ext cx="114120" cy="1861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7038000" y="3879840"/>
                <a:ext cx="130680" cy="27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41901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1173843"/>
            <a:ext cx="4388756" cy="43887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1173843"/>
            <a:ext cx="4388756" cy="43887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79400"/>
            <a:ext cx="678942" cy="408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771567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9" y="889001"/>
            <a:ext cx="519391" cy="2971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79400"/>
            <a:ext cx="1076706" cy="408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2" y="771567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889000"/>
            <a:ext cx="515722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6775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1173843"/>
            <a:ext cx="4388756" cy="43887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1173843"/>
            <a:ext cx="4388756" cy="43887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79400"/>
            <a:ext cx="678942" cy="408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771567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9" y="889001"/>
            <a:ext cx="519391" cy="2971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79400"/>
            <a:ext cx="1076706" cy="408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2" y="771567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889000"/>
            <a:ext cx="515722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2834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1173843"/>
            <a:ext cx="4388756" cy="43887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1173843"/>
            <a:ext cx="4388756" cy="43887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79400"/>
            <a:ext cx="678942" cy="408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771567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9" y="889001"/>
            <a:ext cx="519391" cy="2971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79400"/>
            <a:ext cx="1076706" cy="408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2" y="771567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889000"/>
            <a:ext cx="515722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410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1173843"/>
            <a:ext cx="4388756" cy="43887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1173843"/>
            <a:ext cx="4388756" cy="43887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79400"/>
            <a:ext cx="678942" cy="408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771567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9" y="889001"/>
            <a:ext cx="519391" cy="2971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79400"/>
            <a:ext cx="1076706" cy="408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2" y="771567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889000"/>
            <a:ext cx="515722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1050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1173843"/>
            <a:ext cx="4388756" cy="43887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1173843"/>
            <a:ext cx="4388756" cy="43887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79400"/>
            <a:ext cx="678942" cy="408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771567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9" y="889001"/>
            <a:ext cx="519391" cy="2971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79400"/>
            <a:ext cx="1076706" cy="408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2" y="771567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889000"/>
            <a:ext cx="515722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2411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1173843"/>
            <a:ext cx="4388756" cy="43887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1173843"/>
            <a:ext cx="4388756" cy="43887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79400"/>
            <a:ext cx="678942" cy="408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771567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9" y="889001"/>
            <a:ext cx="519391" cy="2971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79400"/>
            <a:ext cx="1076706" cy="408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2" y="771567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889000"/>
            <a:ext cx="515722" cy="2926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/>
              <p14:cNvContentPartPr/>
              <p14:nvPr/>
            </p14:nvContentPartPr>
            <p14:xfrm>
              <a:off x="750240" y="1988640"/>
              <a:ext cx="6045840" cy="21967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743400" y="2639520"/>
                <a:ext cx="6060600" cy="295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71809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Linear Regression with MULTIPLE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known as Multivariate Linear Regression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2362200"/>
            <a:ext cx="4495800" cy="425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Linear Regression with MULTIPLE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/>
          <a:lstStyle/>
          <a:p>
            <a:r>
              <a:rPr lang="en-US" dirty="0"/>
              <a:t>Multiple features (variables)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Notation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2063" y="2057400"/>
            <a:ext cx="6619875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5029200"/>
            <a:ext cx="5895168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Linear Regression with MULTIPLE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Previous Hypothesis</a:t>
            </a:r>
          </a:p>
          <a:p>
            <a:pPr>
              <a:buNone/>
            </a:pPr>
            <a:r>
              <a:rPr lang="en-US" dirty="0"/>
              <a:t>				h</a:t>
            </a:r>
            <a:r>
              <a:rPr lang="el-GR" baseline="-25000" dirty="0"/>
              <a:t>θ</a:t>
            </a:r>
            <a:r>
              <a:rPr lang="en-US" dirty="0"/>
              <a:t>(x) = </a:t>
            </a:r>
            <a:r>
              <a:rPr lang="el-GR" dirty="0"/>
              <a:t>θ</a:t>
            </a:r>
            <a:r>
              <a:rPr lang="en-US" baseline="-25000" dirty="0"/>
              <a:t>0</a:t>
            </a:r>
            <a:r>
              <a:rPr lang="en-US" dirty="0"/>
              <a:t>+</a:t>
            </a:r>
            <a:r>
              <a:rPr lang="el-GR" dirty="0"/>
              <a:t> θ</a:t>
            </a:r>
            <a:r>
              <a:rPr lang="en-US" baseline="-25000" dirty="0"/>
              <a:t>1</a:t>
            </a:r>
            <a:r>
              <a:rPr lang="en-US" dirty="0"/>
              <a:t>x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Now</a:t>
            </a:r>
          </a:p>
          <a:p>
            <a:pPr>
              <a:buNone/>
            </a:pPr>
            <a:r>
              <a:rPr lang="en-US" dirty="0"/>
              <a:t>			h</a:t>
            </a:r>
            <a:r>
              <a:rPr lang="el-GR" baseline="-25000" dirty="0"/>
              <a:t>θ</a:t>
            </a:r>
            <a:r>
              <a:rPr lang="en-US" dirty="0"/>
              <a:t>(x) = </a:t>
            </a:r>
            <a:r>
              <a:rPr lang="el-GR" dirty="0"/>
              <a:t>θ</a:t>
            </a:r>
            <a:r>
              <a:rPr lang="en-US" baseline="-25000" dirty="0"/>
              <a:t>0</a:t>
            </a:r>
            <a:r>
              <a:rPr lang="en-US" dirty="0"/>
              <a:t>+</a:t>
            </a:r>
            <a:r>
              <a:rPr lang="el-GR" dirty="0"/>
              <a:t> θ</a:t>
            </a:r>
            <a:r>
              <a:rPr lang="en-US" baseline="-25000" dirty="0"/>
              <a:t>1</a:t>
            </a: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+</a:t>
            </a:r>
            <a:r>
              <a:rPr lang="el-GR" dirty="0"/>
              <a:t> θ</a:t>
            </a:r>
            <a:r>
              <a:rPr lang="en-US" baseline="-25000" dirty="0"/>
              <a:t>2</a:t>
            </a: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+</a:t>
            </a:r>
            <a:r>
              <a:rPr lang="el-GR" dirty="0"/>
              <a:t> θ</a:t>
            </a:r>
            <a:r>
              <a:rPr lang="en-US" baseline="-25000" dirty="0"/>
              <a:t>3</a:t>
            </a:r>
            <a:r>
              <a:rPr lang="en-US" dirty="0"/>
              <a:t>x</a:t>
            </a:r>
            <a:r>
              <a:rPr lang="en-US" baseline="-25000" dirty="0"/>
              <a:t>3</a:t>
            </a:r>
            <a:r>
              <a:rPr lang="en-US" dirty="0"/>
              <a:t> +</a:t>
            </a:r>
            <a:r>
              <a:rPr lang="el-GR" dirty="0"/>
              <a:t> θ</a:t>
            </a:r>
            <a:r>
              <a:rPr lang="en-US" baseline="-25000" dirty="0"/>
              <a:t>4</a:t>
            </a:r>
            <a:r>
              <a:rPr lang="en-US" dirty="0"/>
              <a:t>x</a:t>
            </a:r>
            <a:r>
              <a:rPr lang="en-US" baseline="-25000" dirty="0"/>
              <a:t>4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Example</a:t>
            </a:r>
          </a:p>
          <a:p>
            <a:pPr algn="ctr">
              <a:buNone/>
            </a:pPr>
            <a:r>
              <a:rPr lang="en-US" dirty="0"/>
              <a:t>		h</a:t>
            </a:r>
            <a:r>
              <a:rPr lang="el-GR" baseline="-25000" dirty="0"/>
              <a:t>θ</a:t>
            </a:r>
            <a:r>
              <a:rPr lang="en-US" dirty="0"/>
              <a:t>(x) = 80+</a:t>
            </a:r>
            <a:r>
              <a:rPr lang="el-GR" dirty="0"/>
              <a:t> </a:t>
            </a:r>
            <a:r>
              <a:rPr lang="en-US" dirty="0"/>
              <a:t>0.1x</a:t>
            </a:r>
            <a:r>
              <a:rPr lang="en-US" baseline="-25000" dirty="0"/>
              <a:t>1</a:t>
            </a:r>
            <a:r>
              <a:rPr lang="en-US" dirty="0"/>
              <a:t>+</a:t>
            </a:r>
            <a:r>
              <a:rPr lang="el-GR" dirty="0"/>
              <a:t> </a:t>
            </a:r>
            <a:r>
              <a:rPr lang="en-US" dirty="0"/>
              <a:t>0.01x</a:t>
            </a:r>
            <a:r>
              <a:rPr lang="en-US" baseline="-25000" dirty="0"/>
              <a:t>2</a:t>
            </a:r>
            <a:r>
              <a:rPr lang="en-US" dirty="0"/>
              <a:t>+</a:t>
            </a:r>
            <a:r>
              <a:rPr lang="el-GR" dirty="0"/>
              <a:t> </a:t>
            </a:r>
            <a:r>
              <a:rPr lang="en-US" dirty="0"/>
              <a:t>3x</a:t>
            </a:r>
            <a:r>
              <a:rPr lang="en-US" baseline="-25000" dirty="0"/>
              <a:t>3</a:t>
            </a:r>
            <a:r>
              <a:rPr lang="en-US" dirty="0"/>
              <a:t> -</a:t>
            </a:r>
            <a:r>
              <a:rPr lang="el-GR" dirty="0"/>
              <a:t> </a:t>
            </a:r>
            <a:r>
              <a:rPr lang="en-US" dirty="0"/>
              <a:t>2x</a:t>
            </a:r>
            <a:r>
              <a:rPr lang="en-US" baseline="-25000" dirty="0"/>
              <a:t>4</a:t>
            </a:r>
          </a:p>
          <a:p>
            <a:pPr algn="ctr">
              <a:buNone/>
            </a:pPr>
            <a:endParaRPr lang="en-US" baseline="-25000" dirty="0"/>
          </a:p>
          <a:p>
            <a:pPr algn="ctr">
              <a:buNone/>
            </a:pPr>
            <a:endParaRPr lang="en-US" baseline="-25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Linear Regression with MULTIPLE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Generally</a:t>
            </a:r>
          </a:p>
          <a:p>
            <a:pPr>
              <a:buNone/>
            </a:pPr>
            <a:r>
              <a:rPr lang="en-US" dirty="0"/>
              <a:t>		h</a:t>
            </a:r>
            <a:r>
              <a:rPr lang="el-GR" baseline="-25000" dirty="0"/>
              <a:t>θ</a:t>
            </a:r>
            <a:r>
              <a:rPr lang="en-US" dirty="0"/>
              <a:t>(x) = </a:t>
            </a:r>
            <a:r>
              <a:rPr lang="el-GR" dirty="0"/>
              <a:t>θ</a:t>
            </a:r>
            <a:r>
              <a:rPr lang="en-US" baseline="-25000" dirty="0"/>
              <a:t>0</a:t>
            </a:r>
            <a:r>
              <a:rPr lang="en-US" dirty="0"/>
              <a:t>+</a:t>
            </a:r>
            <a:r>
              <a:rPr lang="el-GR" dirty="0"/>
              <a:t> θ</a:t>
            </a:r>
            <a:r>
              <a:rPr lang="en-US" baseline="-25000" dirty="0"/>
              <a:t>1</a:t>
            </a: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+</a:t>
            </a:r>
            <a:r>
              <a:rPr lang="el-GR" dirty="0"/>
              <a:t> θ</a:t>
            </a:r>
            <a:r>
              <a:rPr lang="en-US" baseline="-25000" dirty="0"/>
              <a:t>2</a:t>
            </a: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+</a:t>
            </a:r>
            <a:r>
              <a:rPr lang="el-GR" dirty="0"/>
              <a:t> θ</a:t>
            </a:r>
            <a:r>
              <a:rPr lang="en-US" baseline="-25000" dirty="0"/>
              <a:t>3</a:t>
            </a:r>
            <a:r>
              <a:rPr lang="en-US" dirty="0"/>
              <a:t>x</a:t>
            </a:r>
            <a:r>
              <a:rPr lang="en-US" baseline="-25000" dirty="0"/>
              <a:t>3</a:t>
            </a:r>
            <a:r>
              <a:rPr lang="en-US" dirty="0"/>
              <a:t> +………+</a:t>
            </a:r>
            <a:r>
              <a:rPr lang="el-GR" dirty="0"/>
              <a:t> θ</a:t>
            </a:r>
            <a:r>
              <a:rPr lang="en-US" baseline="-25000" dirty="0" err="1"/>
              <a:t>n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endParaRPr lang="en-US" baseline="-25000" dirty="0"/>
          </a:p>
          <a:p>
            <a:endParaRPr lang="en-US" dirty="0"/>
          </a:p>
          <a:p>
            <a:r>
              <a:rPr lang="en-US" dirty="0"/>
              <a:t>For Convenience, define x</a:t>
            </a:r>
            <a:r>
              <a:rPr lang="en-US" baseline="-25000" dirty="0"/>
              <a:t>0</a:t>
            </a:r>
            <a:r>
              <a:rPr lang="en-US" dirty="0"/>
              <a:t>=1</a:t>
            </a:r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		h</a:t>
            </a:r>
            <a:r>
              <a:rPr lang="el-GR" baseline="-25000" dirty="0"/>
              <a:t>θ</a:t>
            </a:r>
            <a:r>
              <a:rPr lang="en-US" dirty="0"/>
              <a:t>(x) = </a:t>
            </a:r>
            <a:r>
              <a:rPr lang="el-GR" dirty="0"/>
              <a:t>θ</a:t>
            </a:r>
            <a:r>
              <a:rPr lang="en-US" baseline="-25000" dirty="0"/>
              <a:t>0</a:t>
            </a:r>
            <a:r>
              <a:rPr lang="en-US" dirty="0"/>
              <a:t>x</a:t>
            </a:r>
            <a:r>
              <a:rPr lang="en-US" baseline="-25000" dirty="0"/>
              <a:t>0</a:t>
            </a:r>
            <a:r>
              <a:rPr lang="en-US" dirty="0"/>
              <a:t>+</a:t>
            </a:r>
            <a:r>
              <a:rPr lang="el-GR" dirty="0"/>
              <a:t> θ</a:t>
            </a:r>
            <a:r>
              <a:rPr lang="en-US" baseline="-25000" dirty="0"/>
              <a:t>1</a:t>
            </a: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+</a:t>
            </a:r>
            <a:r>
              <a:rPr lang="el-GR" dirty="0"/>
              <a:t> θ</a:t>
            </a:r>
            <a:r>
              <a:rPr lang="en-US" baseline="-25000" dirty="0"/>
              <a:t>2</a:t>
            </a: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+</a:t>
            </a:r>
            <a:r>
              <a:rPr lang="el-GR" dirty="0"/>
              <a:t> θ</a:t>
            </a:r>
            <a:r>
              <a:rPr lang="en-US" baseline="-25000" dirty="0"/>
              <a:t>3</a:t>
            </a:r>
            <a:r>
              <a:rPr lang="en-US" dirty="0"/>
              <a:t>x</a:t>
            </a:r>
            <a:r>
              <a:rPr lang="en-US" baseline="-25000" dirty="0"/>
              <a:t>3</a:t>
            </a:r>
            <a:r>
              <a:rPr lang="en-US" dirty="0"/>
              <a:t> +………+</a:t>
            </a:r>
            <a:r>
              <a:rPr lang="el-GR" dirty="0"/>
              <a:t> θ</a:t>
            </a:r>
            <a:r>
              <a:rPr lang="en-US" baseline="-25000" dirty="0" err="1"/>
              <a:t>n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endParaRPr lang="en-US" baseline="-25000" dirty="0"/>
          </a:p>
          <a:p>
            <a:pPr>
              <a:buNone/>
            </a:pPr>
            <a:r>
              <a:rPr lang="en-US" baseline="-25000" dirty="0"/>
              <a:t>			</a:t>
            </a:r>
            <a:r>
              <a:rPr lang="en-US" dirty="0"/>
              <a:t>= </a:t>
            </a:r>
            <a:r>
              <a:rPr lang="el-GR" dirty="0"/>
              <a:t>θ</a:t>
            </a:r>
            <a:r>
              <a:rPr lang="en-US" baseline="30000" dirty="0"/>
              <a:t>T</a:t>
            </a:r>
            <a:r>
              <a:rPr lang="en-US" dirty="0"/>
              <a:t>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Gradient Descent for MULTIPLE Variables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0538" y="1600200"/>
            <a:ext cx="8162925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8163" y="4419600"/>
            <a:ext cx="806767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Gradient Descent for MULTIPLE Variables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47800"/>
            <a:ext cx="432435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1447800"/>
            <a:ext cx="449869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Connector 6"/>
          <p:cNvCxnSpPr/>
          <p:nvPr/>
        </p:nvCxnSpPr>
        <p:spPr>
          <a:xfrm>
            <a:off x="4419600" y="1524000"/>
            <a:ext cx="76200" cy="50292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24399" y="4267200"/>
            <a:ext cx="4376057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Straight Connector 10"/>
          <p:cNvCxnSpPr/>
          <p:nvPr/>
        </p:nvCxnSpPr>
        <p:spPr>
          <a:xfrm>
            <a:off x="4495800" y="4191000"/>
            <a:ext cx="4648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Descent: Feature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sure features are on a similar scale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 = size (0 – 2000 ft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 = number of bedrooms (1 - 5)</a:t>
            </a:r>
          </a:p>
          <a:p>
            <a:r>
              <a:rPr lang="en-US" dirty="0"/>
              <a:t>Contour plot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3733800"/>
            <a:ext cx="3578325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Group 10"/>
          <p:cNvGrpSpPr/>
          <p:nvPr/>
        </p:nvGrpSpPr>
        <p:grpSpPr>
          <a:xfrm>
            <a:off x="5257800" y="4038600"/>
            <a:ext cx="1600200" cy="2438400"/>
            <a:chOff x="5257800" y="4038600"/>
            <a:chExt cx="1600200" cy="2438400"/>
          </a:xfrm>
        </p:grpSpPr>
        <p:sp>
          <p:nvSpPr>
            <p:cNvPr id="6" name="Oval 5"/>
            <p:cNvSpPr/>
            <p:nvPr/>
          </p:nvSpPr>
          <p:spPr>
            <a:xfrm>
              <a:off x="5943600" y="4953000"/>
              <a:ext cx="2286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791200" y="4724400"/>
              <a:ext cx="533400" cy="10668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638800" y="4495800"/>
              <a:ext cx="838200" cy="1524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486400" y="4267200"/>
              <a:ext cx="1143000" cy="1981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257800" y="4038600"/>
              <a:ext cx="1600200" cy="24384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Freeform 17"/>
          <p:cNvSpPr/>
          <p:nvPr/>
        </p:nvSpPr>
        <p:spPr>
          <a:xfrm>
            <a:off x="5605976" y="5275385"/>
            <a:ext cx="471267" cy="970670"/>
          </a:xfrm>
          <a:custGeom>
            <a:avLst/>
            <a:gdLst>
              <a:gd name="connsiteX0" fmla="*/ 7033 w 471267"/>
              <a:gd name="connsiteY0" fmla="*/ 970670 h 970670"/>
              <a:gd name="connsiteX1" fmla="*/ 35169 w 471267"/>
              <a:gd name="connsiteY1" fmla="*/ 815926 h 970670"/>
              <a:gd name="connsiteX2" fmla="*/ 218049 w 471267"/>
              <a:gd name="connsiteY2" fmla="*/ 801858 h 970670"/>
              <a:gd name="connsiteX3" fmla="*/ 161778 w 471267"/>
              <a:gd name="connsiteY3" fmla="*/ 647113 h 970670"/>
              <a:gd name="connsiteX4" fmla="*/ 429064 w 471267"/>
              <a:gd name="connsiteY4" fmla="*/ 576775 h 970670"/>
              <a:gd name="connsiteX5" fmla="*/ 232116 w 471267"/>
              <a:gd name="connsiteY5" fmla="*/ 351692 h 970670"/>
              <a:gd name="connsiteX6" fmla="*/ 429064 w 471267"/>
              <a:gd name="connsiteY6" fmla="*/ 309489 h 970670"/>
              <a:gd name="connsiteX7" fmla="*/ 372793 w 471267"/>
              <a:gd name="connsiteY7" fmla="*/ 182880 h 970670"/>
              <a:gd name="connsiteX8" fmla="*/ 400929 w 471267"/>
              <a:gd name="connsiteY8" fmla="*/ 112541 h 970670"/>
              <a:gd name="connsiteX9" fmla="*/ 471267 w 471267"/>
              <a:gd name="connsiteY9" fmla="*/ 0 h 970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1267" h="970670">
                <a:moveTo>
                  <a:pt x="7033" y="970670"/>
                </a:moveTo>
                <a:cubicBezTo>
                  <a:pt x="3516" y="907365"/>
                  <a:pt x="0" y="844061"/>
                  <a:pt x="35169" y="815926"/>
                </a:cubicBezTo>
                <a:cubicBezTo>
                  <a:pt x="70338" y="787791"/>
                  <a:pt x="196948" y="829993"/>
                  <a:pt x="218049" y="801858"/>
                </a:cubicBezTo>
                <a:cubicBezTo>
                  <a:pt x="239150" y="773723"/>
                  <a:pt x="126609" y="684627"/>
                  <a:pt x="161778" y="647113"/>
                </a:cubicBezTo>
                <a:cubicBezTo>
                  <a:pt x="196947" y="609599"/>
                  <a:pt x="417341" y="626012"/>
                  <a:pt x="429064" y="576775"/>
                </a:cubicBezTo>
                <a:cubicBezTo>
                  <a:pt x="440787" y="527538"/>
                  <a:pt x="232116" y="396240"/>
                  <a:pt x="232116" y="351692"/>
                </a:cubicBezTo>
                <a:cubicBezTo>
                  <a:pt x="232116" y="307144"/>
                  <a:pt x="405618" y="337624"/>
                  <a:pt x="429064" y="309489"/>
                </a:cubicBezTo>
                <a:cubicBezTo>
                  <a:pt x="452510" y="281354"/>
                  <a:pt x="377482" y="215705"/>
                  <a:pt x="372793" y="182880"/>
                </a:cubicBezTo>
                <a:cubicBezTo>
                  <a:pt x="368104" y="150055"/>
                  <a:pt x="384517" y="143021"/>
                  <a:pt x="400929" y="112541"/>
                </a:cubicBezTo>
                <a:cubicBezTo>
                  <a:pt x="417341" y="82061"/>
                  <a:pt x="361070" y="9379"/>
                  <a:pt x="471267" y="0"/>
                </a:cubicBez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Descent: Feature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scale the features</a:t>
            </a:r>
          </a:p>
          <a:p>
            <a:pPr lvl="1"/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 = size (feet</a:t>
            </a:r>
            <a:r>
              <a:rPr lang="en-US" baseline="30000" dirty="0"/>
              <a:t>2</a:t>
            </a:r>
            <a:r>
              <a:rPr lang="en-US" dirty="0"/>
              <a:t>)/2000</a:t>
            </a:r>
          </a:p>
          <a:p>
            <a:pPr lvl="1"/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 = number of bedrooms/5</a:t>
            </a:r>
          </a:p>
          <a:p>
            <a:endParaRPr lang="en-US" dirty="0"/>
          </a:p>
          <a:p>
            <a:r>
              <a:rPr lang="en-US" dirty="0"/>
              <a:t>Contour plot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3810000"/>
            <a:ext cx="3886200" cy="2952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5"/>
          <p:cNvGrpSpPr/>
          <p:nvPr/>
        </p:nvGrpSpPr>
        <p:grpSpPr>
          <a:xfrm>
            <a:off x="4114800" y="4191000"/>
            <a:ext cx="2209800" cy="2133600"/>
            <a:chOff x="5257800" y="4038600"/>
            <a:chExt cx="1600200" cy="2438400"/>
          </a:xfrm>
        </p:grpSpPr>
        <p:sp>
          <p:nvSpPr>
            <p:cNvPr id="7" name="Oval 6"/>
            <p:cNvSpPr/>
            <p:nvPr/>
          </p:nvSpPr>
          <p:spPr>
            <a:xfrm>
              <a:off x="5943600" y="4953000"/>
              <a:ext cx="228600" cy="609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791200" y="4724400"/>
              <a:ext cx="533400" cy="10668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638800" y="4495800"/>
              <a:ext cx="838200" cy="1524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486400" y="4267200"/>
              <a:ext cx="1143000" cy="1981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257800" y="4038600"/>
              <a:ext cx="1600200" cy="24384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Freeform 11"/>
          <p:cNvSpPr/>
          <p:nvPr/>
        </p:nvSpPr>
        <p:spPr>
          <a:xfrm>
            <a:off x="4642338" y="5275385"/>
            <a:ext cx="576776" cy="900332"/>
          </a:xfrm>
          <a:custGeom>
            <a:avLst/>
            <a:gdLst>
              <a:gd name="connsiteX0" fmla="*/ 0 w 576776"/>
              <a:gd name="connsiteY0" fmla="*/ 900332 h 900332"/>
              <a:gd name="connsiteX1" fmla="*/ 154745 w 576776"/>
              <a:gd name="connsiteY1" fmla="*/ 773723 h 900332"/>
              <a:gd name="connsiteX2" fmla="*/ 295422 w 576776"/>
              <a:gd name="connsiteY2" fmla="*/ 534572 h 900332"/>
              <a:gd name="connsiteX3" fmla="*/ 520505 w 576776"/>
              <a:gd name="connsiteY3" fmla="*/ 365760 h 900332"/>
              <a:gd name="connsiteX4" fmla="*/ 562708 w 576776"/>
              <a:gd name="connsiteY4" fmla="*/ 211015 h 900332"/>
              <a:gd name="connsiteX5" fmla="*/ 576776 w 576776"/>
              <a:gd name="connsiteY5" fmla="*/ 0 h 900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6776" h="900332">
                <a:moveTo>
                  <a:pt x="0" y="900332"/>
                </a:moveTo>
                <a:cubicBezTo>
                  <a:pt x="52754" y="867507"/>
                  <a:pt x="105508" y="834683"/>
                  <a:pt x="154745" y="773723"/>
                </a:cubicBezTo>
                <a:cubicBezTo>
                  <a:pt x="203982" y="712763"/>
                  <a:pt x="234462" y="602566"/>
                  <a:pt x="295422" y="534572"/>
                </a:cubicBezTo>
                <a:cubicBezTo>
                  <a:pt x="356382" y="466578"/>
                  <a:pt x="475957" y="419686"/>
                  <a:pt x="520505" y="365760"/>
                </a:cubicBezTo>
                <a:cubicBezTo>
                  <a:pt x="565053" y="311834"/>
                  <a:pt x="553330" y="271975"/>
                  <a:pt x="562708" y="211015"/>
                </a:cubicBezTo>
                <a:cubicBezTo>
                  <a:pt x="572087" y="150055"/>
                  <a:pt x="431410" y="37514"/>
                  <a:pt x="576776" y="0"/>
                </a:cubicBez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Descent: Feature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Feature scaling</a:t>
            </a:r>
          </a:p>
          <a:p>
            <a:pPr lvl="1"/>
            <a:r>
              <a:rPr lang="en-US" dirty="0"/>
              <a:t>[0 ≤ X</a:t>
            </a:r>
            <a:r>
              <a:rPr lang="en-US" baseline="-25000" dirty="0"/>
              <a:t>i</a:t>
            </a:r>
            <a:r>
              <a:rPr lang="en-US" dirty="0"/>
              <a:t> ≤ 1]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[-1 ≤ X</a:t>
            </a:r>
            <a:r>
              <a:rPr lang="en-US" baseline="-25000" dirty="0"/>
              <a:t>i</a:t>
            </a:r>
            <a:r>
              <a:rPr lang="en-US" dirty="0"/>
              <a:t> ≤ 1]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2819400"/>
            <a:ext cx="2761129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81400" y="4419600"/>
            <a:ext cx="3246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Descent: Learning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US" dirty="0"/>
              <a:t>Goal:</a:t>
            </a:r>
          </a:p>
          <a:p>
            <a:pPr lvl="1"/>
            <a:r>
              <a:rPr lang="en-US" dirty="0"/>
              <a:t> How to make sure gradient descent is working correctly and</a:t>
            </a:r>
          </a:p>
          <a:p>
            <a:pPr lvl="1"/>
            <a:r>
              <a:rPr lang="en-US" dirty="0"/>
              <a:t>choosing appropriate learning rate </a:t>
            </a:r>
            <a:r>
              <a:rPr lang="el-GR" dirty="0"/>
              <a:t>α</a:t>
            </a:r>
            <a:r>
              <a:rPr lang="en-US" dirty="0"/>
              <a:t>. 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3437404"/>
            <a:ext cx="3429000" cy="342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reeform 4"/>
          <p:cNvSpPr/>
          <p:nvPr/>
        </p:nvSpPr>
        <p:spPr>
          <a:xfrm>
            <a:off x="3291840" y="4206240"/>
            <a:ext cx="2644726" cy="1810043"/>
          </a:xfrm>
          <a:custGeom>
            <a:avLst/>
            <a:gdLst>
              <a:gd name="connsiteX0" fmla="*/ 0 w 2644726"/>
              <a:gd name="connsiteY0" fmla="*/ 0 h 1810043"/>
              <a:gd name="connsiteX1" fmla="*/ 84406 w 2644726"/>
              <a:gd name="connsiteY1" fmla="*/ 787791 h 1810043"/>
              <a:gd name="connsiteX2" fmla="*/ 309489 w 2644726"/>
              <a:gd name="connsiteY2" fmla="*/ 1420837 h 1810043"/>
              <a:gd name="connsiteX3" fmla="*/ 1322363 w 2644726"/>
              <a:gd name="connsiteY3" fmla="*/ 1730326 h 1810043"/>
              <a:gd name="connsiteX4" fmla="*/ 2644726 w 2644726"/>
              <a:gd name="connsiteY4" fmla="*/ 1772529 h 1810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4726" h="1810043">
                <a:moveTo>
                  <a:pt x="0" y="0"/>
                </a:moveTo>
                <a:cubicBezTo>
                  <a:pt x="16412" y="275492"/>
                  <a:pt x="32825" y="550985"/>
                  <a:pt x="84406" y="787791"/>
                </a:cubicBezTo>
                <a:cubicBezTo>
                  <a:pt x="135987" y="1024597"/>
                  <a:pt x="103163" y="1263748"/>
                  <a:pt x="309489" y="1420837"/>
                </a:cubicBezTo>
                <a:cubicBezTo>
                  <a:pt x="515815" y="1577926"/>
                  <a:pt x="933157" y="1671711"/>
                  <a:pt x="1322363" y="1730326"/>
                </a:cubicBezTo>
                <a:cubicBezTo>
                  <a:pt x="1711569" y="1788941"/>
                  <a:pt x="2365717" y="1810043"/>
                  <a:pt x="2644726" y="1772529"/>
                </a:cubicBez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Descent: Learning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US" dirty="0"/>
              <a:t>Summary</a:t>
            </a:r>
          </a:p>
          <a:p>
            <a:pPr lvl="1"/>
            <a:r>
              <a:rPr lang="en-US" dirty="0"/>
              <a:t>If </a:t>
            </a:r>
            <a:r>
              <a:rPr lang="el-GR" dirty="0"/>
              <a:t>α</a:t>
            </a:r>
            <a:r>
              <a:rPr lang="en-US" dirty="0"/>
              <a:t> is too small, slow convergence</a:t>
            </a:r>
          </a:p>
          <a:p>
            <a:pPr lvl="1"/>
            <a:r>
              <a:rPr lang="en-US" dirty="0"/>
              <a:t>If </a:t>
            </a:r>
            <a:r>
              <a:rPr lang="el-GR" dirty="0"/>
              <a:t>α</a:t>
            </a:r>
            <a:r>
              <a:rPr lang="en-US" dirty="0"/>
              <a:t> is too big, J(</a:t>
            </a:r>
            <a:r>
              <a:rPr lang="el-GR" dirty="0"/>
              <a:t>θ</a:t>
            </a:r>
            <a:r>
              <a:rPr lang="en-US" dirty="0"/>
              <a:t>) may not decrease on every iteration; may not converge</a:t>
            </a:r>
          </a:p>
          <a:p>
            <a:pPr lvl="1"/>
            <a:r>
              <a:rPr lang="en-US" dirty="0"/>
              <a:t>To choose </a:t>
            </a:r>
            <a:r>
              <a:rPr lang="el-GR" dirty="0"/>
              <a:t>α</a:t>
            </a:r>
            <a:r>
              <a:rPr lang="en-US" dirty="0"/>
              <a:t>, try different values 0.001, 0.003, 0.01, 0.03, 0.1,0.3, 1 etc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More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Housing prices prediction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Define a new feature ….. </a:t>
            </a:r>
          </a:p>
        </p:txBody>
      </p:sp>
      <p:sp>
        <p:nvSpPr>
          <p:cNvPr id="4" name="Rectangle 3"/>
          <p:cNvSpPr/>
          <p:nvPr/>
        </p:nvSpPr>
        <p:spPr>
          <a:xfrm>
            <a:off x="1905000" y="2590800"/>
            <a:ext cx="59652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h</a:t>
            </a:r>
            <a:r>
              <a:rPr lang="el-GR" sz="3200" baseline="-25000" dirty="0"/>
              <a:t>θ</a:t>
            </a:r>
            <a:r>
              <a:rPr lang="en-US" sz="3200" dirty="0"/>
              <a:t>(x) = </a:t>
            </a:r>
            <a:r>
              <a:rPr lang="el-GR" sz="3200" dirty="0"/>
              <a:t>θ</a:t>
            </a:r>
            <a:r>
              <a:rPr lang="en-US" sz="3200" baseline="-25000" dirty="0"/>
              <a:t>0 </a:t>
            </a:r>
            <a:r>
              <a:rPr lang="en-US" sz="3200" dirty="0"/>
              <a:t>+</a:t>
            </a:r>
            <a:r>
              <a:rPr lang="el-GR" sz="3200" dirty="0"/>
              <a:t> θ</a:t>
            </a:r>
            <a:r>
              <a:rPr lang="en-US" sz="3200" baseline="-25000" dirty="0"/>
              <a:t>1 </a:t>
            </a:r>
            <a:r>
              <a:rPr lang="en-US" sz="3200" dirty="0"/>
              <a:t>x length +</a:t>
            </a:r>
            <a:r>
              <a:rPr lang="el-GR" sz="3200" dirty="0"/>
              <a:t> θ</a:t>
            </a:r>
            <a:r>
              <a:rPr lang="en-US" sz="3200" baseline="-25000" dirty="0"/>
              <a:t>2 </a:t>
            </a:r>
            <a:r>
              <a:rPr lang="en-US" sz="3200" dirty="0"/>
              <a:t>x width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Polynomial Regression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1925" y="1295400"/>
            <a:ext cx="6416675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04800" y="4673025"/>
            <a:ext cx="37545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h</a:t>
            </a:r>
            <a:r>
              <a:rPr lang="el-GR" sz="3200" baseline="-25000" dirty="0">
                <a:solidFill>
                  <a:srgbClr val="FF0000"/>
                </a:solidFill>
              </a:rPr>
              <a:t>θ</a:t>
            </a:r>
            <a:r>
              <a:rPr lang="en-US" sz="3200" dirty="0">
                <a:solidFill>
                  <a:srgbClr val="FF0000"/>
                </a:solidFill>
              </a:rPr>
              <a:t>(x) = </a:t>
            </a:r>
            <a:r>
              <a:rPr lang="el-GR" sz="3200" dirty="0">
                <a:solidFill>
                  <a:srgbClr val="FF0000"/>
                </a:solidFill>
              </a:rPr>
              <a:t>θ</a:t>
            </a:r>
            <a:r>
              <a:rPr lang="en-US" sz="3200" baseline="-25000" dirty="0">
                <a:solidFill>
                  <a:srgbClr val="FF0000"/>
                </a:solidFill>
              </a:rPr>
              <a:t>0 </a:t>
            </a:r>
            <a:r>
              <a:rPr lang="en-US" sz="3200" dirty="0">
                <a:solidFill>
                  <a:srgbClr val="FF0000"/>
                </a:solidFill>
              </a:rPr>
              <a:t>+</a:t>
            </a:r>
            <a:r>
              <a:rPr lang="el-GR" sz="3200" dirty="0">
                <a:solidFill>
                  <a:srgbClr val="FF0000"/>
                </a:solidFill>
              </a:rPr>
              <a:t> θ</a:t>
            </a:r>
            <a:r>
              <a:rPr lang="en-US" sz="3200" baseline="-25000" dirty="0">
                <a:solidFill>
                  <a:srgbClr val="FF0000"/>
                </a:solidFill>
              </a:rPr>
              <a:t>1</a:t>
            </a:r>
            <a:r>
              <a:rPr lang="en-US" sz="3200" dirty="0">
                <a:solidFill>
                  <a:srgbClr val="FF0000"/>
                </a:solidFill>
              </a:rPr>
              <a:t>x +</a:t>
            </a:r>
            <a:r>
              <a:rPr lang="el-GR" sz="3200" dirty="0">
                <a:solidFill>
                  <a:srgbClr val="FF0000"/>
                </a:solidFill>
              </a:rPr>
              <a:t> θ</a:t>
            </a:r>
            <a:r>
              <a:rPr lang="en-US" sz="3200" baseline="-25000" dirty="0">
                <a:solidFill>
                  <a:srgbClr val="FF0000"/>
                </a:solidFill>
              </a:rPr>
              <a:t>2</a:t>
            </a:r>
            <a:r>
              <a:rPr lang="en-US" sz="3200" dirty="0">
                <a:solidFill>
                  <a:srgbClr val="FF0000"/>
                </a:solidFill>
              </a:rPr>
              <a:t>x</a:t>
            </a:r>
            <a:r>
              <a:rPr lang="en-US" sz="3200" baseline="30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495800" y="4648200"/>
            <a:ext cx="4658648" cy="9130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h</a:t>
            </a:r>
            <a:r>
              <a:rPr lang="el-GR" sz="3200" baseline="-25000" dirty="0">
                <a:solidFill>
                  <a:srgbClr val="00B050"/>
                </a:solidFill>
              </a:rPr>
              <a:t>θ</a:t>
            </a:r>
            <a:r>
              <a:rPr lang="en-US" sz="3200" dirty="0">
                <a:solidFill>
                  <a:srgbClr val="00B050"/>
                </a:solidFill>
              </a:rPr>
              <a:t>(x) = </a:t>
            </a:r>
            <a:r>
              <a:rPr lang="el-GR" sz="3200" dirty="0">
                <a:solidFill>
                  <a:srgbClr val="00B050"/>
                </a:solidFill>
              </a:rPr>
              <a:t>θ</a:t>
            </a:r>
            <a:r>
              <a:rPr lang="en-US" sz="3200" baseline="-25000" dirty="0">
                <a:solidFill>
                  <a:srgbClr val="00B050"/>
                </a:solidFill>
              </a:rPr>
              <a:t>0 </a:t>
            </a:r>
            <a:r>
              <a:rPr lang="en-US" sz="3200" dirty="0">
                <a:solidFill>
                  <a:srgbClr val="00B050"/>
                </a:solidFill>
              </a:rPr>
              <a:t>+</a:t>
            </a:r>
            <a:r>
              <a:rPr lang="el-GR" sz="3200" dirty="0">
                <a:solidFill>
                  <a:srgbClr val="00B050"/>
                </a:solidFill>
              </a:rPr>
              <a:t> θ</a:t>
            </a:r>
            <a:r>
              <a:rPr lang="en-US" sz="3200" baseline="-25000" dirty="0">
                <a:solidFill>
                  <a:srgbClr val="00B050"/>
                </a:solidFill>
              </a:rPr>
              <a:t>1</a:t>
            </a:r>
            <a:r>
              <a:rPr lang="en-US" sz="3200" dirty="0">
                <a:solidFill>
                  <a:srgbClr val="00B050"/>
                </a:solidFill>
              </a:rPr>
              <a:t>x +</a:t>
            </a:r>
            <a:r>
              <a:rPr lang="el-GR" sz="3200" dirty="0">
                <a:solidFill>
                  <a:srgbClr val="00B050"/>
                </a:solidFill>
              </a:rPr>
              <a:t> θ</a:t>
            </a:r>
            <a:r>
              <a:rPr lang="en-US" sz="3200" baseline="-25000" dirty="0">
                <a:solidFill>
                  <a:srgbClr val="00B050"/>
                </a:solidFill>
              </a:rPr>
              <a:t>2</a:t>
            </a:r>
            <a:r>
              <a:rPr lang="en-US" sz="3200" dirty="0">
                <a:solidFill>
                  <a:srgbClr val="00B050"/>
                </a:solidFill>
              </a:rPr>
              <a:t>x</a:t>
            </a:r>
            <a:r>
              <a:rPr lang="en-US" sz="3200" baseline="30000" dirty="0">
                <a:solidFill>
                  <a:srgbClr val="00B050"/>
                </a:solidFill>
              </a:rPr>
              <a:t>2</a:t>
            </a:r>
            <a:r>
              <a:rPr lang="en-US" sz="3200" dirty="0">
                <a:solidFill>
                  <a:srgbClr val="00B050"/>
                </a:solidFill>
              </a:rPr>
              <a:t>+</a:t>
            </a:r>
            <a:r>
              <a:rPr lang="el-GR" sz="3200" dirty="0">
                <a:solidFill>
                  <a:srgbClr val="00B050"/>
                </a:solidFill>
              </a:rPr>
              <a:t> θ</a:t>
            </a:r>
            <a:r>
              <a:rPr lang="en-US" sz="3200" baseline="-25000" dirty="0">
                <a:solidFill>
                  <a:srgbClr val="00B050"/>
                </a:solidFill>
              </a:rPr>
              <a:t>3</a:t>
            </a:r>
            <a:r>
              <a:rPr lang="en-US" sz="3200" dirty="0">
                <a:solidFill>
                  <a:srgbClr val="00B050"/>
                </a:solidFill>
              </a:rPr>
              <a:t>x</a:t>
            </a:r>
            <a:r>
              <a:rPr lang="en-US" sz="3200" baseline="30000" dirty="0">
                <a:solidFill>
                  <a:srgbClr val="00B050"/>
                </a:solidFill>
              </a:rPr>
              <a:t>3</a:t>
            </a:r>
          </a:p>
          <a:p>
            <a:endParaRPr lang="en-US" sz="3200" baseline="30000" dirty="0"/>
          </a:p>
        </p:txBody>
      </p:sp>
      <p:sp>
        <p:nvSpPr>
          <p:cNvPr id="10" name="Freeform 9"/>
          <p:cNvSpPr/>
          <p:nvPr/>
        </p:nvSpPr>
        <p:spPr>
          <a:xfrm>
            <a:off x="2532185" y="1219200"/>
            <a:ext cx="4656406" cy="2869809"/>
          </a:xfrm>
          <a:custGeom>
            <a:avLst/>
            <a:gdLst>
              <a:gd name="connsiteX0" fmla="*/ 0 w 4656406"/>
              <a:gd name="connsiteY0" fmla="*/ 2869809 h 2869809"/>
              <a:gd name="connsiteX1" fmla="*/ 1603717 w 4656406"/>
              <a:gd name="connsiteY1" fmla="*/ 984738 h 2869809"/>
              <a:gd name="connsiteX2" fmla="*/ 3474720 w 4656406"/>
              <a:gd name="connsiteY2" fmla="*/ 647114 h 2869809"/>
              <a:gd name="connsiteX3" fmla="*/ 4656406 w 4656406"/>
              <a:gd name="connsiteY3" fmla="*/ 0 h 2869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6406" h="2869809">
                <a:moveTo>
                  <a:pt x="0" y="2869809"/>
                </a:moveTo>
                <a:cubicBezTo>
                  <a:pt x="512298" y="2112498"/>
                  <a:pt x="1024597" y="1355187"/>
                  <a:pt x="1603717" y="984738"/>
                </a:cubicBezTo>
                <a:cubicBezTo>
                  <a:pt x="2182837" y="614289"/>
                  <a:pt x="2965939" y="811237"/>
                  <a:pt x="3474720" y="647114"/>
                </a:cubicBezTo>
                <a:cubicBezTo>
                  <a:pt x="3983501" y="482991"/>
                  <a:pt x="4398498" y="119576"/>
                  <a:pt x="4656406" y="0"/>
                </a:cubicBezTo>
              </a:path>
            </a:pathLst>
          </a:cu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2489982" y="1524000"/>
            <a:ext cx="5598941" cy="2616590"/>
          </a:xfrm>
          <a:custGeom>
            <a:avLst/>
            <a:gdLst>
              <a:gd name="connsiteX0" fmla="*/ 0 w 5598941"/>
              <a:gd name="connsiteY0" fmla="*/ 2616590 h 2616590"/>
              <a:gd name="connsiteX1" fmla="*/ 1547446 w 5598941"/>
              <a:gd name="connsiteY1" fmla="*/ 520504 h 2616590"/>
              <a:gd name="connsiteX2" fmla="*/ 4389120 w 5598941"/>
              <a:gd name="connsiteY2" fmla="*/ 253218 h 2616590"/>
              <a:gd name="connsiteX3" fmla="*/ 5598941 w 5598941"/>
              <a:gd name="connsiteY3" fmla="*/ 2039815 h 261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8941" h="2616590">
                <a:moveTo>
                  <a:pt x="0" y="2616590"/>
                </a:moveTo>
                <a:cubicBezTo>
                  <a:pt x="407963" y="1765494"/>
                  <a:pt x="815926" y="914399"/>
                  <a:pt x="1547446" y="520504"/>
                </a:cubicBezTo>
                <a:cubicBezTo>
                  <a:pt x="2278966" y="126609"/>
                  <a:pt x="3713871" y="0"/>
                  <a:pt x="4389120" y="253218"/>
                </a:cubicBezTo>
                <a:cubicBezTo>
                  <a:pt x="5064369" y="506436"/>
                  <a:pt x="5273040" y="1692812"/>
                  <a:pt x="5598941" y="2039815"/>
                </a:cubicBez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5486400"/>
            <a:ext cx="5867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93536" y="6324600"/>
            <a:ext cx="161636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195108" y="6324600"/>
            <a:ext cx="157691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029200" y="6324600"/>
            <a:ext cx="1726406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581400" y="3352800"/>
            <a:ext cx="39433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Freeform 18"/>
          <p:cNvSpPr/>
          <p:nvPr/>
        </p:nvSpPr>
        <p:spPr>
          <a:xfrm>
            <a:off x="2473569" y="1505243"/>
            <a:ext cx="4994031" cy="2602523"/>
          </a:xfrm>
          <a:custGeom>
            <a:avLst/>
            <a:gdLst>
              <a:gd name="connsiteX0" fmla="*/ 0 w 4994031"/>
              <a:gd name="connsiteY0" fmla="*/ 2602523 h 2602523"/>
              <a:gd name="connsiteX1" fmla="*/ 1364566 w 4994031"/>
              <a:gd name="connsiteY1" fmla="*/ 689317 h 2602523"/>
              <a:gd name="connsiteX2" fmla="*/ 4994031 w 4994031"/>
              <a:gd name="connsiteY2" fmla="*/ 0 h 2602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94031" h="2602523">
                <a:moveTo>
                  <a:pt x="0" y="2602523"/>
                </a:moveTo>
                <a:cubicBezTo>
                  <a:pt x="266114" y="1862797"/>
                  <a:pt x="532228" y="1123071"/>
                  <a:pt x="1364566" y="689317"/>
                </a:cubicBezTo>
                <a:cubicBezTo>
                  <a:pt x="2196905" y="255563"/>
                  <a:pt x="4365674" y="91440"/>
                  <a:pt x="4994031" y="0"/>
                </a:cubicBezTo>
              </a:path>
            </a:pathLst>
          </a:cu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 animBg="1"/>
      <p:bldP spid="11" grpId="0" animBg="1"/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Computing Parameters Analytically</a:t>
            </a:r>
            <a:br>
              <a:rPr lang="en-US" dirty="0"/>
            </a:br>
            <a:r>
              <a:rPr lang="en-US" dirty="0"/>
              <a:t>Normal Equations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 flipV="1">
            <a:off x="4963399" y="787400"/>
            <a:ext cx="0" cy="3143189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787321" y="3625787"/>
            <a:ext cx="2654102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017" y="3791600"/>
            <a:ext cx="128016" cy="29260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410" y="1342908"/>
            <a:ext cx="534924" cy="4084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8200" y="1921242"/>
            <a:ext cx="4559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Gradient Descent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1" y="4540187"/>
            <a:ext cx="73142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Normal equation: Method to solve for </a:t>
            </a:r>
          </a:p>
          <a:p>
            <a:r>
              <a:rPr lang="en-US" sz="2800" dirty="0"/>
              <a:t>analytically.</a:t>
            </a:r>
          </a:p>
        </p:txBody>
      </p:sp>
      <p:pic>
        <p:nvPicPr>
          <p:cNvPr id="23" name="Picture 2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341" y="4707527"/>
            <a:ext cx="149352" cy="341376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5137488" y="1342909"/>
            <a:ext cx="1041121" cy="1855067"/>
          </a:xfrm>
          <a:custGeom>
            <a:avLst/>
            <a:gdLst>
              <a:gd name="connsiteX0" fmla="*/ 0 w 2667000"/>
              <a:gd name="connsiteY0" fmla="*/ 0 h 2076450"/>
              <a:gd name="connsiteX1" fmla="*/ 800100 w 2667000"/>
              <a:gd name="connsiteY1" fmla="*/ 1724025 h 2076450"/>
              <a:gd name="connsiteX2" fmla="*/ 2667000 w 2667000"/>
              <a:gd name="connsiteY2" fmla="*/ 2076450 h 2076450"/>
              <a:gd name="connsiteX0" fmla="*/ 0 w 1819275"/>
              <a:gd name="connsiteY0" fmla="*/ 0 h 2085975"/>
              <a:gd name="connsiteX1" fmla="*/ 800100 w 1819275"/>
              <a:gd name="connsiteY1" fmla="*/ 1724025 h 2085975"/>
              <a:gd name="connsiteX2" fmla="*/ 1819275 w 1819275"/>
              <a:gd name="connsiteY2" fmla="*/ 2085975 h 2085975"/>
              <a:gd name="connsiteX0" fmla="*/ 0 w 1819275"/>
              <a:gd name="connsiteY0" fmla="*/ 0 h 2085975"/>
              <a:gd name="connsiteX1" fmla="*/ 609600 w 1819275"/>
              <a:gd name="connsiteY1" fmla="*/ 1504950 h 2085975"/>
              <a:gd name="connsiteX2" fmla="*/ 1819275 w 1819275"/>
              <a:gd name="connsiteY2" fmla="*/ 2085975 h 2085975"/>
              <a:gd name="connsiteX0" fmla="*/ 0 w 1819275"/>
              <a:gd name="connsiteY0" fmla="*/ 0 h 2085975"/>
              <a:gd name="connsiteX1" fmla="*/ 609600 w 1819275"/>
              <a:gd name="connsiteY1" fmla="*/ 1504950 h 2085975"/>
              <a:gd name="connsiteX2" fmla="*/ 1819275 w 1819275"/>
              <a:gd name="connsiteY2" fmla="*/ 2085975 h 2085975"/>
              <a:gd name="connsiteX0" fmla="*/ 0 w 1819275"/>
              <a:gd name="connsiteY0" fmla="*/ 0 h 2087456"/>
              <a:gd name="connsiteX1" fmla="*/ 609600 w 1819275"/>
              <a:gd name="connsiteY1" fmla="*/ 1504950 h 2087456"/>
              <a:gd name="connsiteX2" fmla="*/ 1819275 w 1819275"/>
              <a:gd name="connsiteY2" fmla="*/ 2085975 h 2087456"/>
              <a:gd name="connsiteX0" fmla="*/ 0 w 1590675"/>
              <a:gd name="connsiteY0" fmla="*/ 0 h 2124809"/>
              <a:gd name="connsiteX1" fmla="*/ 381000 w 1590675"/>
              <a:gd name="connsiteY1" fmla="*/ 1543050 h 2124809"/>
              <a:gd name="connsiteX2" fmla="*/ 1590675 w 1590675"/>
              <a:gd name="connsiteY2" fmla="*/ 2124075 h 2124809"/>
              <a:gd name="connsiteX0" fmla="*/ 2321 w 1592996"/>
              <a:gd name="connsiteY0" fmla="*/ 0 h 2124809"/>
              <a:gd name="connsiteX1" fmla="*/ 383321 w 1592996"/>
              <a:gd name="connsiteY1" fmla="*/ 1543050 h 2124809"/>
              <a:gd name="connsiteX2" fmla="*/ 1592996 w 1592996"/>
              <a:gd name="connsiteY2" fmla="*/ 2124075 h 2124809"/>
              <a:gd name="connsiteX0" fmla="*/ 0 w 1590675"/>
              <a:gd name="connsiteY0" fmla="*/ 0 h 2124809"/>
              <a:gd name="connsiteX1" fmla="*/ 381000 w 1590675"/>
              <a:gd name="connsiteY1" fmla="*/ 1543050 h 2124809"/>
              <a:gd name="connsiteX2" fmla="*/ 1590675 w 1590675"/>
              <a:gd name="connsiteY2" fmla="*/ 2124075 h 2124809"/>
              <a:gd name="connsiteX0" fmla="*/ 0 w 1590675"/>
              <a:gd name="connsiteY0" fmla="*/ 0 h 2124675"/>
              <a:gd name="connsiteX1" fmla="*/ 468316 w 1590675"/>
              <a:gd name="connsiteY1" fmla="*/ 1484839 h 2124675"/>
              <a:gd name="connsiteX2" fmla="*/ 1590675 w 1590675"/>
              <a:gd name="connsiteY2" fmla="*/ 2124075 h 2124675"/>
              <a:gd name="connsiteX0" fmla="*/ 0 w 1590675"/>
              <a:gd name="connsiteY0" fmla="*/ 0 h 2125697"/>
              <a:gd name="connsiteX1" fmla="*/ 555633 w 1590675"/>
              <a:gd name="connsiteY1" fmla="*/ 1688578 h 2125697"/>
              <a:gd name="connsiteX2" fmla="*/ 1590675 w 1590675"/>
              <a:gd name="connsiteY2" fmla="*/ 2124075 h 2125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90675" h="2125697">
                <a:moveTo>
                  <a:pt x="0" y="0"/>
                </a:moveTo>
                <a:cubicBezTo>
                  <a:pt x="25400" y="917575"/>
                  <a:pt x="290521" y="1334566"/>
                  <a:pt x="555633" y="1688578"/>
                </a:cubicBezTo>
                <a:cubicBezTo>
                  <a:pt x="820745" y="2042590"/>
                  <a:pt x="1250950" y="2139950"/>
                  <a:pt x="1590675" y="21240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 flipH="1">
            <a:off x="6111934" y="1342521"/>
            <a:ext cx="1041121" cy="1855067"/>
          </a:xfrm>
          <a:custGeom>
            <a:avLst/>
            <a:gdLst>
              <a:gd name="connsiteX0" fmla="*/ 0 w 2667000"/>
              <a:gd name="connsiteY0" fmla="*/ 0 h 2076450"/>
              <a:gd name="connsiteX1" fmla="*/ 800100 w 2667000"/>
              <a:gd name="connsiteY1" fmla="*/ 1724025 h 2076450"/>
              <a:gd name="connsiteX2" fmla="*/ 2667000 w 2667000"/>
              <a:gd name="connsiteY2" fmla="*/ 2076450 h 2076450"/>
              <a:gd name="connsiteX0" fmla="*/ 0 w 1819275"/>
              <a:gd name="connsiteY0" fmla="*/ 0 h 2085975"/>
              <a:gd name="connsiteX1" fmla="*/ 800100 w 1819275"/>
              <a:gd name="connsiteY1" fmla="*/ 1724025 h 2085975"/>
              <a:gd name="connsiteX2" fmla="*/ 1819275 w 1819275"/>
              <a:gd name="connsiteY2" fmla="*/ 2085975 h 2085975"/>
              <a:gd name="connsiteX0" fmla="*/ 0 w 1819275"/>
              <a:gd name="connsiteY0" fmla="*/ 0 h 2085975"/>
              <a:gd name="connsiteX1" fmla="*/ 609600 w 1819275"/>
              <a:gd name="connsiteY1" fmla="*/ 1504950 h 2085975"/>
              <a:gd name="connsiteX2" fmla="*/ 1819275 w 1819275"/>
              <a:gd name="connsiteY2" fmla="*/ 2085975 h 2085975"/>
              <a:gd name="connsiteX0" fmla="*/ 0 w 1819275"/>
              <a:gd name="connsiteY0" fmla="*/ 0 h 2085975"/>
              <a:gd name="connsiteX1" fmla="*/ 609600 w 1819275"/>
              <a:gd name="connsiteY1" fmla="*/ 1504950 h 2085975"/>
              <a:gd name="connsiteX2" fmla="*/ 1819275 w 1819275"/>
              <a:gd name="connsiteY2" fmla="*/ 2085975 h 2085975"/>
              <a:gd name="connsiteX0" fmla="*/ 0 w 1819275"/>
              <a:gd name="connsiteY0" fmla="*/ 0 h 2087456"/>
              <a:gd name="connsiteX1" fmla="*/ 609600 w 1819275"/>
              <a:gd name="connsiteY1" fmla="*/ 1504950 h 2087456"/>
              <a:gd name="connsiteX2" fmla="*/ 1819275 w 1819275"/>
              <a:gd name="connsiteY2" fmla="*/ 2085975 h 2087456"/>
              <a:gd name="connsiteX0" fmla="*/ 0 w 1590675"/>
              <a:gd name="connsiteY0" fmla="*/ 0 h 2124809"/>
              <a:gd name="connsiteX1" fmla="*/ 381000 w 1590675"/>
              <a:gd name="connsiteY1" fmla="*/ 1543050 h 2124809"/>
              <a:gd name="connsiteX2" fmla="*/ 1590675 w 1590675"/>
              <a:gd name="connsiteY2" fmla="*/ 2124075 h 2124809"/>
              <a:gd name="connsiteX0" fmla="*/ 2321 w 1592996"/>
              <a:gd name="connsiteY0" fmla="*/ 0 h 2124809"/>
              <a:gd name="connsiteX1" fmla="*/ 383321 w 1592996"/>
              <a:gd name="connsiteY1" fmla="*/ 1543050 h 2124809"/>
              <a:gd name="connsiteX2" fmla="*/ 1592996 w 1592996"/>
              <a:gd name="connsiteY2" fmla="*/ 2124075 h 2124809"/>
              <a:gd name="connsiteX0" fmla="*/ 0 w 1590675"/>
              <a:gd name="connsiteY0" fmla="*/ 0 h 2124809"/>
              <a:gd name="connsiteX1" fmla="*/ 381000 w 1590675"/>
              <a:gd name="connsiteY1" fmla="*/ 1543050 h 2124809"/>
              <a:gd name="connsiteX2" fmla="*/ 1590675 w 1590675"/>
              <a:gd name="connsiteY2" fmla="*/ 2124075 h 2124809"/>
              <a:gd name="connsiteX0" fmla="*/ 0 w 1590675"/>
              <a:gd name="connsiteY0" fmla="*/ 0 h 2124675"/>
              <a:gd name="connsiteX1" fmla="*/ 468316 w 1590675"/>
              <a:gd name="connsiteY1" fmla="*/ 1484839 h 2124675"/>
              <a:gd name="connsiteX2" fmla="*/ 1590675 w 1590675"/>
              <a:gd name="connsiteY2" fmla="*/ 2124075 h 2124675"/>
              <a:gd name="connsiteX0" fmla="*/ 0 w 1590675"/>
              <a:gd name="connsiteY0" fmla="*/ 0 h 2125697"/>
              <a:gd name="connsiteX1" fmla="*/ 555633 w 1590675"/>
              <a:gd name="connsiteY1" fmla="*/ 1688578 h 2125697"/>
              <a:gd name="connsiteX2" fmla="*/ 1590675 w 1590675"/>
              <a:gd name="connsiteY2" fmla="*/ 2124075 h 2125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90675" h="2125697">
                <a:moveTo>
                  <a:pt x="0" y="0"/>
                </a:moveTo>
                <a:cubicBezTo>
                  <a:pt x="25400" y="917575"/>
                  <a:pt x="290521" y="1334566"/>
                  <a:pt x="555633" y="1688578"/>
                </a:cubicBezTo>
                <a:cubicBezTo>
                  <a:pt x="820745" y="2042590"/>
                  <a:pt x="1250950" y="2139950"/>
                  <a:pt x="1590675" y="21240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17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81000" y="482601"/>
            <a:ext cx="7314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Intuition: If 1D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5975733"/>
            <a:ext cx="2057400" cy="52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 dirty="0"/>
              <a:t>Solve for </a:t>
            </a:r>
          </a:p>
        </p:txBody>
      </p:sp>
      <p:pic>
        <p:nvPicPr>
          <p:cNvPr id="21" name="Picture 2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606597"/>
            <a:ext cx="918972" cy="40843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238945"/>
            <a:ext cx="2574036" cy="438912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 flipV="1">
            <a:off x="6011011" y="642805"/>
            <a:ext cx="0" cy="2302848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7401" y="2722340"/>
            <a:ext cx="2164713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4432" y="2843823"/>
            <a:ext cx="104411" cy="21437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3968" y="1159166"/>
            <a:ext cx="436290" cy="299236"/>
          </a:xfrm>
          <a:prstGeom prst="rect">
            <a:avLst/>
          </a:prstGeom>
        </p:spPr>
      </p:pic>
      <p:cxnSp>
        <p:nvCxnSpPr>
          <p:cNvPr id="23" name="Straight Connector 22"/>
          <p:cNvCxnSpPr/>
          <p:nvPr/>
        </p:nvCxnSpPr>
        <p:spPr>
          <a:xfrm>
            <a:off x="381000" y="3835400"/>
            <a:ext cx="8305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68" y="4318508"/>
            <a:ext cx="1170432" cy="356616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228" y="4001847"/>
            <a:ext cx="5719572" cy="11094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629" y="5263449"/>
            <a:ext cx="2299716" cy="582168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4283964" y="5262850"/>
            <a:ext cx="3336036" cy="52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 dirty="0"/>
              <a:t>(for every   )</a:t>
            </a:r>
          </a:p>
        </p:txBody>
      </p:sp>
      <p:pic>
        <p:nvPicPr>
          <p:cNvPr id="35" name="Picture 3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0270" y="5349513"/>
            <a:ext cx="125730" cy="350520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538" y="6179423"/>
            <a:ext cx="1639062" cy="368808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6172200" y="1110853"/>
            <a:ext cx="1524880" cy="1403747"/>
            <a:chOff x="5137487" y="1006891"/>
            <a:chExt cx="2015567" cy="1391591"/>
          </a:xfrm>
        </p:grpSpPr>
        <p:sp>
          <p:nvSpPr>
            <p:cNvPr id="22" name="Freeform 21"/>
            <p:cNvSpPr/>
            <p:nvPr/>
          </p:nvSpPr>
          <p:spPr>
            <a:xfrm>
              <a:off x="5137487" y="1007182"/>
              <a:ext cx="1041121" cy="1391300"/>
            </a:xfrm>
            <a:custGeom>
              <a:avLst/>
              <a:gdLst>
                <a:gd name="connsiteX0" fmla="*/ 0 w 2667000"/>
                <a:gd name="connsiteY0" fmla="*/ 0 h 2076450"/>
                <a:gd name="connsiteX1" fmla="*/ 800100 w 2667000"/>
                <a:gd name="connsiteY1" fmla="*/ 1724025 h 2076450"/>
                <a:gd name="connsiteX2" fmla="*/ 2667000 w 2667000"/>
                <a:gd name="connsiteY2" fmla="*/ 2076450 h 2076450"/>
                <a:gd name="connsiteX0" fmla="*/ 0 w 1819275"/>
                <a:gd name="connsiteY0" fmla="*/ 0 h 2085975"/>
                <a:gd name="connsiteX1" fmla="*/ 800100 w 1819275"/>
                <a:gd name="connsiteY1" fmla="*/ 1724025 h 2085975"/>
                <a:gd name="connsiteX2" fmla="*/ 1819275 w 1819275"/>
                <a:gd name="connsiteY2" fmla="*/ 2085975 h 2085975"/>
                <a:gd name="connsiteX0" fmla="*/ 0 w 1819275"/>
                <a:gd name="connsiteY0" fmla="*/ 0 h 2085975"/>
                <a:gd name="connsiteX1" fmla="*/ 609600 w 1819275"/>
                <a:gd name="connsiteY1" fmla="*/ 1504950 h 2085975"/>
                <a:gd name="connsiteX2" fmla="*/ 1819275 w 1819275"/>
                <a:gd name="connsiteY2" fmla="*/ 2085975 h 2085975"/>
                <a:gd name="connsiteX0" fmla="*/ 0 w 1819275"/>
                <a:gd name="connsiteY0" fmla="*/ 0 h 2085975"/>
                <a:gd name="connsiteX1" fmla="*/ 609600 w 1819275"/>
                <a:gd name="connsiteY1" fmla="*/ 1504950 h 2085975"/>
                <a:gd name="connsiteX2" fmla="*/ 1819275 w 1819275"/>
                <a:gd name="connsiteY2" fmla="*/ 2085975 h 2085975"/>
                <a:gd name="connsiteX0" fmla="*/ 0 w 1819275"/>
                <a:gd name="connsiteY0" fmla="*/ 0 h 2087456"/>
                <a:gd name="connsiteX1" fmla="*/ 609600 w 1819275"/>
                <a:gd name="connsiteY1" fmla="*/ 1504950 h 2087456"/>
                <a:gd name="connsiteX2" fmla="*/ 1819275 w 1819275"/>
                <a:gd name="connsiteY2" fmla="*/ 2085975 h 2087456"/>
                <a:gd name="connsiteX0" fmla="*/ 0 w 1590675"/>
                <a:gd name="connsiteY0" fmla="*/ 0 h 2124809"/>
                <a:gd name="connsiteX1" fmla="*/ 381000 w 1590675"/>
                <a:gd name="connsiteY1" fmla="*/ 1543050 h 2124809"/>
                <a:gd name="connsiteX2" fmla="*/ 1590675 w 1590675"/>
                <a:gd name="connsiteY2" fmla="*/ 2124075 h 2124809"/>
                <a:gd name="connsiteX0" fmla="*/ 2321 w 1592996"/>
                <a:gd name="connsiteY0" fmla="*/ 0 h 2124809"/>
                <a:gd name="connsiteX1" fmla="*/ 383321 w 1592996"/>
                <a:gd name="connsiteY1" fmla="*/ 1543050 h 2124809"/>
                <a:gd name="connsiteX2" fmla="*/ 1592996 w 1592996"/>
                <a:gd name="connsiteY2" fmla="*/ 2124075 h 2124809"/>
                <a:gd name="connsiteX0" fmla="*/ 0 w 1590675"/>
                <a:gd name="connsiteY0" fmla="*/ 0 h 2124809"/>
                <a:gd name="connsiteX1" fmla="*/ 381000 w 1590675"/>
                <a:gd name="connsiteY1" fmla="*/ 1543050 h 2124809"/>
                <a:gd name="connsiteX2" fmla="*/ 1590675 w 1590675"/>
                <a:gd name="connsiteY2" fmla="*/ 2124075 h 2124809"/>
                <a:gd name="connsiteX0" fmla="*/ 0 w 1590675"/>
                <a:gd name="connsiteY0" fmla="*/ 0 h 2124675"/>
                <a:gd name="connsiteX1" fmla="*/ 468316 w 1590675"/>
                <a:gd name="connsiteY1" fmla="*/ 1484839 h 2124675"/>
                <a:gd name="connsiteX2" fmla="*/ 1590675 w 1590675"/>
                <a:gd name="connsiteY2" fmla="*/ 2124075 h 2124675"/>
                <a:gd name="connsiteX0" fmla="*/ 0 w 1590675"/>
                <a:gd name="connsiteY0" fmla="*/ 0 h 2125697"/>
                <a:gd name="connsiteX1" fmla="*/ 555633 w 1590675"/>
                <a:gd name="connsiteY1" fmla="*/ 1688578 h 2125697"/>
                <a:gd name="connsiteX2" fmla="*/ 1590675 w 1590675"/>
                <a:gd name="connsiteY2" fmla="*/ 2124075 h 212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90675" h="2125697">
                  <a:moveTo>
                    <a:pt x="0" y="0"/>
                  </a:moveTo>
                  <a:cubicBezTo>
                    <a:pt x="25400" y="917575"/>
                    <a:pt x="290521" y="1334566"/>
                    <a:pt x="555633" y="1688578"/>
                  </a:cubicBezTo>
                  <a:cubicBezTo>
                    <a:pt x="820745" y="2042590"/>
                    <a:pt x="1250950" y="2139950"/>
                    <a:pt x="1590675" y="212407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 flipH="1">
              <a:off x="6111933" y="1006891"/>
              <a:ext cx="1041121" cy="1391300"/>
            </a:xfrm>
            <a:custGeom>
              <a:avLst/>
              <a:gdLst>
                <a:gd name="connsiteX0" fmla="*/ 0 w 2667000"/>
                <a:gd name="connsiteY0" fmla="*/ 0 h 2076450"/>
                <a:gd name="connsiteX1" fmla="*/ 800100 w 2667000"/>
                <a:gd name="connsiteY1" fmla="*/ 1724025 h 2076450"/>
                <a:gd name="connsiteX2" fmla="*/ 2667000 w 2667000"/>
                <a:gd name="connsiteY2" fmla="*/ 2076450 h 2076450"/>
                <a:gd name="connsiteX0" fmla="*/ 0 w 1819275"/>
                <a:gd name="connsiteY0" fmla="*/ 0 h 2085975"/>
                <a:gd name="connsiteX1" fmla="*/ 800100 w 1819275"/>
                <a:gd name="connsiteY1" fmla="*/ 1724025 h 2085975"/>
                <a:gd name="connsiteX2" fmla="*/ 1819275 w 1819275"/>
                <a:gd name="connsiteY2" fmla="*/ 2085975 h 2085975"/>
                <a:gd name="connsiteX0" fmla="*/ 0 w 1819275"/>
                <a:gd name="connsiteY0" fmla="*/ 0 h 2085975"/>
                <a:gd name="connsiteX1" fmla="*/ 609600 w 1819275"/>
                <a:gd name="connsiteY1" fmla="*/ 1504950 h 2085975"/>
                <a:gd name="connsiteX2" fmla="*/ 1819275 w 1819275"/>
                <a:gd name="connsiteY2" fmla="*/ 2085975 h 2085975"/>
                <a:gd name="connsiteX0" fmla="*/ 0 w 1819275"/>
                <a:gd name="connsiteY0" fmla="*/ 0 h 2085975"/>
                <a:gd name="connsiteX1" fmla="*/ 609600 w 1819275"/>
                <a:gd name="connsiteY1" fmla="*/ 1504950 h 2085975"/>
                <a:gd name="connsiteX2" fmla="*/ 1819275 w 1819275"/>
                <a:gd name="connsiteY2" fmla="*/ 2085975 h 2085975"/>
                <a:gd name="connsiteX0" fmla="*/ 0 w 1819275"/>
                <a:gd name="connsiteY0" fmla="*/ 0 h 2087456"/>
                <a:gd name="connsiteX1" fmla="*/ 609600 w 1819275"/>
                <a:gd name="connsiteY1" fmla="*/ 1504950 h 2087456"/>
                <a:gd name="connsiteX2" fmla="*/ 1819275 w 1819275"/>
                <a:gd name="connsiteY2" fmla="*/ 2085975 h 2087456"/>
                <a:gd name="connsiteX0" fmla="*/ 0 w 1590675"/>
                <a:gd name="connsiteY0" fmla="*/ 0 h 2124809"/>
                <a:gd name="connsiteX1" fmla="*/ 381000 w 1590675"/>
                <a:gd name="connsiteY1" fmla="*/ 1543050 h 2124809"/>
                <a:gd name="connsiteX2" fmla="*/ 1590675 w 1590675"/>
                <a:gd name="connsiteY2" fmla="*/ 2124075 h 2124809"/>
                <a:gd name="connsiteX0" fmla="*/ 2321 w 1592996"/>
                <a:gd name="connsiteY0" fmla="*/ 0 h 2124809"/>
                <a:gd name="connsiteX1" fmla="*/ 383321 w 1592996"/>
                <a:gd name="connsiteY1" fmla="*/ 1543050 h 2124809"/>
                <a:gd name="connsiteX2" fmla="*/ 1592996 w 1592996"/>
                <a:gd name="connsiteY2" fmla="*/ 2124075 h 2124809"/>
                <a:gd name="connsiteX0" fmla="*/ 0 w 1590675"/>
                <a:gd name="connsiteY0" fmla="*/ 0 h 2124809"/>
                <a:gd name="connsiteX1" fmla="*/ 381000 w 1590675"/>
                <a:gd name="connsiteY1" fmla="*/ 1543050 h 2124809"/>
                <a:gd name="connsiteX2" fmla="*/ 1590675 w 1590675"/>
                <a:gd name="connsiteY2" fmla="*/ 2124075 h 2124809"/>
                <a:gd name="connsiteX0" fmla="*/ 0 w 1590675"/>
                <a:gd name="connsiteY0" fmla="*/ 0 h 2124675"/>
                <a:gd name="connsiteX1" fmla="*/ 468316 w 1590675"/>
                <a:gd name="connsiteY1" fmla="*/ 1484839 h 2124675"/>
                <a:gd name="connsiteX2" fmla="*/ 1590675 w 1590675"/>
                <a:gd name="connsiteY2" fmla="*/ 2124075 h 2124675"/>
                <a:gd name="connsiteX0" fmla="*/ 0 w 1590675"/>
                <a:gd name="connsiteY0" fmla="*/ 0 h 2125697"/>
                <a:gd name="connsiteX1" fmla="*/ 555633 w 1590675"/>
                <a:gd name="connsiteY1" fmla="*/ 1688578 h 2125697"/>
                <a:gd name="connsiteX2" fmla="*/ 1590675 w 1590675"/>
                <a:gd name="connsiteY2" fmla="*/ 2124075 h 212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90675" h="2125697">
                  <a:moveTo>
                    <a:pt x="0" y="0"/>
                  </a:moveTo>
                  <a:cubicBezTo>
                    <a:pt x="25400" y="917575"/>
                    <a:pt x="290521" y="1334566"/>
                    <a:pt x="555633" y="1688578"/>
                  </a:cubicBezTo>
                  <a:cubicBezTo>
                    <a:pt x="820745" y="2042590"/>
                    <a:pt x="1250950" y="2139950"/>
                    <a:pt x="1590675" y="212407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304800" y="2133600"/>
            <a:ext cx="5105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Take derivative, set equal to zero and solve to get optimal value of parameter with minimum value of cost function</a:t>
            </a:r>
          </a:p>
        </p:txBody>
      </p:sp>
    </p:spTree>
    <p:extLst>
      <p:ext uri="{BB962C8B-B14F-4D97-AF65-F5344CB8AC3E}">
        <p14:creationId xmlns:p14="http://schemas.microsoft.com/office/powerpoint/2010/main" val="375442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3" grpId="0"/>
      <p:bldP spid="2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79449" y="1193800"/>
          <a:ext cx="7543798" cy="2885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42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 algn="ctr" fontAlgn="b"/>
                      <a:endParaRPr lang="en-US" sz="27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effectLst/>
                          <a:latin typeface="+mj-lt"/>
                        </a:rPr>
                        <a:t>Size</a:t>
                      </a:r>
                      <a:r>
                        <a:rPr lang="en-US" sz="2100" b="1" u="none" strike="noStrike" baseline="0" dirty="0">
                          <a:effectLst/>
                          <a:latin typeface="+mj-lt"/>
                        </a:rPr>
                        <a:t> (</a:t>
                      </a:r>
                      <a:r>
                        <a:rPr lang="en-US" sz="2100" b="1" u="none" strike="noStrike" dirty="0">
                          <a:effectLst/>
                          <a:latin typeface="+mj-lt"/>
                        </a:rPr>
                        <a:t>feet</a:t>
                      </a:r>
                      <a:r>
                        <a:rPr lang="en-US" sz="2100" b="1" u="none" strike="noStrike" baseline="30000" dirty="0">
                          <a:effectLst/>
                          <a:latin typeface="+mj-lt"/>
                        </a:rPr>
                        <a:t>2</a:t>
                      </a:r>
                      <a:r>
                        <a:rPr lang="en-US" sz="2100" b="1" u="none" strike="noStrike" baseline="0" dirty="0">
                          <a:effectLst/>
                          <a:latin typeface="+mj-lt"/>
                        </a:rPr>
                        <a:t>)</a:t>
                      </a:r>
                    </a:p>
                    <a:p>
                      <a:pPr algn="ctr" fontAlgn="b"/>
                      <a:endParaRPr lang="en-US" sz="2100" b="1" u="none" strike="noStrike" baseline="0" dirty="0">
                        <a:effectLst/>
                        <a:latin typeface="+mj-lt"/>
                      </a:endParaRPr>
                    </a:p>
                    <a:p>
                      <a:pPr algn="ctr" fontAlgn="b"/>
                      <a:endParaRPr lang="en-US" sz="27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Number of bedrooms</a:t>
                      </a:r>
                    </a:p>
                    <a:p>
                      <a:pPr algn="ctr" fontAlgn="b"/>
                      <a:endParaRPr lang="en-US" sz="27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Number of floors</a:t>
                      </a:r>
                    </a:p>
                    <a:p>
                      <a:pPr algn="ctr" fontAlgn="b"/>
                      <a:endParaRPr lang="en-US" sz="27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Age</a:t>
                      </a:r>
                      <a:r>
                        <a:rPr lang="en-US" sz="2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of home (years)</a:t>
                      </a:r>
                    </a:p>
                    <a:p>
                      <a:pPr algn="ctr" fontAlgn="b"/>
                      <a:endParaRPr lang="en-US" sz="27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Price ($1000)</a:t>
                      </a:r>
                    </a:p>
                    <a:p>
                      <a:pPr algn="ctr" fontAlgn="b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  <a:p>
                      <a:pPr algn="ctr" fontAlgn="b"/>
                      <a:endParaRPr lang="en-US" sz="27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2104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460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1016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1416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232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1016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1534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30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315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1016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852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178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1832117" y="1193800"/>
          <a:ext cx="6400799" cy="2885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42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effectLst/>
                          <a:latin typeface="+mj-lt"/>
                        </a:rPr>
                        <a:t>Size</a:t>
                      </a:r>
                      <a:r>
                        <a:rPr lang="en-US" sz="2100" b="1" u="none" strike="noStrike" baseline="0" dirty="0">
                          <a:effectLst/>
                          <a:latin typeface="+mj-lt"/>
                        </a:rPr>
                        <a:t> (</a:t>
                      </a:r>
                      <a:r>
                        <a:rPr lang="en-US" sz="2100" b="1" u="none" strike="noStrike" dirty="0">
                          <a:effectLst/>
                          <a:latin typeface="+mj-lt"/>
                        </a:rPr>
                        <a:t>feet</a:t>
                      </a:r>
                      <a:r>
                        <a:rPr lang="en-US" sz="2100" b="1" u="none" strike="noStrike" baseline="30000" dirty="0">
                          <a:effectLst/>
                          <a:latin typeface="+mj-lt"/>
                        </a:rPr>
                        <a:t>2</a:t>
                      </a:r>
                      <a:r>
                        <a:rPr lang="en-US" sz="2100" b="1" u="none" strike="noStrike" baseline="0" dirty="0">
                          <a:effectLst/>
                          <a:latin typeface="+mj-lt"/>
                        </a:rPr>
                        <a:t>)</a:t>
                      </a:r>
                    </a:p>
                    <a:p>
                      <a:pPr algn="ctr" fontAlgn="b"/>
                      <a:endParaRPr lang="en-US" sz="2100" b="1" u="none" strike="noStrike" baseline="0" dirty="0">
                        <a:effectLst/>
                        <a:latin typeface="+mj-lt"/>
                      </a:endParaRPr>
                    </a:p>
                    <a:p>
                      <a:pPr algn="ctr" fontAlgn="b"/>
                      <a:endParaRPr lang="en-US" sz="27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Number of bedrooms</a:t>
                      </a:r>
                    </a:p>
                    <a:p>
                      <a:pPr algn="ctr" fontAlgn="b"/>
                      <a:endParaRPr lang="en-US" sz="27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Number of floors</a:t>
                      </a:r>
                    </a:p>
                    <a:p>
                      <a:pPr algn="ctr" fontAlgn="b"/>
                      <a:endParaRPr lang="en-US" sz="27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Age</a:t>
                      </a:r>
                      <a:r>
                        <a:rPr lang="en-US" sz="2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of home (years)</a:t>
                      </a:r>
                    </a:p>
                    <a:p>
                      <a:pPr algn="ctr" fontAlgn="b"/>
                      <a:endParaRPr lang="en-US" sz="27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Price ($1000)</a:t>
                      </a:r>
                    </a:p>
                    <a:p>
                      <a:pPr algn="ctr" fontAlgn="b"/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  <a:p>
                      <a:pPr algn="ctr" fontAlgn="b"/>
                      <a:endParaRPr lang="en-US" sz="27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2104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460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1416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232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1534</a:t>
                      </a:r>
                    </a:p>
                  </a:txBody>
                  <a:tcPr marL="7620" marR="7620" marT="1016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30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315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852</a:t>
                      </a:r>
                    </a:p>
                  </a:txBody>
                  <a:tcPr marL="7620" marR="7620" marT="1016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178</a:t>
                      </a:r>
                    </a:p>
                  </a:txBody>
                  <a:tcPr marL="7620" marR="7620" marT="10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04800" y="381001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Examples: 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435" y="2232660"/>
            <a:ext cx="230505" cy="2057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940" y="2286000"/>
            <a:ext cx="222885" cy="2006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97" y="2286000"/>
            <a:ext cx="228600" cy="2006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062" y="2232660"/>
            <a:ext cx="230505" cy="2057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7281" y="2143760"/>
            <a:ext cx="120015" cy="21844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969" y="2237740"/>
            <a:ext cx="234315" cy="2006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179" y="528320"/>
            <a:ext cx="729615" cy="23368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180" y="4419600"/>
            <a:ext cx="2969895" cy="162052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255" y="4419600"/>
            <a:ext cx="1101090" cy="162052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705" y="6400800"/>
            <a:ext cx="2055495" cy="365760"/>
          </a:xfrm>
          <a:prstGeom prst="rect">
            <a:avLst/>
          </a:prstGeom>
        </p:spPr>
      </p:pic>
      <p:pic>
        <p:nvPicPr>
          <p:cNvPr id="13" name="Ink 1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05000" y="2335800"/>
            <a:ext cx="8355960" cy="3988800"/>
          </a:xfrm>
          <a:prstGeom prst="rect">
            <a:avLst/>
          </a:prstGeom>
        </p:spPr>
      </p:pic>
      <p:pic>
        <p:nvPicPr>
          <p:cNvPr id="15" name="Ink 1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247440" y="6275160"/>
            <a:ext cx="2772360" cy="65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29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316284"/>
            <a:ext cx="2743200" cy="4881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00600" y="1219200"/>
            <a:ext cx="3657600" cy="52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360"/>
              </a:lnSpc>
            </a:pPr>
            <a:r>
              <a:rPr lang="en-US" sz="2800" dirty="0"/>
              <a:t>is inverse of matrix           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295400"/>
            <a:ext cx="1295400" cy="45804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1295400"/>
            <a:ext cx="849294" cy="400304"/>
          </a:xfrm>
          <a:prstGeom prst="rect">
            <a:avLst/>
          </a:prstGeom>
        </p:spPr>
      </p:pic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838200" y="2362199"/>
          <a:ext cx="4495800" cy="3123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91720" imgH="923400" progId="Equation.3">
                  <p:embed/>
                </p:oleObj>
              </mc:Choice>
              <mc:Fallback>
                <p:oleObj name="Equation" r:id="rId9" imgW="1791720" imgH="923400" progId="Equation.3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362199"/>
                        <a:ext cx="4495800" cy="31238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43310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624840"/>
            <a:ext cx="293370" cy="213360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xfrm>
            <a:off x="344043" y="476647"/>
            <a:ext cx="84189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      training examples,     features.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276" y="624840"/>
            <a:ext cx="194691" cy="213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52400" y="1181893"/>
            <a:ext cx="42094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u="sng" dirty="0"/>
              <a:t>Gradient Descent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1181893"/>
            <a:ext cx="42094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u="sng" dirty="0"/>
              <a:t>Normal Equation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419600" y="1397000"/>
            <a:ext cx="0" cy="4978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800600" y="2050313"/>
            <a:ext cx="4114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No need to choose    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Don’t need to iterate.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4922" y="2084579"/>
            <a:ext cx="399935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Need to choose    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Needs many iterations.</a:t>
            </a:r>
          </a:p>
          <a:p>
            <a:endParaRPr lang="en-US" sz="2800" dirty="0"/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1" y="2209800"/>
            <a:ext cx="200025" cy="2133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13221" y="3216656"/>
            <a:ext cx="352367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Works well even when     is large.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1" y="3188573"/>
            <a:ext cx="39998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Need to compute</a:t>
            </a: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1" y="3886200"/>
            <a:ext cx="1448181" cy="512064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800600" y="4318000"/>
            <a:ext cx="37226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Slow if     is very large.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389" y="2209800"/>
            <a:ext cx="200025" cy="21336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1" y="3810000"/>
            <a:ext cx="194691" cy="21336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835" y="4495800"/>
            <a:ext cx="194691" cy="213360"/>
          </a:xfrm>
          <a:prstGeom prst="rect">
            <a:avLst/>
          </a:prstGeom>
        </p:spPr>
      </p:pic>
      <p:pic>
        <p:nvPicPr>
          <p:cNvPr id="3" name="Ink 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2760" y="1128720"/>
            <a:ext cx="8581680" cy="542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294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81000" y="482600"/>
            <a:ext cx="7314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Normal equation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498600"/>
            <a:ext cx="3288792" cy="5852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2568557"/>
            <a:ext cx="7772400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3360"/>
              </a:lnSpc>
              <a:buFontTx/>
              <a:buChar char="-"/>
            </a:pPr>
            <a:r>
              <a:rPr lang="en-US" sz="2800" dirty="0"/>
              <a:t>What if             is non-invertible? (singular/ degenerate)</a:t>
            </a:r>
          </a:p>
          <a:p>
            <a:pPr marL="914400" lvl="1" indent="-457200">
              <a:lnSpc>
                <a:spcPts val="3360"/>
              </a:lnSpc>
              <a:buFontTx/>
              <a:buChar char="-"/>
            </a:pPr>
            <a:r>
              <a:rPr lang="en-US" sz="2800" dirty="0"/>
              <a:t>Causes inverse operation to fail!  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227" y="2659930"/>
            <a:ext cx="837438" cy="39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9848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81000" y="482600"/>
            <a:ext cx="7314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What if           is non-invertible?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1723817"/>
            <a:ext cx="7772400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3360"/>
              </a:lnSpc>
              <a:buFont typeface="Arial" pitchFamily="34" charset="0"/>
              <a:buChar char="•"/>
            </a:pPr>
            <a:r>
              <a:rPr lang="en-US" sz="2800" dirty="0"/>
              <a:t>Redundant features (linearly dependent).</a:t>
            </a:r>
          </a:p>
          <a:p>
            <a:pPr lvl="1">
              <a:lnSpc>
                <a:spcPts val="3360"/>
              </a:lnSpc>
            </a:pPr>
            <a:r>
              <a:rPr lang="en-US" sz="2800" dirty="0"/>
              <a:t>E.g.            size in feet</a:t>
            </a:r>
            <a:r>
              <a:rPr lang="en-US" sz="2800" baseline="30000" dirty="0"/>
              <a:t>2</a:t>
            </a:r>
            <a:endParaRPr lang="en-US" sz="2800" dirty="0"/>
          </a:p>
          <a:p>
            <a:pPr lvl="1">
              <a:lnSpc>
                <a:spcPts val="3360"/>
              </a:lnSpc>
            </a:pPr>
            <a:r>
              <a:rPr lang="en-US" sz="2800" dirty="0"/>
              <a:t>                   size in m</a:t>
            </a:r>
            <a:r>
              <a:rPr lang="en-US" sz="2800" baseline="30000" dirty="0"/>
              <a:t>2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914400" y="3509463"/>
            <a:ext cx="6477000" cy="964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ts val="336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ts val="3360"/>
              </a:lnSpc>
              <a:buFont typeface="Arial" pitchFamily="34" charset="0"/>
              <a:buChar char="•"/>
            </a:pPr>
            <a:r>
              <a:rPr lang="en-US" sz="2800" dirty="0"/>
              <a:t>Too many features (e.g.             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7800" y="4781608"/>
            <a:ext cx="7086600" cy="52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ts val="3360"/>
              </a:lnSpc>
              <a:buFontTx/>
              <a:buChar char="-"/>
            </a:pPr>
            <a:r>
              <a:rPr lang="en-US" sz="2800" dirty="0"/>
              <a:t>Delete some features, or use regularization.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362200"/>
            <a:ext cx="709422" cy="2809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767076"/>
            <a:ext cx="709422" cy="28092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5535" y="4038600"/>
            <a:ext cx="978789" cy="36982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17" y="581047"/>
            <a:ext cx="837438" cy="39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4623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repeat until convergence \{&#10;&#10;$&#10;\displaystyle&#10;\quad\theta_j := \theta_j - \alpha \frac{\partial}{\partial \theta_j} J(\theta_0,\theta_1)&#10;$&#10;&#10;\}&#10;% \delta_i^{(l)} = \left(\sum_j W_{ji}^{(l)} \delta_j^{(l+1)}\right) f'(z_i^{(l)})&#10;&#10;&#10;&#10;\end{document}"/>
  <p:tag name="IGUANATEXSIZE" val="2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(for $j=0$ and $j=1$)&#10;% \delta_i^{(l)} = \left(\sum_j W_{ji}^{(l)} \delta_j^{(l+1)}\right) f'(z_i^{(l)})&#10;&#10;&#10;&#10;\end{document}"/>
  <p:tag name="IGUANATEXSIZE" val="2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{\color{blue}\mathrm{temp}0} := \theta_0 - \alpha \frac{\partial}{\partial \theta_0} J(\theta_0,\theta_1)$ &#10;&#10;${\color{blue}\mathrm{temp}1} := \theta_1 - \alpha \frac{\partial}{\partial \theta_1} J(\theta_0,\theta_1)$ &#10;&#10;$\theta_0 := {\color{blue}\mathrm{temp}0}$&#10;&#10;$\theta_1 := {\color{blue}\mathrm{temp}1}$ &#10;&#10;% \delta_i^{(l)} = \left(\sum_j W_{ji}^{(l)} \delta_j^{(l+1)}\right) f'(z_i^{(l)})&#10;&#10;&#10;&#10;\end{document}"/>
  <p:tag name="IGUANATEXSIZE" val="2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{\color{blue}\mathrm{temp}0} := \theta_0 - \alpha \frac{\partial}{\partial \theta_0} J(\theta_0,\theta_1)$ &#10;&#10;$\theta_0 := {\color{blue}\mathrm{temp}0}$&#10;&#10;${\color{blue}\mathrm{temp}1} := \theta_1 - \alpha \frac{\partial}{\partial \theta_1} J(\theta_0,\theta_1)$ &#10;&#10;$\theta_1 := {\color{blue}\mathrm{temp}1}$ &#10;&#10;% \delta_i^{(l)} = \left(\sum_j W_{ji}^{(l)} \delta_j^{(l+1)}\right) f'(z_i^{(l)})&#10;&#10;&#10;&#10;\end{document}"/>
  <p:tag name="IGUANATEXSIZE" val="2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repeat until convergence \{&#10;&#10;$&#10;\displaystyle&#10;\quad\theta_j := \theta_j - \alpha \frac{\partial}{\partial \theta_j} J(\theta_0,\theta_1)&#10;$ &#10;&#10;\;\;\quad\quad{(for $j=1$ and $j=0$)}&#10;&#10;\}&#10;% \delta_i^{(l)} = \left(\sum_j W_{ji}^{(l)} \delta_j^{(l+1)}\right) f'(z_i^{(l)})&#10;&#10;&#10;&#10;\end{document}"/>
  <p:tag name="IGUANATEXSIZE" val="3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theta_0 + \theta_1 x&#10;$&#10;% \delta_i^{(l)} = \left(\sum_j W_{ji}^{(l)} \delta_j^{(l+1)}\right) f'(z_i^{(l)})&#10;&#10;&#10;&#10;\end{document}"/>
  <p:tag name="IGUANATEXSIZE" val="3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 = \frac{1}{2m} \sum\limits^{m}_{i=1} \left( h_\theta(x^{(i)}) - y^{(i)} \right)^2&#10;$&#10;% \delta_i^{(l)} = \left(\sum_j W_{ji}^{(l)} \delta_j^{(l+1)}\right) f'(z_i^{(l)})&#10;&#10;&#10;&#10;\end{document}"/>
  <p:tag name="IGUANATEXSIZE" val="3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&#10;$&#10;% \delta_i^{(l)} = \left(\sum_j W_{ji}^{(l)} \delta_j^{(l+1)}\right) f'(z_i^{(l)})&#10;&#10;&#10;&#10;\end{document}"/>
  <p:tag name="IGUANATEXSIZE" val="2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&#10;$ &#10;&#10;% \delta_i^{(l)} = \left(\sum_j W_{ji}^{(l)} \delta_j^{(l+1)}\right) f'(z_i^{(l)})&#10;&#10;&#10;&#10;\end{document}"/>
  <p:tag name="IGUANATEXSIZE" val="2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&#10;$&#10;% \delta_i^{(l)} = \left(\sum_j W_{ji}^{(l)} \delta_j^{(l+1)}\right) f'(z_i^{(l)})&#10;&#10;&#10;&#10;\end{document}"/>
  <p:tag name="IGUANATEXSIZE" val="2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 $(\theta \in \mathbb{R})$&#10;&#10;\end{document}"/>
  <p:tag name="IGUANATEXSIZE" val="2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J(\theta) = a\theta^2 + b\theta + c&#10;$&#10;&#10;\end{document}"/>
  <p:tag name="IGUANATEXSIZE" val="2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&#10;$&#10;% \delta_i^{(l)} = \left(\sum_j W_{ji}^{(l)} \delta_j^{(l+1)}\right) f'(z_i^{(l)})&#10;&#10;&#10;&#10;\end{document}"/>
  <p:tag name="IGUANATEXSIZE" val="2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&#10;$ &#10;&#10;% \delta_i^{(l)} = \left(\sum_j W_{ji}^{(l)} \delta_j^{(l+1)}\right) f'(z_i^{(l)})&#10;&#10;&#10;&#10;\end{document}"/>
  <p:tag name="IGUANATEXSIZE" val="2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theta \in \mathbb{R}^{n+1}&#10;$&#10;&#10;\end{document}"/>
  <p:tag name="IGUANATEXSIZE" val="2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displaystyle&#10;J(\theta_0, \theta_1, \dots, \theta_m) = \frac{1}{2m} \sum^{m}_{i=1} (h_\theta(x^{(i)}) - y^{(i)})^2&#10;$&#10;&#10;\end{document}"/>
  <p:tag name="IGUANATEXSIZE" val="2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frac{\partial}{\partial\theta_j} J(\theta) = \dots = 0&#10;$&#10;&#10;\end{document}"/>
  <p:tag name="IGUANATEXSIZE" val="2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j&#10;$&#10;&#10;\end{document}"/>
  <p:tag name="IGUANATEXSIZE" val="2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theta_0, \theta_1, \dots, \theta_n&#10;$&#10;&#10;\end{document}"/>
  <p:tag name="IGUANATEXSIZE" val="2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0&#10;$&#10;&#10;\end{document}"/>
  <p:tag name="IGUANATEXSIZE" val="2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3&#10;$&#10;&#10;\end{document}"/>
  <p:tag name="IGUANATEXSIZE" val="2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y&#10;$&#10;&#10;\end{document}"/>
  <p:tag name="IGUANATEXSIZE" val="2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4&#10;$&#10;&#10;\end{document}"/>
  <p:tag name="IGUANATEXSIZE" val="2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m = 4.&#10;$&#10;&#10;\end{document}"/>
  <p:tag name="IGUANATEXSIZE" val="2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 = \begin{bmatrix}&#10;1 &amp; 2104 &amp; 5 &amp; 1 &amp; 45 \\&#10;1 &amp; 1416 &amp; 3 &amp; 2 &amp; 40 \\&#10;1 &amp; 1534 &amp; 3 &amp; 2 &amp; 30 \\&#10;1 &amp; 852 &amp; 2 &amp; 1 &amp; 36 \\&#10;\end{bmatrix}&#10;$&#10;&#10;\end{document}"/>
  <p:tag name="IGUANATEXSIZE" val="2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y = \begin{bmatrix}&#10; 460\\&#10; 232\\&#10; 315\\&#10; 178&#10;\end{bmatrix}&#10;$&#10;&#10;\end{document}"/>
  <p:tag name="IGUANATEXSIZE" val="2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theta = (X^TX)^{-1}X^Ty&#10;$&#10;&#10;\end{document}"/>
  <p:tag name="IGUANATEXSIZE" val="2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theta = (X^T X)^{-1} X^Ty&#10;$&#10;&#10;\end{document}"/>
  <p:tag name="IGUANATEXSIZE" val="3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(X^T X)^{-1}&#10;$&#10;&#10;\end{document}"/>
  <p:tag name="IGUANATEXSIZE" val="3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^T X&#10;$&#10;&#10;\end{document}"/>
  <p:tag name="IGUANATEXSIZE" val="3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m$&#10;&#10;&#10;\end{document}"/>
  <p:tag name="IGUANATEXSIZE" val="2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n$&#10;&#10;&#10;\end{document}"/>
  <p:tag name="IGUANATEXSIZE" val="2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alpha$&#10;&#10;&#10;\end{document}"/>
  <p:tag name="IGUANATEXSIZE" val="2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(X^TX)^{-1}$&#10;&#10;&#10;\end{document}"/>
  <p:tag name="IGUANATEXSIZE" val="2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alpha$&#10;&#10;&#10;\end{document}"/>
  <p:tag name="IGUANATEXSIZE" val="2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n$&#10;&#10;&#10;\end{document}"/>
  <p:tag name="IGUANATEXSIZE" val="2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n$&#10;&#10;&#10;\end{document}"/>
  <p:tag name="IGUANATEXSIZE" val="2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theta = (X^T X)^{-1} X^Ty&#10;$&#10;&#10;\end{document}"/>
  <p:tag name="IGUANATEXSIZE" val="3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^TX&#10;$&#10;&#10;\end{document}"/>
  <p:tag name="IGUANATEXSIZE" val="2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 =&#10;$&#10;&#10;\end{document}"/>
  <p:tag name="IGUANATEXSIZE" val="28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 =&#10;$&#10;&#10;\end{document}"/>
  <p:tag name="IGUANATEXSIZE" val="2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m \leq n&#10;$&#10;&#10;\end{document}"/>
  <p:tag name="IGUANATEXSIZE" val="2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^TX&#10;$&#10;&#10;\end{document}"/>
  <p:tag name="IGUANATEXSIZE" val="2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19A45FDF435D4CA9F3A585DD4ABEB3" ma:contentTypeVersion="0" ma:contentTypeDescription="Create a new document." ma:contentTypeScope="" ma:versionID="2e67d1ea863b1a30a65a0dcbaf538e4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2CB193A-B53B-4056-8B83-AA2BF31D765D}"/>
</file>

<file path=customXml/itemProps2.xml><?xml version="1.0" encoding="utf-8"?>
<ds:datastoreItem xmlns:ds="http://schemas.openxmlformats.org/officeDocument/2006/customXml" ds:itemID="{85EBDB0D-6D87-4B5A-8501-D4C82FC9C5BA}"/>
</file>

<file path=customXml/itemProps3.xml><?xml version="1.0" encoding="utf-8"?>
<ds:datastoreItem xmlns:ds="http://schemas.openxmlformats.org/officeDocument/2006/customXml" ds:itemID="{AA51D8A5-60BB-43D6-BF85-79151717E5F6}"/>
</file>

<file path=docProps/app.xml><?xml version="1.0" encoding="utf-8"?>
<Properties xmlns="http://schemas.openxmlformats.org/officeDocument/2006/extended-properties" xmlns:vt="http://schemas.openxmlformats.org/officeDocument/2006/docPropsVTypes">
  <TotalTime>6385</TotalTime>
  <Words>1349</Words>
  <Application>Microsoft Office PowerPoint</Application>
  <PresentationFormat>On-screen Show (4:3)</PresentationFormat>
  <Paragraphs>268</Paragraphs>
  <Slides>54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Calibri</vt:lpstr>
      <vt:lpstr>Symbol</vt:lpstr>
      <vt:lpstr>Office Theme</vt:lpstr>
      <vt:lpstr>Equation</vt:lpstr>
      <vt:lpstr>Machine Learning (ML) RIME-832</vt:lpstr>
      <vt:lpstr>Regression</vt:lpstr>
      <vt:lpstr>Linear Regression with ONE variable</vt:lpstr>
      <vt:lpstr>Linear Regression with ONE variable</vt:lpstr>
      <vt:lpstr>Supervised Learning Formal Definition</vt:lpstr>
      <vt:lpstr>Linear Regression with ONE variable</vt:lpstr>
      <vt:lpstr>Linear Regression with ONE variable</vt:lpstr>
      <vt:lpstr>Linear Regression with ONE variable</vt:lpstr>
      <vt:lpstr>Linear Regression with ONE variable</vt:lpstr>
      <vt:lpstr>Linear Regression with ONE variable</vt:lpstr>
      <vt:lpstr>Contour Plot</vt:lpstr>
      <vt:lpstr>Linear Regression with ONE variable</vt:lpstr>
      <vt:lpstr>Linear Regression with ONE variable</vt:lpstr>
      <vt:lpstr>Gradient Descent Algorithm</vt:lpstr>
      <vt:lpstr>Gradient Descent Algorithm</vt:lpstr>
      <vt:lpstr>Gradient Descent Algorithm</vt:lpstr>
      <vt:lpstr>Gradient Descent Algorithm</vt:lpstr>
      <vt:lpstr>PowerPoint Presentation</vt:lpstr>
      <vt:lpstr>PowerPoint Presentation</vt:lpstr>
      <vt:lpstr>PowerPoint Presentation</vt:lpstr>
      <vt:lpstr>PowerPoint Presentation</vt:lpstr>
      <vt:lpstr>Gradient Descent for Linear Regression</vt:lpstr>
      <vt:lpstr>Gradient Descent for Linear Regression</vt:lpstr>
      <vt:lpstr>Gradient Descent for Linear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Linear Regression with MULTIPLE Variables</vt:lpstr>
      <vt:lpstr>Linear Regression with MULTIPLE Variables</vt:lpstr>
      <vt:lpstr>Linear Regression with MULTIPLE Variables</vt:lpstr>
      <vt:lpstr>Linear Regression with MULTIPLE Variables</vt:lpstr>
      <vt:lpstr>Gradient Descent for MULTIPLE Variables</vt:lpstr>
      <vt:lpstr>Gradient Descent for MULTIPLE Variables</vt:lpstr>
      <vt:lpstr>Gradient Descent: Feature Scaling</vt:lpstr>
      <vt:lpstr>Gradient Descent: Feature Scaling</vt:lpstr>
      <vt:lpstr>Gradient Descent: Feature Scaling</vt:lpstr>
      <vt:lpstr>Gradient Descent: Learning Rate</vt:lpstr>
      <vt:lpstr>Gradient Descent: Learning Rate</vt:lpstr>
      <vt:lpstr>Creating More Features</vt:lpstr>
      <vt:lpstr>Polynomial Regression</vt:lpstr>
      <vt:lpstr>Computing Parameters Analytically Normal Equations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RIME-314</dc:title>
  <dc:creator>Hasan</dc:creator>
  <cp:lastModifiedBy>Jawad Khan</cp:lastModifiedBy>
  <cp:revision>204</cp:revision>
  <dcterms:created xsi:type="dcterms:W3CDTF">2006-08-16T00:00:00Z</dcterms:created>
  <dcterms:modified xsi:type="dcterms:W3CDTF">2025-09-09T08:58:47Z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0x0101002419A45FDF435D4CA9F3A585DD4ABEB3</vt:lpwstr>
  </property>
</Properties>
</file>