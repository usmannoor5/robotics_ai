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9" r:id="rId3"/>
    <p:sldId id="270" r:id="rId4"/>
    <p:sldId id="271" r:id="rId5"/>
    <p:sldId id="272" r:id="rId6"/>
    <p:sldId id="279" r:id="rId7"/>
    <p:sldId id="264" r:id="rId8"/>
    <p:sldId id="274" r:id="rId9"/>
    <p:sldId id="27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30" autoAdjust="0"/>
    <p:restoredTop sz="94624" autoAdjust="0"/>
  </p:normalViewPr>
  <p:slideViewPr>
    <p:cSldViewPr>
      <p:cViewPr varScale="1">
        <p:scale>
          <a:sx n="59" d="100"/>
          <a:sy n="59" d="100"/>
        </p:scale>
        <p:origin x="107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D972D-BAFB-4782-9B98-7F1B3714424A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CB582-81CC-4E73-9C80-A21E916F3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D79D2D4-50B1-4AB3-A57F-599B7A5F704C}" type="datetime1">
              <a:rPr lang="en-US" smtClean="0"/>
              <a:t>9/8/2025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Computer Vision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7A3F-CD0C-4BCF-B458-C9882A6275B1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C683-311D-4D3C-A262-FD73079E3CAB}" type="datetime1">
              <a:rPr lang="en-US" smtClean="0"/>
              <a:t>9/8/2025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5A533BC-E5E2-4358-9DED-5D9A9EA4DF0C}" type="datetime1">
              <a:rPr lang="en-US" smtClean="0"/>
              <a:t>9/8/2025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dirty="0"/>
              <a:t>Computer Vision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F3784B4-DE6B-4342-A9BC-81673305CA0A}" type="datetime1">
              <a:rPr lang="en-US" smtClean="0"/>
              <a:t>9/8/2025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dirty="0"/>
              <a:t>Computer Vision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F9F1-7435-42BE-9B79-E85051EE26FD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DCCA-843C-4B3B-896D-A52978943939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9AC9-7F98-4493-91D0-F9B4E331E730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D34B7CB-B04D-4F22-899C-C0211428D6DE}" type="datetime1">
              <a:rPr lang="en-US" smtClean="0"/>
              <a:t>9/8/2025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78-C00D-4B09-AC76-8A38B8E8DBD2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E05203-6E50-4815-95D4-86E5D44D597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32915-1126-45C6-BA24-CFBF56D6D259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Computer Vision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jawad.khan@smme.nust.edu.p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br>
              <a:rPr lang="en-US" dirty="0"/>
            </a:br>
            <a:r>
              <a:rPr lang="en-US" dirty="0"/>
              <a:t>RIME 831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200" b="1" dirty="0">
                <a:cs typeface="Arial" pitchFamily="34" charset="0"/>
              </a:rPr>
              <a:t>Administrative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41475"/>
            <a:ext cx="8229600" cy="4911725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Arial" pitchFamily="34" charset="0"/>
              </a:rPr>
              <a:t>At least </a:t>
            </a:r>
            <a:r>
              <a:rPr lang="en-US" dirty="0">
                <a:solidFill>
                  <a:srgbClr val="FF0000"/>
                </a:solidFill>
                <a:cs typeface="Arial" pitchFamily="34" charset="0"/>
              </a:rPr>
              <a:t>75%</a:t>
            </a:r>
            <a:r>
              <a:rPr lang="en-US" dirty="0">
                <a:cs typeface="Arial" pitchFamily="34" charset="0"/>
              </a:rPr>
              <a:t> attendance policy will be enforced.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Arial" pitchFamily="34" charset="0"/>
              </a:rPr>
              <a:t>Office Location: 417b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Arial" pitchFamily="34" charset="0"/>
              </a:rPr>
              <a:t>Lecture: Monday 6:30 PM to 8:00 PM</a:t>
            </a:r>
          </a:p>
          <a:p>
            <a:pPr marL="365760" lvl="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>
                <a:cs typeface="Arial" pitchFamily="34" charset="0"/>
              </a:rPr>
              <a:t>               Wednesday 5:00 PM to 6:30 PM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Arial" pitchFamily="34" charset="0"/>
              </a:rPr>
              <a:t>Office Hours: email at </a:t>
            </a:r>
            <a:r>
              <a:rPr lang="en-US" sz="2000" dirty="0">
                <a:solidFill>
                  <a:srgbClr val="0070C0"/>
                </a:solidFill>
                <a:cs typeface="Arial" pitchFamily="34" charset="0"/>
                <a:hlinkClick r:id="rId2"/>
              </a:rPr>
              <a:t>jawad.khan@smme.nust.edu.pk</a:t>
            </a:r>
            <a:endParaRPr lang="en-US" sz="2000" dirty="0">
              <a:solidFill>
                <a:srgbClr val="0070C0"/>
              </a:solidFill>
              <a:cs typeface="Arial" pitchFamily="34" charset="0"/>
            </a:endParaRPr>
          </a:p>
          <a:p>
            <a:pPr marL="365760" lvl="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2000" dirty="0">
              <a:solidFill>
                <a:srgbClr val="0070C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8893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Policy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33400" y="1600200"/>
            <a:ext cx="80772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sz="2400" b="1" dirty="0"/>
              <a:t>	Quizzes				</a:t>
            </a:r>
            <a:r>
              <a:rPr lang="en-US" sz="2400" b="1" dirty="0">
                <a:solidFill>
                  <a:srgbClr val="FF0000"/>
                </a:solidFill>
              </a:rPr>
              <a:t>10%</a:t>
            </a:r>
          </a:p>
          <a:p>
            <a:pPr eaLnBrk="0" hangingPunct="0">
              <a:lnSpc>
                <a:spcPct val="200000"/>
              </a:lnSpc>
            </a:pPr>
            <a:r>
              <a:rPr lang="en-US" sz="2400" b="1" dirty="0"/>
              <a:t>           Assignment      			</a:t>
            </a:r>
            <a:r>
              <a:rPr lang="en-US" sz="2400" b="1" dirty="0">
                <a:solidFill>
                  <a:srgbClr val="FF0000"/>
                </a:solidFill>
              </a:rPr>
              <a:t>10%</a:t>
            </a:r>
          </a:p>
          <a:p>
            <a:pPr eaLnBrk="0" hangingPunct="0">
              <a:lnSpc>
                <a:spcPct val="200000"/>
              </a:lnSpc>
            </a:pPr>
            <a:r>
              <a:rPr lang="en-US" sz="2400" b="1" dirty="0"/>
              <a:t>	MSE		 	             	</a:t>
            </a:r>
            <a:r>
              <a:rPr lang="en-US" sz="2400" b="1" dirty="0">
                <a:solidFill>
                  <a:srgbClr val="FF0000"/>
                </a:solidFill>
              </a:rPr>
              <a:t>30%</a:t>
            </a:r>
            <a:endParaRPr lang="en-US" sz="2400" b="1" dirty="0"/>
          </a:p>
          <a:p>
            <a:pPr eaLnBrk="0" hangingPunct="0">
              <a:lnSpc>
                <a:spcPct val="200000"/>
              </a:lnSpc>
            </a:pPr>
            <a:r>
              <a:rPr lang="en-US" sz="2400" b="1" dirty="0"/>
              <a:t>	Final Examination	 	   	</a:t>
            </a:r>
            <a:r>
              <a:rPr lang="en-US" sz="2400" b="1" dirty="0">
                <a:solidFill>
                  <a:srgbClr val="FF0000"/>
                </a:solidFill>
              </a:rPr>
              <a:t>40%</a:t>
            </a:r>
          </a:p>
          <a:p>
            <a:pPr eaLnBrk="0" hangingPunct="0">
              <a:lnSpc>
                <a:spcPct val="200000"/>
              </a:lnSpc>
            </a:pPr>
            <a:r>
              <a:rPr lang="en-US" sz="2400" b="1" dirty="0"/>
              <a:t>	Project 	                </a:t>
            </a:r>
            <a:r>
              <a:rPr lang="en-US" sz="2400" b="1" dirty="0">
                <a:solidFill>
                  <a:srgbClr val="FF0000"/>
                </a:solidFill>
              </a:rPr>
              <a:t>         	10%</a:t>
            </a:r>
            <a:r>
              <a:rPr lang="en-US" sz="2400" dirty="0"/>
              <a:t> </a:t>
            </a:r>
            <a:r>
              <a:rPr lang="en-US" sz="2400" b="1" dirty="0"/>
              <a:t>  </a:t>
            </a:r>
          </a:p>
          <a:p>
            <a:pPr eaLnBrk="0" hangingPunct="0"/>
            <a:r>
              <a:rPr lang="en-US" sz="2400" b="1" dirty="0"/>
              <a:t>     </a:t>
            </a:r>
          </a:p>
          <a:p>
            <a:pPr eaLnBrk="0" hangingPunct="0"/>
            <a:r>
              <a:rPr lang="en-US" sz="2400" b="1" dirty="0">
                <a:solidFill>
                  <a:srgbClr val="FF0000"/>
                </a:solidFill>
              </a:rPr>
              <a:t>  </a:t>
            </a:r>
            <a:r>
              <a:rPr lang="en-US" sz="2400" b="1" dirty="0"/>
              <a:t> </a:t>
            </a:r>
            <a:r>
              <a:rPr lang="en-US" sz="3200" b="1" dirty="0">
                <a:latin typeface="Times New Roman" pitchFamily="18" charset="0"/>
              </a:rPr>
              <a:t>	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Hands-On Machine Learning with Scikit-Learn, </a:t>
            </a:r>
            <a:r>
              <a:rPr lang="en-US" dirty="0" err="1"/>
              <a:t>Keras</a:t>
            </a:r>
            <a:r>
              <a:rPr lang="en-US" dirty="0"/>
              <a:t>, and TensorFlow: Concepts, Tools, and Techniques to Build Intelligent Systems</a:t>
            </a:r>
          </a:p>
          <a:p>
            <a:r>
              <a:rPr lang="en-US" dirty="0"/>
              <a:t>Machine Learning, by Tom M. Mitchell, McGraw-Hill Science / Engineering / Math; 1 edition (March 1, 1997). ISBN-10: 0070428077, ISBN-13: 978-0070428072</a:t>
            </a:r>
          </a:p>
          <a:p>
            <a:r>
              <a:rPr lang="en-US" dirty="0"/>
              <a:t>Bishop, C. M. (2006). Pattern Recognition and Machine Learning. Springer, New York, NY. (Information Science and Statistics series). ISBN: 978-0-387-31073-2.</a:t>
            </a:r>
          </a:p>
          <a:p>
            <a:r>
              <a:rPr lang="en-US" dirty="0"/>
              <a:t>Adrew Ng Machine learning Course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Linear Algebra and Probability</a:t>
            </a:r>
          </a:p>
          <a:p>
            <a:r>
              <a:rPr lang="en-US" dirty="0"/>
              <a:t>Some Python programming experience and that you are familiar with Python’s main scientific libraries, in particular NumPy, Pandas, and Matplotlib.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Machine Learning in ONE Image</a:t>
            </a:r>
          </a:p>
        </p:txBody>
      </p:sp>
      <p:pic>
        <p:nvPicPr>
          <p:cNvPr id="1026" name="Picture 2" descr="C:\Users\Hasan\Desktop\Machine Learning in one Imag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066800"/>
            <a:ext cx="4267200" cy="56727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1:</a:t>
            </a:r>
          </a:p>
          <a:p>
            <a:pPr lvl="1"/>
            <a:r>
              <a:rPr lang="en-US" dirty="0"/>
              <a:t>Linear Regression with single and multiple variables</a:t>
            </a:r>
          </a:p>
          <a:p>
            <a:pPr lvl="1"/>
            <a:r>
              <a:rPr lang="en-US" dirty="0"/>
              <a:t>Linear Algebra Review</a:t>
            </a:r>
          </a:p>
          <a:p>
            <a:pPr lvl="1"/>
            <a:r>
              <a:rPr lang="en-US" dirty="0" err="1"/>
              <a:t>Matlab</a:t>
            </a:r>
            <a:r>
              <a:rPr lang="en-US" dirty="0"/>
              <a:t> Tutorial (optional)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Regularization</a:t>
            </a:r>
          </a:p>
          <a:p>
            <a:pPr lvl="1"/>
            <a:r>
              <a:rPr lang="en-US" dirty="0"/>
              <a:t>Neural Networks: Representation</a:t>
            </a:r>
          </a:p>
          <a:p>
            <a:pPr lvl="1"/>
            <a:r>
              <a:rPr lang="en-US" dirty="0"/>
              <a:t>Neural Networks: Learning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2:</a:t>
            </a:r>
          </a:p>
          <a:p>
            <a:pPr lvl="1"/>
            <a:r>
              <a:rPr lang="en-US" dirty="0" err="1"/>
              <a:t>Convolutional</a:t>
            </a:r>
            <a:r>
              <a:rPr lang="en-US" dirty="0"/>
              <a:t> Neural Networks (CNN)</a:t>
            </a:r>
          </a:p>
          <a:p>
            <a:pPr lvl="1"/>
            <a:r>
              <a:rPr lang="en-US" dirty="0" err="1"/>
              <a:t>Caffe</a:t>
            </a:r>
            <a:r>
              <a:rPr lang="en-US" dirty="0"/>
              <a:t>/</a:t>
            </a:r>
            <a:r>
              <a:rPr lang="en-US" dirty="0" err="1"/>
              <a:t>Keras</a:t>
            </a:r>
            <a:r>
              <a:rPr lang="en-US" dirty="0"/>
              <a:t> deep learning library</a:t>
            </a:r>
          </a:p>
          <a:p>
            <a:pPr lvl="1"/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3:</a:t>
            </a:r>
          </a:p>
          <a:p>
            <a:pPr lvl="1"/>
            <a:r>
              <a:rPr lang="en-US" dirty="0"/>
              <a:t>Support Vector Machines (SVM)</a:t>
            </a:r>
          </a:p>
          <a:p>
            <a:pPr lvl="1"/>
            <a:r>
              <a:rPr lang="en-US" dirty="0"/>
              <a:t>Unsupervised Learning (K-means/GMM)</a:t>
            </a:r>
          </a:p>
          <a:p>
            <a:pPr lvl="1"/>
            <a:r>
              <a:rPr lang="en-US" dirty="0"/>
              <a:t>Dimensionality reduction</a:t>
            </a:r>
          </a:p>
          <a:p>
            <a:pPr lvl="1"/>
            <a:r>
              <a:rPr lang="en-US" dirty="0"/>
              <a:t>Anomaly Detection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0" ma:contentTypeDescription="Create a new document." ma:contentTypeScope="" ma:versionID="2e67d1ea863b1a30a65a0dcbaf538e4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E0EEA6-0D94-4965-A0EA-E8B404084938}"/>
</file>

<file path=customXml/itemProps2.xml><?xml version="1.0" encoding="utf-8"?>
<ds:datastoreItem xmlns:ds="http://schemas.openxmlformats.org/officeDocument/2006/customXml" ds:itemID="{F005347C-6BDB-4468-A62F-C2CFA65FBDB0}"/>
</file>

<file path=customXml/itemProps3.xml><?xml version="1.0" encoding="utf-8"?>
<ds:datastoreItem xmlns:ds="http://schemas.openxmlformats.org/officeDocument/2006/customXml" ds:itemID="{445F28D0-932B-427E-8599-AAD6E8296B6A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6978</TotalTime>
  <Words>293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Tw Cen MT</vt:lpstr>
      <vt:lpstr>Wingdings</vt:lpstr>
      <vt:lpstr>Wingdings 2</vt:lpstr>
      <vt:lpstr>Median</vt:lpstr>
      <vt:lpstr>Machine Learning RIME 831</vt:lpstr>
      <vt:lpstr>Administrative</vt:lpstr>
      <vt:lpstr>Grading Policy</vt:lpstr>
      <vt:lpstr>Textbooks</vt:lpstr>
      <vt:lpstr>Pre-requisites</vt:lpstr>
      <vt:lpstr>Machine Learning in ONE Image</vt:lpstr>
      <vt:lpstr>Tentative Topics</vt:lpstr>
      <vt:lpstr>Tentative Topics</vt:lpstr>
      <vt:lpstr>Tentative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Hasan</dc:creator>
  <cp:lastModifiedBy>Jawad Khan</cp:lastModifiedBy>
  <cp:revision>274</cp:revision>
  <dcterms:created xsi:type="dcterms:W3CDTF">2006-08-16T00:00:00Z</dcterms:created>
  <dcterms:modified xsi:type="dcterms:W3CDTF">2025-09-08T07:58:28Z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