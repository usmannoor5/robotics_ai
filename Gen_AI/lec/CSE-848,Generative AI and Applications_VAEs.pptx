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64" r:id="rId2"/>
    <p:sldId id="465" r:id="rId3"/>
    <p:sldId id="466" r:id="rId4"/>
    <p:sldId id="469" r:id="rId5"/>
    <p:sldId id="467" r:id="rId6"/>
    <p:sldId id="468" r:id="rId7"/>
    <p:sldId id="470" r:id="rId8"/>
    <p:sldId id="473" r:id="rId9"/>
    <p:sldId id="472" r:id="rId10"/>
    <p:sldId id="471" r:id="rId11"/>
    <p:sldId id="474" r:id="rId12"/>
    <p:sldId id="476" r:id="rId13"/>
    <p:sldId id="477" r:id="rId14"/>
    <p:sldId id="475" r:id="rId15"/>
    <p:sldId id="478" r:id="rId16"/>
    <p:sldId id="480" r:id="rId17"/>
    <p:sldId id="481" r:id="rId18"/>
    <p:sldId id="482" r:id="rId19"/>
    <p:sldId id="483" r:id="rId20"/>
    <p:sldId id="484" r:id="rId21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3979" autoAdjust="0"/>
  </p:normalViewPr>
  <p:slideViewPr>
    <p:cSldViewPr>
      <p:cViewPr varScale="1">
        <p:scale>
          <a:sx n="77" d="100"/>
          <a:sy n="77" d="100"/>
        </p:scale>
        <p:origin x="16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CDD8E-FC39-4073-8149-30B6BB5B4AC0}" type="datetimeFigureOut">
              <a:rPr lang="en-US" smtClean="0"/>
              <a:pPr/>
              <a:t>21-Sep-25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1ED18-B038-4EA1-A21B-AB89018719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67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99053-ED9B-4573-ADD1-FF3F02AEEC94}" type="datetimeFigureOut">
              <a:rPr lang="en-US" smtClean="0"/>
              <a:pPr/>
              <a:t>21-Sep-25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7A6B5-285D-4D12-BDAD-F571A72DC8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2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Development of a Tele-Surgical Training Robot and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Yasar AYAZ</a:t>
            </a:r>
          </a:p>
          <a:p>
            <a:r>
              <a:rPr lang="en-US" dirty="0"/>
              <a:t>Uchiyama-Konno Laboratory,</a:t>
            </a:r>
          </a:p>
          <a:p>
            <a:r>
              <a:rPr lang="en-US" dirty="0"/>
              <a:t>Department of Aerospace Engineering,</a:t>
            </a:r>
          </a:p>
          <a:p>
            <a:r>
              <a:rPr lang="en-US" dirty="0"/>
              <a:t>Tohoku University, Sendai, Japan.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EF48D-B4F7-4CB0-9A9F-54709C5C2E15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78B2A-76D2-4720-A010-42A793F8B16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E:\RISE Lab\Website\Resources\Robots\Nao_robot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553200" y="2362200"/>
            <a:ext cx="2552700" cy="3810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lope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none"/>
        </p:style>
        <p:txBody>
          <a:bodyPr/>
          <a:lstStyle>
            <a:lvl1pPr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1C90AF-3AA4-4CFC-B2BC-F2B6405EADE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524000"/>
            <a:ext cx="8229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C578-9C59-4C95-B3DD-682B3786D5C6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7868-806D-4CB8-9E5B-E92ECADFEC60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F2CD3-F071-4212-BFCD-D4B378E006CA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70-2E84-4547-9A82-9FFB2AD53C71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48063-A685-495C-8A11-227319F3915E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D5ED-4694-487F-B5AB-205B5DF3EE48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138E-4D6E-44CD-816E-7F35C0B59895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BF09-A090-44C2-B7E2-35EF6263810D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484F7-C935-4CCD-93E2-9A75544EAA8D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02192-87B4-43CC-A8BE-80A1BE79AAB9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14" y="665843"/>
            <a:ext cx="7772400" cy="1847851"/>
          </a:xfrm>
        </p:spPr>
        <p:txBody>
          <a:bodyPr>
            <a:normAutofit/>
          </a:bodyPr>
          <a:lstStyle/>
          <a:p>
            <a:r>
              <a:rPr lang="en-US" b="1"/>
              <a:t>CSE 848 </a:t>
            </a:r>
            <a:r>
              <a:rPr lang="en-US" b="1" dirty="0"/>
              <a:t>Artificial Intelligence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dirty="0"/>
              <a:t>Variational Autoencoders)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9400" y="3178629"/>
            <a:ext cx="5562600" cy="337457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Prof. Dr. Yasar Ayaz</a:t>
            </a:r>
          </a:p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(Pride of Performance)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Chairman / Central Project Director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National Center of Artificial Intelligence (NCAI)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Pakistan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Professor &amp; Founding Head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Department of Robotics &amp; AI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NUST-SMME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5" descr="NUST Logo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800600"/>
            <a:ext cx="1240971" cy="124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EAD5-9961-4F5B-8213-BA2F29F36316}" type="datetime2">
              <a:rPr lang="en-US" smtClean="0"/>
              <a:t>Sunday, September 21, 2025</a:t>
            </a:fld>
            <a:endParaRPr lang="en-US" dirty="0"/>
          </a:p>
        </p:txBody>
      </p:sp>
      <p:pic>
        <p:nvPicPr>
          <p:cNvPr id="1026" name="Picture 2" descr="https://ncai.pk/wp-content/uploads/2021/01/logo-1-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15104"/>
            <a:ext cx="2721429" cy="151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19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2D7216-AE5F-13F1-E8DE-4189DD52E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2013, Diederik P. Kingma and Max Welling published a paper</a:t>
            </a:r>
            <a:r>
              <a:rPr lang="en-US" baseline="30000" dirty="0"/>
              <a:t>1</a:t>
            </a:r>
            <a:r>
              <a:rPr lang="en-US" dirty="0"/>
              <a:t> that laid the foundations for a </a:t>
            </a:r>
            <a:r>
              <a:rPr lang="en-US" b="1" dirty="0"/>
              <a:t>type of neural network </a:t>
            </a:r>
            <a:r>
              <a:rPr lang="en-US" dirty="0"/>
              <a:t>known as a </a:t>
            </a:r>
            <a:r>
              <a:rPr lang="en-US" b="1" dirty="0"/>
              <a:t>variational autoencoder (VAE).</a:t>
            </a:r>
          </a:p>
          <a:p>
            <a:r>
              <a:rPr lang="en-US" dirty="0"/>
              <a:t> This is now one of the </a:t>
            </a:r>
            <a:r>
              <a:rPr lang="en-US" b="1" dirty="0"/>
              <a:t>most fundamental and well-known </a:t>
            </a:r>
            <a:r>
              <a:rPr lang="en-US" dirty="0"/>
              <a:t>deep learning architectures for generative modeling.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B9C42F-7445-CD7E-C19C-7346A79A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2D56-0658-D8A7-7DA1-0A77EA87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88AA8-098B-4B12-8DE0-06D44342305D}" type="datetime2">
              <a:rPr lang="en-US" smtClean="0"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D3A50-1763-E186-07A7-D9492D6D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08755-92A5-27D5-3DC7-6ACA652792AC}"/>
              </a:ext>
            </a:extLst>
          </p:cNvPr>
          <p:cNvSpPr txBox="1"/>
          <p:nvPr/>
        </p:nvSpPr>
        <p:spPr>
          <a:xfrm>
            <a:off x="546652" y="543302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latin typeface="MinionPro-Regular"/>
              </a:rPr>
              <a:t>1- 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MinionPro-Regular"/>
              </a:rPr>
              <a:t>Diederik P. Kingma and Max Welling, “Auto-Encoding Variational Bayes,” December 20, 2013, </a:t>
            </a:r>
            <a:r>
              <a:rPr lang="en-GB" sz="1600" b="0" i="1" dirty="0">
                <a:solidFill>
                  <a:srgbClr val="990000"/>
                </a:solidFill>
                <a:effectLst/>
                <a:latin typeface="MinionPro-It"/>
              </a:rPr>
              <a:t>https://arxiv.org/abs/1312.6114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MinionPro-Regular"/>
              </a:rPr>
              <a:t>.</a:t>
            </a:r>
            <a:r>
              <a:rPr lang="en-GB" sz="1600" dirty="0"/>
              <a:t> </a:t>
            </a:r>
            <a:br>
              <a:rPr lang="en-GB" sz="1600" dirty="0"/>
            </a:b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11600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F062B2-4BEB-CA0C-5158-8FF2E53A8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An autoencoder is simply a </a:t>
            </a:r>
            <a:r>
              <a:rPr lang="en-US" b="1" dirty="0"/>
              <a:t>neural network </a:t>
            </a:r>
            <a:r>
              <a:rPr lang="en-US" dirty="0"/>
              <a:t>that is trained to perform the task of </a:t>
            </a:r>
            <a:r>
              <a:rPr lang="en-US" b="1" dirty="0"/>
              <a:t>encoding and decoding </a:t>
            </a:r>
            <a:r>
              <a:rPr lang="en-US" dirty="0"/>
              <a:t>an item.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</a:rPr>
              <a:t>Encoder</a:t>
            </a:r>
            <a:r>
              <a:rPr lang="en-US" b="1" dirty="0"/>
              <a:t>: </a:t>
            </a:r>
            <a:r>
              <a:rPr lang="en-US" dirty="0"/>
              <a:t>An encoder network that compresses high-dimensional input data such as an image into a lower-dimensional embedding vector.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</a:rPr>
              <a:t>Decoder</a:t>
            </a:r>
            <a:r>
              <a:rPr lang="en-US" b="1" dirty="0"/>
              <a:t>:</a:t>
            </a:r>
            <a:r>
              <a:rPr lang="en-US" dirty="0"/>
              <a:t> A decoder network that decompresses a given embedding vector back to the original domain (e.g., back to an image)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F4F7EC-EF7D-CC60-A44E-752602AC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5C82F-8070-EE0E-30B2-DBEA3BC4F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808BC-DC82-64C2-A882-8CF07556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46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E94DB8-BD68-C3DC-D91D-ED4F2727C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autoencoder is trained to reconstruct an image, after it has passed through the encoder and back out through the decoder.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1BFB6E-185F-1A95-7E9A-4D360AFF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4715E-ADE8-B8BC-DA4E-FF13CB80F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89E6F-FDE9-41B1-00A9-2E14FBE2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46E4194A-C902-8F85-7B77-DEF23006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11" b="20156"/>
          <a:stretch/>
        </p:blipFill>
        <p:spPr>
          <a:xfrm>
            <a:off x="914400" y="1828800"/>
            <a:ext cx="73152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9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E8D989-575C-1833-9027-A714DFA59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111" b="20156"/>
          <a:stretch/>
        </p:blipFill>
        <p:spPr>
          <a:xfrm>
            <a:off x="914400" y="1828800"/>
            <a:ext cx="7315200" cy="1676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2FA940-6A99-5C2D-48B0-032EF9C9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FAEAD-70A5-FBCF-8676-98111217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F6BC0-EAB6-9FAC-26AE-8702566E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0003A-40BA-C628-48CE-F7892D9498DA}"/>
              </a:ext>
            </a:extLst>
          </p:cNvPr>
          <p:cNvSpPr txBox="1"/>
          <p:nvPr/>
        </p:nvSpPr>
        <p:spPr>
          <a:xfrm>
            <a:off x="685800" y="3886200"/>
            <a:ext cx="8077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MinionPro-Regular"/>
              </a:rPr>
              <a:t>An input image is encoded to a </a:t>
            </a:r>
            <a:r>
              <a:rPr lang="en-US" sz="2800" b="1" i="0" dirty="0">
                <a:solidFill>
                  <a:srgbClr val="0070C0"/>
                </a:solidFill>
                <a:effectLst/>
                <a:latin typeface="MinionPro-Regular"/>
              </a:rPr>
              <a:t>latent embedding vector </a:t>
            </a:r>
            <a:r>
              <a:rPr lang="en-US" sz="2800" b="1" i="1" dirty="0">
                <a:solidFill>
                  <a:srgbClr val="0070C0"/>
                </a:solidFill>
                <a:effectLst/>
                <a:latin typeface="MinionPro-It"/>
              </a:rPr>
              <a:t>z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MinionPro-Regular"/>
              </a:rPr>
              <a:t>, which is then decoded back to the original pixel space.</a:t>
            </a:r>
            <a:r>
              <a:rPr lang="en-US" sz="2800" dirty="0"/>
              <a:t> </a:t>
            </a:r>
          </a:p>
          <a:p>
            <a:r>
              <a:rPr lang="en-US" sz="2800" dirty="0"/>
              <a:t>The embedding (z) is a compression of the original image into a lower-dimensional latent space.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37326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D48A44-F67F-D59E-07BE-9D93ABEAC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683" r="6869"/>
          <a:stretch/>
        </p:blipFill>
        <p:spPr>
          <a:xfrm>
            <a:off x="326728" y="1676400"/>
            <a:ext cx="8490545" cy="259153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6FED3EA-D312-DCBB-5AE3-5C90AB6F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of Encoding and Decoding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36B69-0771-8401-599E-9E5FF9EE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E4B86-5ED9-1701-406B-3525559B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45DF1-4B3A-F678-DB51-1927BD20EBF3}"/>
              </a:ext>
            </a:extLst>
          </p:cNvPr>
          <p:cNvSpPr txBox="1"/>
          <p:nvPr/>
        </p:nvSpPr>
        <p:spPr>
          <a:xfrm>
            <a:off x="209489" y="4419600"/>
            <a:ext cx="86077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</a:rPr>
              <a:t>Reconstruction is not perfect!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are still some details of the original images that aren’t captured by the decoding process, such as logos.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is because by reducing each image to just </a:t>
            </a:r>
            <a:r>
              <a:rPr lang="en-US" sz="2000" b="1" dirty="0"/>
              <a:t>two numbers, </a:t>
            </a:r>
            <a:r>
              <a:rPr lang="en-US" sz="2000" dirty="0"/>
              <a:t>we naturally lose some information. 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9817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7858202-EAC2-BF1B-DB3D-E568DDF0B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622" t="2462"/>
          <a:stretch/>
        </p:blipFill>
        <p:spPr>
          <a:xfrm>
            <a:off x="304800" y="1568034"/>
            <a:ext cx="4055166" cy="429276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071D866-3B49-5AA0-5F41-CB1C8CC6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Latent Space Representation</a:t>
            </a:r>
            <a:br>
              <a:rPr lang="en-US" dirty="0"/>
            </a:br>
            <a:r>
              <a:rPr lang="en-US" sz="2700" dirty="0"/>
              <a:t>(Fashion-MNIST dataset)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116DD-476A-EEC4-E1D0-97026564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5E2F2-B29E-2B40-2D30-45063BB7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2B23F-B814-AE87-3463-16003703CB9A}"/>
              </a:ext>
            </a:extLst>
          </p:cNvPr>
          <p:cNvSpPr txBox="1"/>
          <p:nvPr/>
        </p:nvSpPr>
        <p:spPr>
          <a:xfrm>
            <a:off x="304800" y="5867400"/>
            <a:ext cx="44196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tx2"/>
                </a:solidFill>
                <a:effectLst/>
                <a:latin typeface="MinionPro-It"/>
              </a:rPr>
              <a:t>Plot of the latent space</a:t>
            </a:r>
            <a:r>
              <a:rPr lang="en-US" sz="1600" b="1" i="1" dirty="0">
                <a:solidFill>
                  <a:schemeClr val="tx2"/>
                </a:solidFill>
                <a:latin typeface="MinionPro-It"/>
              </a:rPr>
              <a:t>, </a:t>
            </a:r>
            <a:r>
              <a:rPr lang="en-US" sz="1600" b="1" i="1" dirty="0">
                <a:solidFill>
                  <a:schemeClr val="tx2"/>
                </a:solidFill>
                <a:effectLst/>
                <a:latin typeface="MinionPro-It"/>
              </a:rPr>
              <a:t>colored by clothing label.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endParaRPr lang="en-GB" sz="1600" b="1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BFD670-B974-B0E7-8D42-034EB9628901}"/>
              </a:ext>
            </a:extLst>
          </p:cNvPr>
          <p:cNvSpPr txBox="1"/>
          <p:nvPr/>
        </p:nvSpPr>
        <p:spPr>
          <a:xfrm>
            <a:off x="5332832" y="5491469"/>
            <a:ext cx="304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Fashion-MNIST dataset labels </a:t>
            </a:r>
            <a:endParaRPr lang="en-GB" b="1" dirty="0">
              <a:solidFill>
                <a:schemeClr val="tx2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FD8196C-FD5F-21C6-DFFC-7BEA60CA5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670389"/>
              </p:ext>
            </p:extLst>
          </p:nvPr>
        </p:nvGraphicFramePr>
        <p:xfrm>
          <a:off x="5257800" y="1694720"/>
          <a:ext cx="3124200" cy="379674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51194930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766989256"/>
                    </a:ext>
                  </a:extLst>
                </a:gridCol>
              </a:tblGrid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Label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Category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1646713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9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Ankle boot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734018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8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Bag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1919999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7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Shirt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61398270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6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Sneaker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7407396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5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Sandal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9468239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>
                          <a:solidFill>
                            <a:schemeClr val="tx2"/>
                          </a:solidFill>
                          <a:effectLst/>
                        </a:rPr>
                        <a:t>4</a:t>
                      </a:r>
                      <a:endParaRPr lang="en-GB" sz="1800" b="1" kern="10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Coat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9140191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>
                          <a:solidFill>
                            <a:schemeClr val="tx2"/>
                          </a:solidFill>
                          <a:effectLst/>
                        </a:rPr>
                        <a:t>3</a:t>
                      </a:r>
                      <a:endParaRPr lang="en-GB" sz="1800" b="1" kern="10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Dress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09952905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>
                          <a:solidFill>
                            <a:schemeClr val="tx2"/>
                          </a:solidFill>
                          <a:effectLst/>
                        </a:rPr>
                        <a:t>2</a:t>
                      </a:r>
                      <a:endParaRPr lang="en-GB" sz="1800" b="1" kern="10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Pullover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3970902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>
                          <a:solidFill>
                            <a:schemeClr val="tx2"/>
                          </a:solidFill>
                          <a:effectLst/>
                        </a:rPr>
                        <a:t>1</a:t>
                      </a:r>
                      <a:endParaRPr lang="en-GB" sz="1800" b="1" kern="10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Trouser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11822683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>
                          <a:solidFill>
                            <a:schemeClr val="tx2"/>
                          </a:solidFill>
                          <a:effectLst/>
                        </a:rPr>
                        <a:t>0</a:t>
                      </a:r>
                      <a:endParaRPr lang="en-GB" sz="1800" b="1" kern="10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00" dirty="0">
                          <a:solidFill>
                            <a:schemeClr val="tx2"/>
                          </a:solidFill>
                          <a:effectLst/>
                        </a:rPr>
                        <a:t>T-shirt/top</a:t>
                      </a:r>
                      <a:endParaRPr lang="en-GB" sz="1800" b="1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42721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395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BBBF57-3EBD-A877-E9BE-1C77EB2D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Original image to Reconstructed Image</a:t>
            </a:r>
            <a:br>
              <a:rPr lang="en-US" dirty="0"/>
            </a:br>
            <a:r>
              <a:rPr lang="en-US" dirty="0"/>
              <a:t>(Autoencoder)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BAD7E-D84D-51AB-14B3-64A750E64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A32D4-5799-93C6-EB79-67E825C9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178E1C-9D60-6949-F2D9-77A1B4C9B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97667"/>
            <a:ext cx="5486400" cy="3408666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6FB18D95-ED1B-F051-26A9-83F6FBE2D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111" b="20156"/>
          <a:stretch/>
        </p:blipFill>
        <p:spPr>
          <a:xfrm>
            <a:off x="2228850" y="5186362"/>
            <a:ext cx="4686300" cy="1073944"/>
          </a:xfrm>
        </p:spPr>
      </p:pic>
    </p:spTree>
    <p:extLst>
      <p:ext uri="{BB962C8B-B14F-4D97-AF65-F5344CB8AC3E}">
        <p14:creationId xmlns:p14="http://schemas.microsoft.com/office/powerpoint/2010/main" val="245957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AE6014-08AB-E7AC-B602-02F184DA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Original image to Reconstructed Image</a:t>
            </a:r>
            <a:br>
              <a:rPr lang="en-US" dirty="0"/>
            </a:br>
            <a:r>
              <a:rPr lang="en-US" dirty="0"/>
              <a:t>(Autoencoder)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51883-4C15-7DAE-12B8-7DC67A59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C6283-C4A4-A6B5-19FA-30560DE7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826783-DB5B-3BAA-097B-CCE0406A6F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27"/>
          <a:stretch/>
        </p:blipFill>
        <p:spPr>
          <a:xfrm>
            <a:off x="723900" y="1639203"/>
            <a:ext cx="7696200" cy="35795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4272BC-05DC-D542-EEE1-F93A2E535B99}"/>
              </a:ext>
            </a:extLst>
          </p:cNvPr>
          <p:cNvSpPr txBox="1"/>
          <p:nvPr/>
        </p:nvSpPr>
        <p:spPr>
          <a:xfrm>
            <a:off x="5181600" y="5001846"/>
            <a:ext cx="25908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chemeClr val="tx2"/>
                </a:solidFill>
                <a:effectLst/>
                <a:latin typeface="MinionPro-It"/>
              </a:rPr>
              <a:t>Generated Images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CAFC9A-9679-0068-84C8-A138F5E90758}"/>
              </a:ext>
            </a:extLst>
          </p:cNvPr>
          <p:cNvSpPr txBox="1"/>
          <p:nvPr/>
        </p:nvSpPr>
        <p:spPr>
          <a:xfrm>
            <a:off x="723900" y="5632931"/>
            <a:ext cx="8115300" cy="461665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Why some </a:t>
            </a:r>
            <a:r>
              <a:rPr lang="en-US" sz="2400" b="0" i="1" dirty="0">
                <a:solidFill>
                  <a:srgbClr val="FF0000"/>
                </a:solidFill>
                <a:effectLst/>
                <a:latin typeface="MinionPro-Regular"/>
              </a:rPr>
              <a:t>generated items are more realistic than others</a:t>
            </a:r>
            <a:r>
              <a:rPr lang="en-US" sz="2400" i="1" dirty="0">
                <a:solidFill>
                  <a:srgbClr val="FF0000"/>
                </a:solidFill>
                <a:latin typeface="MinionPro-Regular"/>
              </a:rPr>
              <a:t> </a:t>
            </a:r>
            <a:r>
              <a:rPr lang="en-US" sz="2400" b="0" i="1" dirty="0">
                <a:solidFill>
                  <a:srgbClr val="FF0000"/>
                </a:solidFill>
                <a:effectLst/>
                <a:latin typeface="MinionPro-Regular"/>
              </a:rPr>
              <a:t>??</a:t>
            </a:r>
            <a:endParaRPr lang="en-GB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87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00D316-459D-C36C-097B-32886576B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671"/>
          <a:stretch/>
        </p:blipFill>
        <p:spPr>
          <a:xfrm>
            <a:off x="161795" y="1828800"/>
            <a:ext cx="4406901" cy="4343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8F86B8-EE72-CFE9-B500-793A33DB6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ln w="18415" cmpd="sng">
                  <a:noFill/>
                  <a:prstDash val="solid"/>
                </a:ln>
                <a:solidFill>
                  <a:schemeClr val="bg1"/>
                </a:solidFill>
              </a:rPr>
              <a:t>Why some </a:t>
            </a:r>
            <a:r>
              <a:rPr lang="en-US" sz="2800" b="1" i="0" dirty="0">
                <a:ln w="18415" cmpd="sng">
                  <a:noFill/>
                  <a:prstDash val="solid"/>
                </a:ln>
                <a:solidFill>
                  <a:schemeClr val="bg1"/>
                </a:solidFill>
                <a:effectLst/>
                <a:latin typeface="MinionPro-Regular"/>
              </a:rPr>
              <a:t>generated items are more realistic than others?</a:t>
            </a:r>
            <a:endParaRPr lang="en-GB" sz="2800" b="1" dirty="0">
              <a:ln w="18415" cmpd="sng">
                <a:noFill/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E96E0-6D1B-3DF4-730A-FE30CE2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E5BE3-1290-B2D5-D91D-191485C8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843247-B01E-0734-2594-EB513EDA012F}"/>
              </a:ext>
            </a:extLst>
          </p:cNvPr>
          <p:cNvSpPr txBox="1"/>
          <p:nvPr/>
        </p:nvSpPr>
        <p:spPr>
          <a:xfrm>
            <a:off x="4538597" y="2362200"/>
            <a:ext cx="45292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Sampling points uniformly in a defined bounded space increases the likelihood of decoding a </a:t>
            </a:r>
            <a:r>
              <a:rPr lang="en-US" sz="2400" dirty="0">
                <a:solidFill>
                  <a:schemeClr val="tx2"/>
                </a:solidFill>
              </a:rPr>
              <a:t>bag (ID 8)</a:t>
            </a:r>
            <a:r>
              <a:rPr lang="en-US" sz="2400" dirty="0"/>
              <a:t> rather than an </a:t>
            </a:r>
            <a:r>
              <a:rPr lang="en-US" sz="2400" dirty="0">
                <a:solidFill>
                  <a:schemeClr val="tx2"/>
                </a:solidFill>
              </a:rPr>
              <a:t>ankle boot (ID 9) </a:t>
            </a:r>
            <a:r>
              <a:rPr lang="en-US" sz="2400" dirty="0"/>
              <a:t>because the latent space region for </a:t>
            </a:r>
            <a:r>
              <a:rPr lang="en-US" sz="2400" dirty="0">
                <a:solidFill>
                  <a:schemeClr val="tx2"/>
                </a:solidFill>
              </a:rPr>
              <a:t>bags (orange) is larger than that for ankle boots (red).</a:t>
            </a:r>
            <a:endParaRPr lang="en-GB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62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7458-3534-B923-FF73-17215549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55943C-DACF-2045-0E31-CF8338414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671"/>
          <a:stretch/>
        </p:blipFill>
        <p:spPr>
          <a:xfrm>
            <a:off x="161795" y="1828800"/>
            <a:ext cx="4406901" cy="4343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9AE068F-11C5-6248-61B9-900B6FB1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ln w="18415" cmpd="sng">
                  <a:noFill/>
                  <a:prstDash val="solid"/>
                </a:ln>
                <a:solidFill>
                  <a:schemeClr val="bg1"/>
                </a:solidFill>
              </a:rPr>
              <a:t>Why some </a:t>
            </a:r>
            <a:r>
              <a:rPr lang="en-US" sz="2800" b="1" i="0" dirty="0">
                <a:ln w="18415" cmpd="sng">
                  <a:noFill/>
                  <a:prstDash val="solid"/>
                </a:ln>
                <a:solidFill>
                  <a:schemeClr val="bg1"/>
                </a:solidFill>
                <a:effectLst/>
                <a:latin typeface="MinionPro-Regular"/>
              </a:rPr>
              <a:t>generated items are more realistic than others?</a:t>
            </a:r>
            <a:endParaRPr lang="en-GB" sz="2800" b="1" dirty="0">
              <a:ln w="18415" cmpd="sng">
                <a:noFill/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B7154-96E6-FB9B-CD64-A284E77B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04065-BEC6-04D0-1468-80D0C93B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CA3C7-BB96-C272-0814-C0FA8F8065AD}"/>
              </a:ext>
            </a:extLst>
          </p:cNvPr>
          <p:cNvSpPr txBox="1"/>
          <p:nvPr/>
        </p:nvSpPr>
        <p:spPr>
          <a:xfrm>
            <a:off x="4530596" y="1616690"/>
            <a:ext cx="45292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Secondly, it is not obvious how we should go about choosing a random point in the latent space, since </a:t>
            </a:r>
            <a:r>
              <a:rPr lang="en-US" sz="2400" dirty="0">
                <a:solidFill>
                  <a:schemeClr val="tx2"/>
                </a:solidFill>
              </a:rPr>
              <a:t>the distribution of these points is undefined</a:t>
            </a:r>
          </a:p>
          <a:p>
            <a:pPr algn="just"/>
            <a:r>
              <a:rPr lang="en-US" sz="2400" dirty="0"/>
              <a:t>Technically, we would be justified in choosing any point in the 2D plane! </a:t>
            </a:r>
          </a:p>
          <a:p>
            <a:pPr algn="just"/>
            <a:r>
              <a:rPr lang="en-US" sz="2400" dirty="0"/>
              <a:t>It's not even guaranteed that points </a:t>
            </a:r>
            <a:r>
              <a:rPr lang="en-US" sz="2400" dirty="0">
                <a:solidFill>
                  <a:schemeClr val="tx2"/>
                </a:solidFill>
              </a:rPr>
              <a:t>will be centered around (0, 0).</a:t>
            </a:r>
            <a:r>
              <a:rPr lang="en-US" sz="2400" dirty="0"/>
              <a:t> This makes sampling from our latent space problematic.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50337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9B100-F1A8-9046-8F95-47E8694E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FBF8BA-34B2-8B9B-7B6A-3BEF7C6A8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671"/>
          <a:stretch/>
        </p:blipFill>
        <p:spPr>
          <a:xfrm>
            <a:off x="161795" y="1828800"/>
            <a:ext cx="4406901" cy="4343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3834CE3-E618-8095-2BA1-8E4D4E9F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ln w="18415" cmpd="sng">
                  <a:noFill/>
                  <a:prstDash val="solid"/>
                </a:ln>
                <a:solidFill>
                  <a:schemeClr val="bg1"/>
                </a:solidFill>
              </a:rPr>
              <a:t>Why some </a:t>
            </a:r>
            <a:r>
              <a:rPr lang="en-US" sz="2800" b="1" i="0" dirty="0">
                <a:ln w="18415" cmpd="sng">
                  <a:noFill/>
                  <a:prstDash val="solid"/>
                </a:ln>
                <a:solidFill>
                  <a:schemeClr val="bg1"/>
                </a:solidFill>
                <a:effectLst/>
                <a:latin typeface="MinionPro-Regular"/>
              </a:rPr>
              <a:t>generated items are more realistic than others?</a:t>
            </a:r>
            <a:endParaRPr lang="en-GB" sz="2800" b="1" dirty="0">
              <a:ln w="18415" cmpd="sng">
                <a:noFill/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7CE5D-65C4-5371-7BD9-4ADE4DDC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1C8B6-9CC1-0727-F5BE-B31FF4C0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57777-7EC2-0019-20A4-D4434B8F8178}"/>
              </a:ext>
            </a:extLst>
          </p:cNvPr>
          <p:cNvSpPr txBox="1"/>
          <p:nvPr/>
        </p:nvSpPr>
        <p:spPr>
          <a:xfrm>
            <a:off x="4559171" y="2057400"/>
            <a:ext cx="452920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Lastly, we can </a:t>
            </a:r>
            <a:r>
              <a:rPr lang="en-US" sz="2400" dirty="0">
                <a:solidFill>
                  <a:schemeClr val="tx2"/>
                </a:solidFill>
              </a:rPr>
              <a:t>see holes in the latent space</a:t>
            </a:r>
            <a:r>
              <a:rPr lang="en-US" sz="2400" dirty="0"/>
              <a:t> where none of the original images are encoded. </a:t>
            </a:r>
          </a:p>
          <a:p>
            <a:pPr algn="just"/>
            <a:r>
              <a:rPr lang="en-US" sz="2400" dirty="0"/>
              <a:t>For example, there are large white spaces at the edges of the domain. The </a:t>
            </a:r>
            <a:r>
              <a:rPr lang="en-US" sz="2400" dirty="0">
                <a:solidFill>
                  <a:schemeClr val="tx2"/>
                </a:solidFill>
              </a:rPr>
              <a:t>autoencoder has no reason to ensure that points here are decoded to recognizable clothing items </a:t>
            </a:r>
            <a:r>
              <a:rPr lang="en-US" sz="2400" dirty="0"/>
              <a:t>as very few images in the training set are encoded here.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7031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DA763-8AAF-7881-91D9-FBC3209A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615A2D-244F-85AB-3828-80C199AF3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671"/>
          <a:stretch/>
        </p:blipFill>
        <p:spPr>
          <a:xfrm>
            <a:off x="161795" y="1828800"/>
            <a:ext cx="4406901" cy="4343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BD95649-FB3E-A835-BF80-76076940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ln w="18415" cmpd="sng">
                  <a:noFill/>
                  <a:prstDash val="solid"/>
                </a:ln>
                <a:solidFill>
                  <a:schemeClr val="bg1"/>
                </a:solidFill>
              </a:rPr>
              <a:t>Why some </a:t>
            </a:r>
            <a:r>
              <a:rPr lang="en-US" sz="2800" b="1" i="0" dirty="0">
                <a:ln w="18415" cmpd="sng">
                  <a:noFill/>
                  <a:prstDash val="solid"/>
                </a:ln>
                <a:solidFill>
                  <a:schemeClr val="bg1"/>
                </a:solidFill>
                <a:effectLst/>
                <a:latin typeface="MinionPro-Regular"/>
              </a:rPr>
              <a:t>generated items are more realistic than others?</a:t>
            </a:r>
            <a:endParaRPr lang="en-GB" sz="2800" b="1" dirty="0">
              <a:ln w="18415" cmpd="sng">
                <a:noFill/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9F744-2839-723F-A16F-CC8082CE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970C4-1F9C-7912-3E6C-77C04A0D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B91D25-97BA-7BB7-202C-28C19FEC5D6F}"/>
              </a:ext>
            </a:extLst>
          </p:cNvPr>
          <p:cNvSpPr txBox="1"/>
          <p:nvPr/>
        </p:nvSpPr>
        <p:spPr>
          <a:xfrm>
            <a:off x="4453002" y="1666935"/>
            <a:ext cx="45292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Even points that are central may not be decoded into well-formed images. This is because the </a:t>
            </a:r>
            <a:r>
              <a:rPr lang="en-US" sz="2400" dirty="0">
                <a:solidFill>
                  <a:schemeClr val="tx2"/>
                </a:solidFill>
              </a:rPr>
              <a:t>autoencoder is not forced to ensure that the space is continuous</a:t>
            </a:r>
            <a:r>
              <a:rPr lang="en-US" sz="2400" dirty="0"/>
              <a:t>. For example, even though the point (-1, -1) might be decoded to give a satisfactory image of a sandal, there is no mechanism in place to ensure that the point (-1.1, -1.1) also produces a satisfactory image of a sandal.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12709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CC04A-EA9B-E7F1-3B76-3F9E20D46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two dimensions </a:t>
            </a:r>
            <a:r>
              <a:rPr lang="en-US" dirty="0"/>
              <a:t>this issue is subtle; the autoencoder only has a small number of dimensions to work with, so it has to squash things together.</a:t>
            </a:r>
          </a:p>
          <a:p>
            <a:pPr marL="0" indent="0" algn="ctr">
              <a:buNone/>
            </a:pPr>
            <a:r>
              <a:rPr lang="en-US" sz="4000" i="1" dirty="0">
                <a:solidFill>
                  <a:schemeClr val="tx2"/>
                </a:solidFill>
              </a:rPr>
              <a:t>What if we give the autoencoder freehand – use the latent space to encode images.</a:t>
            </a:r>
            <a:endParaRPr lang="en-GB" sz="4000" i="1" dirty="0">
              <a:solidFill>
                <a:schemeClr val="tx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70AB00-289F-8521-8D53-5F9D426F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FE319-CD02-E7F8-4C0D-F1D4720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5865B-EED5-09E5-8DF8-992F9E2D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557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3A7FD2-E42E-4986-AD05-75E686CF9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To make it a more sophisticated generative </a:t>
            </a:r>
            <a:r>
              <a:rPr lang="en-US"/>
              <a:t>model converts </a:t>
            </a:r>
            <a:r>
              <a:rPr lang="en-US" dirty="0"/>
              <a:t>autoencoder model into a variational autoencoder.</a:t>
            </a:r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8FB3E9-9439-744C-8583-7EFA3A133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B8D99-F166-6120-2CC5-81430FE6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CF4E4-9A17-A4A1-B6DE-A9F24093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91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1DD40B-20C2-1CA0-39C9-D9367D1412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>
                    <a:solidFill>
                      <a:srgbClr val="FF0000"/>
                    </a:solidFill>
                  </a:rPr>
                  <a:t>VAE learns a distribution instead of a single point. </a:t>
                </a:r>
                <a:r>
                  <a:rPr lang="en-GB" sz="2800" dirty="0"/>
                  <a:t>Ensures smooth latent space for better generalization.</a:t>
                </a:r>
              </a:p>
              <a:p>
                <a:pPr marL="0" indent="0" algn="just">
                  <a:buNone/>
                </a:pPr>
                <a:r>
                  <a:rPr lang="en-GB" sz="2800" b="1" dirty="0"/>
                  <a:t>Encoder Architecture:</a:t>
                </a:r>
              </a:p>
              <a:p>
                <a:pPr marL="0" indent="0" algn="just">
                  <a:buNone/>
                </a:pPr>
                <a:r>
                  <a:rPr lang="en-US" sz="2600" dirty="0"/>
                  <a:t>Uses Convolutional / Fully Connected Layers to process input.</a:t>
                </a:r>
              </a:p>
              <a:p>
                <a:pPr marL="0" indent="0" algn="just">
                  <a:buNone/>
                </a:pPr>
                <a:r>
                  <a:rPr lang="en-US" sz="2800" b="1" dirty="0"/>
                  <a:t>Outputs two vectors: </a:t>
                </a:r>
              </a:p>
              <a:p>
                <a:pPr marL="0" indent="0" algn="just">
                  <a:buNone/>
                </a:pPr>
                <a:r>
                  <a:rPr lang="en-US" sz="2800" b="1" dirty="0"/>
                  <a:t>Mean (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800" b="1" dirty="0"/>
                  <a:t>): </a:t>
                </a:r>
                <a:r>
                  <a:rPr lang="en-US" sz="2800" dirty="0"/>
                  <a:t>Center of distribution.</a:t>
                </a:r>
              </a:p>
              <a:p>
                <a:pPr marL="0" indent="0" algn="just">
                  <a:buNone/>
                </a:pPr>
                <a:r>
                  <a:rPr lang="en-US" sz="2800" b="1" dirty="0"/>
                  <a:t>Log Variance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1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800" b="1" i="1" baseline="30000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/>
                  <a:t>): </a:t>
                </a:r>
                <a:r>
                  <a:rPr lang="en-US" sz="2800" dirty="0"/>
                  <a:t>Controls spread.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1DD40B-20C2-1CA0-39C9-D9367D1412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348" r="-1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EB7035B-AE5A-6A54-1CD3-413DA3B53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2573D-8D70-F0A1-6CF3-FDF33F85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079B8-D175-D349-3354-02BEECB5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221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ADF1F9-1012-F644-812C-28995A7A9C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𝒒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/>
                  <a:t> = The learned probability distribution of latent variable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sz="2400" dirty="0"/>
                  <a:t> given input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 Instead of encoding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to a single deterministic vector (like in a regular autoencoder), VAEs encode it as a </a:t>
                </a:r>
                <a:r>
                  <a:rPr lang="en-US" sz="2400" b="1" dirty="0"/>
                  <a:t>distribution</a:t>
                </a:r>
                <a:r>
                  <a:rPr lang="en-US" sz="2400" dirty="0"/>
                  <a:t>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= The encoder outputs a Gaussian (normal) distribution for each input 𝑥, characterized by: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(mean vector): Defines the center of the distribution.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(variance vector): Defines the spread or uncertainty in the latent space.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marL="0" indent="0" algn="just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ADF1F9-1012-F644-812C-28995A7A9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r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9BC2136-DDC2-1F0E-BE4A-F8BEE063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Encoder’s Formula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1F9BA-32DF-1C86-0282-AFBB1E63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485DD-AFC1-B5F9-BAC1-1542EE2F2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631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data flow&#10;&#10;AI-generated content may be incorrect.">
            <a:extLst>
              <a:ext uri="{FF2B5EF4-FFF2-40B4-BE49-F238E27FC236}">
                <a16:creationId xmlns:a16="http://schemas.microsoft.com/office/drawing/2014/main" id="{0C656B58-D8A6-5124-508C-42C1AEC2E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7" r="7917"/>
          <a:stretch/>
        </p:blipFill>
        <p:spPr>
          <a:xfrm>
            <a:off x="1219200" y="1676400"/>
            <a:ext cx="6705600" cy="188198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3231DF7-AD43-8F21-649C-81F5DDBD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VAEs Architecture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72226-23C4-BF30-E495-244346EA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47220-5572-4643-D7BE-E1D373D4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64DE8E-2873-682B-CE2E-99E880AE3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" t="16840" r="5833" b="9068"/>
          <a:stretch/>
        </p:blipFill>
        <p:spPr>
          <a:xfrm>
            <a:off x="1466850" y="3657600"/>
            <a:ext cx="6210300" cy="2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47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B6CF2A2-80F7-DCB9-C4CF-2016CA2E68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In standard autoencoders, the latent space was not required to be continuous. A point like (-2,2) might decode to a sandal, but  (-2.1,2.1) could be completely different.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In VAEs, we sample from a region around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</m:sub>
                    </m:sSub>
                  </m:oMath>
                </a14:m>
                <a:r>
                  <a:rPr lang="en-US" dirty="0"/>
                  <a:t>,  forcing the decoder to map nearby points to similar outputs.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chemeClr val="tx2"/>
                    </a:solidFill>
                  </a:rPr>
                  <a:t>This ensures that even unseen points in latent space decode into meaningful images, reducing reconstruction loss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B6CF2A2-80F7-DCB9-C4CF-2016CA2E68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2695" r="-1630" b="-1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25A9A27-3845-D428-6386-3C5BCC00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Enforcing Continuity in Latent Space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0A80E-356B-E1B4-76E5-5703BDC6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AA6DF-93E3-C872-0283-4E35C31F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511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26AA43-5185-2CB1-ED96-F3FAA8FF8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Understand VAE loss from Chapter 3 of the book, focusing on:</a:t>
            </a:r>
          </a:p>
          <a:p>
            <a:pPr marL="0" indent="0" algn="ctr">
              <a:buNone/>
            </a:pPr>
            <a:r>
              <a:rPr lang="en-US" sz="2400" dirty="0"/>
              <a:t>Explain why VAEs use a probabilistic latent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 Reconstruction Loss in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Interpret KL Divergence and its effect on latent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 the trade-off between both loss components.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30BDF7-AFF2-3F94-CBDE-7EC6338F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Assignment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D2A52-BA21-2444-2BE0-0A778D9A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20A87-1CAD-25D4-FD80-831DE5FF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93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5130</TotalTime>
  <Words>1075</Words>
  <Application>Microsoft Office PowerPoint</Application>
  <PresentationFormat>On-screen Show (4:3)</PresentationFormat>
  <Paragraphs>141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MinionPro-It</vt:lpstr>
      <vt:lpstr>MinionPro-Regular</vt:lpstr>
      <vt:lpstr>Times New Roman</vt:lpstr>
      <vt:lpstr>Office Theme</vt:lpstr>
      <vt:lpstr>CSE 848 Artificial Intelligence (Variational Autoencoders)</vt:lpstr>
      <vt:lpstr>Introduction</vt:lpstr>
      <vt:lpstr>Autoencoders</vt:lpstr>
      <vt:lpstr>Architecture</vt:lpstr>
      <vt:lpstr>Architecture </vt:lpstr>
      <vt:lpstr>Examples of Encoding and Decoding</vt:lpstr>
      <vt:lpstr>Latent Space Representation (Fashion-MNIST dataset)</vt:lpstr>
      <vt:lpstr>Original image to Reconstructed Image (Autoencoder) </vt:lpstr>
      <vt:lpstr>Original image to Reconstructed Image (Autoencoder) </vt:lpstr>
      <vt:lpstr>Why some generated items are more realistic than others?</vt:lpstr>
      <vt:lpstr>Why some generated items are more realistic than others?</vt:lpstr>
      <vt:lpstr>Why some generated items are more realistic than others?</vt:lpstr>
      <vt:lpstr>Why some generated items are more realistic than others?</vt:lpstr>
      <vt:lpstr>Autoencoder </vt:lpstr>
      <vt:lpstr>Variational Autoencoders</vt:lpstr>
      <vt:lpstr>Variational Autoencoders</vt:lpstr>
      <vt:lpstr>Encoder’s Formula</vt:lpstr>
      <vt:lpstr>VAEs Architecture</vt:lpstr>
      <vt:lpstr>Enforcing Continuity in Latent Space</vt:lpstr>
      <vt:lpstr>Reading Assignment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Yasar Ayaz</dc:creator>
  <cp:lastModifiedBy>Muhammad Usama</cp:lastModifiedBy>
  <cp:revision>729</cp:revision>
  <dcterms:created xsi:type="dcterms:W3CDTF">2009-06-17T04:08:11Z</dcterms:created>
  <dcterms:modified xsi:type="dcterms:W3CDTF">2025-09-21T06:49:27Z</dcterms:modified>
</cp:coreProperties>
</file>