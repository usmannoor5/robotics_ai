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464" r:id="rId2"/>
    <p:sldId id="465" r:id="rId3"/>
    <p:sldId id="466" r:id="rId4"/>
    <p:sldId id="467" r:id="rId5"/>
    <p:sldId id="468" r:id="rId6"/>
    <p:sldId id="469" r:id="rId7"/>
    <p:sldId id="470" r:id="rId8"/>
    <p:sldId id="471" r:id="rId9"/>
    <p:sldId id="472" r:id="rId10"/>
    <p:sldId id="473" r:id="rId11"/>
    <p:sldId id="477" r:id="rId12"/>
    <p:sldId id="475" r:id="rId13"/>
    <p:sldId id="476" r:id="rId14"/>
    <p:sldId id="478" r:id="rId15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1" autoAdjust="0"/>
    <p:restoredTop sz="93979" autoAdjust="0"/>
  </p:normalViewPr>
  <p:slideViewPr>
    <p:cSldViewPr>
      <p:cViewPr varScale="1">
        <p:scale>
          <a:sx n="77" d="100"/>
          <a:sy n="77" d="100"/>
        </p:scale>
        <p:origin x="16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CDD8E-FC39-4073-8149-30B6BB5B4AC0}" type="datetimeFigureOut">
              <a:rPr lang="en-US" smtClean="0"/>
              <a:pPr/>
              <a:t>21-Sep-25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1ED18-B038-4EA1-A21B-AB89018719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467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99053-ED9B-4573-ADD1-FF3F02AEEC94}" type="datetimeFigureOut">
              <a:rPr lang="en-US" smtClean="0"/>
              <a:pPr/>
              <a:t>21-Sep-25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7A6B5-285D-4D12-BDAD-F571A72DC8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27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Development of a Tele-Surgical Training Robot and Simulator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Yasar AYAZ</a:t>
            </a:r>
          </a:p>
          <a:p>
            <a:r>
              <a:rPr lang="en-US" dirty="0"/>
              <a:t>Uchiyama-Konno Laboratory,</a:t>
            </a:r>
          </a:p>
          <a:p>
            <a:r>
              <a:rPr lang="en-US" dirty="0"/>
              <a:t>Department of Aerospace Engineering,</a:t>
            </a:r>
          </a:p>
          <a:p>
            <a:r>
              <a:rPr lang="en-US" dirty="0"/>
              <a:t>Tohoku University, Sendai, Japan.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EF48D-B4F7-4CB0-9A9F-54709C5C2E15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278B2A-76D2-4720-A010-42A793F8B16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E:\RISE Lab\Website\Resources\Robots\Nao_robot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553200" y="2362200"/>
            <a:ext cx="2552700" cy="3810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slope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none"/>
        </p:style>
        <p:txBody>
          <a:bodyPr/>
          <a:lstStyle>
            <a:lvl1pPr>
              <a:defRPr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1C90AF-3AA4-4CFC-B2BC-F2B6405EADE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524000"/>
            <a:ext cx="8229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457200" y="6248400"/>
            <a:ext cx="8229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C578-9C59-4C95-B3DD-682B3786D5C6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7868-806D-4CB8-9E5B-E92ECADFEC60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F2CD3-F071-4212-BFCD-D4B378E006CA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3A70-2E84-4547-9A82-9FFB2AD53C71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48063-A685-495C-8A11-227319F3915E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D5ED-4694-487F-B5AB-205B5DF3EE48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138E-4D6E-44CD-816E-7F35C0B59895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BF09-A090-44C2-B7E2-35EF6263810D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484F7-C935-4CCD-93E2-9A75544EAA8D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02192-87B4-43CC-A8BE-80A1BE79AAB9}" type="datetime2">
              <a:rPr lang="en-US" smtClean="0"/>
              <a:pPr/>
              <a:t>Sunday, September 21,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78B2A-76D2-4720-A010-42A793F8B16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14" y="665843"/>
            <a:ext cx="7772400" cy="18478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CSE 848 Artificial Intelligence</a:t>
            </a:r>
            <a:br>
              <a:rPr lang="en-US" b="1" dirty="0"/>
            </a:br>
            <a:r>
              <a:rPr lang="en-US" dirty="0"/>
              <a:t>Generative </a:t>
            </a:r>
            <a:r>
              <a:rPr lang="en-GB" dirty="0"/>
              <a:t>Adversarial Networks (GANs)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9400" y="3178629"/>
            <a:ext cx="5562600" cy="337457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Prof. Dr. Yasar Ayaz</a:t>
            </a:r>
          </a:p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(Pride of Performance)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Chairman / Central Project Director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National Center of Artificial Intelligence (NCAI)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Pakistan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Professor &amp; Founding Head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Department of Robotics &amp; AI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NUST-SMME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78B2A-76D2-4720-A010-42A793F8B166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6" name="Picture 5" descr="NUST Logo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4800600"/>
            <a:ext cx="1240971" cy="1240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8EAD5-9961-4F5B-8213-BA2F29F36316}" type="datetime2">
              <a:rPr lang="en-US" smtClean="0"/>
              <a:t>Sunday, September 21, 2025</a:t>
            </a:fld>
            <a:endParaRPr lang="en-US" dirty="0"/>
          </a:p>
        </p:txBody>
      </p:sp>
      <p:pic>
        <p:nvPicPr>
          <p:cNvPr id="1026" name="Picture 2" descr="https://ncai.pk/wp-content/uploads/2021/01/logo-1-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15104"/>
            <a:ext cx="2721429" cy="151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119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2D7216-AE5F-13F1-E8DE-4189DD52E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Introduced by Ian Goodfellow in 2014</a:t>
            </a:r>
            <a:r>
              <a:rPr lang="en-US" baseline="30000" dirty="0"/>
              <a:t>1</a:t>
            </a:r>
            <a:endParaRPr lang="en-US" dirty="0"/>
          </a:p>
          <a:p>
            <a:pPr algn="just"/>
            <a:r>
              <a:rPr lang="en-US" dirty="0"/>
              <a:t>A class of machine learning models used for generative tasks.</a:t>
            </a:r>
          </a:p>
          <a:p>
            <a:pPr algn="just"/>
            <a:r>
              <a:rPr lang="en-US" dirty="0"/>
              <a:t>Composed of two neural networks: </a:t>
            </a:r>
            <a:r>
              <a:rPr lang="en-US" b="1" dirty="0">
                <a:solidFill>
                  <a:schemeClr val="accent1"/>
                </a:solidFill>
              </a:rPr>
              <a:t>Generator</a:t>
            </a:r>
            <a:r>
              <a:rPr lang="en-US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</a:rPr>
              <a:t>Discriminator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pPr algn="just"/>
            <a:r>
              <a:rPr lang="en-US" dirty="0"/>
              <a:t>Inspired by </a:t>
            </a:r>
            <a:r>
              <a:rPr lang="en-US" dirty="0">
                <a:solidFill>
                  <a:schemeClr val="accent1"/>
                </a:solidFill>
              </a:rPr>
              <a:t>game theory</a:t>
            </a:r>
            <a:r>
              <a:rPr lang="en-US" dirty="0"/>
              <a:t>, with both networks competing to improve performance.</a:t>
            </a:r>
            <a:endParaRPr lang="en-US" baseline="30000" dirty="0"/>
          </a:p>
          <a:p>
            <a:pPr marL="0" indent="0">
              <a:buNone/>
            </a:pPr>
            <a:endParaRPr lang="en-US" sz="1600" baseline="30000" dirty="0"/>
          </a:p>
          <a:p>
            <a:pPr marL="0" indent="0">
              <a:buNone/>
            </a:pPr>
            <a:endParaRPr lang="en-US" sz="1600" baseline="30000" dirty="0"/>
          </a:p>
          <a:p>
            <a:pPr marL="0" indent="0">
              <a:buNone/>
            </a:pPr>
            <a:r>
              <a:rPr lang="en-US" sz="1600" baseline="30000" dirty="0"/>
              <a:t>1</a:t>
            </a:r>
            <a:r>
              <a:rPr lang="en-GB" sz="1600" dirty="0"/>
              <a:t>Goodfellow, J. Pouget-Abadie, M. Mirza, B. Xu, D. Warde-Farley, S. Ozair, A. Courville, and Y. Bengio, "Generative adversarial networks," </a:t>
            </a:r>
            <a:r>
              <a:rPr lang="en-GB" sz="1600" i="1" dirty="0"/>
              <a:t>Communications of the ACM</a:t>
            </a:r>
            <a:r>
              <a:rPr lang="en-GB" sz="1600" dirty="0"/>
              <a:t>, vol. 63, no. 11, pp. 139–144, Oct. 2020, </a:t>
            </a:r>
            <a:r>
              <a:rPr lang="en-GB" sz="1600" dirty="0" err="1"/>
              <a:t>doi</a:t>
            </a:r>
            <a:r>
              <a:rPr lang="en-GB" sz="1600" dirty="0"/>
              <a:t>: 10.1145/3422622.</a:t>
            </a:r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B9C42F-7445-CD7E-C19C-7346A79A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02D56-0658-D8A7-7DA1-0A77EA876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D3A50-1763-E186-07A7-D9492D6D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600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EE4077-3CDB-1240-3B48-2E991CB41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GB" sz="2800" b="1" dirty="0">
                    <a:solidFill>
                      <a:schemeClr val="accent1"/>
                    </a:solidFill>
                  </a:rPr>
                  <a:t>Generator (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GB" sz="2800" b="1" dirty="0">
                    <a:solidFill>
                      <a:schemeClr val="accent1"/>
                    </a:solidFill>
                  </a:rPr>
                  <a:t>): </a:t>
                </a:r>
                <a:r>
                  <a:rPr lang="en-GB" sz="2800" dirty="0"/>
                  <a:t>Creates fake samples from random noise</a:t>
                </a:r>
              </a:p>
              <a:p>
                <a:pPr algn="just"/>
                <a:r>
                  <a:rPr lang="en-GB" sz="2800" b="1" dirty="0">
                    <a:solidFill>
                      <a:schemeClr val="accent1"/>
                    </a:solidFill>
                  </a:rPr>
                  <a:t>Discriminator (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GB" sz="2800" b="1" dirty="0">
                    <a:solidFill>
                      <a:schemeClr val="accent1"/>
                    </a:solidFill>
                  </a:rPr>
                  <a:t>): </a:t>
                </a:r>
                <a:r>
                  <a:rPr lang="en-GB" sz="2800" dirty="0"/>
                  <a:t>Distinguishes between real and fake samples</a:t>
                </a:r>
              </a:p>
              <a:p>
                <a:pPr algn="just"/>
                <a:endParaRPr lang="en-GB" sz="2800" b="1" dirty="0"/>
              </a:p>
              <a:p>
                <a:pPr algn="just"/>
                <a:endParaRPr lang="en-GB" sz="2800" b="1" dirty="0"/>
              </a:p>
              <a:p>
                <a:pPr algn="just"/>
                <a:endParaRPr lang="en-GB" sz="2800" b="1" dirty="0"/>
              </a:p>
              <a:p>
                <a:pPr algn="just"/>
                <a:r>
                  <a:rPr lang="en-GB" sz="2800" b="1" dirty="0"/>
                  <a:t>Adversarial training: </a:t>
                </a:r>
                <a:r>
                  <a:rPr lang="en-GB" sz="2800" dirty="0"/>
                  <a:t>Both networks compete and improve over time</a:t>
                </a:r>
              </a:p>
              <a:p>
                <a:pPr algn="just"/>
                <a:r>
                  <a:rPr lang="en-GB" sz="2800" b="1" dirty="0"/>
                  <a:t>Training loop: </a:t>
                </a:r>
                <a14:m>
                  <m:oMath xmlns:m="http://schemas.openxmlformats.org/officeDocument/2006/math">
                    <m:r>
                      <a:rPr lang="en-GB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sz="2800" dirty="0"/>
                  <a:t> generates samples, </a:t>
                </a:r>
                <a14:m>
                  <m:oMath xmlns:m="http://schemas.openxmlformats.org/officeDocument/2006/math">
                    <m:r>
                      <a:rPr lang="en-GB" sz="28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2800" dirty="0"/>
                  <a:t> evaluates them, and both update their parameters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EE4077-3CDB-1240-3B48-2E991CB41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156" r="-1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3D5F249-1CEB-B892-5140-82B8ABE16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GANs Work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13539-8A90-CCF5-7331-FD9D53B2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DED51-2C38-43D1-E30C-C07CE95A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5BFD07-121E-83C9-8EB4-5BC8BDAB0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2438400"/>
            <a:ext cx="4800600" cy="169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51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32B0354-E2C9-29EF-67A9-A9915F704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704" r="3704"/>
          <a:stretch/>
        </p:blipFill>
        <p:spPr>
          <a:xfrm>
            <a:off x="762000" y="1541949"/>
            <a:ext cx="7620000" cy="2572851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AF8D6F3D-FB20-4492-4E2A-9E788D6F2A9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Generator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) </a:t>
                </a:r>
                <a:endParaRPr lang="en-GB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AF8D6F3D-FB20-4492-4E2A-9E788D6F2A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3C8B4-3E22-6979-6F2D-FC5EF76FA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B1DEE-E9FF-7AA7-4C6C-ADCF41A9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A73B3A-23B2-F49C-06F6-DA74E3170ACE}"/>
              </a:ext>
            </a:extLst>
          </p:cNvPr>
          <p:cNvCxnSpPr/>
          <p:nvPr/>
        </p:nvCxnSpPr>
        <p:spPr>
          <a:xfrm>
            <a:off x="1437861" y="3962400"/>
            <a:ext cx="0" cy="9906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93D563F-4D0C-B7BB-F378-486E61924B65}"/>
              </a:ext>
            </a:extLst>
          </p:cNvPr>
          <p:cNvSpPr/>
          <p:nvPr/>
        </p:nvSpPr>
        <p:spPr>
          <a:xfrm>
            <a:off x="533400" y="4976191"/>
            <a:ext cx="1981200" cy="882650"/>
          </a:xfrm>
          <a:prstGeom prst="rect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Multivariate standard normal distribution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8CE789-8E01-71EB-28CA-2626BAFABC69}"/>
              </a:ext>
            </a:extLst>
          </p:cNvPr>
          <p:cNvCxnSpPr>
            <a:cxnSpLocks/>
          </p:cNvCxnSpPr>
          <p:nvPr/>
        </p:nvCxnSpPr>
        <p:spPr>
          <a:xfrm>
            <a:off x="3810000" y="3505200"/>
            <a:ext cx="0" cy="14563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A8DD7EC-F2D5-7C86-7AA8-D165C461020B}"/>
              </a:ext>
            </a:extLst>
          </p:cNvPr>
          <p:cNvSpPr/>
          <p:nvPr/>
        </p:nvSpPr>
        <p:spPr>
          <a:xfrm>
            <a:off x="2819400" y="4984750"/>
            <a:ext cx="1981200" cy="882650"/>
          </a:xfrm>
          <a:prstGeom prst="rect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</a:t>
            </a:r>
            <a:r>
              <a:rPr lang="en-GB" b="1" dirty="0" err="1">
                <a:solidFill>
                  <a:schemeClr val="tx1"/>
                </a:solidFill>
              </a:rPr>
              <a:t>enerator</a:t>
            </a:r>
            <a:r>
              <a:rPr lang="en-GB" b="1" dirty="0">
                <a:solidFill>
                  <a:schemeClr val="tx1"/>
                </a:solidFill>
              </a:rPr>
              <a:t> Output</a:t>
            </a:r>
          </a:p>
          <a:p>
            <a:pPr algn="ctr"/>
            <a:r>
              <a:rPr lang="en-GB" b="1" dirty="0">
                <a:solidFill>
                  <a:schemeClr val="accent1"/>
                </a:solidFill>
              </a:rPr>
              <a:t>Fake Images</a:t>
            </a:r>
            <a:r>
              <a:rPr lang="en-GB" b="1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7221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CFBCD8-7DC9-32F1-7EEC-880322A0A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34"/>
          <a:stretch/>
        </p:blipFill>
        <p:spPr>
          <a:xfrm>
            <a:off x="622057" y="1600200"/>
            <a:ext cx="7899885" cy="3863293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E1BF2C4A-0C95-3D79-C90B-B640418C934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Discriminator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) </a:t>
                </a:r>
                <a:endParaRPr lang="en-GB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E1BF2C4A-0C95-3D79-C90B-B640418C9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C41AD-84B8-ACE5-4F14-9E8AF737B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E6799-C9D6-82BE-222E-525AB7B43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3B3C54-4D7E-8495-01BC-D7B7F9428BB9}"/>
                  </a:ext>
                </a:extLst>
              </p:cNvPr>
              <p:cNvSpPr txBox="1"/>
              <p:nvPr/>
            </p:nvSpPr>
            <p:spPr>
              <a:xfrm>
                <a:off x="5628907" y="5596988"/>
                <a:ext cx="29706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effectLst/>
                          <a:latin typeface="Cambria Math" panose="02040503050406030204" pitchFamily="18" charset="0"/>
                        </a:rPr>
                        <m:t>𝑐𝑙𝑜𝑠𝑒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effectLst/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effectLst/>
                          <a:latin typeface="Cambria Math" panose="02040503050406030204" pitchFamily="18" charset="0"/>
                        </a:rPr>
                        <m:t> 1 (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𝑅𝑒𝑎</m:t>
                      </m:r>
                      <m:r>
                        <a:rPr lang="en-GB" sz="2800" b="0" i="1" dirty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28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3B3C54-4D7E-8495-01BC-D7B7F9428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907" y="5596988"/>
                <a:ext cx="29706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602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8F07606-1E2C-EC9F-F695-535B8BF931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GANs are formulated as a </a:t>
                </a:r>
                <a:r>
                  <a:rPr lang="en-US" b="1" dirty="0"/>
                  <a:t>minimax game</a:t>
                </a:r>
                <a:r>
                  <a:rPr lang="en-US" dirty="0"/>
                  <a:t> between two neural networks: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dirty="0"/>
                  <a:t> and 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en-US" dirty="0"/>
                  <a:t>. The goal of each network is opposite to the other.</a:t>
                </a:r>
                <a:endParaRPr lang="en-US" b="1" dirty="0"/>
              </a:p>
              <a:p>
                <a:pPr algn="just"/>
                <a:r>
                  <a:rPr lang="en-US" b="1" dirty="0"/>
                  <a:t>Generator loss: </a:t>
                </a:r>
                <a:r>
                  <a:rPr lang="en-US" dirty="0"/>
                  <a:t>Aims to maximize the chance of fooling the discriminator.</a:t>
                </a:r>
              </a:p>
              <a:p>
                <a:r>
                  <a:rPr lang="en-US" b="1" dirty="0"/>
                  <a:t>Discriminator loss:  </a:t>
                </a:r>
                <a:r>
                  <a:rPr lang="en-US" dirty="0"/>
                  <a:t>Attempts to correctly differentiate between real and fake samples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8F07606-1E2C-EC9F-F695-535B8BF93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1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195A55B-C85F-0AB1-72C8-B92345C10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Objective Functions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D781F-BAF5-05A1-59DA-D69D64970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317FA-314E-B083-4EE5-0EB9A658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591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17C33F6-15F1-E302-7A2C-6C04675027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discriminator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tries to classify real and fake samples correctly. It is trained to:</a:t>
                </a:r>
              </a:p>
              <a:p>
                <a:r>
                  <a:rPr lang="en-US" dirty="0"/>
                  <a:t>Assign higher probability to real samples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algn="ctr"/>
                <a:r>
                  <a:rPr lang="en-GB" dirty="0"/>
                  <a:t>Assign lower probability to generated samples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𝑤h𝑒𝑟𝑒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∼ 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GB" dirty="0"/>
                  <a:t>(random noise)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17C33F6-15F1-E302-7A2C-6C04675027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2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D75794C-D69B-A63A-09B2-A00A2AB5B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Discriminator Loss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D20A0-0FA3-4382-AEA4-070AEA74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845764-2BED-F231-040B-9C122D38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376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B9C75F-37A1-618E-5A31-830C1B8CC7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discriminator's objective is to </a:t>
                </a:r>
                <a:r>
                  <a:rPr lang="en-US" b="1" dirty="0"/>
                  <a:t>maximize</a:t>
                </a:r>
                <a:r>
                  <a:rPr lang="en-US" dirty="0"/>
                  <a:t> the function: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𝑑𝑎𝑡𝑎</m:t>
                            </m:r>
                          </m:sub>
                        </m:sSub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)]+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⁡(1−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</m:func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sz="2400" dirty="0"/>
              </a:p>
              <a:p>
                <a:pPr algn="just"/>
                <a:r>
                  <a:rPr lang="en-US" sz="2400" b="1" dirty="0"/>
                  <a:t>First term </a:t>
                </a:r>
                <a:r>
                  <a:rPr lang="en-US" sz="2400" dirty="0"/>
                  <a:t>encourages 𝐷 to classify real samples 𝑥 correctly by maximizing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  <a:p>
                <a:pPr algn="just"/>
                <a:r>
                  <a:rPr lang="en-US" sz="2400" b="1" dirty="0"/>
                  <a:t>Second term </a:t>
                </a:r>
                <a:r>
                  <a:rPr lang="en-US" sz="2400" dirty="0"/>
                  <a:t>encourages 𝐷 to classify generated samples 𝐺(𝑧) as fake by maximizing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⁡(1−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))).</m:t>
                    </m:r>
                  </m:oMath>
                </a14:m>
                <a:endParaRPr lang="en-US" sz="24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B9C75F-37A1-618E-5A31-830C1B8CC7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 r="-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5DEA799-C84D-B960-E7E7-F006F869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Discriminator Loss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84872-0E20-C275-4807-B1693396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464E0-FEA7-D5D1-E056-15E57BB8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A62F0AAA-8E63-A7CF-6E11-8E0B24093432}"/>
              </a:ext>
            </a:extLst>
          </p:cNvPr>
          <p:cNvSpPr/>
          <p:nvPr/>
        </p:nvSpPr>
        <p:spPr>
          <a:xfrm rot="16200000">
            <a:off x="3065099" y="2074496"/>
            <a:ext cx="214825" cy="234177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2880F5A6-5893-85E4-4A8F-6F0A8A40A83F}"/>
              </a:ext>
            </a:extLst>
          </p:cNvPr>
          <p:cNvSpPr/>
          <p:nvPr/>
        </p:nvSpPr>
        <p:spPr>
          <a:xfrm rot="16200000">
            <a:off x="6217188" y="1645186"/>
            <a:ext cx="214826" cy="3200398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CC949-CACD-8179-4B73-CE1D77264DA2}"/>
              </a:ext>
            </a:extLst>
          </p:cNvPr>
          <p:cNvSpPr txBox="1"/>
          <p:nvPr/>
        </p:nvSpPr>
        <p:spPr>
          <a:xfrm>
            <a:off x="2617808" y="3352798"/>
            <a:ext cx="1109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First term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DDFC8E-A568-B1F7-353F-1D02740AA33E}"/>
              </a:ext>
            </a:extLst>
          </p:cNvPr>
          <p:cNvSpPr txBox="1"/>
          <p:nvPr/>
        </p:nvSpPr>
        <p:spPr>
          <a:xfrm>
            <a:off x="5715000" y="3320535"/>
            <a:ext cx="1427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Second term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568701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1477A49-DAB1-B249-C92E-884B332F5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en-US" dirty="0"/>
                  <a:t>The generator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aims to minimize the discriminator’s ability to distinguish real from fake. </a:t>
                </a:r>
              </a:p>
              <a:p>
                <a:pPr marL="0" indent="0" algn="just">
                  <a:buNone/>
                </a:pPr>
                <a:r>
                  <a:rPr lang="en-US" dirty="0"/>
                  <a:t>It tries to fool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into classifying fake samples as real by minimizing: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3200" b="0" dirty="0"/>
              </a:p>
              <a:p>
                <a:pPr algn="just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dirty="0"/>
                  <a:t>represents the probability that the discriminator assigns to fake samples being real.</a:t>
                </a:r>
              </a:p>
              <a:p>
                <a:pPr algn="just"/>
                <a:r>
                  <a:rPr lang="en-US" dirty="0"/>
                  <a:t>The generator tries to maximize this probability, which means it wants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dirty="0"/>
                  <a:t>to be as close to 1 as possible.</a:t>
                </a:r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1477A49-DAB1-B249-C92E-884B332F5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3504" r="-17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119FDE2-A504-75E4-3069-C4E1E624E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Generator Loss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ED768-9AF9-4D7C-B747-82D14AD05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7D22B-0881-3A72-27BD-8DC29E46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02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D8078-EECB-DDD9-E99C-62915223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Since the generator minimizes this function while the discriminator maximizes it, the overall </a:t>
            </a:r>
            <a:r>
              <a:rPr lang="en-US" b="1" dirty="0"/>
              <a:t>minimax objective</a:t>
            </a:r>
            <a:r>
              <a:rPr lang="en-US" dirty="0"/>
              <a:t> becomes: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  <a:p>
            <a:r>
              <a:rPr lang="en-US" sz="2800" dirty="0"/>
              <a:t>The Discriminator maximizes this function </a:t>
            </a:r>
            <a:r>
              <a:rPr lang="en-US" sz="2800" dirty="0">
                <a:solidFill>
                  <a:schemeClr val="tx2"/>
                </a:solidFill>
              </a:rPr>
              <a:t>(better classification)</a:t>
            </a:r>
            <a:r>
              <a:rPr lang="en-US" sz="2800" dirty="0"/>
              <a:t>.</a:t>
            </a:r>
          </a:p>
          <a:p>
            <a:r>
              <a:rPr lang="en-US" sz="2800" dirty="0"/>
              <a:t>The Generator minimizes this function </a:t>
            </a:r>
            <a:r>
              <a:rPr lang="en-US" sz="2800" dirty="0">
                <a:solidFill>
                  <a:schemeClr val="tx2"/>
                </a:solidFill>
              </a:rPr>
              <a:t>(better generation).</a:t>
            </a:r>
            <a:endParaRPr lang="en-GB" sz="2800" dirty="0">
              <a:solidFill>
                <a:schemeClr val="tx2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6E8B49-BE0B-6D5D-0BD7-D2D120EB9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Loss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4ED9C-6D79-1569-B9B7-526413DC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FD454-1EC8-2C55-F257-F7D8788D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09E4AD-8BD6-16E9-CE5E-F1D63571D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3200400"/>
            <a:ext cx="8839201" cy="70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24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929303-F16F-591F-1628-7B0CD01AC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 Collapse</a:t>
            </a:r>
            <a:r>
              <a:rPr lang="en-US" dirty="0"/>
              <a:t>: Generator produces limited variations, reducing diversity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Training Instability</a:t>
            </a:r>
            <a:r>
              <a:rPr lang="en-US" dirty="0"/>
              <a:t>: Difficult to balance generator and discriminator learning rates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Vanishing Gradients</a:t>
            </a:r>
            <a:r>
              <a:rPr lang="en-US" dirty="0"/>
              <a:t>: Discriminator learns too fast, leaving generator stuck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Evaluation Metrics</a:t>
            </a:r>
            <a:r>
              <a:rPr lang="en-US" dirty="0"/>
              <a:t>: No universal way to measure quality (e.g., Inception Score, FID)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Computational Cost</a:t>
            </a:r>
            <a:r>
              <a:rPr lang="en-US" dirty="0"/>
              <a:t>: High training cost due to iterative adversarial training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C41A89-7E23-D98F-9423-B038BE6A5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Challenges in GANs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66A0F-3C7B-3B11-1073-B07B739BF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44D95-F3A5-00BA-B320-68B87225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099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8AD02B-FC81-432F-0EAD-C7E814FFB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Vanilla GAN</a:t>
            </a:r>
            <a:r>
              <a:rPr lang="en-GB" dirty="0"/>
              <a:t>: Basic implementation with fully connected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Deep Convolutional GAN (DCGAN)</a:t>
            </a:r>
            <a:r>
              <a:rPr lang="en-GB" dirty="0"/>
              <a:t>: Uses CNNs for better image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Conditional GAN (</a:t>
            </a:r>
            <a:r>
              <a:rPr lang="en-GB" b="1" dirty="0" err="1"/>
              <a:t>cGAN</a:t>
            </a:r>
            <a:r>
              <a:rPr lang="en-GB" b="1" dirty="0"/>
              <a:t>)</a:t>
            </a:r>
            <a:r>
              <a:rPr lang="en-GB" dirty="0"/>
              <a:t>: Incorporates additional labels to control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StyleGAN</a:t>
            </a:r>
            <a:r>
              <a:rPr lang="en-GB" dirty="0"/>
              <a:t>: Generates high-quality and controllable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CycleGAN</a:t>
            </a:r>
            <a:r>
              <a:rPr lang="en-GB" dirty="0"/>
              <a:t>: Translates images between domains without paired data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FEF436-D658-52C0-82D6-753D33C8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Types of GANs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250F0-7C72-A217-39DF-4673C53AD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4D06E-D594-8B4A-6591-EA026F105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432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13BE50-6C4F-FBB0-7CE0-90EF0D5DD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Image Synthesis</a:t>
            </a:r>
            <a:r>
              <a:rPr lang="en-GB" dirty="0"/>
              <a:t>: Used in </a:t>
            </a:r>
            <a:r>
              <a:rPr lang="en-GB" dirty="0" err="1"/>
              <a:t>DeepFake</a:t>
            </a:r>
            <a:r>
              <a:rPr lang="en-GB" dirty="0"/>
              <a:t> technology and realistic face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Super-Resolution</a:t>
            </a:r>
            <a:r>
              <a:rPr lang="en-GB" dirty="0"/>
              <a:t>: Enhancing image quality (e.g., improving old photos)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Data Augmentation</a:t>
            </a:r>
            <a:r>
              <a:rPr lang="en-GB" dirty="0"/>
              <a:t>: Creating synthetic datasets for training AI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Video Generation</a:t>
            </a:r>
            <a:r>
              <a:rPr lang="en-GB" dirty="0"/>
              <a:t>: Creating animations and realistic video scenes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Text-to-Image Generation</a:t>
            </a:r>
            <a:r>
              <a:rPr lang="en-GB" dirty="0"/>
              <a:t>: Models like DALL·E convert textual descriptions into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Medical Imaging</a:t>
            </a:r>
            <a:r>
              <a:rPr lang="en-GB" dirty="0"/>
              <a:t>: Generating synthetic medical scans for research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5CC64A-0F84-D320-D948-AA9BB1C41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Applications of GANs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DFD74-7817-2AED-2D77-2846FBEB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BAD96-AD49-A799-EFF4-048FC614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816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011F07-0573-9EF0-7437-C27182D40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GANs are powerful tools for generative modeling across various domains.</a:t>
            </a:r>
          </a:p>
          <a:p>
            <a:pPr algn="just"/>
            <a:r>
              <a:rPr lang="en-US" dirty="0"/>
              <a:t>Ongoing research focuses on improving stability, realism, and control.</a:t>
            </a:r>
          </a:p>
          <a:p>
            <a:pPr algn="just"/>
            <a:r>
              <a:rPr lang="en-US" dirty="0"/>
              <a:t>Ethical implications and responsible AI development are crucial </a:t>
            </a:r>
            <a:r>
              <a:rPr lang="en-US"/>
              <a:t>moving forward.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ECEA63-E992-CBDD-10F3-2E59BC007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131EE-F316-0F6D-8B63-DD2D1A0DE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8905-D5AB-4289-BE97-6E4AD5680DB3}" type="datetime2">
              <a:rPr lang="en-US" smtClean="0"/>
              <a:pPr/>
              <a:t>Sunday, September 21,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DB8EA-4A82-03CA-38BB-073202C95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90AF-3AA4-4CFC-B2BC-F2B6405EADE7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45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4499</TotalTime>
  <Words>772</Words>
  <Application>Microsoft Office PowerPoint</Application>
  <PresentationFormat>On-screen Show (4:3)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Times New Roman</vt:lpstr>
      <vt:lpstr>Office Theme</vt:lpstr>
      <vt:lpstr>CSE 848 Artificial Intelligence Generative Adversarial Networks (GANs)</vt:lpstr>
      <vt:lpstr>Introduction </vt:lpstr>
      <vt:lpstr>How GANs Work</vt:lpstr>
      <vt:lpstr>Generator (G) </vt:lpstr>
      <vt:lpstr>Discriminator (D) </vt:lpstr>
      <vt:lpstr>Objective Functions</vt:lpstr>
      <vt:lpstr>Discriminator Loss</vt:lpstr>
      <vt:lpstr>Discriminator Loss (cont)</vt:lpstr>
      <vt:lpstr>Generator Loss</vt:lpstr>
      <vt:lpstr>Overall Loss</vt:lpstr>
      <vt:lpstr>Challenges in GANs</vt:lpstr>
      <vt:lpstr>Types of GANs</vt:lpstr>
      <vt:lpstr>Applications of GANs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Yasar Ayaz</dc:creator>
  <cp:lastModifiedBy>Muhammad Usama</cp:lastModifiedBy>
  <cp:revision>730</cp:revision>
  <dcterms:created xsi:type="dcterms:W3CDTF">2009-06-17T04:08:11Z</dcterms:created>
  <dcterms:modified xsi:type="dcterms:W3CDTF">2025-09-21T06:50:24Z</dcterms:modified>
</cp:coreProperties>
</file>