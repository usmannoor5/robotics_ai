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464" r:id="rId2"/>
    <p:sldId id="466" r:id="rId3"/>
    <p:sldId id="465" r:id="rId4"/>
    <p:sldId id="468" r:id="rId5"/>
    <p:sldId id="469" r:id="rId6"/>
    <p:sldId id="470" r:id="rId7"/>
    <p:sldId id="467" r:id="rId8"/>
    <p:sldId id="485" r:id="rId9"/>
    <p:sldId id="471" r:id="rId10"/>
    <p:sldId id="472" r:id="rId11"/>
    <p:sldId id="473" r:id="rId12"/>
    <p:sldId id="474" r:id="rId13"/>
    <p:sldId id="475" r:id="rId14"/>
    <p:sldId id="476" r:id="rId15"/>
    <p:sldId id="477" r:id="rId16"/>
    <p:sldId id="478" r:id="rId17"/>
    <p:sldId id="479" r:id="rId18"/>
    <p:sldId id="480" r:id="rId19"/>
    <p:sldId id="482" r:id="rId20"/>
    <p:sldId id="484" r:id="rId21"/>
    <p:sldId id="483" r:id="rId22"/>
    <p:sldId id="481" r:id="rId23"/>
    <p:sldId id="486" r:id="rId24"/>
    <p:sldId id="487" r:id="rId25"/>
    <p:sldId id="488" r:id="rId26"/>
    <p:sldId id="489" r:id="rId27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1" autoAdjust="0"/>
    <p:restoredTop sz="93979" autoAdjust="0"/>
  </p:normalViewPr>
  <p:slideViewPr>
    <p:cSldViewPr>
      <p:cViewPr varScale="1">
        <p:scale>
          <a:sx n="77" d="100"/>
          <a:sy n="77" d="100"/>
        </p:scale>
        <p:origin x="16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CDD8E-FC39-4073-8149-30B6BB5B4AC0}" type="datetimeFigureOut">
              <a:rPr lang="en-US" smtClean="0"/>
              <a:pPr/>
              <a:t>21-Sep-25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1ED18-B038-4EA1-A21B-AB89018719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467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99053-ED9B-4573-ADD1-FF3F02AEEC94}" type="datetimeFigureOut">
              <a:rPr lang="en-US" smtClean="0"/>
              <a:pPr/>
              <a:t>21-Sep-25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7A6B5-285D-4D12-BDAD-F571A72DC8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27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Development of a Tele-Surgical Training Robot and Simulator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Yasar AYAZ</a:t>
            </a:r>
          </a:p>
          <a:p>
            <a:r>
              <a:rPr lang="en-US" dirty="0"/>
              <a:t>Uchiyama-Konno Laboratory,</a:t>
            </a:r>
          </a:p>
          <a:p>
            <a:r>
              <a:rPr lang="en-US" dirty="0"/>
              <a:t>Department of Aerospace Engineering,</a:t>
            </a:r>
          </a:p>
          <a:p>
            <a:r>
              <a:rPr lang="en-US" dirty="0"/>
              <a:t>Tohoku University, Sendai, Japan.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EF48D-B4F7-4CB0-9A9F-54709C5C2E15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78B2A-76D2-4720-A010-42A793F8B16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E:\RISE Lab\Website\Resources\Robots\Nao_robot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553200" y="2362200"/>
            <a:ext cx="2552700" cy="3810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lope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none"/>
        </p:style>
        <p:txBody>
          <a:bodyPr/>
          <a:lstStyle>
            <a:lvl1pPr>
              <a:defRPr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1C90AF-3AA4-4CFC-B2BC-F2B6405EADE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524000"/>
            <a:ext cx="8229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457200" y="6248400"/>
            <a:ext cx="8229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C578-9C59-4C95-B3DD-682B3786D5C6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7868-806D-4CB8-9E5B-E92ECADFEC60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F2CD3-F071-4212-BFCD-D4B378E006CA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70-2E84-4547-9A82-9FFB2AD53C71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48063-A685-495C-8A11-227319F3915E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D5ED-4694-487F-B5AB-205B5DF3EE48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138E-4D6E-44CD-816E-7F35C0B59895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BF09-A090-44C2-B7E2-35EF6263810D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484F7-C935-4CCD-93E2-9A75544EAA8D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02192-87B4-43CC-A8BE-80A1BE79AAB9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14" y="665843"/>
            <a:ext cx="7772400" cy="1847851"/>
          </a:xfrm>
        </p:spPr>
        <p:txBody>
          <a:bodyPr>
            <a:normAutofit/>
          </a:bodyPr>
          <a:lstStyle/>
          <a:p>
            <a:r>
              <a:rPr lang="en-US" b="1" dirty="0"/>
              <a:t>CSE 848 Artificial Intelligence</a:t>
            </a:r>
            <a:br>
              <a:rPr lang="en-US" b="1" dirty="0"/>
            </a:br>
            <a:r>
              <a:rPr lang="en-US" dirty="0"/>
              <a:t>( Autoregressive Models)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9400" y="3178629"/>
            <a:ext cx="5562600" cy="337457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Prof. Dr. Yasar Ayaz</a:t>
            </a:r>
          </a:p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(Pride of Performance)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Chairman / Central Project Director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National Center of Artificial Intelligence (NCAI)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Pakistan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Professor &amp; Founding Head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Department of Robotics &amp; AI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NUST-SMME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6" name="Picture 5" descr="NUST Logo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800600"/>
            <a:ext cx="1240971" cy="1240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EAD5-9961-4F5B-8213-BA2F29F36316}" type="datetime2">
              <a:rPr lang="en-US" smtClean="0"/>
              <a:t>Sunday, September 21, 2025</a:t>
            </a:fld>
            <a:endParaRPr lang="en-US" dirty="0"/>
          </a:p>
        </p:txBody>
      </p:sp>
      <p:pic>
        <p:nvPicPr>
          <p:cNvPr id="1026" name="Picture 2" descr="https://ncai.pk/wp-content/uploads/2021/01/logo-1-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15104"/>
            <a:ext cx="2721429" cy="151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19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DF758C-0446-8721-17E4-B216CAD19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i="1" dirty="0">
                <a:solidFill>
                  <a:schemeClr val="tx2"/>
                </a:solidFill>
              </a:rPr>
              <a:t>Traditional models fail for tasks involving sequences because</a:t>
            </a:r>
            <a:endParaRPr lang="en-US" dirty="0"/>
          </a:p>
          <a:p>
            <a:r>
              <a:rPr lang="en-US" dirty="0"/>
              <a:t>Accept fixed input sizes</a:t>
            </a:r>
          </a:p>
          <a:p>
            <a:r>
              <a:rPr lang="en-US" dirty="0"/>
              <a:t>No mechanism to retain past data</a:t>
            </a:r>
          </a:p>
          <a:p>
            <a:r>
              <a:rPr lang="en-US" dirty="0"/>
              <a:t>Poor performance on time-series or text data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Motivation for models with memory.</a:t>
            </a:r>
          </a:p>
          <a:p>
            <a:r>
              <a:rPr lang="en-US" dirty="0"/>
              <a:t>Language is sequential</a:t>
            </a:r>
          </a:p>
          <a:p>
            <a:r>
              <a:rPr lang="en-US" dirty="0"/>
              <a:t>Contextual understanding is key</a:t>
            </a:r>
          </a:p>
          <a:p>
            <a:r>
              <a:rPr lang="en-US" dirty="0"/>
              <a:t>Need memory of previous inputs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B1D60D-ECED-7A57-155F-69A9429B7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Traditional Models Fall Short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F7ACA-82D6-F115-5E38-3AB13933F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9AD81-EB4E-EE47-30F3-B01D5BBF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217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EC76BFF-307A-51C7-8126-B180273BA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5000"/>
            <a:ext cx="1219200" cy="357051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AB9C42F-7445-CD7E-C19C-7346A79A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Neural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02D56-0658-D8A7-7DA1-0A77EA87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D3A50-1763-E186-07A7-D9492D6D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EDE342-98C0-0FCB-D577-82EC4618ECB8}"/>
              </a:ext>
            </a:extLst>
          </p:cNvPr>
          <p:cNvSpPr txBox="1"/>
          <p:nvPr/>
        </p:nvSpPr>
        <p:spPr>
          <a:xfrm>
            <a:off x="2971800" y="5530334"/>
            <a:ext cx="3079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Simple neural network</a:t>
            </a:r>
            <a:endParaRPr lang="en-GB" sz="2400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AB7826-6A95-B0D5-9EAC-DFC3996AF2FB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2057400" y="5334000"/>
            <a:ext cx="914400" cy="4271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600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63EE0-ED2E-646C-D7E1-010CDB831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1B039C-BA75-FDF3-37F7-61EE4661A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Sequences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62FBE-6F67-2FD2-E290-E0DE54258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6CDF1-E227-692A-9618-B6E9D841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9558B5-5065-8CD6-88A8-9BD4044FC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6671"/>
          <a:stretch/>
        </p:blipFill>
        <p:spPr>
          <a:xfrm>
            <a:off x="450574" y="2675563"/>
            <a:ext cx="3581400" cy="3481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8773E7-9D48-AD76-88B2-46C96B410774}"/>
              </a:ext>
            </a:extLst>
          </p:cNvPr>
          <p:cNvSpPr txBox="1"/>
          <p:nvPr/>
        </p:nvSpPr>
        <p:spPr>
          <a:xfrm>
            <a:off x="4038600" y="5280279"/>
            <a:ext cx="42707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e.g. </a:t>
            </a:r>
            <a:r>
              <a:rPr lang="en-US" sz="2800" b="1" dirty="0"/>
              <a:t>Image Captioning </a:t>
            </a:r>
          </a:p>
          <a:p>
            <a:r>
              <a:rPr lang="en-US" sz="2800" dirty="0"/>
              <a:t>image -&gt; sequence of words</a:t>
            </a:r>
            <a:endParaRPr lang="en-GB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EB1533-FA60-A5FC-56FC-D3E89118ACA5}"/>
              </a:ext>
            </a:extLst>
          </p:cNvPr>
          <p:cNvSpPr txBox="1"/>
          <p:nvPr/>
        </p:nvSpPr>
        <p:spPr>
          <a:xfrm>
            <a:off x="457200" y="1616508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In machine learning, especially with </a:t>
            </a:r>
            <a:r>
              <a:rPr lang="en-US" sz="2400" b="1" dirty="0"/>
              <a:t>sequential models</a:t>
            </a:r>
            <a:r>
              <a:rPr lang="en-US" sz="2400" dirty="0"/>
              <a:t>, a </a:t>
            </a:r>
            <a:r>
              <a:rPr lang="en-US" sz="2400" b="1" dirty="0"/>
              <a:t>process sequence</a:t>
            </a:r>
            <a:r>
              <a:rPr lang="en-US" sz="2400" dirty="0"/>
              <a:t> usually refers to the order in which </a:t>
            </a:r>
            <a:r>
              <a:rPr lang="en-US" sz="2400" b="1" dirty="0"/>
              <a:t>data points</a:t>
            </a:r>
            <a:r>
              <a:rPr lang="en-US" sz="2400" dirty="0"/>
              <a:t> occur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6131BD-F9DC-58AF-F33F-4B749A05D6F1}"/>
              </a:ext>
            </a:extLst>
          </p:cNvPr>
          <p:cNvSpPr txBox="1"/>
          <p:nvPr/>
        </p:nvSpPr>
        <p:spPr>
          <a:xfrm>
            <a:off x="4267200" y="3029709"/>
            <a:ext cx="4572000" cy="1015663"/>
          </a:xfrm>
          <a:custGeom>
            <a:avLst/>
            <a:gdLst>
              <a:gd name="connsiteX0" fmla="*/ 0 w 4572000"/>
              <a:gd name="connsiteY0" fmla="*/ 0 h 1015663"/>
              <a:gd name="connsiteX1" fmla="*/ 561703 w 4572000"/>
              <a:gd name="connsiteY1" fmla="*/ 0 h 1015663"/>
              <a:gd name="connsiteX2" fmla="*/ 1306286 w 4572000"/>
              <a:gd name="connsiteY2" fmla="*/ 0 h 1015663"/>
              <a:gd name="connsiteX3" fmla="*/ 2005149 w 4572000"/>
              <a:gd name="connsiteY3" fmla="*/ 0 h 1015663"/>
              <a:gd name="connsiteX4" fmla="*/ 2521131 w 4572000"/>
              <a:gd name="connsiteY4" fmla="*/ 0 h 1015663"/>
              <a:gd name="connsiteX5" fmla="*/ 3219994 w 4572000"/>
              <a:gd name="connsiteY5" fmla="*/ 0 h 1015663"/>
              <a:gd name="connsiteX6" fmla="*/ 3873137 w 4572000"/>
              <a:gd name="connsiteY6" fmla="*/ 0 h 1015663"/>
              <a:gd name="connsiteX7" fmla="*/ 4572000 w 4572000"/>
              <a:gd name="connsiteY7" fmla="*/ 0 h 1015663"/>
              <a:gd name="connsiteX8" fmla="*/ 4572000 w 4572000"/>
              <a:gd name="connsiteY8" fmla="*/ 517988 h 1015663"/>
              <a:gd name="connsiteX9" fmla="*/ 4572000 w 4572000"/>
              <a:gd name="connsiteY9" fmla="*/ 1015663 h 1015663"/>
              <a:gd name="connsiteX10" fmla="*/ 4010297 w 4572000"/>
              <a:gd name="connsiteY10" fmla="*/ 1015663 h 1015663"/>
              <a:gd name="connsiteX11" fmla="*/ 3265714 w 4572000"/>
              <a:gd name="connsiteY11" fmla="*/ 1015663 h 1015663"/>
              <a:gd name="connsiteX12" fmla="*/ 2521131 w 4572000"/>
              <a:gd name="connsiteY12" fmla="*/ 1015663 h 1015663"/>
              <a:gd name="connsiteX13" fmla="*/ 1913709 w 4572000"/>
              <a:gd name="connsiteY13" fmla="*/ 1015663 h 1015663"/>
              <a:gd name="connsiteX14" fmla="*/ 1352006 w 4572000"/>
              <a:gd name="connsiteY14" fmla="*/ 1015663 h 1015663"/>
              <a:gd name="connsiteX15" fmla="*/ 744583 w 4572000"/>
              <a:gd name="connsiteY15" fmla="*/ 1015663 h 1015663"/>
              <a:gd name="connsiteX16" fmla="*/ 0 w 4572000"/>
              <a:gd name="connsiteY16" fmla="*/ 1015663 h 1015663"/>
              <a:gd name="connsiteX17" fmla="*/ 0 w 4572000"/>
              <a:gd name="connsiteY17" fmla="*/ 538301 h 1015663"/>
              <a:gd name="connsiteX18" fmla="*/ 0 w 4572000"/>
              <a:gd name="connsiteY18" fmla="*/ 0 h 1015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572000" h="1015663" extrusionOk="0">
                <a:moveTo>
                  <a:pt x="0" y="0"/>
                </a:moveTo>
                <a:cubicBezTo>
                  <a:pt x="180642" y="-24967"/>
                  <a:pt x="375066" y="-5017"/>
                  <a:pt x="561703" y="0"/>
                </a:cubicBezTo>
                <a:cubicBezTo>
                  <a:pt x="748340" y="5017"/>
                  <a:pt x="1048626" y="-23417"/>
                  <a:pt x="1306286" y="0"/>
                </a:cubicBezTo>
                <a:cubicBezTo>
                  <a:pt x="1563946" y="23417"/>
                  <a:pt x="1725402" y="9952"/>
                  <a:pt x="2005149" y="0"/>
                </a:cubicBezTo>
                <a:cubicBezTo>
                  <a:pt x="2284896" y="-9952"/>
                  <a:pt x="2401554" y="-10099"/>
                  <a:pt x="2521131" y="0"/>
                </a:cubicBezTo>
                <a:cubicBezTo>
                  <a:pt x="2640708" y="10099"/>
                  <a:pt x="2956871" y="-11683"/>
                  <a:pt x="3219994" y="0"/>
                </a:cubicBezTo>
                <a:cubicBezTo>
                  <a:pt x="3483117" y="11683"/>
                  <a:pt x="3572300" y="8725"/>
                  <a:pt x="3873137" y="0"/>
                </a:cubicBezTo>
                <a:cubicBezTo>
                  <a:pt x="4173974" y="-8725"/>
                  <a:pt x="4424723" y="-2138"/>
                  <a:pt x="4572000" y="0"/>
                </a:cubicBezTo>
                <a:cubicBezTo>
                  <a:pt x="4572143" y="256909"/>
                  <a:pt x="4597299" y="352618"/>
                  <a:pt x="4572000" y="517988"/>
                </a:cubicBezTo>
                <a:cubicBezTo>
                  <a:pt x="4546701" y="683358"/>
                  <a:pt x="4565782" y="796862"/>
                  <a:pt x="4572000" y="1015663"/>
                </a:cubicBezTo>
                <a:cubicBezTo>
                  <a:pt x="4459556" y="994738"/>
                  <a:pt x="4136014" y="1023152"/>
                  <a:pt x="4010297" y="1015663"/>
                </a:cubicBezTo>
                <a:cubicBezTo>
                  <a:pt x="3884580" y="1008174"/>
                  <a:pt x="3427970" y="1050059"/>
                  <a:pt x="3265714" y="1015663"/>
                </a:cubicBezTo>
                <a:cubicBezTo>
                  <a:pt x="3103458" y="981267"/>
                  <a:pt x="2716896" y="996738"/>
                  <a:pt x="2521131" y="1015663"/>
                </a:cubicBezTo>
                <a:cubicBezTo>
                  <a:pt x="2325366" y="1034588"/>
                  <a:pt x="2039568" y="1038845"/>
                  <a:pt x="1913709" y="1015663"/>
                </a:cubicBezTo>
                <a:cubicBezTo>
                  <a:pt x="1787850" y="992481"/>
                  <a:pt x="1522282" y="1039595"/>
                  <a:pt x="1352006" y="1015663"/>
                </a:cubicBezTo>
                <a:cubicBezTo>
                  <a:pt x="1181730" y="991731"/>
                  <a:pt x="1009560" y="1020495"/>
                  <a:pt x="744583" y="1015663"/>
                </a:cubicBezTo>
                <a:cubicBezTo>
                  <a:pt x="479606" y="1010831"/>
                  <a:pt x="307534" y="979465"/>
                  <a:pt x="0" y="1015663"/>
                </a:cubicBezTo>
                <a:cubicBezTo>
                  <a:pt x="5932" y="884941"/>
                  <a:pt x="-11447" y="667755"/>
                  <a:pt x="0" y="538301"/>
                </a:cubicBezTo>
                <a:cubicBezTo>
                  <a:pt x="11447" y="408847"/>
                  <a:pt x="-22143" y="210512"/>
                  <a:pt x="0" y="0"/>
                </a:cubicBezTo>
                <a:close/>
              </a:path>
            </a:pathLst>
          </a:custGeom>
          <a:noFill/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68982058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002060"/>
                </a:solidFill>
              </a:rPr>
              <a:t>A process sequence is a chain of events or steps that must happen in a specific order to achieve a goal.</a:t>
            </a:r>
            <a:endParaRPr lang="en-GB" sz="2000" b="1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059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77D4D-315B-99D7-CAA1-9E0F33153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FDCFA1-C52E-25C4-2A8A-86210A80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Sequences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8CFAC-30FE-CF50-A76F-D28F575F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B2B3F-CBB2-5D2D-4D2E-18B695B6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12FF95-F808-D88D-2842-25B611B3E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8154"/>
          <a:stretch/>
        </p:blipFill>
        <p:spPr>
          <a:xfrm>
            <a:off x="457200" y="1676400"/>
            <a:ext cx="4724400" cy="2952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A35416-AB69-433C-CE5C-45B363E2A45D}"/>
              </a:ext>
            </a:extLst>
          </p:cNvPr>
          <p:cNvSpPr txBox="1"/>
          <p:nvPr/>
        </p:nvSpPr>
        <p:spPr>
          <a:xfrm>
            <a:off x="3119916" y="5056086"/>
            <a:ext cx="60539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e.g. </a:t>
            </a:r>
            <a:r>
              <a:rPr lang="en-US" sz="2800" b="1" dirty="0"/>
              <a:t>action prediction</a:t>
            </a:r>
          </a:p>
          <a:p>
            <a:r>
              <a:rPr lang="en-US" sz="2800" dirty="0"/>
              <a:t>sequence of video frames -&gt; action class</a:t>
            </a:r>
            <a:endParaRPr lang="en-GB" sz="28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4239D8A-8D7F-89DB-BFFD-8EF5628A40E1}"/>
              </a:ext>
            </a:extLst>
          </p:cNvPr>
          <p:cNvCxnSpPr>
            <a:cxnSpLocks/>
          </p:cNvCxnSpPr>
          <p:nvPr/>
        </p:nvCxnSpPr>
        <p:spPr>
          <a:xfrm flipH="1" flipV="1">
            <a:off x="4297017" y="4602666"/>
            <a:ext cx="579783" cy="5789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480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A77D4-5955-276E-D548-6B5398A8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5F7ABA-1756-C99D-AD9B-635DD8FE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Sequences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7A908-1D5A-CB17-2E5B-8196CBC2E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04F20E-5362-0F34-8B51-6A2F8F8D6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F8A8FD-299B-AC68-E157-F1E7D6E60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9455"/>
          <a:stretch/>
        </p:blipFill>
        <p:spPr>
          <a:xfrm>
            <a:off x="457200" y="1676400"/>
            <a:ext cx="6629400" cy="266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B01E42-2F69-3E0B-317B-1E5E4CA71ABE}"/>
              </a:ext>
            </a:extLst>
          </p:cNvPr>
          <p:cNvSpPr txBox="1"/>
          <p:nvPr/>
        </p:nvSpPr>
        <p:spPr>
          <a:xfrm>
            <a:off x="3429000" y="5257800"/>
            <a:ext cx="54931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E.g. </a:t>
            </a:r>
            <a:r>
              <a:rPr lang="en-US" sz="2800" b="1" dirty="0"/>
              <a:t>Video Captioning </a:t>
            </a:r>
          </a:p>
          <a:p>
            <a:r>
              <a:rPr lang="en-US" sz="2800" dirty="0"/>
              <a:t>Sequence of video frames -&gt; caption</a:t>
            </a:r>
            <a:endParaRPr lang="en-GB" sz="28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BF9A8A2-473A-9189-2CC9-921F43D27BAD}"/>
              </a:ext>
            </a:extLst>
          </p:cNvPr>
          <p:cNvCxnSpPr>
            <a:cxnSpLocks/>
          </p:cNvCxnSpPr>
          <p:nvPr/>
        </p:nvCxnSpPr>
        <p:spPr>
          <a:xfrm flipH="1" flipV="1">
            <a:off x="5791200" y="4330148"/>
            <a:ext cx="228600" cy="9276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641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E5340F-7B55-2EE2-F13B-18CC82FA6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Sequences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F0097-86BB-563B-9FBC-598AE27ED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515727-9F25-57AF-0691-0DB6E7A64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96AC07-5BBA-3152-59DB-1176BDD42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1077"/>
            <a:ext cx="8042738" cy="26061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E19253-8178-2B00-D805-2A57A02F97DC}"/>
              </a:ext>
            </a:extLst>
          </p:cNvPr>
          <p:cNvSpPr txBox="1"/>
          <p:nvPr/>
        </p:nvSpPr>
        <p:spPr>
          <a:xfrm>
            <a:off x="3962400" y="5257800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e.g. Video classification on frame level</a:t>
            </a:r>
            <a:endParaRPr lang="en-GB" sz="24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B66603-6081-B3E1-858A-0BFCC71C5280}"/>
              </a:ext>
            </a:extLst>
          </p:cNvPr>
          <p:cNvCxnSpPr>
            <a:cxnSpLocks/>
          </p:cNvCxnSpPr>
          <p:nvPr/>
        </p:nvCxnSpPr>
        <p:spPr>
          <a:xfrm flipH="1" flipV="1">
            <a:off x="7649817" y="4384123"/>
            <a:ext cx="228600" cy="9276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603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49583D-36FE-7846-682E-BD6169116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RNNs contain a recurrent layer (or cell) that is able to handle </a:t>
            </a:r>
            <a:r>
              <a:rPr lang="en-US" b="1" dirty="0"/>
              <a:t>sequential data </a:t>
            </a:r>
            <a:r>
              <a:rPr lang="en-US" dirty="0"/>
              <a:t>by making its own output at a particular timestep form part of the input to the next timestep.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3CE211-E710-6E8F-D7E6-F606CD6E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Recurrent Neural Network (RNN)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045D4-9D4E-556D-8617-C7CBCE496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E1202-C67A-2167-3586-5FAAC1E7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017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796892-B542-F71A-3466-93B01B6A0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0" y="1740827"/>
            <a:ext cx="2339543" cy="424470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A5A3896-A34F-B3B8-733D-7BBA722E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Recurrent Neural Network (RNN)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1B48B-648C-17B2-CE46-4342DE439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08BD0-ABD4-F729-39A9-11BCED87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DE2B5-8F75-744F-BF53-BF8DE0F2406A}"/>
              </a:ext>
            </a:extLst>
          </p:cNvPr>
          <p:cNvSpPr txBox="1"/>
          <p:nvPr/>
        </p:nvSpPr>
        <p:spPr>
          <a:xfrm>
            <a:off x="4876800" y="2847518"/>
            <a:ext cx="44400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Key idea: RNNs have an “internal state” 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that is updated as a sequence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 is processed</a:t>
            </a:r>
            <a:endParaRPr lang="en-GB" sz="2000" b="1" dirty="0">
              <a:solidFill>
                <a:schemeClr val="tx2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A15872-9361-D820-0474-15D4A246C4DB}"/>
              </a:ext>
            </a:extLst>
          </p:cNvPr>
          <p:cNvCxnSpPr>
            <a:cxnSpLocks/>
          </p:cNvCxnSpPr>
          <p:nvPr/>
        </p:nvCxnSpPr>
        <p:spPr>
          <a:xfrm flipH="1">
            <a:off x="4229101" y="3048000"/>
            <a:ext cx="723899" cy="3073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24EBB30-1FC8-7C5E-50D3-B8D7E076ADC3}"/>
              </a:ext>
            </a:extLst>
          </p:cNvPr>
          <p:cNvSpPr/>
          <p:nvPr/>
        </p:nvSpPr>
        <p:spPr>
          <a:xfrm>
            <a:off x="3032556" y="1752600"/>
            <a:ext cx="1082244" cy="1307173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BB7D2-27B6-3A3E-3369-537497C9E20C}"/>
              </a:ext>
            </a:extLst>
          </p:cNvPr>
          <p:cNvSpPr txBox="1"/>
          <p:nvPr/>
        </p:nvSpPr>
        <p:spPr>
          <a:xfrm>
            <a:off x="214775" y="2052243"/>
            <a:ext cx="27951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Usually want to predict a</a:t>
            </a:r>
          </a:p>
          <a:p>
            <a:r>
              <a:rPr lang="en-US" sz="2000" dirty="0">
                <a:solidFill>
                  <a:srgbClr val="C00000"/>
                </a:solidFill>
              </a:rPr>
              <a:t>Vector at some time step</a:t>
            </a:r>
            <a:endParaRPr lang="en-GB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547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ED022F-4A4B-2E7A-61A7-7463118FF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/>
              <a:t>We can process a sequence of vectors x by applying a </a:t>
            </a:r>
            <a:r>
              <a:rPr lang="en-US" sz="2800" b="1" dirty="0">
                <a:solidFill>
                  <a:srgbClr val="C00000"/>
                </a:solidFill>
              </a:rPr>
              <a:t>recurrence formula </a:t>
            </a:r>
            <a:r>
              <a:rPr lang="en-US" sz="2800" dirty="0"/>
              <a:t>at every time step:</a:t>
            </a:r>
          </a:p>
          <a:p>
            <a:pPr marL="0" indent="0" algn="just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442F88-DE8F-98F7-8E87-2DEBF4993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hidden state update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9C293-2E1A-F43C-B124-B02DD1CE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9208A-95C6-15B0-88BD-1B27CDBC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51D25809-F197-1A31-3315-F1AE0C9BF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62200"/>
            <a:ext cx="2286001" cy="37689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1C96C5-4F77-1C39-A3F2-E594BAD52437}"/>
                  </a:ext>
                </a:extLst>
              </p:cNvPr>
              <p:cNvSpPr txBox="1"/>
              <p:nvPr/>
            </p:nvSpPr>
            <p:spPr>
              <a:xfrm>
                <a:off x="457200" y="2743200"/>
                <a:ext cx="5249129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5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5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sz="5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5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540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1C96C5-4F77-1C39-A3F2-E594BAD52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43200"/>
                <a:ext cx="5249129" cy="830997"/>
              </a:xfrm>
              <a:prstGeom prst="rect">
                <a:avLst/>
              </a:prstGeom>
              <a:blipFill>
                <a:blip r:embed="rId3"/>
                <a:stretch>
                  <a:fillRect t="-25000" r="-6969" b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3A85B3F-298F-FEDE-2DE4-77A7E4E24348}"/>
              </a:ext>
            </a:extLst>
          </p:cNvPr>
          <p:cNvSpPr/>
          <p:nvPr/>
        </p:nvSpPr>
        <p:spPr>
          <a:xfrm>
            <a:off x="381000" y="2743200"/>
            <a:ext cx="685800" cy="8309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6EB8B-82F7-04AE-095C-96C2F789ADD0}"/>
              </a:ext>
            </a:extLst>
          </p:cNvPr>
          <p:cNvSpPr txBox="1"/>
          <p:nvPr/>
        </p:nvSpPr>
        <p:spPr>
          <a:xfrm>
            <a:off x="123167" y="3571952"/>
            <a:ext cx="160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new state</a:t>
            </a:r>
            <a:endParaRPr lang="en-GB" sz="2800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0A129D-A719-873B-CE3A-5A4531F1C428}"/>
              </a:ext>
            </a:extLst>
          </p:cNvPr>
          <p:cNvSpPr txBox="1"/>
          <p:nvPr/>
        </p:nvSpPr>
        <p:spPr>
          <a:xfrm>
            <a:off x="504298" y="4343400"/>
            <a:ext cx="29818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some function </a:t>
            </a:r>
          </a:p>
          <a:p>
            <a:r>
              <a:rPr lang="en-US" sz="2800" dirty="0">
                <a:solidFill>
                  <a:srgbClr val="00B0F0"/>
                </a:solidFill>
              </a:rPr>
              <a:t>with parameters W</a:t>
            </a:r>
            <a:endParaRPr lang="en-GB" sz="2800" dirty="0">
              <a:solidFill>
                <a:srgbClr val="00B0F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B143F3-DE75-B6BF-9301-C599EB2C01B7}"/>
              </a:ext>
            </a:extLst>
          </p:cNvPr>
          <p:cNvSpPr/>
          <p:nvPr/>
        </p:nvSpPr>
        <p:spPr>
          <a:xfrm>
            <a:off x="2057400" y="2743200"/>
            <a:ext cx="821082" cy="9906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730176-A5D7-D720-37DD-E08CA323DABF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flipH="1">
            <a:off x="1995219" y="3733800"/>
            <a:ext cx="472722" cy="60960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3C4DAF0-37E7-8AC9-75F2-3883160B8074}"/>
              </a:ext>
            </a:extLst>
          </p:cNvPr>
          <p:cNvSpPr/>
          <p:nvPr/>
        </p:nvSpPr>
        <p:spPr>
          <a:xfrm>
            <a:off x="3276600" y="2819400"/>
            <a:ext cx="1295400" cy="82875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73E06E-CD2B-0472-89E0-A29C121F8870}"/>
              </a:ext>
            </a:extLst>
          </p:cNvPr>
          <p:cNvSpPr txBox="1"/>
          <p:nvPr/>
        </p:nvSpPr>
        <p:spPr>
          <a:xfrm>
            <a:off x="3260272" y="3733800"/>
            <a:ext cx="1261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old state</a:t>
            </a:r>
            <a:endParaRPr lang="en-GB" sz="2400" dirty="0">
              <a:solidFill>
                <a:srgbClr val="00206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0093BC-1A8C-C7D3-DA7A-46FCF6272322}"/>
              </a:ext>
            </a:extLst>
          </p:cNvPr>
          <p:cNvSpPr/>
          <p:nvPr/>
        </p:nvSpPr>
        <p:spPr>
          <a:xfrm>
            <a:off x="4741518" y="2819399"/>
            <a:ext cx="668682" cy="79177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37EAB-495B-F547-70FA-CF172140A327}"/>
              </a:ext>
            </a:extLst>
          </p:cNvPr>
          <p:cNvSpPr txBox="1"/>
          <p:nvPr/>
        </p:nvSpPr>
        <p:spPr>
          <a:xfrm>
            <a:off x="4678426" y="3648152"/>
            <a:ext cx="21287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Input vector at </a:t>
            </a:r>
          </a:p>
          <a:p>
            <a:r>
              <a:rPr lang="en-US" sz="2400" dirty="0">
                <a:solidFill>
                  <a:srgbClr val="7030A0"/>
                </a:solidFill>
              </a:rPr>
              <a:t>some time step</a:t>
            </a:r>
            <a:endParaRPr lang="en-GB" sz="2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A7987C-B370-4632-8960-78404920BF48}"/>
                  </a:ext>
                </a:extLst>
              </p:cNvPr>
              <p:cNvSpPr txBox="1"/>
              <p:nvPr/>
            </p:nvSpPr>
            <p:spPr>
              <a:xfrm>
                <a:off x="168424" y="5307146"/>
                <a:ext cx="675268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 model remembers the past </a:t>
                </a:r>
                <a:r>
                  <a:rPr lang="en-US" sz="2000" i="1" dirty="0"/>
                  <a:t>(through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i="1" dirty="0"/>
                  <a:t>) </a:t>
                </a:r>
                <a:r>
                  <a:rPr lang="en-US" sz="2000" dirty="0"/>
                  <a:t>and combines </a:t>
                </a:r>
              </a:p>
              <a:p>
                <a:r>
                  <a:rPr lang="en-US" sz="2000" dirty="0"/>
                  <a:t>it with new information (from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) to update its memory (to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A7987C-B370-4632-8960-78404920B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24" y="5307146"/>
                <a:ext cx="6752682" cy="707886"/>
              </a:xfrm>
              <a:prstGeom prst="rect">
                <a:avLst/>
              </a:prstGeom>
              <a:blipFill>
                <a:blip r:embed="rId4"/>
                <a:stretch>
                  <a:fillRect l="-994" t="-5172" r="-361" b="-14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112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3EAF42-DA57-3046-3412-02F321A74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can process a sequence of vectors </a:t>
            </a:r>
            <a:r>
              <a:rPr lang="en-US" b="1" dirty="0"/>
              <a:t>x</a:t>
            </a:r>
            <a:r>
              <a:rPr lang="en-US" dirty="0"/>
              <a:t> by applying a </a:t>
            </a:r>
            <a:r>
              <a:rPr lang="en-US" b="1" dirty="0"/>
              <a:t>recurrence formula </a:t>
            </a:r>
            <a:r>
              <a:rPr lang="en-US" dirty="0"/>
              <a:t>at every time step: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FD7B0D-5406-6EA7-684C-31FBA037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RNN output generation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B01DD-5EF5-EAAD-5C1D-37DF40EAF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E3313-CD89-A874-0279-4E34D46E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965339-67C4-DE78-B25C-2D42BD4C8394}"/>
                  </a:ext>
                </a:extLst>
              </p:cNvPr>
              <p:cNvSpPr txBox="1"/>
              <p:nvPr/>
            </p:nvSpPr>
            <p:spPr>
              <a:xfrm>
                <a:off x="1371600" y="3013501"/>
                <a:ext cx="4368568" cy="992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5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5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5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5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5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5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sz="5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5400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965339-67C4-DE78-B25C-2D42BD4C8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013501"/>
                <a:ext cx="4368568" cy="992323"/>
              </a:xfrm>
              <a:prstGeom prst="rect">
                <a:avLst/>
              </a:prstGeom>
              <a:blipFill>
                <a:blip r:embed="rId2"/>
                <a:stretch>
                  <a:fillRect t="-20245" r="-8508" b="-263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701A8B1C-743E-0E42-112C-8056B992DF85}"/>
              </a:ext>
            </a:extLst>
          </p:cNvPr>
          <p:cNvSpPr/>
          <p:nvPr/>
        </p:nvSpPr>
        <p:spPr>
          <a:xfrm>
            <a:off x="1295400" y="3013501"/>
            <a:ext cx="685800" cy="8309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30B321-A7EF-609C-57BD-431253948505}"/>
              </a:ext>
            </a:extLst>
          </p:cNvPr>
          <p:cNvSpPr/>
          <p:nvPr/>
        </p:nvSpPr>
        <p:spPr>
          <a:xfrm>
            <a:off x="2971800" y="3013501"/>
            <a:ext cx="1371600" cy="9906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B996F2-285E-4B4F-717A-D8C649FF63CF}"/>
              </a:ext>
            </a:extLst>
          </p:cNvPr>
          <p:cNvSpPr/>
          <p:nvPr/>
        </p:nvSpPr>
        <p:spPr>
          <a:xfrm>
            <a:off x="4438252" y="3094425"/>
            <a:ext cx="1295400" cy="82875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8B42B0-54E0-6866-B73B-EE0AC0484FB7}"/>
              </a:ext>
            </a:extLst>
          </p:cNvPr>
          <p:cNvSpPr txBox="1"/>
          <p:nvPr/>
        </p:nvSpPr>
        <p:spPr>
          <a:xfrm>
            <a:off x="956989" y="3957553"/>
            <a:ext cx="1037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output</a:t>
            </a:r>
            <a:endParaRPr lang="en-GB" sz="24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B2E83E-F4DE-B8A8-13D7-9162682CE969}"/>
                  </a:ext>
                </a:extLst>
              </p:cNvPr>
              <p:cNvSpPr txBox="1"/>
              <p:nvPr/>
            </p:nvSpPr>
            <p:spPr>
              <a:xfrm>
                <a:off x="2590800" y="4016329"/>
                <a:ext cx="268451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</a:rPr>
                  <a:t>Another function</a:t>
                </a:r>
              </a:p>
              <a:p>
                <a:r>
                  <a:rPr lang="en-US" sz="2400" dirty="0">
                    <a:solidFill>
                      <a:srgbClr val="00B050"/>
                    </a:solidFill>
                  </a:rPr>
                  <a:t>with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GB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B2E83E-F4DE-B8A8-13D7-9162682CE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4016329"/>
                <a:ext cx="2684517" cy="830997"/>
              </a:xfrm>
              <a:prstGeom prst="rect">
                <a:avLst/>
              </a:prstGeom>
              <a:blipFill>
                <a:blip r:embed="rId3"/>
                <a:stretch>
                  <a:fillRect l="-3409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AF43246-F03D-97C2-AF22-FA5B3354824D}"/>
              </a:ext>
            </a:extLst>
          </p:cNvPr>
          <p:cNvSpPr txBox="1"/>
          <p:nvPr/>
        </p:nvSpPr>
        <p:spPr>
          <a:xfrm>
            <a:off x="4922837" y="3920134"/>
            <a:ext cx="18079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new state</a:t>
            </a:r>
            <a:endParaRPr lang="en-GB" sz="3200" dirty="0">
              <a:solidFill>
                <a:srgbClr val="002060"/>
              </a:solidFill>
            </a:endParaRPr>
          </a:p>
        </p:txBody>
      </p:sp>
      <p:pic>
        <p:nvPicPr>
          <p:cNvPr id="15" name="Content Placeholder 6">
            <a:extLst>
              <a:ext uri="{FF2B5EF4-FFF2-40B4-BE49-F238E27FC236}">
                <a16:creationId xmlns:a16="http://schemas.microsoft.com/office/drawing/2014/main" id="{314C0958-BC8A-4B11-00F4-9F1174453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365" y="2603799"/>
            <a:ext cx="2136440" cy="35223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A99D9E7-FE26-AE7F-4664-59CB8719AD06}"/>
              </a:ext>
            </a:extLst>
          </p:cNvPr>
          <p:cNvSpPr txBox="1"/>
          <p:nvPr/>
        </p:nvSpPr>
        <p:spPr>
          <a:xfrm>
            <a:off x="580258" y="5025079"/>
            <a:ext cx="6705600" cy="646331"/>
          </a:xfrm>
          <a:custGeom>
            <a:avLst/>
            <a:gdLst>
              <a:gd name="connsiteX0" fmla="*/ 0 w 6705600"/>
              <a:gd name="connsiteY0" fmla="*/ 0 h 646331"/>
              <a:gd name="connsiteX1" fmla="*/ 536448 w 6705600"/>
              <a:gd name="connsiteY1" fmla="*/ 0 h 646331"/>
              <a:gd name="connsiteX2" fmla="*/ 1072896 w 6705600"/>
              <a:gd name="connsiteY2" fmla="*/ 0 h 646331"/>
              <a:gd name="connsiteX3" fmla="*/ 1743456 w 6705600"/>
              <a:gd name="connsiteY3" fmla="*/ 0 h 646331"/>
              <a:gd name="connsiteX4" fmla="*/ 2346960 w 6705600"/>
              <a:gd name="connsiteY4" fmla="*/ 0 h 646331"/>
              <a:gd name="connsiteX5" fmla="*/ 2950464 w 6705600"/>
              <a:gd name="connsiteY5" fmla="*/ 0 h 646331"/>
              <a:gd name="connsiteX6" fmla="*/ 3755136 w 6705600"/>
              <a:gd name="connsiteY6" fmla="*/ 0 h 646331"/>
              <a:gd name="connsiteX7" fmla="*/ 4559808 w 6705600"/>
              <a:gd name="connsiteY7" fmla="*/ 0 h 646331"/>
              <a:gd name="connsiteX8" fmla="*/ 5297424 w 6705600"/>
              <a:gd name="connsiteY8" fmla="*/ 0 h 646331"/>
              <a:gd name="connsiteX9" fmla="*/ 5900928 w 6705600"/>
              <a:gd name="connsiteY9" fmla="*/ 0 h 646331"/>
              <a:gd name="connsiteX10" fmla="*/ 6705600 w 6705600"/>
              <a:gd name="connsiteY10" fmla="*/ 0 h 646331"/>
              <a:gd name="connsiteX11" fmla="*/ 6705600 w 6705600"/>
              <a:gd name="connsiteY11" fmla="*/ 646331 h 646331"/>
              <a:gd name="connsiteX12" fmla="*/ 6236208 w 6705600"/>
              <a:gd name="connsiteY12" fmla="*/ 646331 h 646331"/>
              <a:gd name="connsiteX13" fmla="*/ 5632704 w 6705600"/>
              <a:gd name="connsiteY13" fmla="*/ 646331 h 646331"/>
              <a:gd name="connsiteX14" fmla="*/ 4828032 w 6705600"/>
              <a:gd name="connsiteY14" fmla="*/ 646331 h 646331"/>
              <a:gd name="connsiteX15" fmla="*/ 4023360 w 6705600"/>
              <a:gd name="connsiteY15" fmla="*/ 646331 h 646331"/>
              <a:gd name="connsiteX16" fmla="*/ 3285744 w 6705600"/>
              <a:gd name="connsiteY16" fmla="*/ 646331 h 646331"/>
              <a:gd name="connsiteX17" fmla="*/ 2682240 w 6705600"/>
              <a:gd name="connsiteY17" fmla="*/ 646331 h 646331"/>
              <a:gd name="connsiteX18" fmla="*/ 2212848 w 6705600"/>
              <a:gd name="connsiteY18" fmla="*/ 646331 h 646331"/>
              <a:gd name="connsiteX19" fmla="*/ 1676400 w 6705600"/>
              <a:gd name="connsiteY19" fmla="*/ 646331 h 646331"/>
              <a:gd name="connsiteX20" fmla="*/ 1207008 w 6705600"/>
              <a:gd name="connsiteY20" fmla="*/ 646331 h 646331"/>
              <a:gd name="connsiteX21" fmla="*/ 670560 w 6705600"/>
              <a:gd name="connsiteY21" fmla="*/ 646331 h 646331"/>
              <a:gd name="connsiteX22" fmla="*/ 0 w 6705600"/>
              <a:gd name="connsiteY22" fmla="*/ 646331 h 646331"/>
              <a:gd name="connsiteX23" fmla="*/ 0 w 6705600"/>
              <a:gd name="connsiteY23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705600" h="646331" extrusionOk="0">
                <a:moveTo>
                  <a:pt x="0" y="0"/>
                </a:moveTo>
                <a:cubicBezTo>
                  <a:pt x="234097" y="-5224"/>
                  <a:pt x="271506" y="9653"/>
                  <a:pt x="536448" y="0"/>
                </a:cubicBezTo>
                <a:cubicBezTo>
                  <a:pt x="801390" y="-9653"/>
                  <a:pt x="860699" y="16937"/>
                  <a:pt x="1072896" y="0"/>
                </a:cubicBezTo>
                <a:cubicBezTo>
                  <a:pt x="1285093" y="-16937"/>
                  <a:pt x="1598759" y="21370"/>
                  <a:pt x="1743456" y="0"/>
                </a:cubicBezTo>
                <a:cubicBezTo>
                  <a:pt x="1888153" y="-21370"/>
                  <a:pt x="2185727" y="13135"/>
                  <a:pt x="2346960" y="0"/>
                </a:cubicBezTo>
                <a:cubicBezTo>
                  <a:pt x="2508193" y="-13135"/>
                  <a:pt x="2745068" y="-29755"/>
                  <a:pt x="2950464" y="0"/>
                </a:cubicBezTo>
                <a:cubicBezTo>
                  <a:pt x="3155860" y="29755"/>
                  <a:pt x="3392795" y="39029"/>
                  <a:pt x="3755136" y="0"/>
                </a:cubicBezTo>
                <a:cubicBezTo>
                  <a:pt x="4117477" y="-39029"/>
                  <a:pt x="4363510" y="22236"/>
                  <a:pt x="4559808" y="0"/>
                </a:cubicBezTo>
                <a:cubicBezTo>
                  <a:pt x="4756106" y="-22236"/>
                  <a:pt x="5019324" y="17434"/>
                  <a:pt x="5297424" y="0"/>
                </a:cubicBezTo>
                <a:cubicBezTo>
                  <a:pt x="5575524" y="-17434"/>
                  <a:pt x="5659010" y="5848"/>
                  <a:pt x="5900928" y="0"/>
                </a:cubicBezTo>
                <a:cubicBezTo>
                  <a:pt x="6142846" y="-5848"/>
                  <a:pt x="6303437" y="25665"/>
                  <a:pt x="6705600" y="0"/>
                </a:cubicBezTo>
                <a:cubicBezTo>
                  <a:pt x="6683559" y="208921"/>
                  <a:pt x="6699691" y="393461"/>
                  <a:pt x="6705600" y="646331"/>
                </a:cubicBezTo>
                <a:cubicBezTo>
                  <a:pt x="6588774" y="669211"/>
                  <a:pt x="6404367" y="634893"/>
                  <a:pt x="6236208" y="646331"/>
                </a:cubicBezTo>
                <a:cubicBezTo>
                  <a:pt x="6068049" y="657769"/>
                  <a:pt x="5905615" y="648270"/>
                  <a:pt x="5632704" y="646331"/>
                </a:cubicBezTo>
                <a:cubicBezTo>
                  <a:pt x="5359793" y="644392"/>
                  <a:pt x="5192739" y="613275"/>
                  <a:pt x="4828032" y="646331"/>
                </a:cubicBezTo>
                <a:cubicBezTo>
                  <a:pt x="4463325" y="679387"/>
                  <a:pt x="4301115" y="673774"/>
                  <a:pt x="4023360" y="646331"/>
                </a:cubicBezTo>
                <a:cubicBezTo>
                  <a:pt x="3745605" y="618888"/>
                  <a:pt x="3447710" y="631339"/>
                  <a:pt x="3285744" y="646331"/>
                </a:cubicBezTo>
                <a:cubicBezTo>
                  <a:pt x="3123778" y="661323"/>
                  <a:pt x="2908277" y="658259"/>
                  <a:pt x="2682240" y="646331"/>
                </a:cubicBezTo>
                <a:cubicBezTo>
                  <a:pt x="2456203" y="634403"/>
                  <a:pt x="2428123" y="633215"/>
                  <a:pt x="2212848" y="646331"/>
                </a:cubicBezTo>
                <a:cubicBezTo>
                  <a:pt x="1997573" y="659447"/>
                  <a:pt x="1882586" y="642908"/>
                  <a:pt x="1676400" y="646331"/>
                </a:cubicBezTo>
                <a:cubicBezTo>
                  <a:pt x="1470214" y="649754"/>
                  <a:pt x="1368998" y="654327"/>
                  <a:pt x="1207008" y="646331"/>
                </a:cubicBezTo>
                <a:cubicBezTo>
                  <a:pt x="1045018" y="638335"/>
                  <a:pt x="791859" y="622793"/>
                  <a:pt x="670560" y="646331"/>
                </a:cubicBezTo>
                <a:cubicBezTo>
                  <a:pt x="549261" y="669869"/>
                  <a:pt x="227449" y="673300"/>
                  <a:pt x="0" y="646331"/>
                </a:cubicBezTo>
                <a:cubicBezTo>
                  <a:pt x="-24993" y="411002"/>
                  <a:pt x="-2990" y="314708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7391439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time step</a:t>
            </a:r>
            <a:r>
              <a:rPr lang="en-US" dirty="0"/>
              <a:t> in an RNN refers to a </a:t>
            </a:r>
            <a:r>
              <a:rPr lang="en-US" b="1" dirty="0"/>
              <a:t>single point in a sequence</a:t>
            </a:r>
            <a:r>
              <a:rPr lang="en-US" dirty="0"/>
              <a:t> —basically, </a:t>
            </a:r>
            <a:r>
              <a:rPr lang="en-US" b="1" dirty="0"/>
              <a:t>one slice of input at one moment in time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7044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0CEF3-7B8F-CA20-4DF3-166117E54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Recurrent Neural Network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ECCC2-FEAA-4757-E178-90F21E938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9CB75-5CD6-A438-0B56-1B6DA7CF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997D41-C39B-3D5B-DA17-C280A60A2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01" y="1828800"/>
            <a:ext cx="8377197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310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7211AF-D274-5093-728E-A818E4A8C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can process a sequence of vectors </a:t>
            </a:r>
          </a:p>
          <a:p>
            <a:pPr marL="0" indent="0">
              <a:buNone/>
            </a:pPr>
            <a:r>
              <a:rPr lang="en-US" b="1" dirty="0"/>
              <a:t>x </a:t>
            </a:r>
            <a:r>
              <a:rPr lang="en-US" dirty="0"/>
              <a:t>by applying a </a:t>
            </a:r>
            <a:r>
              <a:rPr lang="en-US" b="1" dirty="0"/>
              <a:t>recurrence formula </a:t>
            </a:r>
          </a:p>
          <a:p>
            <a:pPr marL="0" indent="0">
              <a:buNone/>
            </a:pPr>
            <a:r>
              <a:rPr lang="en-US" dirty="0"/>
              <a:t>at every time step: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A289C8-D9D9-8BB4-EC0D-10E6DFDC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Recurrent Neural Network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C748C-22FD-F0C6-04A0-247EAE7D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04E4B-4801-EB6A-A733-4CB431FD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B7B4C4AE-CA67-FEA3-99F2-64E4FF54D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808" y="2286000"/>
            <a:ext cx="2286001" cy="37689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B40B2A-2D96-3F15-8A73-052A416F0C3F}"/>
                  </a:ext>
                </a:extLst>
              </p:cNvPr>
              <p:cNvSpPr txBox="1"/>
              <p:nvPr/>
            </p:nvSpPr>
            <p:spPr>
              <a:xfrm>
                <a:off x="1151670" y="3810000"/>
                <a:ext cx="5249129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5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5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sz="5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5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540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B40B2A-2D96-3F15-8A73-052A416F0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670" y="3810000"/>
                <a:ext cx="5249129" cy="830997"/>
              </a:xfrm>
              <a:prstGeom prst="rect">
                <a:avLst/>
              </a:prstGeom>
              <a:blipFill>
                <a:blip r:embed="rId3"/>
                <a:stretch>
                  <a:fillRect t="-25000" r="-6969" b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4E4E5E6-BD13-B81D-F6BE-6C51D73B06C0}"/>
              </a:ext>
            </a:extLst>
          </p:cNvPr>
          <p:cNvSpPr txBox="1"/>
          <p:nvPr/>
        </p:nvSpPr>
        <p:spPr>
          <a:xfrm>
            <a:off x="762000" y="5060414"/>
            <a:ext cx="60728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Notice: the same function and the same set of parameters are used at every time step.</a:t>
            </a:r>
            <a:endParaRPr lang="en-GB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517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BFD5EF-91AE-F6C8-A9E8-B55BDEB54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state consists of a single “hidden” vector h: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1FB258-7F85-7E61-501D-2C33E150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(Vanilla) Recurrent Neural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5FCDD-1F51-DD21-30F4-B1B90D8F5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3B753-D27B-D3F7-6BE2-E88AA7EB6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32EA1F-EA36-7F0C-D551-2F1F28383BAB}"/>
                  </a:ext>
                </a:extLst>
              </p:cNvPr>
              <p:cNvSpPr txBox="1"/>
              <p:nvPr/>
            </p:nvSpPr>
            <p:spPr>
              <a:xfrm>
                <a:off x="762000" y="2235240"/>
                <a:ext cx="524912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800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32EA1F-EA36-7F0C-D551-2F1F28383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235240"/>
                <a:ext cx="5249129" cy="430887"/>
              </a:xfrm>
              <a:prstGeom prst="rect">
                <a:avLst/>
              </a:prstGeom>
              <a:blipFill>
                <a:blip r:embed="rId2"/>
                <a:stretch>
                  <a:fillRect t="-24286" b="-5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FEBAA0-D7F9-7E0B-0DE5-39044AD4ABC0}"/>
              </a:ext>
            </a:extLst>
          </p:cNvPr>
          <p:cNvCxnSpPr>
            <a:cxnSpLocks/>
          </p:cNvCxnSpPr>
          <p:nvPr/>
        </p:nvCxnSpPr>
        <p:spPr>
          <a:xfrm>
            <a:off x="2057400" y="2666127"/>
            <a:ext cx="0" cy="3818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4CD86C-0605-1DDE-D056-3F6BF1801AE7}"/>
                  </a:ext>
                </a:extLst>
              </p:cNvPr>
              <p:cNvSpPr txBox="1"/>
              <p:nvPr/>
            </p:nvSpPr>
            <p:spPr>
              <a:xfrm>
                <a:off x="202291" y="3012757"/>
                <a:ext cx="51626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𝑡𝑎𝑛h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𝑥h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3200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4CD86C-0605-1DDE-D056-3F6BF1801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91" y="3012757"/>
                <a:ext cx="5162632" cy="492443"/>
              </a:xfrm>
              <a:prstGeom prst="rect">
                <a:avLst/>
              </a:prstGeom>
              <a:blipFill>
                <a:blip r:embed="rId3"/>
                <a:stretch>
                  <a:fillRect t="-23457" r="-3778" b="-50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59402C-5AA6-95AE-1095-4332028A1F3C}"/>
                  </a:ext>
                </a:extLst>
              </p:cNvPr>
              <p:cNvSpPr txBox="1"/>
              <p:nvPr/>
            </p:nvSpPr>
            <p:spPr>
              <a:xfrm>
                <a:off x="1055038" y="3581400"/>
                <a:ext cx="2590966" cy="597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59402C-5AA6-95AE-1095-4332028A1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038" y="3581400"/>
                <a:ext cx="2590966" cy="5977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EFF092D3-2927-27DE-5A14-0C2F46B6F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808" y="2286000"/>
            <a:ext cx="2286001" cy="37689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79F24A-0E95-C21C-695E-DA00196381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503485"/>
            <a:ext cx="2437790" cy="16226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46808F-B614-C4FB-929D-391101A53B4B}"/>
              </a:ext>
            </a:extLst>
          </p:cNvPr>
          <p:cNvSpPr txBox="1"/>
          <p:nvPr/>
        </p:nvSpPr>
        <p:spPr>
          <a:xfrm>
            <a:off x="2928120" y="4648835"/>
            <a:ext cx="4387080" cy="1631216"/>
          </a:xfrm>
          <a:custGeom>
            <a:avLst/>
            <a:gdLst>
              <a:gd name="connsiteX0" fmla="*/ 0 w 4387080"/>
              <a:gd name="connsiteY0" fmla="*/ 0 h 1631216"/>
              <a:gd name="connsiteX1" fmla="*/ 670597 w 4387080"/>
              <a:gd name="connsiteY1" fmla="*/ 0 h 1631216"/>
              <a:gd name="connsiteX2" fmla="*/ 1253451 w 4387080"/>
              <a:gd name="connsiteY2" fmla="*/ 0 h 1631216"/>
              <a:gd name="connsiteX3" fmla="*/ 1792436 w 4387080"/>
              <a:gd name="connsiteY3" fmla="*/ 0 h 1631216"/>
              <a:gd name="connsiteX4" fmla="*/ 2287549 w 4387080"/>
              <a:gd name="connsiteY4" fmla="*/ 0 h 1631216"/>
              <a:gd name="connsiteX5" fmla="*/ 2782662 w 4387080"/>
              <a:gd name="connsiteY5" fmla="*/ 0 h 1631216"/>
              <a:gd name="connsiteX6" fmla="*/ 3321646 w 4387080"/>
              <a:gd name="connsiteY6" fmla="*/ 0 h 1631216"/>
              <a:gd name="connsiteX7" fmla="*/ 4387080 w 4387080"/>
              <a:gd name="connsiteY7" fmla="*/ 0 h 1631216"/>
              <a:gd name="connsiteX8" fmla="*/ 4387080 w 4387080"/>
              <a:gd name="connsiteY8" fmla="*/ 527427 h 1631216"/>
              <a:gd name="connsiteX9" fmla="*/ 4387080 w 4387080"/>
              <a:gd name="connsiteY9" fmla="*/ 1022229 h 1631216"/>
              <a:gd name="connsiteX10" fmla="*/ 4387080 w 4387080"/>
              <a:gd name="connsiteY10" fmla="*/ 1631216 h 1631216"/>
              <a:gd name="connsiteX11" fmla="*/ 3760354 w 4387080"/>
              <a:gd name="connsiteY11" fmla="*/ 1631216 h 1631216"/>
              <a:gd name="connsiteX12" fmla="*/ 3177499 w 4387080"/>
              <a:gd name="connsiteY12" fmla="*/ 1631216 h 1631216"/>
              <a:gd name="connsiteX13" fmla="*/ 2506903 w 4387080"/>
              <a:gd name="connsiteY13" fmla="*/ 1631216 h 1631216"/>
              <a:gd name="connsiteX14" fmla="*/ 1880177 w 4387080"/>
              <a:gd name="connsiteY14" fmla="*/ 1631216 h 1631216"/>
              <a:gd name="connsiteX15" fmla="*/ 1297322 w 4387080"/>
              <a:gd name="connsiteY15" fmla="*/ 1631216 h 1631216"/>
              <a:gd name="connsiteX16" fmla="*/ 714467 w 4387080"/>
              <a:gd name="connsiteY16" fmla="*/ 1631216 h 1631216"/>
              <a:gd name="connsiteX17" fmla="*/ 0 w 4387080"/>
              <a:gd name="connsiteY17" fmla="*/ 1631216 h 1631216"/>
              <a:gd name="connsiteX18" fmla="*/ 0 w 4387080"/>
              <a:gd name="connsiteY18" fmla="*/ 1087477 h 1631216"/>
              <a:gd name="connsiteX19" fmla="*/ 0 w 4387080"/>
              <a:gd name="connsiteY19" fmla="*/ 592675 h 1631216"/>
              <a:gd name="connsiteX20" fmla="*/ 0 w 4387080"/>
              <a:gd name="connsiteY20" fmla="*/ 0 h 1631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387080" h="1631216" extrusionOk="0">
                <a:moveTo>
                  <a:pt x="0" y="0"/>
                </a:moveTo>
                <a:cubicBezTo>
                  <a:pt x="211019" y="13208"/>
                  <a:pt x="495675" y="-5420"/>
                  <a:pt x="670597" y="0"/>
                </a:cubicBezTo>
                <a:cubicBezTo>
                  <a:pt x="845519" y="5420"/>
                  <a:pt x="1095825" y="-26264"/>
                  <a:pt x="1253451" y="0"/>
                </a:cubicBezTo>
                <a:cubicBezTo>
                  <a:pt x="1411077" y="26264"/>
                  <a:pt x="1637535" y="-10479"/>
                  <a:pt x="1792436" y="0"/>
                </a:cubicBezTo>
                <a:cubicBezTo>
                  <a:pt x="1947337" y="10479"/>
                  <a:pt x="2064010" y="-1257"/>
                  <a:pt x="2287549" y="0"/>
                </a:cubicBezTo>
                <a:cubicBezTo>
                  <a:pt x="2511088" y="1257"/>
                  <a:pt x="2565059" y="9968"/>
                  <a:pt x="2782662" y="0"/>
                </a:cubicBezTo>
                <a:cubicBezTo>
                  <a:pt x="3000265" y="-9968"/>
                  <a:pt x="3157671" y="24744"/>
                  <a:pt x="3321646" y="0"/>
                </a:cubicBezTo>
                <a:cubicBezTo>
                  <a:pt x="3485621" y="-24744"/>
                  <a:pt x="4000059" y="9651"/>
                  <a:pt x="4387080" y="0"/>
                </a:cubicBezTo>
                <a:cubicBezTo>
                  <a:pt x="4361200" y="163460"/>
                  <a:pt x="4411742" y="268439"/>
                  <a:pt x="4387080" y="527427"/>
                </a:cubicBezTo>
                <a:cubicBezTo>
                  <a:pt x="4362418" y="786415"/>
                  <a:pt x="4396682" y="775746"/>
                  <a:pt x="4387080" y="1022229"/>
                </a:cubicBezTo>
                <a:cubicBezTo>
                  <a:pt x="4377478" y="1268712"/>
                  <a:pt x="4414591" y="1373029"/>
                  <a:pt x="4387080" y="1631216"/>
                </a:cubicBezTo>
                <a:cubicBezTo>
                  <a:pt x="4196543" y="1633883"/>
                  <a:pt x="4020440" y="1641361"/>
                  <a:pt x="3760354" y="1631216"/>
                </a:cubicBezTo>
                <a:cubicBezTo>
                  <a:pt x="3500268" y="1621071"/>
                  <a:pt x="3351437" y="1651944"/>
                  <a:pt x="3177499" y="1631216"/>
                </a:cubicBezTo>
                <a:cubicBezTo>
                  <a:pt x="3003561" y="1610488"/>
                  <a:pt x="2818093" y="1630204"/>
                  <a:pt x="2506903" y="1631216"/>
                </a:cubicBezTo>
                <a:cubicBezTo>
                  <a:pt x="2195713" y="1632228"/>
                  <a:pt x="2171403" y="1633688"/>
                  <a:pt x="1880177" y="1631216"/>
                </a:cubicBezTo>
                <a:cubicBezTo>
                  <a:pt x="1588951" y="1628744"/>
                  <a:pt x="1472343" y="1649249"/>
                  <a:pt x="1297322" y="1631216"/>
                </a:cubicBezTo>
                <a:cubicBezTo>
                  <a:pt x="1122302" y="1613183"/>
                  <a:pt x="876503" y="1644029"/>
                  <a:pt x="714467" y="1631216"/>
                </a:cubicBezTo>
                <a:cubicBezTo>
                  <a:pt x="552432" y="1618403"/>
                  <a:pt x="289947" y="1617270"/>
                  <a:pt x="0" y="1631216"/>
                </a:cubicBezTo>
                <a:cubicBezTo>
                  <a:pt x="6698" y="1453370"/>
                  <a:pt x="-22389" y="1356023"/>
                  <a:pt x="0" y="1087477"/>
                </a:cubicBezTo>
                <a:cubicBezTo>
                  <a:pt x="22389" y="818931"/>
                  <a:pt x="-10960" y="777139"/>
                  <a:pt x="0" y="592675"/>
                </a:cubicBezTo>
                <a:cubicBezTo>
                  <a:pt x="10960" y="408211"/>
                  <a:pt x="15255" y="1401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51720073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tanh is used in RNNs to squash values between -1 and 1, keeping hidden states stable and centered around zero. It adds non-linearity, allowing the RNN to learn complex patterns across time steps.</a:t>
            </a:r>
            <a:endParaRPr lang="en-GB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469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0208E9-E6E5-C8AA-4423-140419B4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Re-use the same weight matrix at every time-step 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18F9E8-B51D-7762-C3B5-EB2BCE303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RNN: Computational Graph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6695F-5A58-CAB5-680A-F7667E973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D9E54-A635-6A10-EAC8-EF93EEBD4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0E3C22A4-4466-83BA-44C9-EEEC91E24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67" y="2743200"/>
            <a:ext cx="7089066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35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02625-7D1F-5D49-510D-829945945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Character-level</a:t>
            </a:r>
          </a:p>
          <a:p>
            <a:pPr marL="0" indent="0">
              <a:buNone/>
            </a:pPr>
            <a:r>
              <a:rPr lang="en-US" b="1" dirty="0"/>
              <a:t>Language Model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Vocabulary:</a:t>
            </a:r>
            <a:br>
              <a:rPr lang="en-US" dirty="0"/>
            </a:br>
            <a:r>
              <a:rPr lang="en-US" dirty="0"/>
              <a:t>[</a:t>
            </a:r>
            <a:r>
              <a:rPr lang="en-US" dirty="0" err="1"/>
              <a:t>h,e,l,o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Example training</a:t>
            </a:r>
          </a:p>
          <a:p>
            <a:pPr marL="0" indent="0">
              <a:buNone/>
            </a:pPr>
            <a:r>
              <a:rPr lang="en-US" dirty="0"/>
              <a:t>sequence: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b="1" dirty="0"/>
              <a:t>hello</a:t>
            </a:r>
            <a:r>
              <a:rPr lang="en-US" dirty="0"/>
              <a:t>”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F3A03B-D662-B4D0-5734-0A1E70FF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F6533-CDCC-30C7-1A1D-E513AADE4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0457D-5A59-DE11-2454-79C883D42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A7D1EF-6820-A459-2523-D4C6AF187F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7" t="5666" r="2381" b="11545"/>
          <a:stretch/>
        </p:blipFill>
        <p:spPr>
          <a:xfrm>
            <a:off x="3429000" y="4648201"/>
            <a:ext cx="5432732" cy="151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08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852F-D945-F573-692C-1942BE051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45BED4-379C-2BDC-9098-01D88AF02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Character-level</a:t>
            </a:r>
          </a:p>
          <a:p>
            <a:pPr marL="0" indent="0">
              <a:buNone/>
            </a:pPr>
            <a:r>
              <a:rPr lang="en-US" sz="2800" b="1" dirty="0"/>
              <a:t>Language Model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dirty="0"/>
              <a:t>Vocabulary:</a:t>
            </a:r>
            <a:br>
              <a:rPr lang="en-US" sz="2800" dirty="0"/>
            </a:br>
            <a:r>
              <a:rPr lang="en-US" sz="2800" dirty="0"/>
              <a:t>[</a:t>
            </a:r>
            <a:r>
              <a:rPr lang="en-US" sz="2800" dirty="0" err="1"/>
              <a:t>h,e,l,o</a:t>
            </a:r>
            <a:r>
              <a:rPr lang="en-US" sz="2800" dirty="0"/>
              <a:t>]</a:t>
            </a:r>
          </a:p>
          <a:p>
            <a:pPr marL="0" indent="0">
              <a:buNone/>
            </a:pPr>
            <a:r>
              <a:rPr lang="en-US" sz="2800" dirty="0"/>
              <a:t>Example training</a:t>
            </a:r>
          </a:p>
          <a:p>
            <a:pPr marL="0" indent="0">
              <a:buNone/>
            </a:pPr>
            <a:r>
              <a:rPr lang="en-US" sz="2800" dirty="0"/>
              <a:t>sequence:</a:t>
            </a:r>
          </a:p>
          <a:p>
            <a:pPr marL="0" indent="0">
              <a:buNone/>
            </a:pPr>
            <a:r>
              <a:rPr lang="en-US" sz="2800" dirty="0"/>
              <a:t>“</a:t>
            </a:r>
            <a:r>
              <a:rPr lang="en-US" sz="2800" b="1" dirty="0"/>
              <a:t>hello</a:t>
            </a:r>
            <a:r>
              <a:rPr lang="en-US" sz="2800" dirty="0"/>
              <a:t>”</a:t>
            </a:r>
            <a:endParaRPr lang="en-GB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CAE186-08B2-C22D-8C1B-E4D6FBB1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005AA-1F06-9DD8-8769-EBFC8218D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36CDD-19FF-42E2-9BEE-FB1A2F470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D6F122-88A7-50C4-C9FD-FE8A4E2FF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3147269"/>
            <a:ext cx="6178826" cy="30939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F207F5-85CC-BBFB-F9A3-D37F833A5DEB}"/>
                  </a:ext>
                </a:extLst>
              </p:cNvPr>
              <p:cNvSpPr txBox="1"/>
              <p:nvPr/>
            </p:nvSpPr>
            <p:spPr>
              <a:xfrm>
                <a:off x="3524168" y="2036232"/>
                <a:ext cx="51626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𝑡𝑎𝑛h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𝑥h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3200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F207F5-85CC-BBFB-F9A3-D37F833A5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168" y="2036232"/>
                <a:ext cx="5162632" cy="492443"/>
              </a:xfrm>
              <a:prstGeom prst="rect">
                <a:avLst/>
              </a:prstGeom>
              <a:blipFill>
                <a:blip r:embed="rId3"/>
                <a:stretch>
                  <a:fillRect t="-23457" r="-3778" b="-50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6786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142D-9852-0896-F941-F3B3355D5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B5DAF9-46D1-CD96-BECF-26EFC6E24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Character-level</a:t>
            </a:r>
          </a:p>
          <a:p>
            <a:pPr marL="0" indent="0">
              <a:buNone/>
            </a:pPr>
            <a:r>
              <a:rPr lang="en-US" sz="2800" b="1" dirty="0"/>
              <a:t>Language Model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dirty="0"/>
              <a:t>Vocabulary:</a:t>
            </a:r>
            <a:br>
              <a:rPr lang="en-US" sz="2800" dirty="0"/>
            </a:br>
            <a:r>
              <a:rPr lang="en-US" sz="2800" dirty="0"/>
              <a:t>[</a:t>
            </a:r>
            <a:r>
              <a:rPr lang="en-US" sz="2800" dirty="0" err="1"/>
              <a:t>h,e,l,o</a:t>
            </a:r>
            <a:r>
              <a:rPr lang="en-US" sz="2800" dirty="0"/>
              <a:t>]</a:t>
            </a:r>
          </a:p>
          <a:p>
            <a:pPr marL="0" indent="0">
              <a:buNone/>
            </a:pPr>
            <a:r>
              <a:rPr lang="en-US" sz="2800" dirty="0"/>
              <a:t>Example training</a:t>
            </a:r>
          </a:p>
          <a:p>
            <a:pPr marL="0" indent="0">
              <a:buNone/>
            </a:pPr>
            <a:r>
              <a:rPr lang="en-US" sz="2800" dirty="0"/>
              <a:t>sequence:</a:t>
            </a:r>
          </a:p>
          <a:p>
            <a:pPr marL="0" indent="0">
              <a:buNone/>
            </a:pPr>
            <a:r>
              <a:rPr lang="en-US" sz="2800" dirty="0"/>
              <a:t>“</a:t>
            </a:r>
            <a:r>
              <a:rPr lang="en-US" sz="2800" b="1" dirty="0"/>
              <a:t>hello</a:t>
            </a:r>
            <a:r>
              <a:rPr lang="en-US" sz="2800" dirty="0"/>
              <a:t>”</a:t>
            </a:r>
            <a:endParaRPr lang="en-GB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BBF5B3-FEEA-41A9-A3CA-FDC3E885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DEED1-40E9-3365-D542-02B00F348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F481C-ECC5-7B4A-736F-F9F8CE8ED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29A9A0-5050-AA88-D1E6-796430436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647825"/>
            <a:ext cx="5547894" cy="45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258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BFF2A-BB8A-B338-D153-DBDD3976C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95D177-847E-CEA4-724C-B260181AB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Character-level</a:t>
            </a:r>
          </a:p>
          <a:p>
            <a:pPr marL="0" indent="0">
              <a:buNone/>
            </a:pPr>
            <a:r>
              <a:rPr lang="en-US" sz="2800" b="1" dirty="0"/>
              <a:t>Language Model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dirty="0"/>
              <a:t>Vocabulary:</a:t>
            </a:r>
            <a:br>
              <a:rPr lang="en-US" sz="2800" dirty="0"/>
            </a:br>
            <a:r>
              <a:rPr lang="en-US" sz="2800" dirty="0"/>
              <a:t>[</a:t>
            </a:r>
            <a:r>
              <a:rPr lang="en-US" sz="2800" dirty="0" err="1"/>
              <a:t>h,e,l,o</a:t>
            </a:r>
            <a:r>
              <a:rPr lang="en-US" sz="2800" dirty="0"/>
              <a:t>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CE0A4F-2B15-B3CE-0246-56552DC8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17D78-0987-350C-A3AC-36918571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699F1-6884-444E-FF0B-5B0104E4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ED8C0-7AB6-7733-3B7A-2D7CBB127453}"/>
              </a:ext>
            </a:extLst>
          </p:cNvPr>
          <p:cNvSpPr txBox="1"/>
          <p:nvPr/>
        </p:nvSpPr>
        <p:spPr>
          <a:xfrm>
            <a:off x="228600" y="4648200"/>
            <a:ext cx="43789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At test-time sample characters </a:t>
            </a:r>
          </a:p>
          <a:p>
            <a:r>
              <a:rPr lang="en-US" sz="2400" dirty="0"/>
              <a:t>one at a time, feed back to model</a:t>
            </a:r>
            <a:endParaRPr lang="en-GB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5FA87D-C7BF-297A-9703-E3E2C8C7A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902" y="1600200"/>
            <a:ext cx="423900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85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1EE958-20A4-C0C9-50DA-11AF15D21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6726D-4153-EEC8-97A4-58CCC27CA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84567-80F8-26D6-AD8B-78D35DC0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FF6ECC-D348-9E58-6EF6-EDD636EAF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/>
              <a:t>RNNs are great, but they have problems: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Vanishing gradients</a:t>
            </a:r>
            <a:r>
              <a:rPr lang="en-US" sz="2800" dirty="0"/>
              <a:t>: Hard to learn long-term dependencies.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Training can be slow</a:t>
            </a:r>
            <a:r>
              <a:rPr lang="en-U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Short memory</a:t>
            </a:r>
            <a:r>
              <a:rPr lang="en-US" sz="2800" dirty="0"/>
              <a:t>: They tend to "forget" things from far back in the sequence.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819E0-FC8F-80A2-1B7A-7F544E7E1E7F}"/>
              </a:ext>
            </a:extLst>
          </p:cNvPr>
          <p:cNvSpPr txBox="1"/>
          <p:nvPr/>
        </p:nvSpPr>
        <p:spPr>
          <a:xfrm>
            <a:off x="609600" y="4456153"/>
            <a:ext cx="8300719" cy="1785104"/>
          </a:xfrm>
          <a:custGeom>
            <a:avLst/>
            <a:gdLst>
              <a:gd name="connsiteX0" fmla="*/ 0 w 8300719"/>
              <a:gd name="connsiteY0" fmla="*/ 0 h 1785104"/>
              <a:gd name="connsiteX1" fmla="*/ 442705 w 8300719"/>
              <a:gd name="connsiteY1" fmla="*/ 0 h 1785104"/>
              <a:gd name="connsiteX2" fmla="*/ 1300446 w 8300719"/>
              <a:gd name="connsiteY2" fmla="*/ 0 h 1785104"/>
              <a:gd name="connsiteX3" fmla="*/ 1992173 w 8300719"/>
              <a:gd name="connsiteY3" fmla="*/ 0 h 1785104"/>
              <a:gd name="connsiteX4" fmla="*/ 2517885 w 8300719"/>
              <a:gd name="connsiteY4" fmla="*/ 0 h 1785104"/>
              <a:gd name="connsiteX5" fmla="*/ 3209611 w 8300719"/>
              <a:gd name="connsiteY5" fmla="*/ 0 h 1785104"/>
              <a:gd name="connsiteX6" fmla="*/ 3984345 w 8300719"/>
              <a:gd name="connsiteY6" fmla="*/ 0 h 1785104"/>
              <a:gd name="connsiteX7" fmla="*/ 4842086 w 8300719"/>
              <a:gd name="connsiteY7" fmla="*/ 0 h 1785104"/>
              <a:gd name="connsiteX8" fmla="*/ 5699827 w 8300719"/>
              <a:gd name="connsiteY8" fmla="*/ 0 h 1785104"/>
              <a:gd name="connsiteX9" fmla="*/ 6474561 w 8300719"/>
              <a:gd name="connsiteY9" fmla="*/ 0 h 1785104"/>
              <a:gd name="connsiteX10" fmla="*/ 7332302 w 8300719"/>
              <a:gd name="connsiteY10" fmla="*/ 0 h 1785104"/>
              <a:gd name="connsiteX11" fmla="*/ 8300719 w 8300719"/>
              <a:gd name="connsiteY11" fmla="*/ 0 h 1785104"/>
              <a:gd name="connsiteX12" fmla="*/ 8300719 w 8300719"/>
              <a:gd name="connsiteY12" fmla="*/ 595035 h 1785104"/>
              <a:gd name="connsiteX13" fmla="*/ 8300719 w 8300719"/>
              <a:gd name="connsiteY13" fmla="*/ 1207920 h 1785104"/>
              <a:gd name="connsiteX14" fmla="*/ 8300719 w 8300719"/>
              <a:gd name="connsiteY14" fmla="*/ 1785104 h 1785104"/>
              <a:gd name="connsiteX15" fmla="*/ 7775007 w 8300719"/>
              <a:gd name="connsiteY15" fmla="*/ 1785104 h 1785104"/>
              <a:gd name="connsiteX16" fmla="*/ 7332302 w 8300719"/>
              <a:gd name="connsiteY16" fmla="*/ 1785104 h 1785104"/>
              <a:gd name="connsiteX17" fmla="*/ 6723582 w 8300719"/>
              <a:gd name="connsiteY17" fmla="*/ 1785104 h 1785104"/>
              <a:gd name="connsiteX18" fmla="*/ 6114863 w 8300719"/>
              <a:gd name="connsiteY18" fmla="*/ 1785104 h 1785104"/>
              <a:gd name="connsiteX19" fmla="*/ 5257122 w 8300719"/>
              <a:gd name="connsiteY19" fmla="*/ 1785104 h 1785104"/>
              <a:gd name="connsiteX20" fmla="*/ 4648403 w 8300719"/>
              <a:gd name="connsiteY20" fmla="*/ 1785104 h 1785104"/>
              <a:gd name="connsiteX21" fmla="*/ 4039683 w 8300719"/>
              <a:gd name="connsiteY21" fmla="*/ 1785104 h 1785104"/>
              <a:gd name="connsiteX22" fmla="*/ 3513971 w 8300719"/>
              <a:gd name="connsiteY22" fmla="*/ 1785104 h 1785104"/>
              <a:gd name="connsiteX23" fmla="*/ 3071266 w 8300719"/>
              <a:gd name="connsiteY23" fmla="*/ 1785104 h 1785104"/>
              <a:gd name="connsiteX24" fmla="*/ 2213525 w 8300719"/>
              <a:gd name="connsiteY24" fmla="*/ 1785104 h 1785104"/>
              <a:gd name="connsiteX25" fmla="*/ 1521798 w 8300719"/>
              <a:gd name="connsiteY25" fmla="*/ 1785104 h 1785104"/>
              <a:gd name="connsiteX26" fmla="*/ 664058 w 8300719"/>
              <a:gd name="connsiteY26" fmla="*/ 1785104 h 1785104"/>
              <a:gd name="connsiteX27" fmla="*/ 0 w 8300719"/>
              <a:gd name="connsiteY27" fmla="*/ 1785104 h 1785104"/>
              <a:gd name="connsiteX28" fmla="*/ 0 w 8300719"/>
              <a:gd name="connsiteY28" fmla="*/ 1207920 h 1785104"/>
              <a:gd name="connsiteX29" fmla="*/ 0 w 8300719"/>
              <a:gd name="connsiteY29" fmla="*/ 666439 h 1785104"/>
              <a:gd name="connsiteX30" fmla="*/ 0 w 8300719"/>
              <a:gd name="connsiteY30" fmla="*/ 0 h 178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300719" h="1785104" extrusionOk="0">
                <a:moveTo>
                  <a:pt x="0" y="0"/>
                </a:moveTo>
                <a:cubicBezTo>
                  <a:pt x="207043" y="-15830"/>
                  <a:pt x="234885" y="-7218"/>
                  <a:pt x="442705" y="0"/>
                </a:cubicBezTo>
                <a:cubicBezTo>
                  <a:pt x="650526" y="7218"/>
                  <a:pt x="943318" y="41310"/>
                  <a:pt x="1300446" y="0"/>
                </a:cubicBezTo>
                <a:cubicBezTo>
                  <a:pt x="1657574" y="-41310"/>
                  <a:pt x="1773387" y="-11260"/>
                  <a:pt x="1992173" y="0"/>
                </a:cubicBezTo>
                <a:cubicBezTo>
                  <a:pt x="2210959" y="11260"/>
                  <a:pt x="2288210" y="9838"/>
                  <a:pt x="2517885" y="0"/>
                </a:cubicBezTo>
                <a:cubicBezTo>
                  <a:pt x="2747560" y="-9838"/>
                  <a:pt x="3040417" y="-33848"/>
                  <a:pt x="3209611" y="0"/>
                </a:cubicBezTo>
                <a:cubicBezTo>
                  <a:pt x="3378805" y="33848"/>
                  <a:pt x="3804017" y="19916"/>
                  <a:pt x="3984345" y="0"/>
                </a:cubicBezTo>
                <a:cubicBezTo>
                  <a:pt x="4164673" y="-19916"/>
                  <a:pt x="4583392" y="30453"/>
                  <a:pt x="4842086" y="0"/>
                </a:cubicBezTo>
                <a:cubicBezTo>
                  <a:pt x="5100780" y="-30453"/>
                  <a:pt x="5493329" y="-20781"/>
                  <a:pt x="5699827" y="0"/>
                </a:cubicBezTo>
                <a:cubicBezTo>
                  <a:pt x="5906325" y="20781"/>
                  <a:pt x="6214978" y="-23661"/>
                  <a:pt x="6474561" y="0"/>
                </a:cubicBezTo>
                <a:cubicBezTo>
                  <a:pt x="6734144" y="23661"/>
                  <a:pt x="7014410" y="18388"/>
                  <a:pt x="7332302" y="0"/>
                </a:cubicBezTo>
                <a:cubicBezTo>
                  <a:pt x="7650194" y="-18388"/>
                  <a:pt x="7889528" y="-30162"/>
                  <a:pt x="8300719" y="0"/>
                </a:cubicBezTo>
                <a:cubicBezTo>
                  <a:pt x="8276865" y="216624"/>
                  <a:pt x="8310610" y="357880"/>
                  <a:pt x="8300719" y="595035"/>
                </a:cubicBezTo>
                <a:cubicBezTo>
                  <a:pt x="8290828" y="832190"/>
                  <a:pt x="8312623" y="968483"/>
                  <a:pt x="8300719" y="1207920"/>
                </a:cubicBezTo>
                <a:cubicBezTo>
                  <a:pt x="8288815" y="1447357"/>
                  <a:pt x="8316601" y="1605329"/>
                  <a:pt x="8300719" y="1785104"/>
                </a:cubicBezTo>
                <a:cubicBezTo>
                  <a:pt x="8160669" y="1788842"/>
                  <a:pt x="7907429" y="1796586"/>
                  <a:pt x="7775007" y="1785104"/>
                </a:cubicBezTo>
                <a:cubicBezTo>
                  <a:pt x="7642585" y="1773622"/>
                  <a:pt x="7481263" y="1767403"/>
                  <a:pt x="7332302" y="1785104"/>
                </a:cubicBezTo>
                <a:cubicBezTo>
                  <a:pt x="7183341" y="1802805"/>
                  <a:pt x="6874036" y="1786424"/>
                  <a:pt x="6723582" y="1785104"/>
                </a:cubicBezTo>
                <a:cubicBezTo>
                  <a:pt x="6573128" y="1783784"/>
                  <a:pt x="6294991" y="1789784"/>
                  <a:pt x="6114863" y="1785104"/>
                </a:cubicBezTo>
                <a:cubicBezTo>
                  <a:pt x="5934735" y="1780424"/>
                  <a:pt x="5599496" y="1823658"/>
                  <a:pt x="5257122" y="1785104"/>
                </a:cubicBezTo>
                <a:cubicBezTo>
                  <a:pt x="4914748" y="1746550"/>
                  <a:pt x="4842612" y="1791344"/>
                  <a:pt x="4648403" y="1785104"/>
                </a:cubicBezTo>
                <a:cubicBezTo>
                  <a:pt x="4454194" y="1778864"/>
                  <a:pt x="4234536" y="1770508"/>
                  <a:pt x="4039683" y="1785104"/>
                </a:cubicBezTo>
                <a:cubicBezTo>
                  <a:pt x="3844830" y="1799700"/>
                  <a:pt x="3726732" y="1809674"/>
                  <a:pt x="3513971" y="1785104"/>
                </a:cubicBezTo>
                <a:cubicBezTo>
                  <a:pt x="3301210" y="1760534"/>
                  <a:pt x="3265565" y="1800674"/>
                  <a:pt x="3071266" y="1785104"/>
                </a:cubicBezTo>
                <a:cubicBezTo>
                  <a:pt x="2876968" y="1769534"/>
                  <a:pt x="2627908" y="1782302"/>
                  <a:pt x="2213525" y="1785104"/>
                </a:cubicBezTo>
                <a:cubicBezTo>
                  <a:pt x="1799142" y="1787906"/>
                  <a:pt x="1812330" y="1810431"/>
                  <a:pt x="1521798" y="1785104"/>
                </a:cubicBezTo>
                <a:cubicBezTo>
                  <a:pt x="1231266" y="1759777"/>
                  <a:pt x="1036394" y="1811071"/>
                  <a:pt x="664058" y="1785104"/>
                </a:cubicBezTo>
                <a:cubicBezTo>
                  <a:pt x="291722" y="1759137"/>
                  <a:pt x="263970" y="1764431"/>
                  <a:pt x="0" y="1785104"/>
                </a:cubicBezTo>
                <a:cubicBezTo>
                  <a:pt x="-20308" y="1593757"/>
                  <a:pt x="28822" y="1396801"/>
                  <a:pt x="0" y="1207920"/>
                </a:cubicBezTo>
                <a:cubicBezTo>
                  <a:pt x="-28822" y="1019039"/>
                  <a:pt x="19636" y="879851"/>
                  <a:pt x="0" y="666439"/>
                </a:cubicBezTo>
                <a:cubicBezTo>
                  <a:pt x="-19636" y="453027"/>
                  <a:pt x="18937" y="171040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7287924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Vanishing gradients</a:t>
            </a:r>
            <a:r>
              <a:rPr lang="en-US" sz="2200" dirty="0">
                <a:solidFill>
                  <a:srgbClr val="C00000"/>
                </a:solidFill>
              </a:rPr>
              <a:t> is a problem during training where gradients (used to update weights) become </a:t>
            </a:r>
            <a:r>
              <a:rPr lang="en-US" sz="2200" b="1" dirty="0">
                <a:solidFill>
                  <a:srgbClr val="C00000"/>
                </a:solidFill>
              </a:rPr>
              <a:t>very small</a:t>
            </a:r>
            <a:r>
              <a:rPr lang="en-US" sz="2200" dirty="0">
                <a:solidFill>
                  <a:srgbClr val="C00000"/>
                </a:solidFill>
              </a:rPr>
              <a:t> as they are backpropagated through layers or time steps.</a:t>
            </a:r>
            <a:br>
              <a:rPr lang="en-US" sz="2200" dirty="0">
                <a:solidFill>
                  <a:srgbClr val="C00000"/>
                </a:solidFill>
              </a:rPr>
            </a:br>
            <a:r>
              <a:rPr lang="en-US" sz="2200" dirty="0">
                <a:solidFill>
                  <a:srgbClr val="C00000"/>
                </a:solidFill>
              </a:rPr>
              <a:t>This causes early layers (or earlier time steps in RNNs) to </a:t>
            </a:r>
            <a:r>
              <a:rPr lang="en-US" sz="2200" b="1" dirty="0">
                <a:solidFill>
                  <a:srgbClr val="C00000"/>
                </a:solidFill>
              </a:rPr>
              <a:t>learn very slowly or not at all</a:t>
            </a:r>
            <a:r>
              <a:rPr lang="en-US" sz="2200" dirty="0">
                <a:solidFill>
                  <a:srgbClr val="C00000"/>
                </a:solidFill>
              </a:rPr>
              <a:t>, making it hard to capture long-term dependencies.</a:t>
            </a:r>
            <a:endParaRPr lang="en-GB" sz="2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77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F7ED4E-F83E-D6F3-FA53-D97051A6A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An </a:t>
            </a:r>
            <a:r>
              <a:rPr lang="en-US" b="1" dirty="0"/>
              <a:t>LSTM</a:t>
            </a:r>
            <a:r>
              <a:rPr lang="en-US" dirty="0"/>
              <a:t> is a special kind of </a:t>
            </a:r>
            <a:r>
              <a:rPr lang="en-US" b="1" dirty="0"/>
              <a:t>RNN</a:t>
            </a:r>
            <a:r>
              <a:rPr lang="en-US" dirty="0"/>
              <a:t> that’s really good at remembering things for a </a:t>
            </a:r>
            <a:r>
              <a:rPr lang="en-US" b="1" dirty="0"/>
              <a:t>long time</a:t>
            </a:r>
            <a:r>
              <a:rPr lang="en-US" dirty="0"/>
              <a:t>. It's designed to </a:t>
            </a:r>
            <a:r>
              <a:rPr lang="en-US" b="1" dirty="0"/>
              <a:t>solve the problem of RNNs forgetting important information</a:t>
            </a:r>
            <a:r>
              <a:rPr lang="en-US" dirty="0"/>
              <a:t> as the sequence gets longer.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0A4F5B-17DF-694D-7BCE-120BD0AA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Long Short-Term Memory Network (LSTM)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FCB7E-A8B7-ECB2-72EC-6C2AC9E7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B8E02-5E44-EC05-7271-19942C1F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045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49E315-FA6E-E3D4-8B1E-5C05436BC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Each LSTM unit has three </a:t>
            </a:r>
            <a:r>
              <a:rPr lang="en-US" b="1" dirty="0"/>
              <a:t>gates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Forget Gate</a:t>
            </a:r>
            <a:r>
              <a:rPr lang="en-US" dirty="0"/>
              <a:t> – decides what info to throw away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Input Gate</a:t>
            </a:r>
            <a:r>
              <a:rPr lang="en-US" dirty="0"/>
              <a:t> – decides what new info to add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Output Gate</a:t>
            </a:r>
            <a:r>
              <a:rPr lang="en-US" dirty="0"/>
              <a:t> – decides what to send as output</a:t>
            </a:r>
          </a:p>
          <a:p>
            <a:pPr marL="0" indent="0">
              <a:buNone/>
            </a:pPr>
            <a:r>
              <a:rPr lang="en-US" dirty="0"/>
              <a:t>It also keeps a </a:t>
            </a:r>
            <a:r>
              <a:rPr lang="en-US" b="1" dirty="0"/>
              <a:t>cell state</a:t>
            </a:r>
            <a:r>
              <a:rPr lang="en-US" dirty="0"/>
              <a:t> (a kind of long-term memory).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3841AF-6224-5424-3D3E-30DC1841E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an LSTM work?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10FE3-C1F6-3744-B03F-8F3175B0B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8EE27-02EF-35C7-437A-B6126A42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180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A86044-D3EC-657A-1769-F6F5F660B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>
                <a:solidFill>
                  <a:srgbClr val="002060"/>
                </a:solidFill>
              </a:rPr>
              <a:t>"What part of the past should I forget?"</a:t>
            </a:r>
          </a:p>
          <a:p>
            <a:pPr marL="0" indent="0">
              <a:buNone/>
            </a:pPr>
            <a:r>
              <a:rPr lang="en-US" dirty="0"/>
              <a:t>It takes the </a:t>
            </a:r>
            <a:r>
              <a:rPr lang="en-US" b="1" dirty="0"/>
              <a:t>previous hidden state </a:t>
            </a:r>
            <a:r>
              <a:rPr lang="en-US" dirty="0"/>
              <a:t>and the </a:t>
            </a:r>
            <a:r>
              <a:rPr lang="en-US" b="1" dirty="0"/>
              <a:t>current input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Outputs a number between 0 and 1 for each value in the cell state.</a:t>
            </a:r>
          </a:p>
          <a:p>
            <a:pPr marL="0" indent="0">
              <a:buNone/>
            </a:pPr>
            <a:r>
              <a:rPr lang="en-US" sz="2800" i="1" dirty="0"/>
              <a:t>0 = forget completely</a:t>
            </a:r>
          </a:p>
          <a:p>
            <a:pPr marL="0" indent="0">
              <a:buNone/>
            </a:pPr>
            <a:r>
              <a:rPr lang="en-US" sz="2800" i="1" dirty="0"/>
              <a:t>1 = keep entirely</a:t>
            </a:r>
          </a:p>
          <a:p>
            <a:pPr marL="0" indent="0">
              <a:buNone/>
            </a:pPr>
            <a:endParaRPr lang="en-GB" sz="2800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965900-0465-CF1F-D76B-6EBA4111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Forget Gate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E14CD-DE3B-CCD1-652F-0605DDA5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BBE99-6AFF-15B7-0845-455F26BA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4D87CD-7AFA-BE3F-782B-543813ECD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810001"/>
            <a:ext cx="4923650" cy="838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7C07BE-0233-F93F-E117-86CE45EF647B}"/>
              </a:ext>
            </a:extLst>
          </p:cNvPr>
          <p:cNvSpPr txBox="1"/>
          <p:nvPr/>
        </p:nvSpPr>
        <p:spPr>
          <a:xfrm>
            <a:off x="3581400" y="4525119"/>
            <a:ext cx="5715000" cy="1724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[hₜ₋₁, xₜ]: concatenated input and previous hidden state</a:t>
            </a:r>
            <a:endParaRPr lang="en-GB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W_f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weight matrix for the forget gate</a:t>
            </a:r>
            <a:endParaRPr lang="en-GB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b_f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bias</a:t>
            </a:r>
            <a:endParaRPr lang="en-GB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Output values between 0 and 1 (0 = forget, 1 = keep)</a:t>
            </a:r>
            <a:endParaRPr lang="en-GB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505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7ACD9C-2813-1749-0CE8-F07B2D77C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02060"/>
                </a:solidFill>
              </a:rPr>
              <a:t>"What new information should I add?“</a:t>
            </a:r>
          </a:p>
          <a:p>
            <a:pPr>
              <a:buNone/>
            </a:pPr>
            <a:r>
              <a:rPr lang="en-US" sz="2400" dirty="0"/>
              <a:t>It has two parts: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 sigmoid layer decides </a:t>
            </a:r>
            <a:r>
              <a:rPr lang="en-US" sz="2400" b="1" dirty="0"/>
              <a:t>which values to update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 tanh layer creates </a:t>
            </a:r>
            <a:r>
              <a:rPr lang="en-US" sz="2400" b="1" dirty="0"/>
              <a:t>new candidate values</a:t>
            </a:r>
            <a:r>
              <a:rPr lang="en-US" sz="2400" dirty="0"/>
              <a:t> to add.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 algn="just">
              <a:buNone/>
            </a:pPr>
            <a:endParaRPr lang="en-GB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5E307D-5F9C-ECBE-A898-AE54DD695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Gate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8CE3B-6048-7DFC-4E9E-9A6787404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D1638-0B60-0A46-ADB1-E91B6977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A36A51-AB8C-9F68-1FFD-FA5A3C46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9" y="3731021"/>
            <a:ext cx="8535140" cy="14936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7C15AA-115A-15A5-9C97-D2B580D52CF0}"/>
                  </a:ext>
                </a:extLst>
              </p:cNvPr>
              <p:cNvSpPr txBox="1"/>
              <p:nvPr/>
            </p:nvSpPr>
            <p:spPr>
              <a:xfrm>
                <a:off x="516834" y="5130726"/>
                <a:ext cx="832236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ₜ </m:t>
                    </m:r>
                  </m:oMath>
                </a14:m>
                <a:r>
                  <a:rPr lang="en-US" sz="2800" dirty="0"/>
                  <a:t>controls which parts of new info to write</a:t>
                </a:r>
              </a:p>
              <a:p>
                <a:r>
                  <a:rPr lang="en-US" sz="2800" dirty="0"/>
                  <a:t>𝒞̃ₜ creates new candidate values – what value to add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7C15AA-115A-15A5-9C97-D2B580D52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34" y="5130726"/>
                <a:ext cx="8322366" cy="954107"/>
              </a:xfrm>
              <a:prstGeom prst="rect">
                <a:avLst/>
              </a:prstGeom>
              <a:blipFill>
                <a:blip r:embed="rId3"/>
                <a:stretch>
                  <a:fillRect l="-1538" t="-6410" b="-179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0982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F3219C-7858-838B-81FE-866D7EBB9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i="1" dirty="0">
                <a:solidFill>
                  <a:srgbClr val="002060"/>
                </a:solidFill>
              </a:rPr>
              <a:t>"What should I output?"</a:t>
            </a:r>
          </a:p>
          <a:p>
            <a:pPr algn="just"/>
            <a:r>
              <a:rPr lang="en-US" dirty="0"/>
              <a:t>This gate decides what the hidden state ℎ𝑡​  (output of the cell) should be.</a:t>
            </a:r>
          </a:p>
          <a:p>
            <a:pPr algn="just"/>
            <a:r>
              <a:rPr lang="en-US" dirty="0"/>
              <a:t>It uses the updated cell state and filters it through a tanh + sigmoid combination.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BBF3C0-3C30-6A2D-DA90-6CD03D060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Gate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E188F-9038-3CC5-7713-45CFF30AE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0E9A9-F323-B1EA-D936-7807A17A1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767BC0-A902-8459-6D75-FBFB229B3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4572000"/>
            <a:ext cx="3627328" cy="10158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529C0F-2DA4-00B3-91C0-07354E855645}"/>
              </a:ext>
            </a:extLst>
          </p:cNvPr>
          <p:cNvSpPr txBox="1"/>
          <p:nvPr/>
        </p:nvSpPr>
        <p:spPr>
          <a:xfrm>
            <a:off x="3855928" y="4567547"/>
            <a:ext cx="5288072" cy="1380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i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oₜ controls what part of the memory to output</a:t>
            </a:r>
            <a:endParaRPr lang="en-GB" sz="1600" i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i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tanh(Cₜ) squashes the cell state</a:t>
            </a:r>
            <a:endParaRPr lang="en-GB" sz="1600" i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2000" i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 output is hₜ</a:t>
            </a:r>
            <a:endParaRPr lang="en-GB" sz="1600" i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930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0830F-59EA-4CAC-9D2D-180021640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Chapter 5 – Autoregressive Models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MinionPro-Regular"/>
              </a:rPr>
              <a:t>Learn why autoregressive models are well suited to generating sequential data.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MinionPro-Regular"/>
              </a:rPr>
              <a:t>Learn how to process and tokenize text data.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MinionPro-Regular"/>
              </a:rPr>
              <a:t>Learn about the architectural design of long short-term memory network (LSTM).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209F79-847E-238A-D30F-AC865564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7C706-C91A-F096-30C4-E708C233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B34C7-CD9B-BB86-95F0-C087881F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99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5825</TotalTime>
  <Words>1153</Words>
  <Application>Microsoft Office PowerPoint</Application>
  <PresentationFormat>On-screen Show (4:3)</PresentationFormat>
  <Paragraphs>206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Cambria</vt:lpstr>
      <vt:lpstr>Cambria Math</vt:lpstr>
      <vt:lpstr>MinionPro-Regular</vt:lpstr>
      <vt:lpstr>Times New Roman</vt:lpstr>
      <vt:lpstr>Office Theme</vt:lpstr>
      <vt:lpstr>CSE 848 Artificial Intelligence ( Autoregressive Models)</vt:lpstr>
      <vt:lpstr>Traditional Models Fall Short</vt:lpstr>
      <vt:lpstr>Simple Neural Network</vt:lpstr>
      <vt:lpstr>Process Sequences</vt:lpstr>
      <vt:lpstr>Process Sequences</vt:lpstr>
      <vt:lpstr>Process Sequences</vt:lpstr>
      <vt:lpstr>Process Sequences</vt:lpstr>
      <vt:lpstr>Recurrent Neural Network (RNN) </vt:lpstr>
      <vt:lpstr>Recurrent Neural Network (RNN) </vt:lpstr>
      <vt:lpstr>RNN hidden state update</vt:lpstr>
      <vt:lpstr>RNN output generation</vt:lpstr>
      <vt:lpstr>Recurrent Neural Network </vt:lpstr>
      <vt:lpstr>Recurrent Neural Network </vt:lpstr>
      <vt:lpstr>(Vanilla) Recurrent Neural Network</vt:lpstr>
      <vt:lpstr>RNN: Computational Graph </vt:lpstr>
      <vt:lpstr>Example</vt:lpstr>
      <vt:lpstr>Example</vt:lpstr>
      <vt:lpstr>Example</vt:lpstr>
      <vt:lpstr>Example</vt:lpstr>
      <vt:lpstr>Limitation</vt:lpstr>
      <vt:lpstr>Long Short-Term Memory Network (LSTM)</vt:lpstr>
      <vt:lpstr>How does an LSTM work?</vt:lpstr>
      <vt:lpstr>Forget Gate</vt:lpstr>
      <vt:lpstr>Input Gate</vt:lpstr>
      <vt:lpstr>Output Gate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Yasar Ayaz</dc:creator>
  <cp:lastModifiedBy>Muhammad Usama</cp:lastModifiedBy>
  <cp:revision>728</cp:revision>
  <dcterms:created xsi:type="dcterms:W3CDTF">2009-06-17T04:08:11Z</dcterms:created>
  <dcterms:modified xsi:type="dcterms:W3CDTF">2025-09-21T06:52:04Z</dcterms:modified>
</cp:coreProperties>
</file>